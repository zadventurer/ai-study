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84" r:id="rId22"/>
    <p:sldId id="285" r:id="rId23"/>
    <p:sldId id="286" r:id="rId24"/>
    <p:sldId id="287" r:id="rId25"/>
    <p:sldId id="288" r:id="rId26"/>
    <p:sldId id="289" r:id="rId27"/>
    <p:sldId id="290" r:id="rId28"/>
    <p:sldId id="291" r:id="rId29"/>
    <p:sldId id="292" r:id="rId30"/>
  </p:sldIdLst>
  <p:sldSz cx="24387175" cy="13716000"/>
  <p:notesSz cx="13716000" cy="24387175"/>
  <p:embeddedFontLst>
    <p:embeddedFont>
      <p:font typeface="NotoSansSC-Bold" panose="02010600030101010101" charset="-122"/>
      <p:bold r:id="rId32"/>
    </p:embeddedFont>
    <p:embeddedFont>
      <p:font typeface="Roboto-Regular" panose="02010600030101010101" charset="0"/>
      <p:regular r:id="rId33"/>
    </p:embeddedFont>
    <p:embeddedFont>
      <p:font typeface="Rubik-Medium" panose="02010600030101010101" charset="-79"/>
      <p:regular r:id="rId34"/>
    </p:embeddedFont>
  </p:embeddedFontLst>
  <p:custDataLst>
    <p:tags r:id="rId3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4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gs" Target="tags/tag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5.png"/><Relationship Id="rId5" Type="http://schemas.openxmlformats.org/officeDocument/2006/relationships/image" Target="../media/image10.png"/><Relationship Id="rId10" Type="http://schemas.openxmlformats.org/officeDocument/2006/relationships/image" Target="../media/image14.pn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21.png"/><Relationship Id="rId5" Type="http://schemas.openxmlformats.org/officeDocument/2006/relationships/image" Target="../media/image10.png"/><Relationship Id="rId10" Type="http://schemas.openxmlformats.org/officeDocument/2006/relationships/image" Target="../media/image20.png"/><Relationship Id="rId4" Type="http://schemas.openxmlformats.org/officeDocument/2006/relationships/image" Target="../media/image3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26.png"/><Relationship Id="rId5" Type="http://schemas.openxmlformats.org/officeDocument/2006/relationships/image" Target="../media/image10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3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36.png"/><Relationship Id="rId5" Type="http://schemas.openxmlformats.org/officeDocument/2006/relationships/image" Target="../media/image10.png"/><Relationship Id="rId10" Type="http://schemas.openxmlformats.org/officeDocument/2006/relationships/image" Target="../media/image35.png"/><Relationship Id="rId4" Type="http://schemas.openxmlformats.org/officeDocument/2006/relationships/image" Target="../media/image3.png"/><Relationship Id="rId9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42.png"/><Relationship Id="rId5" Type="http://schemas.openxmlformats.org/officeDocument/2006/relationships/image" Target="../media/image10.png"/><Relationship Id="rId10" Type="http://schemas.openxmlformats.org/officeDocument/2006/relationships/image" Target="../media/image41.png"/><Relationship Id="rId4" Type="http://schemas.openxmlformats.org/officeDocument/2006/relationships/image" Target="../media/image3.png"/><Relationship Id="rId9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3" Type="http://schemas.openxmlformats.org/officeDocument/2006/relationships/image" Target="../media/image1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48.png"/><Relationship Id="rId5" Type="http://schemas.openxmlformats.org/officeDocument/2006/relationships/image" Target="../media/image10.png"/><Relationship Id="rId10" Type="http://schemas.openxmlformats.org/officeDocument/2006/relationships/image" Target="../media/image47.png"/><Relationship Id="rId4" Type="http://schemas.openxmlformats.org/officeDocument/2006/relationships/image" Target="../media/image3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1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10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5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2.png"/><Relationship Id="rId3" Type="http://schemas.openxmlformats.org/officeDocument/2006/relationships/image" Target="../media/image1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60.png"/><Relationship Id="rId5" Type="http://schemas.openxmlformats.org/officeDocument/2006/relationships/image" Target="../media/image10.png"/><Relationship Id="rId10" Type="http://schemas.openxmlformats.org/officeDocument/2006/relationships/image" Target="../media/image59.png"/><Relationship Id="rId4" Type="http://schemas.openxmlformats.org/officeDocument/2006/relationships/image" Target="../media/image3.png"/><Relationship Id="rId9" Type="http://schemas.openxmlformats.org/officeDocument/2006/relationships/image" Target="../media/image58.png"/><Relationship Id="rId14" Type="http://schemas.openxmlformats.org/officeDocument/2006/relationships/image" Target="../media/image6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1.png"/><Relationship Id="rId7" Type="http://schemas.openxmlformats.org/officeDocument/2006/relationships/image" Target="../media/image64.png"/><Relationship Id="rId12" Type="http://schemas.openxmlformats.org/officeDocument/2006/relationships/image" Target="../media/image6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68.png"/><Relationship Id="rId5" Type="http://schemas.openxmlformats.org/officeDocument/2006/relationships/image" Target="../media/image10.png"/><Relationship Id="rId10" Type="http://schemas.openxmlformats.org/officeDocument/2006/relationships/image" Target="../media/image67.png"/><Relationship Id="rId4" Type="http://schemas.openxmlformats.org/officeDocument/2006/relationships/image" Target="../media/image3.png"/><Relationship Id="rId9" Type="http://schemas.openxmlformats.org/officeDocument/2006/relationships/image" Target="../media/image6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1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74.png"/><Relationship Id="rId5" Type="http://schemas.openxmlformats.org/officeDocument/2006/relationships/image" Target="../media/image10.png"/><Relationship Id="rId10" Type="http://schemas.openxmlformats.org/officeDocument/2006/relationships/image" Target="../media/image73.png"/><Relationship Id="rId4" Type="http://schemas.openxmlformats.org/officeDocument/2006/relationships/image" Target="../media/image3.png"/><Relationship Id="rId9" Type="http://schemas.openxmlformats.org/officeDocument/2006/relationships/image" Target="../media/image7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62.png"/><Relationship Id="rId3" Type="http://schemas.openxmlformats.org/officeDocument/2006/relationships/image" Target="../media/image1.png"/><Relationship Id="rId7" Type="http://schemas.openxmlformats.org/officeDocument/2006/relationships/image" Target="../media/image75.png"/><Relationship Id="rId12" Type="http://schemas.openxmlformats.org/officeDocument/2006/relationships/image" Target="../media/image6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79.png"/><Relationship Id="rId5" Type="http://schemas.openxmlformats.org/officeDocument/2006/relationships/image" Target="../media/image10.png"/><Relationship Id="rId10" Type="http://schemas.openxmlformats.org/officeDocument/2006/relationships/image" Target="../media/image78.png"/><Relationship Id="rId4" Type="http://schemas.openxmlformats.org/officeDocument/2006/relationships/image" Target="../media/image3.png"/><Relationship Id="rId9" Type="http://schemas.openxmlformats.org/officeDocument/2006/relationships/image" Target="../media/image77.png"/><Relationship Id="rId14" Type="http://schemas.openxmlformats.org/officeDocument/2006/relationships/image" Target="../media/image6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1.pn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10" Type="http://schemas.openxmlformats.org/officeDocument/2006/relationships/image" Target="../media/image83.png"/><Relationship Id="rId4" Type="http://schemas.openxmlformats.org/officeDocument/2006/relationships/image" Target="../media/image3.png"/><Relationship Id="rId9" Type="http://schemas.openxmlformats.org/officeDocument/2006/relationships/image" Target="../media/image8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1.png"/><Relationship Id="rId7" Type="http://schemas.openxmlformats.org/officeDocument/2006/relationships/image" Target="../media/image8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10" Type="http://schemas.openxmlformats.org/officeDocument/2006/relationships/image" Target="../media/image87.png"/><Relationship Id="rId4" Type="http://schemas.openxmlformats.org/officeDocument/2006/relationships/image" Target="../media/image3.png"/><Relationship Id="rId9" Type="http://schemas.openxmlformats.org/officeDocument/2006/relationships/image" Target="../media/image86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image" Target="../media/image94.png"/><Relationship Id="rId3" Type="http://schemas.openxmlformats.org/officeDocument/2006/relationships/image" Target="../media/image1.png"/><Relationship Id="rId7" Type="http://schemas.openxmlformats.org/officeDocument/2006/relationships/image" Target="../media/image88.png"/><Relationship Id="rId12" Type="http://schemas.openxmlformats.org/officeDocument/2006/relationships/image" Target="../media/image93.png"/><Relationship Id="rId17" Type="http://schemas.openxmlformats.org/officeDocument/2006/relationships/image" Target="../media/image36.png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9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92.png"/><Relationship Id="rId5" Type="http://schemas.openxmlformats.org/officeDocument/2006/relationships/image" Target="../media/image10.png"/><Relationship Id="rId15" Type="http://schemas.openxmlformats.org/officeDocument/2006/relationships/image" Target="../media/image96.png"/><Relationship Id="rId10" Type="http://schemas.openxmlformats.org/officeDocument/2006/relationships/image" Target="../media/image91.png"/><Relationship Id="rId4" Type="http://schemas.openxmlformats.org/officeDocument/2006/relationships/image" Target="../media/image3.png"/><Relationship Id="rId9" Type="http://schemas.openxmlformats.org/officeDocument/2006/relationships/image" Target="../media/image90.png"/><Relationship Id="rId14" Type="http://schemas.openxmlformats.org/officeDocument/2006/relationships/image" Target="../media/image9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13" Type="http://schemas.openxmlformats.org/officeDocument/2006/relationships/image" Target="../media/image93.png"/><Relationship Id="rId18" Type="http://schemas.openxmlformats.org/officeDocument/2006/relationships/image" Target="../media/image61.png"/><Relationship Id="rId3" Type="http://schemas.openxmlformats.org/officeDocument/2006/relationships/image" Target="../media/image1.png"/><Relationship Id="rId7" Type="http://schemas.openxmlformats.org/officeDocument/2006/relationships/image" Target="../media/image98.png"/><Relationship Id="rId12" Type="http://schemas.openxmlformats.org/officeDocument/2006/relationships/image" Target="../media/image92.png"/><Relationship Id="rId17" Type="http://schemas.openxmlformats.org/officeDocument/2006/relationships/image" Target="../media/image97.png"/><Relationship Id="rId2" Type="http://schemas.openxmlformats.org/officeDocument/2006/relationships/notesSlide" Target="../notesSlides/notesSlide28.xml"/><Relationship Id="rId16" Type="http://schemas.openxmlformats.org/officeDocument/2006/relationships/image" Target="../media/image96.png"/><Relationship Id="rId20" Type="http://schemas.openxmlformats.org/officeDocument/2006/relationships/image" Target="../media/image6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91.png"/><Relationship Id="rId5" Type="http://schemas.openxmlformats.org/officeDocument/2006/relationships/image" Target="../media/image10.png"/><Relationship Id="rId15" Type="http://schemas.openxmlformats.org/officeDocument/2006/relationships/image" Target="../media/image95.png"/><Relationship Id="rId10" Type="http://schemas.openxmlformats.org/officeDocument/2006/relationships/image" Target="../media/image90.png"/><Relationship Id="rId19" Type="http://schemas.openxmlformats.org/officeDocument/2006/relationships/image" Target="../media/image62.png"/><Relationship Id="rId4" Type="http://schemas.openxmlformats.org/officeDocument/2006/relationships/image" Target="../media/image3.png"/><Relationship Id="rId9" Type="http://schemas.openxmlformats.org/officeDocument/2006/relationships/image" Target="../media/image100.png"/><Relationship Id="rId14" Type="http://schemas.openxmlformats.org/officeDocument/2006/relationships/image" Target="../media/image94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1.png"/><Relationship Id="rId7" Type="http://schemas.openxmlformats.org/officeDocument/2006/relationships/image" Target="../media/image10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364224" y="12536424"/>
            <a:ext cx="4937760" cy="493776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545336" y="-365760"/>
            <a:ext cx="9144" cy="1474927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2640544" y="-365760"/>
            <a:ext cx="9144" cy="14749272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 rot="21600000">
            <a:off x="1974788" y="3634740"/>
            <a:ext cx="13578840" cy="123444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9720"/>
              </a:lnSpc>
              <a:buNone/>
            </a:pPr>
            <a:r>
              <a:rPr lang="en-US" sz="81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序列建模的基⽯</a:t>
            </a:r>
            <a:endParaRPr lang="en-US" sz="8100" dirty="0"/>
          </a:p>
        </p:txBody>
      </p:sp>
      <p:sp>
        <p:nvSpPr>
          <p:cNvPr id="2" name="文本框 1"/>
          <p:cNvSpPr txBox="1"/>
          <p:nvPr/>
        </p:nvSpPr>
        <p:spPr>
          <a:xfrm>
            <a:off x="20226655" y="1129665"/>
            <a:ext cx="7969250" cy="18186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智码</a:t>
            </a:r>
            <a:r>
              <a:rPr lang="en-US" altLang="zh-CN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AI</a:t>
            </a:r>
            <a:endParaRPr lang="en-US" altLang="zh-CN" sz="5400" b="0" u="none" strike="noStrike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  <a:latin typeface="+mn-ea"/>
              <a:cs typeface="+mn-ea"/>
            </a:endParaRPr>
          </a:p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cs typeface="+mn-ea"/>
                <a:sym typeface="+mn-ea"/>
              </a:rPr>
              <a:t>盗版必究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D7174A0-6BCF-D187-FC72-F4DEFDA172C1}"/>
              </a:ext>
            </a:extLst>
          </p:cNvPr>
          <p:cNvSpPr/>
          <p:nvPr/>
        </p:nvSpPr>
        <p:spPr>
          <a:xfrm rot="21600000">
            <a:off x="2096758" y="6625822"/>
            <a:ext cx="12986865" cy="1737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13710"/>
              </a:lnSpc>
              <a:buNone/>
            </a:pPr>
            <a:r>
              <a:rPr lang="en-US" sz="1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RNN+LSTM+GRU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563624" y="1152144"/>
            <a:ext cx="21095208" cy="91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563624" y="3465576"/>
            <a:ext cx="21095208" cy="91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545336" y="-365760"/>
            <a:ext cx="9144" cy="1474927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9820656" y="1152144"/>
            <a:ext cx="9144" cy="1474927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2640544" y="-365760"/>
            <a:ext cx="9144" cy="14749272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14400" y="5257800"/>
            <a:ext cx="6300216" cy="6300216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 rot="21600000">
            <a:off x="1956816" y="1764792"/>
            <a:ext cx="11283696" cy="1737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13710"/>
              </a:lnSpc>
              <a:buNone/>
            </a:pPr>
            <a:r>
              <a:rPr lang="en-US" sz="11400" dirty="0">
                <a:solidFill>
                  <a:srgbClr val="66B1E1"/>
                </a:solidFill>
                <a:latin typeface="Rubik-Medium" pitchFamily="34" charset="0"/>
                <a:ea typeface="Rubik-Medium" pitchFamily="34" charset="-122"/>
                <a:cs typeface="Rubik-Medium" pitchFamily="34" charset="-120"/>
              </a:rPr>
              <a:t>CONTENTS</a:t>
            </a:r>
            <a:endParaRPr lang="en-US" sz="11400" dirty="0"/>
          </a:p>
        </p:txBody>
      </p:sp>
      <p:pic>
        <p:nvPicPr>
          <p:cNvPr id="10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7787239" y="727329"/>
            <a:ext cx="1764792" cy="2112264"/>
          </a:xfrm>
          <a:prstGeom prst="rect">
            <a:avLst/>
          </a:prstGeom>
        </p:spPr>
      </p:pic>
      <p:sp>
        <p:nvSpPr>
          <p:cNvPr id="11" name="Text 1"/>
          <p:cNvSpPr/>
          <p:nvPr/>
        </p:nvSpPr>
        <p:spPr>
          <a:xfrm rot="21600000">
            <a:off x="10694901" y="10193971"/>
            <a:ext cx="3136392" cy="12801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2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结构与特性GRU</a:t>
            </a:r>
            <a:endParaRPr lang="en-US" sz="4200" dirty="0"/>
          </a:p>
        </p:txBody>
      </p:sp>
      <p:pic>
        <p:nvPicPr>
          <p:cNvPr id="12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9058125" y="9928795"/>
            <a:ext cx="1179576" cy="1179576"/>
          </a:xfrm>
          <a:prstGeom prst="rect">
            <a:avLst/>
          </a:prstGeom>
        </p:spPr>
      </p:pic>
      <p:sp>
        <p:nvSpPr>
          <p:cNvPr id="13" name="Text 2"/>
          <p:cNvSpPr/>
          <p:nvPr/>
        </p:nvSpPr>
        <p:spPr>
          <a:xfrm rot="21600000">
            <a:off x="8866101" y="10276267"/>
            <a:ext cx="1545336" cy="50292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3960"/>
              </a:lnSpc>
              <a:buNone/>
            </a:pPr>
            <a:r>
              <a:rPr lang="en-US" sz="3300" kern="0" spc="89" dirty="0">
                <a:solidFill>
                  <a:srgbClr val="2C2C2C"/>
                </a:solidFill>
                <a:latin typeface="Roboto-Regular" panose="02000000000000000000" pitchFamily="34" charset="0"/>
                <a:ea typeface="Roboto-Regular" panose="02000000000000000000" pitchFamily="34" charset="-122"/>
                <a:cs typeface="Roboto-Regular" panose="02000000000000000000" pitchFamily="34" charset="-120"/>
              </a:rPr>
              <a:t>04</a:t>
            </a:r>
            <a:endParaRPr lang="en-US" sz="3300" dirty="0"/>
          </a:p>
        </p:txBody>
      </p:sp>
      <p:sp>
        <p:nvSpPr>
          <p:cNvPr id="14" name="Text 3"/>
          <p:cNvSpPr/>
          <p:nvPr/>
        </p:nvSpPr>
        <p:spPr>
          <a:xfrm rot="21600000">
            <a:off x="10694901" y="8164003"/>
            <a:ext cx="3136392" cy="12801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2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⻔控机制详解LSTM</a:t>
            </a:r>
            <a:endParaRPr lang="en-US" sz="4200" dirty="0"/>
          </a:p>
        </p:txBody>
      </p:sp>
      <p:pic>
        <p:nvPicPr>
          <p:cNvPr id="15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9058125" y="7898827"/>
            <a:ext cx="1179576" cy="1179576"/>
          </a:xfrm>
          <a:prstGeom prst="rect">
            <a:avLst/>
          </a:prstGeom>
        </p:spPr>
      </p:pic>
      <p:sp>
        <p:nvSpPr>
          <p:cNvPr id="16" name="Text 4"/>
          <p:cNvSpPr/>
          <p:nvPr/>
        </p:nvSpPr>
        <p:spPr>
          <a:xfrm rot="21600000">
            <a:off x="8866101" y="8246299"/>
            <a:ext cx="1545336" cy="50292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3960"/>
              </a:lnSpc>
              <a:buNone/>
            </a:pPr>
            <a:r>
              <a:rPr lang="en-US" sz="3300" kern="0" spc="89" dirty="0">
                <a:solidFill>
                  <a:srgbClr val="2C2C2C"/>
                </a:solidFill>
                <a:latin typeface="Roboto-Regular" panose="02000000000000000000" pitchFamily="34" charset="0"/>
                <a:ea typeface="Roboto-Regular" panose="02000000000000000000" pitchFamily="34" charset="-122"/>
                <a:cs typeface="Roboto-Regular" panose="02000000000000000000" pitchFamily="34" charset="-120"/>
              </a:rPr>
              <a:t>03</a:t>
            </a:r>
            <a:endParaRPr lang="en-US" sz="3300" dirty="0"/>
          </a:p>
        </p:txBody>
      </p:sp>
      <p:sp>
        <p:nvSpPr>
          <p:cNvPr id="17" name="Text 5"/>
          <p:cNvSpPr/>
          <p:nvPr/>
        </p:nvSpPr>
        <p:spPr>
          <a:xfrm rot="21600000">
            <a:off x="10694901" y="6143179"/>
            <a:ext cx="3136392" cy="12801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2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原理深度剖析RNN</a:t>
            </a:r>
            <a:endParaRPr lang="en-US" sz="4200" dirty="0"/>
          </a:p>
        </p:txBody>
      </p:sp>
      <p:pic>
        <p:nvPicPr>
          <p:cNvPr id="18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9058125" y="5878003"/>
            <a:ext cx="1179576" cy="1179576"/>
          </a:xfrm>
          <a:prstGeom prst="rect">
            <a:avLst/>
          </a:prstGeom>
        </p:spPr>
      </p:pic>
      <p:sp>
        <p:nvSpPr>
          <p:cNvPr id="19" name="Text 6"/>
          <p:cNvSpPr/>
          <p:nvPr/>
        </p:nvSpPr>
        <p:spPr>
          <a:xfrm rot="21600000">
            <a:off x="8866101" y="6225475"/>
            <a:ext cx="1545336" cy="50292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3960"/>
              </a:lnSpc>
              <a:buNone/>
            </a:pPr>
            <a:r>
              <a:rPr lang="en-US" sz="3300" kern="0" spc="89" dirty="0">
                <a:solidFill>
                  <a:srgbClr val="2C2C2C"/>
                </a:solidFill>
                <a:latin typeface="Roboto-Regular" panose="02000000000000000000" pitchFamily="34" charset="0"/>
                <a:ea typeface="Roboto-Regular" panose="02000000000000000000" pitchFamily="34" charset="-122"/>
                <a:cs typeface="Roboto-Regular" panose="02000000000000000000" pitchFamily="34" charset="-120"/>
              </a:rPr>
              <a:t>02</a:t>
            </a:r>
            <a:endParaRPr lang="en-US" sz="3300" dirty="0"/>
          </a:p>
        </p:txBody>
      </p:sp>
      <p:sp>
        <p:nvSpPr>
          <p:cNvPr id="20" name="Text 7"/>
          <p:cNvSpPr/>
          <p:nvPr/>
        </p:nvSpPr>
        <p:spPr>
          <a:xfrm rot="21600000">
            <a:off x="10694901" y="4149787"/>
            <a:ext cx="4206240" cy="64008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2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序列建模概述</a:t>
            </a:r>
            <a:endParaRPr lang="en-US" sz="4200" dirty="0"/>
          </a:p>
        </p:txBody>
      </p:sp>
      <p:pic>
        <p:nvPicPr>
          <p:cNvPr id="21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9058125" y="3857179"/>
            <a:ext cx="1179576" cy="1179576"/>
          </a:xfrm>
          <a:prstGeom prst="rect">
            <a:avLst/>
          </a:prstGeom>
        </p:spPr>
      </p:pic>
      <p:sp>
        <p:nvSpPr>
          <p:cNvPr id="22" name="Text 8"/>
          <p:cNvSpPr/>
          <p:nvPr/>
        </p:nvSpPr>
        <p:spPr>
          <a:xfrm rot="21600000">
            <a:off x="8866101" y="4213795"/>
            <a:ext cx="1545336" cy="50292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3960"/>
              </a:lnSpc>
              <a:buNone/>
            </a:pPr>
            <a:r>
              <a:rPr lang="en-US" sz="3300" kern="0" spc="89" dirty="0">
                <a:solidFill>
                  <a:srgbClr val="2C2C2C"/>
                </a:solidFill>
                <a:latin typeface="Roboto-Regular" panose="02000000000000000000" pitchFamily="34" charset="0"/>
                <a:ea typeface="Roboto-Regular" panose="02000000000000000000" pitchFamily="34" charset="-122"/>
                <a:cs typeface="Roboto-Regular" panose="02000000000000000000" pitchFamily="34" charset="-120"/>
              </a:rPr>
              <a:t>01</a:t>
            </a:r>
            <a:endParaRPr lang="en-US" sz="3300" dirty="0"/>
          </a:p>
        </p:txBody>
      </p:sp>
      <p:sp>
        <p:nvSpPr>
          <p:cNvPr id="26" name="Text 11"/>
          <p:cNvSpPr/>
          <p:nvPr/>
        </p:nvSpPr>
        <p:spPr>
          <a:xfrm rot="21600000">
            <a:off x="17374594" y="4122355"/>
            <a:ext cx="3136392" cy="12801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2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模型对⽐与应⽤案例</a:t>
            </a:r>
            <a:endParaRPr lang="en-US" sz="4200" dirty="0"/>
          </a:p>
        </p:txBody>
      </p:sp>
      <p:pic>
        <p:nvPicPr>
          <p:cNvPr id="27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5728674" y="3857179"/>
            <a:ext cx="1179576" cy="1179576"/>
          </a:xfrm>
          <a:prstGeom prst="rect">
            <a:avLst/>
          </a:prstGeom>
        </p:spPr>
      </p:pic>
      <p:sp>
        <p:nvSpPr>
          <p:cNvPr id="28" name="Text 12"/>
          <p:cNvSpPr/>
          <p:nvPr/>
        </p:nvSpPr>
        <p:spPr>
          <a:xfrm rot="21600000">
            <a:off x="15536650" y="4204651"/>
            <a:ext cx="1545336" cy="50292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3960"/>
              </a:lnSpc>
              <a:buNone/>
            </a:pPr>
            <a:r>
              <a:rPr lang="en-US" sz="3300" kern="0" spc="89" dirty="0">
                <a:solidFill>
                  <a:srgbClr val="2C2C2C"/>
                </a:solidFill>
                <a:latin typeface="Roboto-Regular" panose="02000000000000000000" pitchFamily="34" charset="0"/>
                <a:ea typeface="Roboto-Regular" panose="02000000000000000000" pitchFamily="34" charset="-122"/>
                <a:cs typeface="Roboto-Regular" panose="02000000000000000000" pitchFamily="34" charset="-120"/>
              </a:rPr>
              <a:t>05</a:t>
            </a:r>
            <a:endParaRPr lang="en-US" sz="3300" dirty="0"/>
          </a:p>
        </p:txBody>
      </p:sp>
      <p:sp>
        <p:nvSpPr>
          <p:cNvPr id="29" name="Text 13"/>
          <p:cNvSpPr/>
          <p:nvPr/>
        </p:nvSpPr>
        <p:spPr>
          <a:xfrm rot="21600000">
            <a:off x="17374594" y="6143179"/>
            <a:ext cx="3136392" cy="12801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2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常⻅问题与解决⽅案</a:t>
            </a:r>
            <a:endParaRPr lang="en-US" sz="4200" dirty="0"/>
          </a:p>
        </p:txBody>
      </p:sp>
      <p:pic>
        <p:nvPicPr>
          <p:cNvPr id="30" name="Image 1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5710386" y="5887147"/>
            <a:ext cx="1179576" cy="1179576"/>
          </a:xfrm>
          <a:prstGeom prst="rect">
            <a:avLst/>
          </a:prstGeom>
        </p:spPr>
      </p:pic>
      <p:sp>
        <p:nvSpPr>
          <p:cNvPr id="31" name="Text 14"/>
          <p:cNvSpPr/>
          <p:nvPr/>
        </p:nvSpPr>
        <p:spPr>
          <a:xfrm rot="21600000">
            <a:off x="15527506" y="6243763"/>
            <a:ext cx="1545336" cy="50292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3960"/>
              </a:lnSpc>
              <a:buNone/>
            </a:pPr>
            <a:r>
              <a:rPr lang="en-US" sz="3300" kern="0" spc="89" dirty="0">
                <a:solidFill>
                  <a:srgbClr val="2C2C2C"/>
                </a:solidFill>
                <a:latin typeface="Roboto-Regular" panose="02000000000000000000" pitchFamily="34" charset="0"/>
                <a:ea typeface="Roboto-Regular" panose="02000000000000000000" pitchFamily="34" charset="-122"/>
                <a:cs typeface="Roboto-Regular" panose="02000000000000000000" pitchFamily="34" charset="-120"/>
              </a:rPr>
              <a:t>06</a:t>
            </a:r>
            <a:endParaRPr lang="en-US" sz="3300" dirty="0"/>
          </a:p>
        </p:txBody>
      </p:sp>
      <p:sp>
        <p:nvSpPr>
          <p:cNvPr id="32" name="Text 15"/>
          <p:cNvSpPr/>
          <p:nvPr/>
        </p:nvSpPr>
        <p:spPr>
          <a:xfrm rot="21600000">
            <a:off x="17374594" y="8173147"/>
            <a:ext cx="3136392" cy="12801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2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总结与扩展学习</a:t>
            </a:r>
            <a:endParaRPr lang="en-US" sz="4200" dirty="0"/>
          </a:p>
        </p:txBody>
      </p:sp>
      <p:pic>
        <p:nvPicPr>
          <p:cNvPr id="33" name="Image 1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5728674" y="7917115"/>
            <a:ext cx="1179576" cy="1179576"/>
          </a:xfrm>
          <a:prstGeom prst="rect">
            <a:avLst/>
          </a:prstGeom>
        </p:spPr>
      </p:pic>
      <p:sp>
        <p:nvSpPr>
          <p:cNvPr id="34" name="Text 16"/>
          <p:cNvSpPr/>
          <p:nvPr/>
        </p:nvSpPr>
        <p:spPr>
          <a:xfrm rot="21600000">
            <a:off x="15536650" y="8273731"/>
            <a:ext cx="1545336" cy="50292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3960"/>
              </a:lnSpc>
              <a:buNone/>
            </a:pPr>
            <a:r>
              <a:rPr lang="en-US" sz="3300" kern="0" spc="89" dirty="0">
                <a:solidFill>
                  <a:srgbClr val="2C2C2C"/>
                </a:solidFill>
                <a:latin typeface="Roboto-Regular" panose="02000000000000000000" pitchFamily="34" charset="0"/>
                <a:ea typeface="Roboto-Regular" panose="02000000000000000000" pitchFamily="34" charset="-122"/>
                <a:cs typeface="Roboto-Regular" panose="02000000000000000000" pitchFamily="34" charset="-120"/>
              </a:rPr>
              <a:t>07</a:t>
            </a:r>
            <a:endParaRPr lang="en-US" sz="3300" dirty="0"/>
          </a:p>
        </p:txBody>
      </p:sp>
      <p:sp>
        <p:nvSpPr>
          <p:cNvPr id="9" name="文本框 8"/>
          <p:cNvSpPr txBox="1"/>
          <p:nvPr/>
        </p:nvSpPr>
        <p:spPr>
          <a:xfrm>
            <a:off x="20487005" y="1161415"/>
            <a:ext cx="12192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智码</a:t>
            </a:r>
            <a:r>
              <a:rPr lang="en-US" altLang="zh-CN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AI</a:t>
            </a:r>
            <a:endParaRPr lang="en-US" altLang="zh-CN" sz="5400" b="0" u="none" strike="noStrike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  <a:latin typeface="+mn-ea"/>
              <a:cs typeface="+mn-ea"/>
            </a:endParaRPr>
          </a:p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cs typeface="+mn-ea"/>
                <a:sym typeface="+mn-ea"/>
              </a:rPr>
              <a:t>盗版必究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563624" y="1152144"/>
            <a:ext cx="21095208" cy="91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563624" y="7324344"/>
            <a:ext cx="9610344" cy="91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545336" y="-365760"/>
            <a:ext cx="9144" cy="1474927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173968" y="-365760"/>
            <a:ext cx="9144" cy="1474927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2640544" y="-365760"/>
            <a:ext cx="9144" cy="14749272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 rot="21600000">
            <a:off x="2221992" y="1956816"/>
            <a:ext cx="17647920" cy="248716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19605"/>
              </a:lnSpc>
              <a:buNone/>
            </a:pPr>
            <a:r>
              <a:rPr lang="en-US" sz="11300" dirty="0">
                <a:solidFill>
                  <a:srgbClr val="2C2C2C"/>
                </a:solidFill>
                <a:latin typeface="NotoSansSC-Bold" panose="020B0200000000000000" pitchFamily="34" charset="-122"/>
                <a:ea typeface="NotoSansSC-Bold" panose="020B0200000000000000" pitchFamily="34" charset="-122"/>
                <a:cs typeface="NotoSansSC-Bold" panose="020B0200000000000000" pitchFamily="34" charset="-120"/>
              </a:rPr>
              <a:t>序列建模概述</a:t>
            </a:r>
            <a:endParaRPr lang="en-US" sz="11300" dirty="0"/>
          </a:p>
        </p:txBody>
      </p:sp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728216" y="8385048"/>
            <a:ext cx="237744" cy="265176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 rot="21600000">
            <a:off x="2359152" y="7699248"/>
            <a:ext cx="9299448" cy="1737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13710"/>
              </a:lnSpc>
              <a:buNone/>
            </a:pPr>
            <a:r>
              <a:rPr lang="en-US" sz="11400" dirty="0">
                <a:solidFill>
                  <a:srgbClr val="66B1E1"/>
                </a:solidFill>
                <a:latin typeface="Rubik-Medium" pitchFamily="34" charset="0"/>
                <a:ea typeface="Rubik-Medium" pitchFamily="34" charset="-122"/>
                <a:cs typeface="Rubik-Medium" pitchFamily="34" charset="-120"/>
              </a:rPr>
              <a:t>PART 01</a:t>
            </a:r>
            <a:endParaRPr lang="en-US" sz="11400" dirty="0"/>
          </a:p>
        </p:txBody>
      </p:sp>
      <p:sp>
        <p:nvSpPr>
          <p:cNvPr id="10" name="文本框 9"/>
          <p:cNvSpPr txBox="1"/>
          <p:nvPr/>
        </p:nvSpPr>
        <p:spPr>
          <a:xfrm>
            <a:off x="20391120" y="1151890"/>
            <a:ext cx="12192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智码</a:t>
            </a:r>
            <a:r>
              <a:rPr lang="en-US" altLang="zh-CN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AI</a:t>
            </a:r>
            <a:endParaRPr lang="en-US" altLang="zh-CN" sz="5400" b="0" u="none" strike="noStrike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  <a:latin typeface="+mn-ea"/>
              <a:cs typeface="+mn-ea"/>
            </a:endParaRPr>
          </a:p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cs typeface="+mn-ea"/>
                <a:sym typeface="+mn-ea"/>
              </a:rPr>
              <a:t>盗版必究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50392" y="-365760"/>
            <a:ext cx="9144" cy="1474927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3408640" y="-365760"/>
            <a:ext cx="9144" cy="1474927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77824" y="1152144"/>
            <a:ext cx="22503384" cy="914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77824" y="2505456"/>
            <a:ext cx="22503384" cy="914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 rot="21600000">
            <a:off x="2048256" y="1325880"/>
            <a:ext cx="8119872" cy="10241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8060"/>
              </a:lnSpc>
              <a:buNone/>
            </a:pPr>
            <a:r>
              <a:rPr lang="en-US" sz="6700" dirty="0">
                <a:solidFill>
                  <a:srgbClr val="2C2C2C"/>
                </a:solidFill>
                <a:latin typeface="NotoSansSC-Bold" panose="020B0200000000000000" pitchFamily="34" charset="-122"/>
                <a:ea typeface="NotoSansSC-Bold" panose="020B0200000000000000" pitchFamily="34" charset="-122"/>
                <a:cs typeface="NotoSansSC-Bold" panose="020B0200000000000000" pitchFamily="34" charset="-120"/>
              </a:rPr>
              <a:t>什么是序列数据</a:t>
            </a:r>
            <a:endParaRPr lang="en-US" sz="6700" dirty="0"/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399032" y="1764792"/>
            <a:ext cx="237744" cy="265176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010144" y="8750808"/>
            <a:ext cx="2944368" cy="2916936"/>
          </a:xfrm>
          <a:prstGeom prst="rect">
            <a:avLst/>
          </a:prstGeom>
        </p:spPr>
      </p:pic>
      <p:pic>
        <p:nvPicPr>
          <p:cNvPr id="9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951976" y="10149840"/>
            <a:ext cx="777240" cy="685800"/>
          </a:xfrm>
          <a:prstGeom prst="rect">
            <a:avLst/>
          </a:prstGeom>
        </p:spPr>
      </p:pic>
      <p:pic>
        <p:nvPicPr>
          <p:cNvPr id="10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3295376" y="8759952"/>
            <a:ext cx="3072384" cy="2907792"/>
          </a:xfrm>
          <a:prstGeom prst="rect">
            <a:avLst/>
          </a:prstGeom>
        </p:spPr>
      </p:pic>
      <p:pic>
        <p:nvPicPr>
          <p:cNvPr id="11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4593824" y="10122408"/>
            <a:ext cx="786384" cy="777240"/>
          </a:xfrm>
          <a:prstGeom prst="rect">
            <a:avLst/>
          </a:prstGeom>
        </p:spPr>
      </p:pic>
      <p:pic>
        <p:nvPicPr>
          <p:cNvPr id="12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9692640" y="7863840"/>
            <a:ext cx="4974336" cy="2286000"/>
          </a:xfrm>
          <a:prstGeom prst="rect">
            <a:avLst/>
          </a:prstGeom>
        </p:spPr>
      </p:pic>
      <p:pic>
        <p:nvPicPr>
          <p:cNvPr id="13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11823192" y="8522208"/>
            <a:ext cx="676656" cy="749808"/>
          </a:xfrm>
          <a:prstGeom prst="rect">
            <a:avLst/>
          </a:prstGeom>
        </p:spPr>
      </p:pic>
      <p:sp>
        <p:nvSpPr>
          <p:cNvPr id="14" name="Text 1"/>
          <p:cNvSpPr/>
          <p:nvPr/>
        </p:nvSpPr>
        <p:spPr>
          <a:xfrm rot="21600000">
            <a:off x="9144000" y="5202936"/>
            <a:ext cx="6099048" cy="2276856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语音信号作为时间序列的典型代表，其梅尔频谱特征随时间连续变化，相邻帧之间存在明显的声学相关性，这种时序依赖关系是语音识别的关键特征。</a:t>
            </a:r>
            <a:endParaRPr lang="en-US" sz="2600" dirty="0"/>
          </a:p>
        </p:txBody>
      </p:sp>
      <p:sp>
        <p:nvSpPr>
          <p:cNvPr id="15" name="Text 2"/>
          <p:cNvSpPr/>
          <p:nvPr/>
        </p:nvSpPr>
        <p:spPr>
          <a:xfrm rot="21600000">
            <a:off x="10707624" y="4379976"/>
            <a:ext cx="2971800" cy="54864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典型示例</a:t>
            </a:r>
            <a:endParaRPr lang="en-US" sz="3600" dirty="0"/>
          </a:p>
        </p:txBody>
      </p:sp>
      <p:sp>
        <p:nvSpPr>
          <p:cNvPr id="16" name="Text 3"/>
          <p:cNvSpPr/>
          <p:nvPr/>
        </p:nvSpPr>
        <p:spPr>
          <a:xfrm rot="21600000">
            <a:off x="1261872" y="9592056"/>
            <a:ext cx="6099048" cy="2843784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r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序列数据是在时间或空间维度上具有严格顺序关系的数据结构，每个元素的语义与其所处位置密切相关，例如自然语言中“我爱“和“爱我“因顺序不同而产生相反含义。</a:t>
            </a:r>
            <a:endParaRPr lang="en-US" sz="2600" dirty="0"/>
          </a:p>
        </p:txBody>
      </p:sp>
      <p:sp>
        <p:nvSpPr>
          <p:cNvPr id="17" name="Text 4"/>
          <p:cNvSpPr/>
          <p:nvPr/>
        </p:nvSpPr>
        <p:spPr>
          <a:xfrm rot="21600000">
            <a:off x="5294376" y="8759952"/>
            <a:ext cx="2057400" cy="54864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r">
              <a:lnSpc>
                <a:spcPts val="4320"/>
              </a:lnSpc>
              <a:buNone/>
            </a:pPr>
            <a:r>
              <a:rPr lang="en-US" sz="36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定义</a:t>
            </a:r>
            <a:endParaRPr lang="en-US" sz="3600" dirty="0"/>
          </a:p>
        </p:txBody>
      </p:sp>
      <p:sp>
        <p:nvSpPr>
          <p:cNvPr id="18" name="Text 5"/>
          <p:cNvSpPr/>
          <p:nvPr/>
        </p:nvSpPr>
        <p:spPr>
          <a:xfrm rot="21600000">
            <a:off x="17053560" y="9601200"/>
            <a:ext cx="6099048" cy="2276856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变长输入特性使得传统神经网络难以处理，如电商评论长度从几个词到数百词不等，需要模型动态适应不同规模的输入维度。</a:t>
            </a:r>
            <a:endParaRPr lang="en-US" sz="2600" dirty="0"/>
          </a:p>
        </p:txBody>
      </p:sp>
      <p:sp>
        <p:nvSpPr>
          <p:cNvPr id="19" name="Text 6"/>
          <p:cNvSpPr/>
          <p:nvPr/>
        </p:nvSpPr>
        <p:spPr>
          <a:xfrm rot="21600000">
            <a:off x="17053560" y="8769096"/>
            <a:ext cx="2971800" cy="54864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320"/>
              </a:lnSpc>
              <a:buNone/>
            </a:pPr>
            <a:r>
              <a:rPr lang="en-US" sz="36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核心特点</a:t>
            </a:r>
            <a:endParaRPr lang="en-US" sz="3600" dirty="0"/>
          </a:p>
        </p:txBody>
      </p:sp>
      <p:sp>
        <p:nvSpPr>
          <p:cNvPr id="20" name="文本框 19"/>
          <p:cNvSpPr txBox="1"/>
          <p:nvPr/>
        </p:nvSpPr>
        <p:spPr>
          <a:xfrm>
            <a:off x="20373975" y="1151890"/>
            <a:ext cx="12192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智码</a:t>
            </a:r>
            <a:r>
              <a:rPr lang="en-US" altLang="zh-CN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AI</a:t>
            </a:r>
            <a:endParaRPr lang="en-US" altLang="zh-CN" sz="5400" b="0" u="none" strike="noStrike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  <a:latin typeface="+mn-ea"/>
              <a:cs typeface="+mn-ea"/>
            </a:endParaRPr>
          </a:p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cs typeface="+mn-ea"/>
                <a:sym typeface="+mn-ea"/>
              </a:rPr>
              <a:t>盗版必究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50392" y="-365760"/>
            <a:ext cx="9144" cy="1474927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3408640" y="-365760"/>
            <a:ext cx="9144" cy="1474927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77824" y="1152144"/>
            <a:ext cx="22503384" cy="914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77824" y="2505456"/>
            <a:ext cx="22503384" cy="914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 rot="21600000">
            <a:off x="2048256" y="1325880"/>
            <a:ext cx="9820656" cy="10241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8060"/>
              </a:lnSpc>
              <a:buNone/>
            </a:pPr>
            <a:r>
              <a:rPr lang="en-US" sz="6700" dirty="0">
                <a:solidFill>
                  <a:srgbClr val="2C2C2C"/>
                </a:solidFill>
                <a:latin typeface="NotoSansSC-Bold" panose="020B0200000000000000" pitchFamily="34" charset="-122"/>
                <a:ea typeface="NotoSansSC-Bold" panose="020B0200000000000000" pitchFamily="34" charset="-122"/>
                <a:cs typeface="NotoSansSC-Bold" panose="020B0200000000000000" pitchFamily="34" charset="-120"/>
              </a:rPr>
              <a:t>为什么需要特殊模型</a:t>
            </a:r>
            <a:endParaRPr lang="en-US" sz="6700" dirty="0"/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399032" y="1764792"/>
            <a:ext cx="237744" cy="265176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 rot="21600000">
            <a:off x="4114800" y="5349240"/>
            <a:ext cx="7315200" cy="171907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CNN的固定感受野无法捕捉长距离依赖，如分析“虽然价格贵但质量好“这类转折句时，需要跨越多个词语建立关联，导致情感判断错误。</a:t>
            </a:r>
            <a:endParaRPr lang="en-US" sz="2600" dirty="0"/>
          </a:p>
        </p:txBody>
      </p:sp>
      <p:sp>
        <p:nvSpPr>
          <p:cNvPr id="9" name="Text 2"/>
          <p:cNvSpPr/>
          <p:nvPr/>
        </p:nvSpPr>
        <p:spPr>
          <a:xfrm rot="21600000">
            <a:off x="4114800" y="4480560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传统局限</a:t>
            </a:r>
            <a:endParaRPr lang="en-US" sz="3900" dirty="0"/>
          </a:p>
        </p:txBody>
      </p:sp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298448" y="4471416"/>
            <a:ext cx="2185416" cy="2185416"/>
          </a:xfrm>
          <a:prstGeom prst="rect">
            <a:avLst/>
          </a:prstGeom>
        </p:spPr>
      </p:pic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2148840" y="5257800"/>
            <a:ext cx="493776" cy="612648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 rot="21600000">
            <a:off x="4087368" y="9427464"/>
            <a:ext cx="7315200" cy="171907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RNN通过循环连接维护隐藏状态，像传送带般持续传递信息，使得分析股票数据时能综合考虑历史趋势和当前波动特征。</a:t>
            </a:r>
            <a:endParaRPr lang="en-US" sz="2600" dirty="0"/>
          </a:p>
        </p:txBody>
      </p:sp>
      <p:sp>
        <p:nvSpPr>
          <p:cNvPr id="13" name="Text 4"/>
          <p:cNvSpPr/>
          <p:nvPr/>
        </p:nvSpPr>
        <p:spPr>
          <a:xfrm rot="21600000">
            <a:off x="4087368" y="8604504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时序建模</a:t>
            </a:r>
            <a:endParaRPr lang="en-US" sz="3900" dirty="0"/>
          </a:p>
        </p:txBody>
      </p:sp>
      <p:pic>
        <p:nvPicPr>
          <p:cNvPr id="14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298448" y="8595360"/>
            <a:ext cx="2185416" cy="2185416"/>
          </a:xfrm>
          <a:prstGeom prst="rect">
            <a:avLst/>
          </a:prstGeom>
        </p:spPr>
      </p:pic>
      <p:pic>
        <p:nvPicPr>
          <p:cNvPr id="15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2029968" y="9336024"/>
            <a:ext cx="713232" cy="713232"/>
          </a:xfrm>
          <a:prstGeom prst="rect">
            <a:avLst/>
          </a:prstGeom>
        </p:spPr>
      </p:pic>
      <p:sp>
        <p:nvSpPr>
          <p:cNvPr id="16" name="Text 5"/>
          <p:cNvSpPr/>
          <p:nvPr/>
        </p:nvSpPr>
        <p:spPr>
          <a:xfrm rot="21600000">
            <a:off x="15773400" y="5349240"/>
            <a:ext cx="7315200" cy="171907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若将1000个时间步的序列展开为向量，输入维度将超过1万，远超图像分类任务的典型输入规模，引发显存不足和训练困难。</a:t>
            </a:r>
            <a:endParaRPr lang="en-US" sz="2600" dirty="0"/>
          </a:p>
        </p:txBody>
      </p:sp>
      <p:sp>
        <p:nvSpPr>
          <p:cNvPr id="17" name="Text 6"/>
          <p:cNvSpPr/>
          <p:nvPr/>
        </p:nvSpPr>
        <p:spPr>
          <a:xfrm rot="21600000">
            <a:off x="15773400" y="4480560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参数爆炸</a:t>
            </a:r>
            <a:endParaRPr lang="en-US" sz="3900" dirty="0"/>
          </a:p>
        </p:txBody>
      </p:sp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2966192" y="4462272"/>
            <a:ext cx="2185416" cy="2185416"/>
          </a:xfrm>
          <a:prstGeom prst="rect">
            <a:avLst/>
          </a:prstGeom>
        </p:spPr>
      </p:pic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3716000" y="5248656"/>
            <a:ext cx="685800" cy="612648"/>
          </a:xfrm>
          <a:prstGeom prst="rect">
            <a:avLst/>
          </a:prstGeom>
        </p:spPr>
      </p:pic>
      <p:sp>
        <p:nvSpPr>
          <p:cNvPr id="20" name="Text 7"/>
          <p:cNvSpPr/>
          <p:nvPr/>
        </p:nvSpPr>
        <p:spPr>
          <a:xfrm rot="21600000">
            <a:off x="15773400" y="9427464"/>
            <a:ext cx="7315200" cy="171907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在智能客服场景中，序列模型可实时处理用户连续语句，结合对话上下文生成精准回复，这是传统分类模型无法实现的。</a:t>
            </a:r>
            <a:endParaRPr lang="en-US" sz="2600" dirty="0"/>
          </a:p>
        </p:txBody>
      </p:sp>
      <p:sp>
        <p:nvSpPr>
          <p:cNvPr id="21" name="Text 8"/>
          <p:cNvSpPr/>
          <p:nvPr/>
        </p:nvSpPr>
        <p:spPr>
          <a:xfrm rot="21600000">
            <a:off x="15773400" y="8604504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应用优势</a:t>
            </a:r>
            <a:endParaRPr lang="en-US" sz="3900" dirty="0"/>
          </a:p>
        </p:txBody>
      </p:sp>
      <p:pic>
        <p:nvPicPr>
          <p:cNvPr id="22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2966192" y="8586216"/>
            <a:ext cx="2185416" cy="2185416"/>
          </a:xfrm>
          <a:prstGeom prst="rect">
            <a:avLst/>
          </a:prstGeom>
        </p:spPr>
      </p:pic>
      <p:pic>
        <p:nvPicPr>
          <p:cNvPr id="23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13679424" y="9372600"/>
            <a:ext cx="749808" cy="612648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20493355" y="1151890"/>
            <a:ext cx="12192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智码</a:t>
            </a:r>
            <a:r>
              <a:rPr lang="en-US" altLang="zh-CN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AI</a:t>
            </a:r>
            <a:endParaRPr lang="en-US" altLang="zh-CN" sz="5400" b="0" u="none" strike="noStrike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  <a:latin typeface="+mn-ea"/>
              <a:cs typeface="+mn-ea"/>
            </a:endParaRPr>
          </a:p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cs typeface="+mn-ea"/>
                <a:sym typeface="+mn-ea"/>
              </a:rPr>
              <a:t>盗版必究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50392" y="-365760"/>
            <a:ext cx="9144" cy="1474927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3408640" y="-365760"/>
            <a:ext cx="9144" cy="1474927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77824" y="1152144"/>
            <a:ext cx="22503384" cy="914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77824" y="2505456"/>
            <a:ext cx="22503384" cy="914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 rot="21600000">
            <a:off x="2048256" y="1325880"/>
            <a:ext cx="8970264" cy="10241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8060"/>
              </a:lnSpc>
              <a:buNone/>
            </a:pPr>
            <a:r>
              <a:rPr lang="en-US" sz="6700" dirty="0">
                <a:solidFill>
                  <a:srgbClr val="2C2C2C"/>
                </a:solidFill>
                <a:latin typeface="NotoSansSC-Bold" panose="020B0200000000000000" pitchFamily="34" charset="-122"/>
                <a:ea typeface="NotoSansSC-Bold" panose="020B0200000000000000" pitchFamily="34" charset="-122"/>
                <a:cs typeface="NotoSansSC-Bold" panose="020B0200000000000000" pitchFamily="34" charset="-120"/>
              </a:rPr>
              <a:t>序列模型发展历程</a:t>
            </a:r>
            <a:endParaRPr lang="en-US" sz="6700" dirty="0"/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399032" y="1764792"/>
            <a:ext cx="237744" cy="265176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057400" y="8193024"/>
            <a:ext cx="20281392" cy="2971800"/>
          </a:xfrm>
          <a:prstGeom prst="rect">
            <a:avLst/>
          </a:prstGeom>
        </p:spPr>
      </p:pic>
      <p:pic>
        <p:nvPicPr>
          <p:cNvPr id="9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2743200" y="8494776"/>
            <a:ext cx="18900648" cy="2377440"/>
          </a:xfrm>
          <a:prstGeom prst="rect">
            <a:avLst/>
          </a:prstGeom>
        </p:spPr>
      </p:pic>
      <p:pic>
        <p:nvPicPr>
          <p:cNvPr id="10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21515832" y="10716768"/>
            <a:ext cx="256032" cy="256032"/>
          </a:xfrm>
          <a:prstGeom prst="rect">
            <a:avLst/>
          </a:prstGeom>
        </p:spPr>
      </p:pic>
      <p:sp>
        <p:nvSpPr>
          <p:cNvPr id="11" name="Text 1"/>
          <p:cNvSpPr/>
          <p:nvPr/>
        </p:nvSpPr>
        <p:spPr>
          <a:xfrm rot="21600000">
            <a:off x="10506456" y="11814048"/>
            <a:ext cx="3374136" cy="42976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8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序列模型演进史</a:t>
            </a:r>
            <a:endParaRPr lang="en-US" sz="2800" dirty="0"/>
          </a:p>
        </p:txBody>
      </p:sp>
      <p:pic>
        <p:nvPicPr>
          <p:cNvPr id="12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2487168" y="8394192"/>
            <a:ext cx="256032" cy="256032"/>
          </a:xfrm>
          <a:prstGeom prst="rect">
            <a:avLst/>
          </a:prstGeom>
        </p:spPr>
      </p:pic>
      <p:pic>
        <p:nvPicPr>
          <p:cNvPr id="13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3483864" y="7479792"/>
            <a:ext cx="2029968" cy="2029968"/>
          </a:xfrm>
          <a:prstGeom prst="rect">
            <a:avLst/>
          </a:prstGeom>
        </p:spPr>
      </p:pic>
      <p:pic>
        <p:nvPicPr>
          <p:cNvPr id="14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4114800" y="8101584"/>
            <a:ext cx="749808" cy="786384"/>
          </a:xfrm>
          <a:prstGeom prst="rect">
            <a:avLst/>
          </a:prstGeom>
        </p:spPr>
      </p:pic>
      <p:sp>
        <p:nvSpPr>
          <p:cNvPr id="15" name="Text 2"/>
          <p:cNvSpPr/>
          <p:nvPr/>
        </p:nvSpPr>
        <p:spPr>
          <a:xfrm rot="21600000">
            <a:off x="3785616" y="9829800"/>
            <a:ext cx="1444752" cy="3383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640"/>
              </a:lnSpc>
              <a:buNone/>
            </a:pPr>
            <a:r>
              <a:rPr lang="en-US" sz="22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1980s</a:t>
            </a:r>
            <a:endParaRPr lang="en-US" sz="2200" dirty="0"/>
          </a:p>
        </p:txBody>
      </p:sp>
      <p:sp>
        <p:nvSpPr>
          <p:cNvPr id="16" name="Text 3"/>
          <p:cNvSpPr/>
          <p:nvPr/>
        </p:nvSpPr>
        <p:spPr>
          <a:xfrm rot="21600000">
            <a:off x="2962656" y="10332720"/>
            <a:ext cx="3090672" cy="27432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局部概率依赖建模</a:t>
            </a:r>
            <a:endParaRPr lang="en-US" sz="1800" dirty="0"/>
          </a:p>
        </p:txBody>
      </p:sp>
      <p:pic>
        <p:nvPicPr>
          <p:cNvPr id="17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7324344" y="7507224"/>
            <a:ext cx="2029968" cy="2029968"/>
          </a:xfrm>
          <a:prstGeom prst="rect">
            <a:avLst/>
          </a:prstGeom>
        </p:spPr>
      </p:pic>
      <p:pic>
        <p:nvPicPr>
          <p:cNvPr id="18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7946136" y="8129016"/>
            <a:ext cx="777240" cy="786384"/>
          </a:xfrm>
          <a:prstGeom prst="rect">
            <a:avLst/>
          </a:prstGeom>
        </p:spPr>
      </p:pic>
      <p:sp>
        <p:nvSpPr>
          <p:cNvPr id="19" name="Text 4"/>
          <p:cNvSpPr/>
          <p:nvPr/>
        </p:nvSpPr>
        <p:spPr>
          <a:xfrm rot="21600000">
            <a:off x="7699248" y="9829800"/>
            <a:ext cx="1316736" cy="3383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640"/>
              </a:lnSpc>
              <a:buNone/>
            </a:pPr>
            <a:r>
              <a:rPr lang="en-US" sz="22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1990</a:t>
            </a:r>
            <a:endParaRPr lang="en-US" sz="2200" dirty="0"/>
          </a:p>
        </p:txBody>
      </p:sp>
      <p:sp>
        <p:nvSpPr>
          <p:cNvPr id="20" name="Text 5"/>
          <p:cNvSpPr/>
          <p:nvPr/>
        </p:nvSpPr>
        <p:spPr>
          <a:xfrm rot="21600000">
            <a:off x="6803136" y="10332720"/>
            <a:ext cx="3090672" cy="27432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首次端到端序列学习</a:t>
            </a:r>
            <a:endParaRPr lang="en-US" sz="1800" dirty="0"/>
          </a:p>
        </p:txBody>
      </p:sp>
      <p:pic>
        <p:nvPicPr>
          <p:cNvPr id="21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4575536" y="9089136"/>
            <a:ext cx="2029968" cy="2029968"/>
          </a:xfrm>
          <a:prstGeom prst="rect">
            <a:avLst/>
          </a:prstGeom>
        </p:spPr>
      </p:pic>
      <p:pic>
        <p:nvPicPr>
          <p:cNvPr id="22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15206472" y="9765792"/>
            <a:ext cx="777240" cy="685800"/>
          </a:xfrm>
          <a:prstGeom prst="rect">
            <a:avLst/>
          </a:prstGeom>
        </p:spPr>
      </p:pic>
      <p:sp>
        <p:nvSpPr>
          <p:cNvPr id="23" name="Text 6"/>
          <p:cNvSpPr/>
          <p:nvPr/>
        </p:nvSpPr>
        <p:spPr>
          <a:xfrm rot="21600000">
            <a:off x="14932152" y="7635240"/>
            <a:ext cx="1316736" cy="3383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640"/>
              </a:lnSpc>
              <a:buNone/>
            </a:pPr>
            <a:r>
              <a:rPr lang="en-US" sz="22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2014</a:t>
            </a:r>
            <a:endParaRPr lang="en-US" sz="2200" dirty="0"/>
          </a:p>
        </p:txBody>
      </p:sp>
      <p:sp>
        <p:nvSpPr>
          <p:cNvPr id="24" name="Text 7"/>
          <p:cNvSpPr/>
          <p:nvPr/>
        </p:nvSpPr>
        <p:spPr>
          <a:xfrm rot="21600000">
            <a:off x="14045184" y="8147304"/>
            <a:ext cx="3090672" cy="27432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简化LSTM结构</a:t>
            </a:r>
            <a:endParaRPr lang="en-US" sz="1800" dirty="0"/>
          </a:p>
        </p:txBody>
      </p:sp>
      <p:pic>
        <p:nvPicPr>
          <p:cNvPr id="25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1201400" y="7507224"/>
            <a:ext cx="2029968" cy="2029968"/>
          </a:xfrm>
          <a:prstGeom prst="rect">
            <a:avLst/>
          </a:prstGeom>
        </p:spPr>
      </p:pic>
      <p:pic>
        <p:nvPicPr>
          <p:cNvPr id="26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11814048" y="8156448"/>
            <a:ext cx="813816" cy="722376"/>
          </a:xfrm>
          <a:prstGeom prst="rect">
            <a:avLst/>
          </a:prstGeom>
        </p:spPr>
      </p:pic>
      <p:sp>
        <p:nvSpPr>
          <p:cNvPr id="27" name="Text 8"/>
          <p:cNvSpPr/>
          <p:nvPr/>
        </p:nvSpPr>
        <p:spPr>
          <a:xfrm rot="21600000">
            <a:off x="11558016" y="9829800"/>
            <a:ext cx="1316736" cy="3383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640"/>
              </a:lnSpc>
              <a:buNone/>
            </a:pPr>
            <a:r>
              <a:rPr lang="en-US" sz="22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1997</a:t>
            </a:r>
            <a:endParaRPr lang="en-US" sz="2200" dirty="0"/>
          </a:p>
        </p:txBody>
      </p:sp>
      <p:sp>
        <p:nvSpPr>
          <p:cNvPr id="28" name="Text 9"/>
          <p:cNvSpPr/>
          <p:nvPr/>
        </p:nvSpPr>
        <p:spPr>
          <a:xfrm rot="21600000">
            <a:off x="10671048" y="10332720"/>
            <a:ext cx="3090672" cy="27432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门控机制解决梯度消失</a:t>
            </a:r>
            <a:endParaRPr lang="en-US" sz="1800" dirty="0"/>
          </a:p>
        </p:txBody>
      </p:sp>
      <p:sp>
        <p:nvSpPr>
          <p:cNvPr id="29" name="Text 10"/>
          <p:cNvSpPr/>
          <p:nvPr/>
        </p:nvSpPr>
        <p:spPr>
          <a:xfrm rot="21600000">
            <a:off x="18800064" y="8293608"/>
            <a:ext cx="1316736" cy="3383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640"/>
              </a:lnSpc>
              <a:buNone/>
            </a:pPr>
            <a:r>
              <a:rPr lang="en-US" sz="22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2017</a:t>
            </a:r>
            <a:endParaRPr lang="en-US" sz="2200" dirty="0"/>
          </a:p>
        </p:txBody>
      </p:sp>
      <p:sp>
        <p:nvSpPr>
          <p:cNvPr id="30" name="Text 11"/>
          <p:cNvSpPr/>
          <p:nvPr/>
        </p:nvSpPr>
        <p:spPr>
          <a:xfrm rot="21600000">
            <a:off x="17903952" y="8805672"/>
            <a:ext cx="3090672" cy="27432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自注意力机制革命</a:t>
            </a:r>
            <a:endParaRPr lang="en-US" sz="1800" dirty="0"/>
          </a:p>
        </p:txBody>
      </p:sp>
      <p:pic>
        <p:nvPicPr>
          <p:cNvPr id="31" name="Image 1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8443448" y="9756648"/>
            <a:ext cx="2029968" cy="2029968"/>
          </a:xfrm>
          <a:prstGeom prst="rect">
            <a:avLst/>
          </a:prstGeom>
        </p:spPr>
      </p:pic>
      <p:pic>
        <p:nvPicPr>
          <p:cNvPr id="32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19129248" y="10442448"/>
            <a:ext cx="649224" cy="649224"/>
          </a:xfrm>
          <a:prstGeom prst="rect">
            <a:avLst/>
          </a:prstGeom>
        </p:spPr>
      </p:pic>
      <p:sp>
        <p:nvSpPr>
          <p:cNvPr id="33" name="Text 12"/>
          <p:cNvSpPr/>
          <p:nvPr/>
        </p:nvSpPr>
        <p:spPr>
          <a:xfrm rot="21600000">
            <a:off x="4169664" y="4709160"/>
            <a:ext cx="16056864" cy="126187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4930"/>
              </a:lnSpc>
              <a:buNone/>
            </a:pPr>
            <a:r>
              <a:rPr lang="en-US" sz="28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从马尔可夫链的局部依赖假设，到LSTM通过细胞状态实现长期记忆，再到Transformer彻底革新时序建模方式，每次突破都解决了前代模型的根本性缺陷。</a:t>
            </a:r>
            <a:endParaRPr lang="en-US" sz="2800" dirty="0"/>
          </a:p>
        </p:txBody>
      </p:sp>
      <p:sp>
        <p:nvSpPr>
          <p:cNvPr id="34" name="Text 13"/>
          <p:cNvSpPr/>
          <p:nvPr/>
        </p:nvSpPr>
        <p:spPr>
          <a:xfrm rot="21600000">
            <a:off x="10451592" y="3730752"/>
            <a:ext cx="3465576" cy="64008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5040"/>
              </a:lnSpc>
              <a:buNone/>
            </a:pPr>
            <a:r>
              <a:rPr lang="en-US" sz="42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演进脉络</a:t>
            </a:r>
            <a:endParaRPr lang="en-US" sz="4200" dirty="0"/>
          </a:p>
        </p:txBody>
      </p:sp>
      <p:sp>
        <p:nvSpPr>
          <p:cNvPr id="35" name="文本框 34"/>
          <p:cNvSpPr txBox="1"/>
          <p:nvPr/>
        </p:nvSpPr>
        <p:spPr>
          <a:xfrm>
            <a:off x="20473670" y="1151890"/>
            <a:ext cx="12192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智码</a:t>
            </a:r>
            <a:r>
              <a:rPr lang="en-US" altLang="zh-CN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AI</a:t>
            </a:r>
            <a:endParaRPr lang="en-US" altLang="zh-CN" sz="5400" b="0" u="none" strike="noStrike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  <a:latin typeface="+mn-ea"/>
              <a:cs typeface="+mn-ea"/>
            </a:endParaRPr>
          </a:p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cs typeface="+mn-ea"/>
                <a:sym typeface="+mn-ea"/>
              </a:rPr>
              <a:t>盗版必究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563624" y="1152144"/>
            <a:ext cx="21095208" cy="91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563624" y="7324344"/>
            <a:ext cx="9610344" cy="91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545336" y="-365760"/>
            <a:ext cx="9144" cy="1474927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173968" y="-365760"/>
            <a:ext cx="9144" cy="1474927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2640544" y="-365760"/>
            <a:ext cx="9144" cy="14749272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 rot="21600000">
            <a:off x="2221992" y="1956816"/>
            <a:ext cx="22174200" cy="248716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19605"/>
              </a:lnSpc>
              <a:buNone/>
            </a:pPr>
            <a:r>
              <a:rPr lang="en-US" sz="11300" dirty="0">
                <a:solidFill>
                  <a:srgbClr val="2C2C2C"/>
                </a:solidFill>
                <a:latin typeface="NotoSansSC-Bold" panose="020B0200000000000000" pitchFamily="34" charset="-122"/>
                <a:ea typeface="NotoSansSC-Bold" panose="020B0200000000000000" pitchFamily="34" charset="-122"/>
                <a:cs typeface="NotoSansSC-Bold" panose="020B0200000000000000" pitchFamily="34" charset="-120"/>
              </a:rPr>
              <a:t>原理深度剖析RNN</a:t>
            </a:r>
            <a:endParaRPr lang="en-US" sz="11300" dirty="0"/>
          </a:p>
        </p:txBody>
      </p:sp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728216" y="8385048"/>
            <a:ext cx="237744" cy="265176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 rot="21600000">
            <a:off x="2359152" y="7699248"/>
            <a:ext cx="9528048" cy="1737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13710"/>
              </a:lnSpc>
              <a:buNone/>
            </a:pPr>
            <a:r>
              <a:rPr lang="en-US" sz="11400" dirty="0">
                <a:solidFill>
                  <a:srgbClr val="66B1E1"/>
                </a:solidFill>
                <a:latin typeface="Rubik-Medium" pitchFamily="34" charset="0"/>
                <a:ea typeface="Rubik-Medium" pitchFamily="34" charset="-122"/>
                <a:cs typeface="Rubik-Medium" pitchFamily="34" charset="-120"/>
              </a:rPr>
              <a:t>PART 02</a:t>
            </a:r>
            <a:endParaRPr lang="en-US" sz="11400" dirty="0"/>
          </a:p>
        </p:txBody>
      </p:sp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3889736" y="2807208"/>
            <a:ext cx="4965192" cy="4919472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0391120" y="1151890"/>
            <a:ext cx="12192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智码</a:t>
            </a:r>
            <a:r>
              <a:rPr lang="en-US" altLang="zh-CN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AI</a:t>
            </a:r>
            <a:endParaRPr lang="en-US" altLang="zh-CN" sz="5400" b="0" u="none" strike="noStrike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  <a:latin typeface="+mn-ea"/>
              <a:cs typeface="+mn-ea"/>
            </a:endParaRPr>
          </a:p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cs typeface="+mn-ea"/>
                <a:sym typeface="+mn-ea"/>
              </a:rPr>
              <a:t>盗版必究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50392" y="-365760"/>
            <a:ext cx="9144" cy="1474927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3408640" y="-365760"/>
            <a:ext cx="9144" cy="1474927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77824" y="1152144"/>
            <a:ext cx="22503384" cy="914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77824" y="2505456"/>
            <a:ext cx="22503384" cy="914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 rot="21600000">
            <a:off x="2048256" y="1325880"/>
            <a:ext cx="7406640" cy="10241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8060"/>
              </a:lnSpc>
              <a:buNone/>
            </a:pPr>
            <a:r>
              <a:rPr lang="en-US" sz="6700" dirty="0">
                <a:solidFill>
                  <a:srgbClr val="2C2C2C"/>
                </a:solidFill>
                <a:latin typeface="NotoSansSC-Bold" panose="020B0200000000000000" pitchFamily="34" charset="-122"/>
                <a:ea typeface="NotoSansSC-Bold" panose="020B0200000000000000" pitchFamily="34" charset="-122"/>
                <a:cs typeface="NotoSansSC-Bold" panose="020B0200000000000000" pitchFamily="34" charset="-120"/>
              </a:rPr>
              <a:t>基本结构RNN</a:t>
            </a:r>
            <a:endParaRPr lang="en-US" sz="6700" dirty="0"/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399032" y="1764792"/>
            <a:ext cx="237744" cy="265176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3386816" y="7351776"/>
            <a:ext cx="3227832" cy="3337560"/>
          </a:xfrm>
          <a:prstGeom prst="rect">
            <a:avLst/>
          </a:prstGeom>
        </p:spPr>
      </p:pic>
      <p:pic>
        <p:nvPicPr>
          <p:cNvPr id="9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7821656" y="3831336"/>
            <a:ext cx="3438144" cy="3941064"/>
          </a:xfrm>
          <a:prstGeom prst="rect">
            <a:avLst/>
          </a:prstGeom>
        </p:spPr>
      </p:pic>
      <p:pic>
        <p:nvPicPr>
          <p:cNvPr id="10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4346936" y="3831336"/>
            <a:ext cx="3858768" cy="4023360"/>
          </a:xfrm>
          <a:prstGeom prst="rect">
            <a:avLst/>
          </a:prstGeom>
        </p:spPr>
      </p:pic>
      <p:pic>
        <p:nvPicPr>
          <p:cNvPr id="11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8982944" y="7251192"/>
            <a:ext cx="3136392" cy="3438144"/>
          </a:xfrm>
          <a:prstGeom prst="rect">
            <a:avLst/>
          </a:prstGeom>
        </p:spPr>
      </p:pic>
      <p:sp>
        <p:nvSpPr>
          <p:cNvPr id="12" name="Text 1"/>
          <p:cNvSpPr/>
          <p:nvPr/>
        </p:nvSpPr>
        <p:spPr>
          <a:xfrm rot="21600000">
            <a:off x="14045184" y="9208008"/>
            <a:ext cx="2020824" cy="3383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640"/>
              </a:lnSpc>
              <a:buNone/>
            </a:pPr>
            <a:r>
              <a:rPr lang="en-US" sz="2200" dirty="0">
                <a:solidFill>
                  <a:srgbClr val="F1F6FA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特征输入</a:t>
            </a:r>
            <a:endParaRPr lang="en-US" sz="2200" dirty="0"/>
          </a:p>
        </p:txBody>
      </p:sp>
      <p:sp>
        <p:nvSpPr>
          <p:cNvPr id="13" name="Text 2"/>
          <p:cNvSpPr/>
          <p:nvPr/>
        </p:nvSpPr>
        <p:spPr>
          <a:xfrm rot="21600000">
            <a:off x="14923008" y="5486400"/>
            <a:ext cx="2020824" cy="3383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640"/>
              </a:lnSpc>
              <a:buNone/>
            </a:pPr>
            <a:r>
              <a:rPr lang="en-US" sz="2200" dirty="0">
                <a:solidFill>
                  <a:srgbClr val="F1F6FA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状态更新</a:t>
            </a:r>
            <a:endParaRPr lang="en-US" sz="2200" dirty="0"/>
          </a:p>
        </p:txBody>
      </p:sp>
      <p:sp>
        <p:nvSpPr>
          <p:cNvPr id="14" name="Text 3"/>
          <p:cNvSpPr/>
          <p:nvPr/>
        </p:nvSpPr>
        <p:spPr>
          <a:xfrm rot="21600000">
            <a:off x="19549872" y="9208008"/>
            <a:ext cx="2020824" cy="3383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640"/>
              </a:lnSpc>
              <a:buNone/>
            </a:pPr>
            <a:r>
              <a:rPr lang="en-US" sz="2200" dirty="0">
                <a:solidFill>
                  <a:srgbClr val="F1F6FA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时序记忆</a:t>
            </a:r>
            <a:endParaRPr lang="en-US" sz="2200" dirty="0"/>
          </a:p>
        </p:txBody>
      </p:sp>
      <p:sp>
        <p:nvSpPr>
          <p:cNvPr id="15" name="Text 4"/>
          <p:cNvSpPr/>
          <p:nvPr/>
        </p:nvSpPr>
        <p:spPr>
          <a:xfrm rot="21600000">
            <a:off x="18690336" y="5486400"/>
            <a:ext cx="2020824" cy="3383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640"/>
              </a:lnSpc>
              <a:buNone/>
            </a:pPr>
            <a:r>
              <a:rPr lang="en-US" sz="2200" dirty="0">
                <a:solidFill>
                  <a:srgbClr val="F1F6FA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预测输出</a:t>
            </a:r>
            <a:endParaRPr lang="en-US" sz="2200" dirty="0"/>
          </a:p>
        </p:txBody>
      </p:sp>
      <p:sp>
        <p:nvSpPr>
          <p:cNvPr id="16" name="Text 5"/>
          <p:cNvSpPr/>
          <p:nvPr/>
        </p:nvSpPr>
        <p:spPr>
          <a:xfrm rot="21600000">
            <a:off x="15444216" y="11274552"/>
            <a:ext cx="4599432" cy="52120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4080"/>
              </a:lnSpc>
              <a:buNone/>
            </a:pPr>
            <a:r>
              <a:rPr lang="en-US" sz="34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RNN前向计算流程</a:t>
            </a:r>
            <a:endParaRPr lang="en-US" sz="3400" dirty="0"/>
          </a:p>
        </p:txBody>
      </p:sp>
      <p:sp>
        <p:nvSpPr>
          <p:cNvPr id="17" name="Text 6"/>
          <p:cNvSpPr/>
          <p:nvPr/>
        </p:nvSpPr>
        <p:spPr>
          <a:xfrm rot="21600000">
            <a:off x="2404872" y="7708392"/>
            <a:ext cx="9144000" cy="171907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将循环结构按时间步展开后，T步序列形成深度为T的前馈网络，参数W_hh在不同时间步共享，显著减少参数量，如处理100步序列时参数仅增加0.01%。</a:t>
            </a:r>
            <a:endParaRPr lang="en-US" sz="2600" dirty="0"/>
          </a:p>
        </p:txBody>
      </p:sp>
      <p:sp>
        <p:nvSpPr>
          <p:cNvPr id="18" name="Text 7"/>
          <p:cNvSpPr/>
          <p:nvPr/>
        </p:nvSpPr>
        <p:spPr>
          <a:xfrm rot="21600000">
            <a:off x="2404872" y="6839712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展开特性</a:t>
            </a:r>
            <a:endParaRPr lang="en-US" sz="3900" dirty="0"/>
          </a:p>
        </p:txBody>
      </p:sp>
      <p:pic>
        <p:nvPicPr>
          <p:cNvPr id="19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1700784" y="6958584"/>
            <a:ext cx="283464" cy="301752"/>
          </a:xfrm>
          <a:prstGeom prst="rect">
            <a:avLst/>
          </a:prstGeom>
        </p:spPr>
      </p:pic>
      <p:sp>
        <p:nvSpPr>
          <p:cNvPr id="20" name="Text 8"/>
          <p:cNvSpPr/>
          <p:nvPr/>
        </p:nvSpPr>
        <p:spPr>
          <a:xfrm rot="21600000">
            <a:off x="2404872" y="4764024"/>
            <a:ext cx="9144000" cy="171907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RNN通过循环连接实现时序记忆，隐藏层h_t同时接收当前输入x_t和前一状态h_{t-1}，形成类似“记忆磁带“的信息传递机制，适用于语音识别等连续信号处理。</a:t>
            </a:r>
            <a:endParaRPr lang="en-US" sz="2600" dirty="0"/>
          </a:p>
        </p:txBody>
      </p:sp>
      <p:sp>
        <p:nvSpPr>
          <p:cNvPr id="21" name="Text 9"/>
          <p:cNvSpPr/>
          <p:nvPr/>
        </p:nvSpPr>
        <p:spPr>
          <a:xfrm rot="21600000">
            <a:off x="2404872" y="3895344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拓扑原理</a:t>
            </a:r>
            <a:endParaRPr lang="en-US" sz="3900" dirty="0"/>
          </a:p>
        </p:txBody>
      </p:sp>
      <p:pic>
        <p:nvPicPr>
          <p:cNvPr id="2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1700784" y="4014216"/>
            <a:ext cx="283464" cy="301752"/>
          </a:xfrm>
          <a:prstGeom prst="rect">
            <a:avLst/>
          </a:prstGeom>
        </p:spPr>
      </p:pic>
      <p:sp>
        <p:nvSpPr>
          <p:cNvPr id="23" name="Text 10"/>
          <p:cNvSpPr/>
          <p:nvPr/>
        </p:nvSpPr>
        <p:spPr>
          <a:xfrm rot="21600000">
            <a:off x="2404872" y="10652760"/>
            <a:ext cx="9144000" cy="114300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基础RNN使用tanh激活函数导致梯度在反向传播时最多衰减至0.25^T，当T》10时梯度近乎消失，无法学习长期依赖关系。</a:t>
            </a:r>
            <a:endParaRPr lang="en-US" sz="2600" dirty="0"/>
          </a:p>
        </p:txBody>
      </p:sp>
      <p:sp>
        <p:nvSpPr>
          <p:cNvPr id="24" name="Text 11"/>
          <p:cNvSpPr/>
          <p:nvPr/>
        </p:nvSpPr>
        <p:spPr>
          <a:xfrm rot="21600000">
            <a:off x="2404872" y="9793224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计算局限</a:t>
            </a:r>
            <a:endParaRPr lang="en-US" sz="3900" dirty="0"/>
          </a:p>
        </p:txBody>
      </p:sp>
      <p:pic>
        <p:nvPicPr>
          <p:cNvPr id="25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1700784" y="9902952"/>
            <a:ext cx="283464" cy="301752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20433030" y="1151890"/>
            <a:ext cx="12192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智码</a:t>
            </a:r>
            <a:r>
              <a:rPr lang="en-US" altLang="zh-CN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AI</a:t>
            </a:r>
            <a:endParaRPr lang="en-US" altLang="zh-CN" sz="5400" b="0" u="none" strike="noStrike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  <a:latin typeface="+mn-ea"/>
              <a:cs typeface="+mn-ea"/>
            </a:endParaRPr>
          </a:p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cs typeface="+mn-ea"/>
                <a:sym typeface="+mn-ea"/>
              </a:rPr>
              <a:t>盗版必究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50392" y="-365760"/>
            <a:ext cx="9144" cy="1474927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3408640" y="-365760"/>
            <a:ext cx="9144" cy="1474927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77824" y="1152144"/>
            <a:ext cx="22503384" cy="914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77824" y="2505456"/>
            <a:ext cx="22503384" cy="914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 rot="21600000">
            <a:off x="2048256" y="1325880"/>
            <a:ext cx="8119872" cy="10241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8060"/>
              </a:lnSpc>
              <a:buNone/>
            </a:pPr>
            <a:r>
              <a:rPr lang="en-US" sz="6700" dirty="0">
                <a:solidFill>
                  <a:srgbClr val="2C2C2C"/>
                </a:solidFill>
                <a:latin typeface="NotoSansSC-Bold" panose="020B0200000000000000" pitchFamily="34" charset="-122"/>
                <a:ea typeface="NotoSansSC-Bold" panose="020B0200000000000000" pitchFamily="34" charset="-122"/>
                <a:cs typeface="NotoSansSC-Bold" panose="020B0200000000000000" pitchFamily="34" charset="-120"/>
              </a:rPr>
              <a:t>隐藏状态的意义</a:t>
            </a:r>
            <a:endParaRPr lang="en-US" sz="6700" dirty="0"/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399032" y="1764792"/>
            <a:ext cx="237744" cy="265176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 rot="21600000">
            <a:off x="7031736" y="4041647"/>
            <a:ext cx="5059152" cy="3494269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030"/>
              </a:lnSpc>
              <a:buNone/>
            </a:pPr>
            <a:r>
              <a:rPr lang="en-US" sz="24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在机器翻译中，h_t逐步编码源语言语义，如处理法语“Je t‘aime“时，h_3需完整保留主语“Je“和动词“aime“的关系，输出层据此生成“I love you“。</a:t>
            </a:r>
            <a:endParaRPr lang="en-US" sz="2400" dirty="0"/>
          </a:p>
        </p:txBody>
      </p:sp>
      <p:sp>
        <p:nvSpPr>
          <p:cNvPr id="9" name="Text 2"/>
          <p:cNvSpPr/>
          <p:nvPr/>
        </p:nvSpPr>
        <p:spPr>
          <a:xfrm rot="21600000">
            <a:off x="7031736" y="3346704"/>
            <a:ext cx="2642616" cy="48463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3840"/>
              </a:lnSpc>
              <a:buNone/>
            </a:pPr>
            <a:r>
              <a:rPr lang="en-US" sz="32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语义编码</a:t>
            </a:r>
            <a:endParaRPr lang="en-US" sz="3200" dirty="0"/>
          </a:p>
        </p:txBody>
      </p:sp>
      <p:sp>
        <p:nvSpPr>
          <p:cNvPr id="10" name="Text 3"/>
          <p:cNvSpPr/>
          <p:nvPr/>
        </p:nvSpPr>
        <p:spPr>
          <a:xfrm rot="21600000">
            <a:off x="1316736" y="4041648"/>
            <a:ext cx="4892040" cy="3072384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030"/>
              </a:lnSpc>
              <a:buNone/>
            </a:pPr>
            <a:r>
              <a:rPr lang="en-US" sz="24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隐藏状态h_t如同有限容量记忆体，在分析“中国足球队“短语时，h_3需同时记住“中国“的修饰关系和“足球队“的核心名词，容量限制导致长序列信息丢失。</a:t>
            </a:r>
            <a:endParaRPr lang="en-US" sz="2400" dirty="0"/>
          </a:p>
        </p:txBody>
      </p:sp>
      <p:sp>
        <p:nvSpPr>
          <p:cNvPr id="11" name="Text 4"/>
          <p:cNvSpPr/>
          <p:nvPr/>
        </p:nvSpPr>
        <p:spPr>
          <a:xfrm rot="21600000">
            <a:off x="1316736" y="3337560"/>
            <a:ext cx="2642616" cy="48463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3840"/>
              </a:lnSpc>
              <a:buNone/>
            </a:pPr>
            <a:r>
              <a:rPr lang="en-US" sz="32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记忆特性</a:t>
            </a:r>
            <a:endParaRPr lang="en-US" sz="3200" dirty="0"/>
          </a:p>
        </p:txBody>
      </p:sp>
      <p:sp>
        <p:nvSpPr>
          <p:cNvPr id="12" name="Text 5"/>
          <p:cNvSpPr/>
          <p:nvPr/>
        </p:nvSpPr>
        <p:spPr>
          <a:xfrm rot="21600000">
            <a:off x="18480024" y="4023360"/>
            <a:ext cx="4599432" cy="283464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030"/>
              </a:lnSpc>
              <a:buNone/>
            </a:pPr>
            <a:r>
              <a:rPr lang="en-US" sz="24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序列标注任务需每个h_t独立输出，如命名实体识别；而文本分类仅用最终h_T，二者对状态质量的要求存在显著差异。</a:t>
            </a:r>
            <a:endParaRPr lang="en-US" sz="2400" dirty="0"/>
          </a:p>
        </p:txBody>
      </p:sp>
      <p:sp>
        <p:nvSpPr>
          <p:cNvPr id="13" name="Text 6"/>
          <p:cNvSpPr/>
          <p:nvPr/>
        </p:nvSpPr>
        <p:spPr>
          <a:xfrm rot="21600000">
            <a:off x="18480024" y="3337560"/>
            <a:ext cx="2642616" cy="48463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3840"/>
              </a:lnSpc>
              <a:buNone/>
            </a:pPr>
            <a:r>
              <a:rPr lang="en-US" sz="32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应用差异</a:t>
            </a:r>
            <a:endParaRPr lang="en-US" sz="3200" dirty="0"/>
          </a:p>
        </p:txBody>
      </p:sp>
      <p:sp>
        <p:nvSpPr>
          <p:cNvPr id="14" name="Text 7"/>
          <p:cNvSpPr/>
          <p:nvPr/>
        </p:nvSpPr>
        <p:spPr>
          <a:xfrm rot="21600000">
            <a:off x="12746736" y="4041647"/>
            <a:ext cx="4599432" cy="3072385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030"/>
              </a:lnSpc>
              <a:buNone/>
            </a:pPr>
            <a:r>
              <a:rPr lang="en-US" sz="24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股票预测任务中，h_t随时间步累积市场波动特征，前10步记录短期趋势，后50步反映周期规律，不同时间尺度信息在状态中分层编码。</a:t>
            </a:r>
            <a:endParaRPr lang="en-US" sz="2400" dirty="0"/>
          </a:p>
        </p:txBody>
      </p:sp>
      <p:sp>
        <p:nvSpPr>
          <p:cNvPr id="15" name="Text 8"/>
          <p:cNvSpPr/>
          <p:nvPr/>
        </p:nvSpPr>
        <p:spPr>
          <a:xfrm rot="21600000">
            <a:off x="12746736" y="3355848"/>
            <a:ext cx="2478024" cy="45720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状态演化</a:t>
            </a:r>
            <a:endParaRPr lang="en-US" sz="3000" dirty="0"/>
          </a:p>
        </p:txBody>
      </p:sp>
      <p:sp>
        <p:nvSpPr>
          <p:cNvPr id="16" name="文本框 15"/>
          <p:cNvSpPr txBox="1"/>
          <p:nvPr/>
        </p:nvSpPr>
        <p:spPr>
          <a:xfrm>
            <a:off x="20193000" y="1151890"/>
            <a:ext cx="12192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智码</a:t>
            </a:r>
            <a:r>
              <a:rPr lang="en-US" altLang="zh-CN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AI</a:t>
            </a:r>
            <a:endParaRPr lang="en-US" altLang="zh-CN" sz="5400" b="0" u="none" strike="noStrike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  <a:latin typeface="+mn-ea"/>
              <a:cs typeface="+mn-ea"/>
            </a:endParaRPr>
          </a:p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cs typeface="+mn-ea"/>
                <a:sym typeface="+mn-ea"/>
              </a:rPr>
              <a:t>盗版必究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50392" y="-365760"/>
            <a:ext cx="9144" cy="1474927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3408640" y="-365760"/>
            <a:ext cx="9144" cy="1474927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77824" y="1152144"/>
            <a:ext cx="22503384" cy="914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77824" y="2505456"/>
            <a:ext cx="22503384" cy="914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 rot="21600000">
            <a:off x="2048256" y="1325880"/>
            <a:ext cx="7251192" cy="10241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8060"/>
              </a:lnSpc>
              <a:buNone/>
            </a:pPr>
            <a:r>
              <a:rPr lang="en-US" sz="6700" dirty="0">
                <a:solidFill>
                  <a:srgbClr val="2C2C2C"/>
                </a:solidFill>
                <a:latin typeface="NotoSansSC-Bold" panose="020B0200000000000000" pitchFamily="34" charset="-122"/>
                <a:ea typeface="NotoSansSC-Bold" panose="020B0200000000000000" pitchFamily="34" charset="-122"/>
                <a:cs typeface="NotoSansSC-Bold" panose="020B0200000000000000" pitchFamily="34" charset="-120"/>
              </a:rPr>
              <a:t>时间反向传播</a:t>
            </a:r>
            <a:endParaRPr lang="en-US" sz="6700" dirty="0"/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399032" y="1764792"/>
            <a:ext cx="237744" cy="265176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227832" y="4169664"/>
            <a:ext cx="6821424" cy="7278624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 rot="21600000">
            <a:off x="12637008" y="5330952"/>
            <a:ext cx="8631936" cy="1883664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930"/>
              </a:lnSpc>
              <a:buNone/>
            </a:pPr>
            <a:r>
              <a:rPr lang="en-US" sz="28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BPTT将展开的RNN视为深度网络，从损失函数L反向计算梯度时，需沿时间轴穿越所有步骤，如处理50步序列需连续应用链式法则50次，导致计算复杂度O（T^2）。</a:t>
            </a:r>
            <a:endParaRPr lang="en-US" sz="2800" dirty="0"/>
          </a:p>
        </p:txBody>
      </p:sp>
      <p:sp>
        <p:nvSpPr>
          <p:cNvPr id="10" name="Text 2"/>
          <p:cNvSpPr/>
          <p:nvPr/>
        </p:nvSpPr>
        <p:spPr>
          <a:xfrm rot="21600000">
            <a:off x="12637008" y="4370832"/>
            <a:ext cx="3465576" cy="64008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2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算法本质</a:t>
            </a:r>
            <a:endParaRPr lang="en-US" sz="4200" dirty="0"/>
          </a:p>
        </p:txBody>
      </p:sp>
      <p:sp>
        <p:nvSpPr>
          <p:cNvPr id="11" name="Text 3"/>
          <p:cNvSpPr/>
          <p:nvPr/>
        </p:nvSpPr>
        <p:spPr>
          <a:xfrm rot="21600000">
            <a:off x="12637008" y="9372600"/>
            <a:ext cx="8631936" cy="1883664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930"/>
              </a:lnSpc>
              <a:buNone/>
            </a:pPr>
            <a:r>
              <a:rPr lang="en-US" sz="28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PyTorch中通过。autograd自动实现BPTT，但需注意设置合理的truncate长度，如设置truncate=10可平衡内存占用和梯度准确性，在GPU上提速3倍。</a:t>
            </a:r>
            <a:endParaRPr lang="en-US" sz="2800" dirty="0"/>
          </a:p>
        </p:txBody>
      </p:sp>
      <p:sp>
        <p:nvSpPr>
          <p:cNvPr id="12" name="Text 4"/>
          <p:cNvSpPr/>
          <p:nvPr/>
        </p:nvSpPr>
        <p:spPr>
          <a:xfrm rot="21600000">
            <a:off x="12637008" y="8403336"/>
            <a:ext cx="3465576" cy="64008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2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实现细节</a:t>
            </a:r>
            <a:endParaRPr lang="en-US" sz="4200" dirty="0"/>
          </a:p>
        </p:txBody>
      </p:sp>
      <p:sp>
        <p:nvSpPr>
          <p:cNvPr id="13" name="文本框 12"/>
          <p:cNvSpPr txBox="1"/>
          <p:nvPr/>
        </p:nvSpPr>
        <p:spPr>
          <a:xfrm>
            <a:off x="20293965" y="1151890"/>
            <a:ext cx="12192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智码</a:t>
            </a:r>
            <a:r>
              <a:rPr lang="en-US" altLang="zh-CN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AI</a:t>
            </a:r>
            <a:endParaRPr lang="en-US" altLang="zh-CN" sz="5400" b="0" u="none" strike="noStrike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  <a:latin typeface="+mn-ea"/>
              <a:cs typeface="+mn-ea"/>
            </a:endParaRPr>
          </a:p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cs typeface="+mn-ea"/>
                <a:sym typeface="+mn-ea"/>
              </a:rPr>
              <a:t>盗版必究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563624" y="1152144"/>
            <a:ext cx="21095208" cy="91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563624" y="7324344"/>
            <a:ext cx="9610344" cy="91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545336" y="-365760"/>
            <a:ext cx="9144" cy="1474927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173968" y="-365760"/>
            <a:ext cx="9144" cy="1474927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2640544" y="-365760"/>
            <a:ext cx="9144" cy="14749272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 rot="21600000">
            <a:off x="2221992" y="1956816"/>
            <a:ext cx="23070312" cy="248716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19605"/>
              </a:lnSpc>
              <a:buNone/>
            </a:pPr>
            <a:r>
              <a:rPr lang="en-US" sz="11300" dirty="0">
                <a:solidFill>
                  <a:srgbClr val="2C2C2C"/>
                </a:solidFill>
                <a:latin typeface="NotoSansSC-Bold" panose="020B0200000000000000" pitchFamily="34" charset="-122"/>
                <a:ea typeface="NotoSansSC-Bold" panose="020B0200000000000000" pitchFamily="34" charset="-122"/>
                <a:cs typeface="NotoSansSC-Bold" panose="020B0200000000000000" pitchFamily="34" charset="-120"/>
              </a:rPr>
              <a:t>⻔控机制详解LSTM</a:t>
            </a:r>
            <a:endParaRPr lang="en-US" sz="11300" dirty="0"/>
          </a:p>
        </p:txBody>
      </p:sp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728216" y="8385048"/>
            <a:ext cx="237744" cy="265176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 rot="21600000">
            <a:off x="2359152" y="7699248"/>
            <a:ext cx="9546336" cy="1737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13710"/>
              </a:lnSpc>
              <a:buNone/>
            </a:pPr>
            <a:r>
              <a:rPr lang="en-US" sz="11400" dirty="0">
                <a:solidFill>
                  <a:srgbClr val="66B1E1"/>
                </a:solidFill>
                <a:latin typeface="Rubik-Medium" pitchFamily="34" charset="0"/>
                <a:ea typeface="Rubik-Medium" pitchFamily="34" charset="-122"/>
                <a:cs typeface="Rubik-Medium" pitchFamily="34" charset="-120"/>
              </a:rPr>
              <a:t>PART 03</a:t>
            </a:r>
            <a:endParaRPr lang="en-US" sz="11400" dirty="0"/>
          </a:p>
        </p:txBody>
      </p:sp>
      <p:sp>
        <p:nvSpPr>
          <p:cNvPr id="10" name="文本框 9"/>
          <p:cNvSpPr txBox="1"/>
          <p:nvPr/>
        </p:nvSpPr>
        <p:spPr>
          <a:xfrm>
            <a:off x="20391120" y="1161415"/>
            <a:ext cx="12192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智码</a:t>
            </a:r>
            <a:r>
              <a:rPr lang="en-US" altLang="zh-CN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AI</a:t>
            </a:r>
            <a:endParaRPr lang="en-US" altLang="zh-CN" sz="5400" b="0" u="none" strike="noStrike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  <a:latin typeface="+mn-ea"/>
              <a:cs typeface="+mn-ea"/>
            </a:endParaRPr>
          </a:p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cs typeface="+mn-ea"/>
                <a:sym typeface="+mn-ea"/>
              </a:rPr>
              <a:t>盗版必究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50392" y="-365760"/>
            <a:ext cx="9144" cy="1474927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3408640" y="-365760"/>
            <a:ext cx="9144" cy="1474927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77824" y="1152144"/>
            <a:ext cx="22503384" cy="914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77824" y="2505456"/>
            <a:ext cx="22503384" cy="914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 rot="21600000">
            <a:off x="2048256" y="1325880"/>
            <a:ext cx="7790688" cy="10241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8060"/>
              </a:lnSpc>
              <a:buNone/>
            </a:pPr>
            <a:r>
              <a:rPr lang="en-US" sz="6700" dirty="0">
                <a:solidFill>
                  <a:srgbClr val="2C2C2C"/>
                </a:solidFill>
                <a:latin typeface="NotoSansSC-Bold" panose="020B0200000000000000" pitchFamily="34" charset="-122"/>
                <a:ea typeface="NotoSansSC-Bold" panose="020B0200000000000000" pitchFamily="34" charset="-122"/>
                <a:cs typeface="NotoSansSC-Bold" panose="020B0200000000000000" pitchFamily="34" charset="-120"/>
              </a:rPr>
              <a:t>核⼼思想LSTM</a:t>
            </a:r>
            <a:endParaRPr lang="en-US" sz="6700" dirty="0"/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399032" y="1764792"/>
            <a:ext cx="237744" cy="265176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0799064" y="3785616"/>
            <a:ext cx="2752344" cy="2770632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 rot="21600000">
            <a:off x="10972800" y="4791456"/>
            <a:ext cx="2404872" cy="7955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6240"/>
              </a:lnSpc>
              <a:buNone/>
            </a:pPr>
            <a:r>
              <a:rPr lang="en-US" sz="5200" dirty="0">
                <a:solidFill>
                  <a:srgbClr val="F1F6FA"/>
                </a:solidFill>
                <a:latin typeface="Roboto-Regular" panose="02000000000000000000" pitchFamily="34" charset="0"/>
                <a:ea typeface="Roboto-Regular" panose="02000000000000000000" pitchFamily="34" charset="-122"/>
                <a:cs typeface="Roboto-Regular" panose="02000000000000000000" pitchFamily="34" charset="-120"/>
              </a:rPr>
              <a:t>01</a:t>
            </a:r>
            <a:endParaRPr lang="en-US" sz="5200" dirty="0"/>
          </a:p>
        </p:txBody>
      </p:sp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202168" y="8092440"/>
            <a:ext cx="2752344" cy="2770632"/>
          </a:xfrm>
          <a:prstGeom prst="rect">
            <a:avLst/>
          </a:prstGeom>
        </p:spPr>
      </p:pic>
      <p:sp>
        <p:nvSpPr>
          <p:cNvPr id="11" name="Text 2"/>
          <p:cNvSpPr/>
          <p:nvPr/>
        </p:nvSpPr>
        <p:spPr>
          <a:xfrm rot="21600000">
            <a:off x="8385048" y="9098280"/>
            <a:ext cx="2404872" cy="7955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6240"/>
              </a:lnSpc>
              <a:buNone/>
            </a:pPr>
            <a:r>
              <a:rPr lang="en-US" sz="5200" dirty="0">
                <a:solidFill>
                  <a:srgbClr val="F1F6FA"/>
                </a:solidFill>
                <a:latin typeface="Roboto-Regular" panose="02000000000000000000" pitchFamily="34" charset="0"/>
                <a:ea typeface="Roboto-Regular" panose="02000000000000000000" pitchFamily="34" charset="-122"/>
                <a:cs typeface="Roboto-Regular" panose="02000000000000000000" pitchFamily="34" charset="-120"/>
              </a:rPr>
              <a:t>02</a:t>
            </a:r>
            <a:endParaRPr lang="en-US" sz="5200" dirty="0"/>
          </a:p>
        </p:txBody>
      </p:sp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3386816" y="8092440"/>
            <a:ext cx="2752344" cy="2770632"/>
          </a:xfrm>
          <a:prstGeom prst="rect">
            <a:avLst/>
          </a:prstGeom>
        </p:spPr>
      </p:pic>
      <p:sp>
        <p:nvSpPr>
          <p:cNvPr id="13" name="Text 3"/>
          <p:cNvSpPr/>
          <p:nvPr/>
        </p:nvSpPr>
        <p:spPr>
          <a:xfrm rot="21600000">
            <a:off x="13560552" y="9098280"/>
            <a:ext cx="2404872" cy="7955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6240"/>
              </a:lnSpc>
              <a:buNone/>
            </a:pPr>
            <a:r>
              <a:rPr lang="en-US" sz="5200" dirty="0">
                <a:solidFill>
                  <a:srgbClr val="F1F6FA"/>
                </a:solidFill>
                <a:latin typeface="Roboto-Regular" panose="02000000000000000000" pitchFamily="34" charset="0"/>
                <a:ea typeface="Roboto-Regular" panose="02000000000000000000" pitchFamily="34" charset="-122"/>
                <a:cs typeface="Roboto-Regular" panose="02000000000000000000" pitchFamily="34" charset="-120"/>
              </a:rPr>
              <a:t>03</a:t>
            </a:r>
            <a:endParaRPr lang="en-US" sz="5200" dirty="0"/>
          </a:p>
        </p:txBody>
      </p:sp>
      <p:pic>
        <p:nvPicPr>
          <p:cNvPr id="14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8900000">
            <a:off x="10378440" y="7223760"/>
            <a:ext cx="758952" cy="585216"/>
          </a:xfrm>
          <a:prstGeom prst="rect">
            <a:avLst/>
          </a:prstGeom>
        </p:spPr>
      </p:pic>
      <p:pic>
        <p:nvPicPr>
          <p:cNvPr id="15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700000">
            <a:off x="13231368" y="7223760"/>
            <a:ext cx="758952" cy="585216"/>
          </a:xfrm>
          <a:prstGeom prst="rect">
            <a:avLst/>
          </a:prstGeom>
        </p:spPr>
      </p:pic>
      <p:pic>
        <p:nvPicPr>
          <p:cNvPr id="16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0800000">
            <a:off x="11777472" y="9381744"/>
            <a:ext cx="758952" cy="585216"/>
          </a:xfrm>
          <a:prstGeom prst="rect">
            <a:avLst/>
          </a:prstGeom>
        </p:spPr>
      </p:pic>
      <p:pic>
        <p:nvPicPr>
          <p:cNvPr id="17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3523976" y="4928616"/>
            <a:ext cx="7342632" cy="155448"/>
          </a:xfrm>
          <a:prstGeom prst="rect">
            <a:avLst/>
          </a:prstGeom>
        </p:spPr>
      </p:pic>
      <p:sp>
        <p:nvSpPr>
          <p:cNvPr id="18" name="Text 4"/>
          <p:cNvSpPr/>
          <p:nvPr/>
        </p:nvSpPr>
        <p:spPr>
          <a:xfrm rot="21600000">
            <a:off x="14173200" y="5257800"/>
            <a:ext cx="6693408" cy="2276856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LSTM通过细胞状态C_t构建“信息高速公路“，在分析长文档时，关键信息如文档主题可无损传递100步以上，而传统RNN仅能保持10步内的有效记忆。</a:t>
            </a:r>
            <a:endParaRPr lang="en-US" sz="2600" dirty="0"/>
          </a:p>
        </p:txBody>
      </p:sp>
      <p:sp>
        <p:nvSpPr>
          <p:cNvPr id="19" name="Text 5"/>
          <p:cNvSpPr/>
          <p:nvPr/>
        </p:nvSpPr>
        <p:spPr>
          <a:xfrm rot="21600000">
            <a:off x="14173200" y="4224528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细胞状态</a:t>
            </a:r>
            <a:endParaRPr lang="en-US" sz="3900" dirty="0"/>
          </a:p>
        </p:txBody>
      </p:sp>
      <p:pic>
        <p:nvPicPr>
          <p:cNvPr id="20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1764792" y="9244584"/>
            <a:ext cx="6720840" cy="137160"/>
          </a:xfrm>
          <a:prstGeom prst="rect">
            <a:avLst/>
          </a:prstGeom>
        </p:spPr>
      </p:pic>
      <p:sp>
        <p:nvSpPr>
          <p:cNvPr id="21" name="Text 6"/>
          <p:cNvSpPr/>
          <p:nvPr/>
        </p:nvSpPr>
        <p:spPr>
          <a:xfrm rot="21600000">
            <a:off x="4636008" y="8522208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r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门控原理</a:t>
            </a:r>
            <a:endParaRPr lang="en-US" sz="3900" dirty="0"/>
          </a:p>
        </p:txBody>
      </p:sp>
      <p:sp>
        <p:nvSpPr>
          <p:cNvPr id="22" name="Text 7"/>
          <p:cNvSpPr/>
          <p:nvPr/>
        </p:nvSpPr>
        <p:spPr>
          <a:xfrm rot="21600000">
            <a:off x="1764792" y="9610344"/>
            <a:ext cx="6099048" cy="2276856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r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三个门结构使用sigmoid激活实现0-1的软选择，如遗忘门f_t=0.9表示保留90%历史记忆，比RNN的硬截断更符合序列数据的连续性特征。</a:t>
            </a:r>
            <a:endParaRPr lang="en-US" sz="2600" dirty="0"/>
          </a:p>
        </p:txBody>
      </p:sp>
      <p:pic>
        <p:nvPicPr>
          <p:cNvPr id="23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15873984" y="9244584"/>
            <a:ext cx="6748272" cy="137160"/>
          </a:xfrm>
          <a:prstGeom prst="rect">
            <a:avLst/>
          </a:prstGeom>
        </p:spPr>
      </p:pic>
      <p:sp>
        <p:nvSpPr>
          <p:cNvPr id="24" name="Text 8"/>
          <p:cNvSpPr/>
          <p:nvPr/>
        </p:nvSpPr>
        <p:spPr>
          <a:xfrm rot="21600000">
            <a:off x="16532352" y="9610344"/>
            <a:ext cx="6080760" cy="171907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参数量比同规模RNN增加3倍，但训练速度仅降低40%，因其门控机制可加速梯度传播，在机器翻译任务中收敛速度快1.8倍。</a:t>
            </a:r>
            <a:endParaRPr lang="en-US" sz="2600" dirty="0"/>
          </a:p>
        </p:txBody>
      </p:sp>
      <p:sp>
        <p:nvSpPr>
          <p:cNvPr id="25" name="Text 9"/>
          <p:cNvSpPr/>
          <p:nvPr/>
        </p:nvSpPr>
        <p:spPr>
          <a:xfrm rot="21600000">
            <a:off x="16532352" y="8522208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结构对比</a:t>
            </a:r>
            <a:endParaRPr lang="en-US" sz="3900" dirty="0"/>
          </a:p>
        </p:txBody>
      </p:sp>
      <p:sp>
        <p:nvSpPr>
          <p:cNvPr id="26" name="文本框 25"/>
          <p:cNvSpPr txBox="1"/>
          <p:nvPr/>
        </p:nvSpPr>
        <p:spPr>
          <a:xfrm>
            <a:off x="20193000" y="1135380"/>
            <a:ext cx="12192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智码</a:t>
            </a:r>
            <a:r>
              <a:rPr lang="en-US" altLang="zh-CN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AI</a:t>
            </a:r>
            <a:endParaRPr lang="en-US" altLang="zh-CN" sz="5400" b="0" u="none" strike="noStrike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  <a:latin typeface="+mn-ea"/>
              <a:cs typeface="+mn-ea"/>
            </a:endParaRPr>
          </a:p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cs typeface="+mn-ea"/>
                <a:sym typeface="+mn-ea"/>
              </a:rPr>
              <a:t>盗版必究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50392" y="-365760"/>
            <a:ext cx="9144" cy="1474927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3408640" y="-365760"/>
            <a:ext cx="9144" cy="1474927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77824" y="1152144"/>
            <a:ext cx="22503384" cy="914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77824" y="2505456"/>
            <a:ext cx="22503384" cy="914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 rot="21600000">
            <a:off x="2048256" y="1325880"/>
            <a:ext cx="4700016" cy="10241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8060"/>
              </a:lnSpc>
              <a:buNone/>
            </a:pPr>
            <a:r>
              <a:rPr lang="en-US" sz="6700" dirty="0">
                <a:solidFill>
                  <a:srgbClr val="2C2C2C"/>
                </a:solidFill>
                <a:latin typeface="NotoSansSC-Bold" panose="020B0200000000000000" pitchFamily="34" charset="-122"/>
                <a:ea typeface="NotoSansSC-Bold" panose="020B0200000000000000" pitchFamily="34" charset="-122"/>
                <a:cs typeface="NotoSansSC-Bold" panose="020B0200000000000000" pitchFamily="34" charset="-120"/>
              </a:rPr>
              <a:t>遗忘⻔</a:t>
            </a:r>
            <a:endParaRPr lang="en-US" sz="6700" dirty="0"/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399032" y="1764792"/>
            <a:ext cx="237744" cy="265176"/>
          </a:xfrm>
          <a:prstGeom prst="rect">
            <a:avLst/>
          </a:prstGeom>
        </p:spPr>
      </p:pic>
      <p:sp>
        <p:nvSpPr>
          <p:cNvPr id="10" name="Text 1"/>
          <p:cNvSpPr/>
          <p:nvPr/>
        </p:nvSpPr>
        <p:spPr>
          <a:xfrm rot="21600000">
            <a:off x="1572768" y="8110728"/>
            <a:ext cx="3319272" cy="109728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8640"/>
              </a:lnSpc>
              <a:buNone/>
            </a:pPr>
            <a:r>
              <a:rPr lang="en-US" sz="7200" b="1" dirty="0">
                <a:solidFill>
                  <a:srgbClr val="66B1E1"/>
                </a:solidFill>
                <a:latin typeface="Roboto-Regular" panose="02000000000000000000" pitchFamily="34" charset="0"/>
                <a:ea typeface="Roboto-Regular" panose="02000000000000000000" pitchFamily="34" charset="-122"/>
                <a:cs typeface="Roboto-Regular" panose="02000000000000000000" pitchFamily="34" charset="-120"/>
              </a:rPr>
              <a:t>03</a:t>
            </a:r>
            <a:endParaRPr lang="en-US" sz="7200" dirty="0"/>
          </a:p>
        </p:txBody>
      </p:sp>
      <p:sp>
        <p:nvSpPr>
          <p:cNvPr id="11" name="Text 2"/>
          <p:cNvSpPr/>
          <p:nvPr/>
        </p:nvSpPr>
        <p:spPr>
          <a:xfrm rot="21600000">
            <a:off x="1572768" y="10287000"/>
            <a:ext cx="6400800" cy="171907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情感分析中若遗忘门过强（f_t《0.3），会导致模型忽略“虽然。..但是“的转折关系，将负面评价误判为正面。</a:t>
            </a:r>
            <a:endParaRPr lang="en-US" sz="2600" dirty="0"/>
          </a:p>
        </p:txBody>
      </p:sp>
      <p:sp>
        <p:nvSpPr>
          <p:cNvPr id="12" name="Text 3"/>
          <p:cNvSpPr/>
          <p:nvPr/>
        </p:nvSpPr>
        <p:spPr>
          <a:xfrm rot="21600000">
            <a:off x="1572768" y="9418320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错误案例</a:t>
            </a:r>
            <a:endParaRPr lang="en-US" sz="3900" dirty="0"/>
          </a:p>
        </p:txBody>
      </p:sp>
      <p:sp>
        <p:nvSpPr>
          <p:cNvPr id="13" name="Text 4"/>
          <p:cNvSpPr/>
          <p:nvPr/>
        </p:nvSpPr>
        <p:spPr>
          <a:xfrm rot="21600000">
            <a:off x="1572768" y="3474720"/>
            <a:ext cx="3319272" cy="109728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8640"/>
              </a:lnSpc>
              <a:buNone/>
            </a:pPr>
            <a:r>
              <a:rPr lang="en-US" sz="7200" b="1" dirty="0">
                <a:solidFill>
                  <a:srgbClr val="66B1E1"/>
                </a:solidFill>
                <a:latin typeface="Roboto-Regular" panose="02000000000000000000" pitchFamily="34" charset="0"/>
                <a:ea typeface="Roboto-Regular" panose="02000000000000000000" pitchFamily="34" charset="-122"/>
                <a:cs typeface="Roboto-Regular" panose="02000000000000000000" pitchFamily="34" charset="-120"/>
              </a:rPr>
              <a:t>01</a:t>
            </a:r>
            <a:endParaRPr lang="en-US" sz="7200" dirty="0"/>
          </a:p>
        </p:txBody>
      </p:sp>
      <p:sp>
        <p:nvSpPr>
          <p:cNvPr id="14" name="Text 5"/>
          <p:cNvSpPr/>
          <p:nvPr/>
        </p:nvSpPr>
        <p:spPr>
          <a:xfrm rot="21600000">
            <a:off x="1572768" y="5687568"/>
            <a:ext cx="6400800" cy="171907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在文本生成任务中，当遇到句号时遗忘门自动升高至0.95，清除临时性语法信息，但保留80%以上的语义主题用于下个句子生成。</a:t>
            </a:r>
            <a:endParaRPr lang="en-US" sz="2600" dirty="0"/>
          </a:p>
        </p:txBody>
      </p:sp>
      <p:sp>
        <p:nvSpPr>
          <p:cNvPr id="15" name="Text 6"/>
          <p:cNvSpPr/>
          <p:nvPr/>
        </p:nvSpPr>
        <p:spPr>
          <a:xfrm rot="21600000">
            <a:off x="1572768" y="4828032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动态遗忘</a:t>
            </a:r>
            <a:endParaRPr lang="en-US" sz="3900" dirty="0"/>
          </a:p>
        </p:txBody>
      </p:sp>
      <p:sp>
        <p:nvSpPr>
          <p:cNvPr id="16" name="Text 7"/>
          <p:cNvSpPr/>
          <p:nvPr/>
        </p:nvSpPr>
        <p:spPr>
          <a:xfrm rot="21600000">
            <a:off x="9198864" y="3474720"/>
            <a:ext cx="3319272" cy="109728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8640"/>
              </a:lnSpc>
              <a:buNone/>
            </a:pPr>
            <a:r>
              <a:rPr lang="en-US" sz="7200" b="1" dirty="0">
                <a:solidFill>
                  <a:srgbClr val="66B1E1"/>
                </a:solidFill>
                <a:latin typeface="Roboto-Regular" panose="02000000000000000000" pitchFamily="34" charset="0"/>
                <a:ea typeface="Roboto-Regular" panose="02000000000000000000" pitchFamily="34" charset="-122"/>
                <a:cs typeface="Roboto-Regular" panose="02000000000000000000" pitchFamily="34" charset="-120"/>
              </a:rPr>
              <a:t>02</a:t>
            </a:r>
            <a:endParaRPr lang="en-US" sz="7200" dirty="0"/>
          </a:p>
        </p:txBody>
      </p:sp>
      <p:sp>
        <p:nvSpPr>
          <p:cNvPr id="17" name="Text 8"/>
          <p:cNvSpPr/>
          <p:nvPr/>
        </p:nvSpPr>
        <p:spPr>
          <a:xfrm rot="21600000">
            <a:off x="9198864" y="5687568"/>
            <a:ext cx="6400800" cy="171907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遗忘门偏置b_f初始化为1.0（而非0），避免训练初期过早遗忘，在股票预测中使模型能记住30天前的周期性规律。</a:t>
            </a:r>
            <a:endParaRPr lang="en-US" sz="2600" dirty="0"/>
          </a:p>
        </p:txBody>
      </p:sp>
      <p:sp>
        <p:nvSpPr>
          <p:cNvPr id="18" name="Text 9"/>
          <p:cNvSpPr/>
          <p:nvPr/>
        </p:nvSpPr>
        <p:spPr>
          <a:xfrm rot="21600000">
            <a:off x="9198864" y="4828032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参数学习</a:t>
            </a:r>
            <a:endParaRPr lang="en-US" sz="3900" dirty="0"/>
          </a:p>
        </p:txBody>
      </p:sp>
      <p:sp>
        <p:nvSpPr>
          <p:cNvPr id="19" name="Text 10"/>
          <p:cNvSpPr/>
          <p:nvPr/>
        </p:nvSpPr>
        <p:spPr>
          <a:xfrm rot="21600000">
            <a:off x="9198864" y="8110728"/>
            <a:ext cx="3319272" cy="109728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8640"/>
              </a:lnSpc>
              <a:buNone/>
            </a:pPr>
            <a:r>
              <a:rPr lang="en-US" sz="7200" b="1" dirty="0">
                <a:solidFill>
                  <a:srgbClr val="66B1E1"/>
                </a:solidFill>
                <a:latin typeface="Roboto-Regular" panose="02000000000000000000" pitchFamily="34" charset="0"/>
                <a:ea typeface="Roboto-Regular" panose="02000000000000000000" pitchFamily="34" charset="-122"/>
                <a:cs typeface="Roboto-Regular" panose="02000000000000000000" pitchFamily="34" charset="-120"/>
              </a:rPr>
              <a:t>04</a:t>
            </a:r>
            <a:endParaRPr lang="en-US" sz="7200" dirty="0"/>
          </a:p>
        </p:txBody>
      </p:sp>
      <p:sp>
        <p:nvSpPr>
          <p:cNvPr id="20" name="Text 11"/>
          <p:cNvSpPr/>
          <p:nvPr/>
        </p:nvSpPr>
        <p:spPr>
          <a:xfrm rot="21600000">
            <a:off x="9198864" y="10287000"/>
            <a:ext cx="6400800" cy="171907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使用LIME工具显示，处理否定句时遗忘门对“不“字后的形容词记忆强度降低60%，正确捕捉否定语义。</a:t>
            </a:r>
            <a:endParaRPr lang="en-US" sz="2600" dirty="0"/>
          </a:p>
        </p:txBody>
      </p:sp>
      <p:sp>
        <p:nvSpPr>
          <p:cNvPr id="21" name="Text 12"/>
          <p:cNvSpPr/>
          <p:nvPr/>
        </p:nvSpPr>
        <p:spPr>
          <a:xfrm rot="21600000">
            <a:off x="9198864" y="9418320"/>
            <a:ext cx="3721608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可视化分析</a:t>
            </a:r>
            <a:endParaRPr lang="en-US" sz="3900" dirty="0"/>
          </a:p>
        </p:txBody>
      </p:sp>
      <p:sp>
        <p:nvSpPr>
          <p:cNvPr id="8" name="文本框 7"/>
          <p:cNvSpPr txBox="1"/>
          <p:nvPr/>
        </p:nvSpPr>
        <p:spPr>
          <a:xfrm>
            <a:off x="20433030" y="1161415"/>
            <a:ext cx="12192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智码</a:t>
            </a:r>
            <a:r>
              <a:rPr lang="en-US" altLang="zh-CN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AI</a:t>
            </a:r>
            <a:endParaRPr lang="en-US" altLang="zh-CN" sz="5400" b="0" u="none" strike="noStrike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  <a:latin typeface="+mn-ea"/>
              <a:cs typeface="+mn-ea"/>
            </a:endParaRPr>
          </a:p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cs typeface="+mn-ea"/>
                <a:sym typeface="+mn-ea"/>
              </a:rPr>
              <a:t>盗版必究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50392" y="-365760"/>
            <a:ext cx="9144" cy="1474927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3408640" y="-365760"/>
            <a:ext cx="9144" cy="1474927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77824" y="1152144"/>
            <a:ext cx="22503384" cy="914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77824" y="2505456"/>
            <a:ext cx="22503384" cy="914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 rot="21600000">
            <a:off x="2048256" y="1325880"/>
            <a:ext cx="4700016" cy="10241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8060"/>
              </a:lnSpc>
              <a:buNone/>
            </a:pPr>
            <a:r>
              <a:rPr lang="en-US" sz="6700" dirty="0">
                <a:solidFill>
                  <a:srgbClr val="2C2C2C"/>
                </a:solidFill>
                <a:latin typeface="NotoSansSC-Bold" panose="020B0200000000000000" pitchFamily="34" charset="-122"/>
                <a:ea typeface="NotoSansSC-Bold" panose="020B0200000000000000" pitchFamily="34" charset="-122"/>
                <a:cs typeface="NotoSansSC-Bold" panose="020B0200000000000000" pitchFamily="34" charset="-120"/>
              </a:rPr>
              <a:t>输⼊⻔</a:t>
            </a:r>
            <a:endParaRPr lang="en-US" sz="6700" dirty="0"/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399032" y="1764792"/>
            <a:ext cx="237744" cy="265176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3716000" y="3392424"/>
            <a:ext cx="8092440" cy="8092440"/>
          </a:xfrm>
          <a:prstGeom prst="rect">
            <a:avLst/>
          </a:prstGeom>
        </p:spPr>
      </p:pic>
      <p:pic>
        <p:nvPicPr>
          <p:cNvPr id="9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4045184" y="4892040"/>
            <a:ext cx="2221992" cy="5148072"/>
          </a:xfrm>
          <a:prstGeom prst="rect">
            <a:avLst/>
          </a:prstGeom>
        </p:spPr>
      </p:pic>
      <p:pic>
        <p:nvPicPr>
          <p:cNvPr id="10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5160752" y="3776472"/>
            <a:ext cx="5120640" cy="2212848"/>
          </a:xfrm>
          <a:prstGeom prst="rect">
            <a:avLst/>
          </a:prstGeom>
        </p:spPr>
      </p:pic>
      <p:pic>
        <p:nvPicPr>
          <p:cNvPr id="11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5151608" y="8951976"/>
            <a:ext cx="5184648" cy="2221992"/>
          </a:xfrm>
          <a:prstGeom prst="rect">
            <a:avLst/>
          </a:prstGeom>
        </p:spPr>
      </p:pic>
      <p:pic>
        <p:nvPicPr>
          <p:cNvPr id="12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19229832" y="4873752"/>
            <a:ext cx="2221992" cy="5157216"/>
          </a:xfrm>
          <a:prstGeom prst="rect">
            <a:avLst/>
          </a:prstGeom>
        </p:spPr>
      </p:pic>
      <p:pic>
        <p:nvPicPr>
          <p:cNvPr id="13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21579840" y="7150608"/>
            <a:ext cx="484632" cy="484632"/>
          </a:xfrm>
          <a:prstGeom prst="rect">
            <a:avLst/>
          </a:prstGeom>
        </p:spPr>
      </p:pic>
      <p:sp>
        <p:nvSpPr>
          <p:cNvPr id="14" name="Text 1"/>
          <p:cNvSpPr/>
          <p:nvPr/>
        </p:nvSpPr>
        <p:spPr>
          <a:xfrm rot="21600000">
            <a:off x="21460968" y="7260336"/>
            <a:ext cx="713232" cy="27432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dirty="0">
                <a:solidFill>
                  <a:srgbClr val="F1F6FA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1</a:t>
            </a:r>
            <a:endParaRPr lang="en-US" sz="1800" dirty="0"/>
          </a:p>
        </p:txBody>
      </p:sp>
      <p:pic>
        <p:nvPicPr>
          <p:cNvPr id="15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17501616" y="11256264"/>
            <a:ext cx="484632" cy="484632"/>
          </a:xfrm>
          <a:prstGeom prst="rect">
            <a:avLst/>
          </a:prstGeom>
        </p:spPr>
      </p:pic>
      <p:sp>
        <p:nvSpPr>
          <p:cNvPr id="16" name="Text 2"/>
          <p:cNvSpPr/>
          <p:nvPr/>
        </p:nvSpPr>
        <p:spPr>
          <a:xfrm rot="21600000">
            <a:off x="17382744" y="11365992"/>
            <a:ext cx="713232" cy="27432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dirty="0">
                <a:solidFill>
                  <a:srgbClr val="F1F6FA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2</a:t>
            </a:r>
            <a:endParaRPr lang="en-US" sz="1800" dirty="0"/>
          </a:p>
        </p:txBody>
      </p:sp>
      <p:pic>
        <p:nvPicPr>
          <p:cNvPr id="17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13459968" y="7150608"/>
            <a:ext cx="484632" cy="484632"/>
          </a:xfrm>
          <a:prstGeom prst="rect">
            <a:avLst/>
          </a:prstGeom>
        </p:spPr>
      </p:pic>
      <p:sp>
        <p:nvSpPr>
          <p:cNvPr id="18" name="Text 3"/>
          <p:cNvSpPr/>
          <p:nvPr/>
        </p:nvSpPr>
        <p:spPr>
          <a:xfrm rot="21600000">
            <a:off x="13350240" y="7260336"/>
            <a:ext cx="713232" cy="27432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dirty="0">
                <a:solidFill>
                  <a:srgbClr val="F1F6FA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3</a:t>
            </a:r>
            <a:endParaRPr lang="en-US" sz="1800" dirty="0"/>
          </a:p>
        </p:txBody>
      </p:sp>
      <p:pic>
        <p:nvPicPr>
          <p:cNvPr id="19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17629632" y="3136392"/>
            <a:ext cx="484632" cy="484632"/>
          </a:xfrm>
          <a:prstGeom prst="rect">
            <a:avLst/>
          </a:prstGeom>
        </p:spPr>
      </p:pic>
      <p:sp>
        <p:nvSpPr>
          <p:cNvPr id="20" name="Text 4"/>
          <p:cNvSpPr/>
          <p:nvPr/>
        </p:nvSpPr>
        <p:spPr>
          <a:xfrm rot="21600000">
            <a:off x="17510760" y="3246120"/>
            <a:ext cx="713232" cy="27432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dirty="0">
                <a:solidFill>
                  <a:srgbClr val="F1F6FA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5"/>
          <p:cNvSpPr/>
          <p:nvPr/>
        </p:nvSpPr>
        <p:spPr>
          <a:xfrm rot="21600000">
            <a:off x="19659600" y="7223760"/>
            <a:ext cx="1984248" cy="3657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2400" dirty="0">
                <a:solidFill>
                  <a:srgbClr val="F1F6FA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门控选择</a:t>
            </a:r>
            <a:endParaRPr lang="en-US" sz="2400" dirty="0"/>
          </a:p>
        </p:txBody>
      </p:sp>
      <p:sp>
        <p:nvSpPr>
          <p:cNvPr id="22" name="Text 6"/>
          <p:cNvSpPr/>
          <p:nvPr/>
        </p:nvSpPr>
        <p:spPr>
          <a:xfrm rot="21600000">
            <a:off x="16751808" y="10131552"/>
            <a:ext cx="1984248" cy="3657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2400" dirty="0">
                <a:solidFill>
                  <a:srgbClr val="F1F6FA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新息创建</a:t>
            </a:r>
            <a:endParaRPr lang="en-US" sz="2400" dirty="0"/>
          </a:p>
        </p:txBody>
      </p:sp>
      <p:sp>
        <p:nvSpPr>
          <p:cNvPr id="23" name="Text 7"/>
          <p:cNvSpPr/>
          <p:nvPr/>
        </p:nvSpPr>
        <p:spPr>
          <a:xfrm rot="21600000">
            <a:off x="13944600" y="7223760"/>
            <a:ext cx="1984248" cy="3657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2400" dirty="0">
                <a:solidFill>
                  <a:srgbClr val="F1F6FA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记忆整合</a:t>
            </a:r>
            <a:endParaRPr lang="en-US" sz="2400" dirty="0"/>
          </a:p>
        </p:txBody>
      </p:sp>
      <p:sp>
        <p:nvSpPr>
          <p:cNvPr id="24" name="Text 8"/>
          <p:cNvSpPr/>
          <p:nvPr/>
        </p:nvSpPr>
        <p:spPr>
          <a:xfrm rot="21600000">
            <a:off x="16861536" y="4526280"/>
            <a:ext cx="1984248" cy="3657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2400" dirty="0">
                <a:solidFill>
                  <a:srgbClr val="F1F6FA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时序传递</a:t>
            </a:r>
            <a:endParaRPr lang="en-US" sz="2400" dirty="0"/>
          </a:p>
        </p:txBody>
      </p:sp>
      <p:pic>
        <p:nvPicPr>
          <p:cNvPr id="25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17053560" y="6784848"/>
            <a:ext cx="1371600" cy="1371600"/>
          </a:xfrm>
          <a:prstGeom prst="rect">
            <a:avLst/>
          </a:prstGeom>
        </p:spPr>
      </p:pic>
      <p:sp>
        <p:nvSpPr>
          <p:cNvPr id="26" name="Text 9"/>
          <p:cNvSpPr/>
          <p:nvPr/>
        </p:nvSpPr>
        <p:spPr>
          <a:xfrm rot="21600000">
            <a:off x="15745968" y="11978640"/>
            <a:ext cx="4105656" cy="52120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4080"/>
              </a:lnSpc>
              <a:buNone/>
            </a:pPr>
            <a:r>
              <a:rPr lang="en-US" sz="3400" dirty="0">
                <a:solidFill>
                  <a:srgbClr val="66B1E1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输入门工作循环</a:t>
            </a:r>
            <a:endParaRPr lang="en-US" sz="3400" dirty="0"/>
          </a:p>
        </p:txBody>
      </p:sp>
      <p:pic>
        <p:nvPicPr>
          <p:cNvPr id="2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1728216" y="4498848"/>
            <a:ext cx="320040" cy="320040"/>
          </a:xfrm>
          <a:prstGeom prst="rect">
            <a:avLst/>
          </a:prstGeom>
        </p:spPr>
      </p:pic>
      <p:sp>
        <p:nvSpPr>
          <p:cNvPr id="28" name="Text 10"/>
          <p:cNvSpPr/>
          <p:nvPr/>
        </p:nvSpPr>
        <p:spPr>
          <a:xfrm rot="21600000">
            <a:off x="2578608" y="5330952"/>
            <a:ext cx="8942832" cy="1883664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930"/>
              </a:lnSpc>
              <a:buNone/>
            </a:pPr>
            <a:r>
              <a:rPr lang="en-US" sz="28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输入门包含信息筛选（i_t）和内容生成（C~_t）两个路径，如处理专业术语时，i_t=0.8选择性地将85%的新词向量存入细胞状态。</a:t>
            </a:r>
            <a:endParaRPr lang="en-US" sz="2800" dirty="0"/>
          </a:p>
        </p:txBody>
      </p:sp>
      <p:sp>
        <p:nvSpPr>
          <p:cNvPr id="29" name="Text 11"/>
          <p:cNvSpPr/>
          <p:nvPr/>
        </p:nvSpPr>
        <p:spPr>
          <a:xfrm rot="21600000">
            <a:off x="2578608" y="4370832"/>
            <a:ext cx="3465576" cy="64008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2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双路机制</a:t>
            </a:r>
            <a:endParaRPr lang="en-US" sz="4200" dirty="0"/>
          </a:p>
        </p:txBody>
      </p:sp>
      <p:pic>
        <p:nvPicPr>
          <p:cNvPr id="30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1728216" y="8531352"/>
            <a:ext cx="320040" cy="320040"/>
          </a:xfrm>
          <a:prstGeom prst="rect">
            <a:avLst/>
          </a:prstGeom>
        </p:spPr>
      </p:pic>
      <p:sp>
        <p:nvSpPr>
          <p:cNvPr id="31" name="Text 12"/>
          <p:cNvSpPr/>
          <p:nvPr/>
        </p:nvSpPr>
        <p:spPr>
          <a:xfrm rot="21600000">
            <a:off x="2578608" y="9372600"/>
            <a:ext cx="8942832" cy="1883664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930"/>
              </a:lnSpc>
              <a:buNone/>
            </a:pPr>
            <a:r>
              <a:rPr lang="en-US" sz="28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在时间序列预测中，当检测到异常波动时，C~_t生成+2.3的偏移量，i_t=0.7将该信息70%融合到细胞状态，逐步修正预测偏差。</a:t>
            </a:r>
            <a:endParaRPr lang="en-US" sz="2800" dirty="0"/>
          </a:p>
        </p:txBody>
      </p:sp>
      <p:sp>
        <p:nvSpPr>
          <p:cNvPr id="32" name="Text 13"/>
          <p:cNvSpPr/>
          <p:nvPr/>
        </p:nvSpPr>
        <p:spPr>
          <a:xfrm rot="21600000">
            <a:off x="2578608" y="8403336"/>
            <a:ext cx="3465576" cy="64008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2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更新示例</a:t>
            </a:r>
            <a:endParaRPr lang="en-US" sz="4200" dirty="0"/>
          </a:p>
        </p:txBody>
      </p:sp>
      <p:sp>
        <p:nvSpPr>
          <p:cNvPr id="33" name="文本框 32"/>
          <p:cNvSpPr txBox="1"/>
          <p:nvPr/>
        </p:nvSpPr>
        <p:spPr>
          <a:xfrm>
            <a:off x="20336510" y="1172845"/>
            <a:ext cx="12192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智码</a:t>
            </a:r>
            <a:r>
              <a:rPr lang="en-US" altLang="zh-CN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AI</a:t>
            </a:r>
            <a:endParaRPr lang="en-US" altLang="zh-CN" sz="5400" b="0" u="none" strike="noStrike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  <a:latin typeface="+mn-ea"/>
              <a:cs typeface="+mn-ea"/>
            </a:endParaRPr>
          </a:p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cs typeface="+mn-ea"/>
                <a:sym typeface="+mn-ea"/>
              </a:rPr>
              <a:t>盗版必究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50392" y="-365760"/>
            <a:ext cx="9144" cy="1474927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3408640" y="-365760"/>
            <a:ext cx="9144" cy="1474927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77824" y="1152144"/>
            <a:ext cx="22503384" cy="914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77824" y="2505456"/>
            <a:ext cx="22503384" cy="914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 rot="21600000">
            <a:off x="2048256" y="1325880"/>
            <a:ext cx="4700016" cy="10241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8060"/>
              </a:lnSpc>
              <a:buNone/>
            </a:pPr>
            <a:r>
              <a:rPr lang="en-US" sz="6700" dirty="0">
                <a:solidFill>
                  <a:srgbClr val="2C2C2C"/>
                </a:solidFill>
                <a:latin typeface="NotoSansSC-Bold" panose="020B0200000000000000" pitchFamily="34" charset="-122"/>
                <a:ea typeface="NotoSansSC-Bold" panose="020B0200000000000000" pitchFamily="34" charset="-122"/>
                <a:cs typeface="NotoSansSC-Bold" panose="020B0200000000000000" pitchFamily="34" charset="-120"/>
              </a:rPr>
              <a:t>输出⻔</a:t>
            </a:r>
            <a:endParaRPr lang="en-US" sz="6700" dirty="0"/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399032" y="1764792"/>
            <a:ext cx="237744" cy="265176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 rot="21600000">
            <a:off x="4809744" y="9656064"/>
            <a:ext cx="6099048" cy="2276856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输出门o_t调节细胞状态的暴露程度，在隐私文本分类中，可设置o_t《0.5隐藏90%的敏感信息，同时保持95%的分类准确率。</a:t>
            </a:r>
            <a:endParaRPr lang="en-US" sz="2600" dirty="0"/>
          </a:p>
        </p:txBody>
      </p:sp>
      <p:sp>
        <p:nvSpPr>
          <p:cNvPr id="9" name="Text 2"/>
          <p:cNvSpPr/>
          <p:nvPr/>
        </p:nvSpPr>
        <p:spPr>
          <a:xfrm rot="21600000">
            <a:off x="4809744" y="8814816"/>
            <a:ext cx="2971800" cy="54864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320"/>
              </a:lnSpc>
              <a:buNone/>
            </a:pPr>
            <a:r>
              <a:rPr lang="en-US" sz="36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输出控制</a:t>
            </a:r>
            <a:endParaRPr lang="en-US" sz="3600" dirty="0"/>
          </a:p>
        </p:txBody>
      </p:sp>
      <p:sp>
        <p:nvSpPr>
          <p:cNvPr id="10" name="Text 3"/>
          <p:cNvSpPr/>
          <p:nvPr/>
        </p:nvSpPr>
        <p:spPr>
          <a:xfrm rot="21600000">
            <a:off x="9609083" y="4928616"/>
            <a:ext cx="6950701" cy="171907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tanh（C_t）将细胞状态压缩到【-1，1】，避免数值爆炸，在温度预测任务中使输出稳定在±50℃合理范围内。</a:t>
            </a:r>
            <a:endParaRPr lang="en-US" sz="2600" dirty="0"/>
          </a:p>
        </p:txBody>
      </p:sp>
      <p:sp>
        <p:nvSpPr>
          <p:cNvPr id="11" name="Text 4"/>
          <p:cNvSpPr/>
          <p:nvPr/>
        </p:nvSpPr>
        <p:spPr>
          <a:xfrm rot="21600000">
            <a:off x="10460736" y="4087368"/>
            <a:ext cx="2971800" cy="54864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320"/>
              </a:lnSpc>
              <a:buNone/>
            </a:pPr>
            <a:r>
              <a:rPr lang="en-US" sz="36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状态压缩</a:t>
            </a:r>
            <a:endParaRPr lang="en-US" sz="3600" dirty="0"/>
          </a:p>
        </p:txBody>
      </p:sp>
      <p:sp>
        <p:nvSpPr>
          <p:cNvPr id="12" name="Text 5"/>
          <p:cNvSpPr/>
          <p:nvPr/>
        </p:nvSpPr>
        <p:spPr>
          <a:xfrm rot="21600000">
            <a:off x="16386048" y="9665208"/>
            <a:ext cx="6099048" cy="171907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语音合成需每个o_t都强输出（》0.9），而文本摘要仅需最后一步强输出，中间步骤o_t可降至0.3节省计算资源。</a:t>
            </a:r>
            <a:endParaRPr lang="en-US" sz="2600" dirty="0"/>
          </a:p>
        </p:txBody>
      </p:sp>
      <p:sp>
        <p:nvSpPr>
          <p:cNvPr id="13" name="Text 6"/>
          <p:cNvSpPr/>
          <p:nvPr/>
        </p:nvSpPr>
        <p:spPr>
          <a:xfrm rot="21600000">
            <a:off x="16386048" y="8823960"/>
            <a:ext cx="2971800" cy="54864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320"/>
              </a:lnSpc>
              <a:buNone/>
            </a:pPr>
            <a:r>
              <a:rPr lang="en-US" sz="36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应用差异</a:t>
            </a:r>
            <a:endParaRPr lang="en-US" sz="36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359152" y="7827264"/>
            <a:ext cx="20290536" cy="137160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029200" y="7534656"/>
            <a:ext cx="155448" cy="630936"/>
          </a:xfrm>
          <a:prstGeom prst="rect">
            <a:avLst/>
          </a:prstGeom>
        </p:spPr>
      </p:pic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0753344" y="7543800"/>
            <a:ext cx="155448" cy="630936"/>
          </a:xfrm>
          <a:prstGeom prst="rect">
            <a:avLst/>
          </a:prstGeom>
        </p:spPr>
      </p:pic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6486632" y="7534656"/>
            <a:ext cx="155448" cy="630936"/>
          </a:xfrm>
          <a:prstGeom prst="rect">
            <a:avLst/>
          </a:prstGeom>
        </p:spPr>
      </p:pic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719072" y="6867144"/>
            <a:ext cx="1901952" cy="1901952"/>
          </a:xfrm>
          <a:prstGeom prst="rect">
            <a:avLst/>
          </a:prstGeom>
        </p:spPr>
      </p:pic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2340864" y="7488936"/>
            <a:ext cx="649224" cy="649224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20273010" y="1161415"/>
            <a:ext cx="12192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智码</a:t>
            </a:r>
            <a:r>
              <a:rPr lang="en-US" altLang="zh-CN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AI</a:t>
            </a:r>
            <a:endParaRPr lang="en-US" altLang="zh-CN" sz="5400" b="0" u="none" strike="noStrike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  <a:latin typeface="+mn-ea"/>
              <a:cs typeface="+mn-ea"/>
            </a:endParaRPr>
          </a:p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cs typeface="+mn-ea"/>
                <a:sym typeface="+mn-ea"/>
              </a:rPr>
              <a:t>盗版必究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50392" y="-365760"/>
            <a:ext cx="9144" cy="1474927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3408640" y="-365760"/>
            <a:ext cx="9144" cy="1474927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77824" y="1152144"/>
            <a:ext cx="22503384" cy="914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77824" y="2505456"/>
            <a:ext cx="22503384" cy="914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 rot="21600000">
            <a:off x="2048256" y="1325880"/>
            <a:ext cx="8641080" cy="10241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8060"/>
              </a:lnSpc>
              <a:buNone/>
            </a:pPr>
            <a:r>
              <a:rPr lang="en-US" sz="6700" dirty="0">
                <a:solidFill>
                  <a:srgbClr val="2C2C2C"/>
                </a:solidFill>
                <a:latin typeface="NotoSansSC-Bold" panose="020B0200000000000000" pitchFamily="34" charset="-122"/>
                <a:ea typeface="NotoSansSC-Bold" panose="020B0200000000000000" pitchFamily="34" charset="-122"/>
                <a:cs typeface="NotoSansSC-Bold" panose="020B0200000000000000" pitchFamily="34" charset="-120"/>
              </a:rPr>
              <a:t>变体与改进LSTM</a:t>
            </a:r>
            <a:endParaRPr lang="en-US" sz="6700" dirty="0"/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399032" y="1764792"/>
            <a:ext cx="237744" cy="265176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 rot="21600000">
            <a:off x="14036040" y="5266944"/>
            <a:ext cx="8238744" cy="171907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BiLSTM在命名实体识别中F1值提升7%，前向层捕捉“有限公司“的修饰模式，反向层识别“股份有限公司“的完整结构。</a:t>
            </a:r>
            <a:endParaRPr lang="en-US" sz="2600" dirty="0"/>
          </a:p>
        </p:txBody>
      </p:sp>
      <p:sp>
        <p:nvSpPr>
          <p:cNvPr id="9" name="Text 2"/>
          <p:cNvSpPr/>
          <p:nvPr/>
        </p:nvSpPr>
        <p:spPr>
          <a:xfrm rot="21600000">
            <a:off x="14036040" y="4407408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双向优化</a:t>
            </a:r>
            <a:endParaRPr lang="en-US" sz="3900" dirty="0"/>
          </a:p>
        </p:txBody>
      </p:sp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3130784" y="4535424"/>
            <a:ext cx="292608" cy="292608"/>
          </a:xfrm>
          <a:prstGeom prst="rect">
            <a:avLst/>
          </a:prstGeom>
        </p:spPr>
      </p:pic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093976" y="4535424"/>
            <a:ext cx="292608" cy="292608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 rot="21600000">
            <a:off x="3035808" y="5266944"/>
            <a:ext cx="8229600" cy="114300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3层LSTM在机器翻译中比单层模型提升12% BLEU值，但需配合残差连接，避免梯度在垂直方向消失。</a:t>
            </a:r>
            <a:endParaRPr lang="en-US" sz="2600" dirty="0"/>
          </a:p>
        </p:txBody>
      </p:sp>
      <p:sp>
        <p:nvSpPr>
          <p:cNvPr id="13" name="Text 4"/>
          <p:cNvSpPr/>
          <p:nvPr/>
        </p:nvSpPr>
        <p:spPr>
          <a:xfrm rot="21600000">
            <a:off x="3035808" y="4407408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深层结构</a:t>
            </a:r>
            <a:endParaRPr lang="en-US" sz="3900" dirty="0"/>
          </a:p>
        </p:txBody>
      </p:sp>
      <p:pic>
        <p:nvPicPr>
          <p:cNvPr id="14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093976" y="8650224"/>
            <a:ext cx="292608" cy="292608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 rot="21600000">
            <a:off x="3008376" y="9336024"/>
            <a:ext cx="8229600" cy="114300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添加C_{t-1}到门控输入后，语音识别WER降低3%，尤其改善“five“和“nine“等易混数字的区分度。</a:t>
            </a:r>
            <a:endParaRPr lang="en-US" sz="2600" dirty="0"/>
          </a:p>
        </p:txBody>
      </p:sp>
      <p:sp>
        <p:nvSpPr>
          <p:cNvPr id="16" name="Text 6"/>
          <p:cNvSpPr/>
          <p:nvPr/>
        </p:nvSpPr>
        <p:spPr>
          <a:xfrm rot="21600000">
            <a:off x="3008376" y="8522208"/>
            <a:ext cx="3721608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窥视孔机制</a:t>
            </a:r>
            <a:endParaRPr lang="en-US" sz="3900" dirty="0"/>
          </a:p>
        </p:txBody>
      </p:sp>
      <p:sp>
        <p:nvSpPr>
          <p:cNvPr id="17" name="Text 7"/>
          <p:cNvSpPr/>
          <p:nvPr/>
        </p:nvSpPr>
        <p:spPr>
          <a:xfrm rot="21600000">
            <a:off x="14036040" y="9336024"/>
            <a:ext cx="8688788" cy="114300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使用CuDNN-LSTM实现比原生PyTorch快2.1倍，batch_size=128时GPU利用率达95%，适合工业级部署。</a:t>
            </a:r>
            <a:endParaRPr lang="en-US" sz="2600" dirty="0"/>
          </a:p>
        </p:txBody>
      </p:sp>
      <p:sp>
        <p:nvSpPr>
          <p:cNvPr id="18" name="Text 8"/>
          <p:cNvSpPr/>
          <p:nvPr/>
        </p:nvSpPr>
        <p:spPr>
          <a:xfrm rot="21600000">
            <a:off x="14036040" y="8522208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计算优化</a:t>
            </a:r>
            <a:endParaRPr lang="en-US" sz="3900" dirty="0"/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3130784" y="8650224"/>
            <a:ext cx="292608" cy="292608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20213320" y="1325880"/>
            <a:ext cx="12192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智码</a:t>
            </a:r>
            <a:r>
              <a:rPr lang="en-US" altLang="zh-CN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AI</a:t>
            </a:r>
            <a:endParaRPr lang="en-US" altLang="zh-CN" sz="5400" b="0" u="none" strike="noStrike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  <a:latin typeface="+mn-ea"/>
              <a:cs typeface="+mn-ea"/>
            </a:endParaRPr>
          </a:p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cs typeface="+mn-ea"/>
                <a:sym typeface="+mn-ea"/>
              </a:rPr>
              <a:t>盗版必究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563624" y="1152144"/>
            <a:ext cx="21095208" cy="91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563624" y="7324344"/>
            <a:ext cx="9610344" cy="91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545336" y="-365760"/>
            <a:ext cx="9144" cy="1474927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173968" y="-365760"/>
            <a:ext cx="9144" cy="1474927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2640544" y="-365760"/>
            <a:ext cx="9144" cy="14749272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 rot="21600000">
            <a:off x="2221992" y="1956816"/>
            <a:ext cx="20025360" cy="248716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19605"/>
              </a:lnSpc>
              <a:buNone/>
            </a:pPr>
            <a:r>
              <a:rPr lang="en-US" sz="11300" dirty="0">
                <a:solidFill>
                  <a:srgbClr val="2C2C2C"/>
                </a:solidFill>
                <a:latin typeface="NotoSansSC-Bold" panose="020B0200000000000000" pitchFamily="34" charset="-122"/>
                <a:ea typeface="NotoSansSC-Bold" panose="020B0200000000000000" pitchFamily="34" charset="-122"/>
                <a:cs typeface="NotoSansSC-Bold" panose="020B0200000000000000" pitchFamily="34" charset="-120"/>
              </a:rPr>
              <a:t>结构与特性GRU</a:t>
            </a:r>
            <a:endParaRPr lang="en-US" sz="11300" dirty="0"/>
          </a:p>
        </p:txBody>
      </p:sp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728216" y="8385048"/>
            <a:ext cx="237744" cy="265176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 rot="21600000">
            <a:off x="2359152" y="7699248"/>
            <a:ext cx="9582912" cy="1737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13710"/>
              </a:lnSpc>
              <a:buNone/>
            </a:pPr>
            <a:r>
              <a:rPr lang="en-US" sz="11400" dirty="0">
                <a:solidFill>
                  <a:srgbClr val="66B1E1"/>
                </a:solidFill>
                <a:latin typeface="Rubik-Medium" pitchFamily="34" charset="0"/>
                <a:ea typeface="Rubik-Medium" pitchFamily="34" charset="-122"/>
                <a:cs typeface="Rubik-Medium" pitchFamily="34" charset="-120"/>
              </a:rPr>
              <a:t>PART 04</a:t>
            </a:r>
            <a:endParaRPr lang="en-US" sz="11400" dirty="0"/>
          </a:p>
        </p:txBody>
      </p:sp>
      <p:sp>
        <p:nvSpPr>
          <p:cNvPr id="10" name="文本框 9"/>
          <p:cNvSpPr txBox="1"/>
          <p:nvPr/>
        </p:nvSpPr>
        <p:spPr>
          <a:xfrm>
            <a:off x="20391120" y="1151890"/>
            <a:ext cx="12192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智码</a:t>
            </a:r>
            <a:r>
              <a:rPr lang="en-US" altLang="zh-CN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AI</a:t>
            </a:r>
            <a:endParaRPr lang="en-US" altLang="zh-CN" sz="5400" b="0" u="none" strike="noStrike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  <a:latin typeface="+mn-ea"/>
              <a:cs typeface="+mn-ea"/>
            </a:endParaRPr>
          </a:p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cs typeface="+mn-ea"/>
                <a:sym typeface="+mn-ea"/>
              </a:rPr>
              <a:t>盗版必究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50392" y="-365760"/>
            <a:ext cx="9144" cy="1474927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3408640" y="-365760"/>
            <a:ext cx="9144" cy="1474927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77824" y="1152144"/>
            <a:ext cx="22503384" cy="914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77824" y="2505456"/>
            <a:ext cx="22503384" cy="914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 rot="21600000">
            <a:off x="2048256" y="1325880"/>
            <a:ext cx="7379208" cy="10241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8060"/>
              </a:lnSpc>
              <a:buNone/>
            </a:pPr>
            <a:r>
              <a:rPr lang="en-US" sz="6700" dirty="0">
                <a:solidFill>
                  <a:srgbClr val="2C2C2C"/>
                </a:solidFill>
                <a:latin typeface="NotoSansSC-Bold" panose="020B0200000000000000" pitchFamily="34" charset="-122"/>
                <a:ea typeface="NotoSansSC-Bold" panose="020B0200000000000000" pitchFamily="34" charset="-122"/>
                <a:cs typeface="NotoSansSC-Bold" panose="020B0200000000000000" pitchFamily="34" charset="-120"/>
              </a:rPr>
              <a:t>结构解析GRU</a:t>
            </a:r>
            <a:endParaRPr lang="en-US" sz="6700" dirty="0"/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399032" y="1764792"/>
            <a:ext cx="237744" cy="265176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3386816" y="7699248"/>
            <a:ext cx="3227832" cy="2999232"/>
          </a:xfrm>
          <a:prstGeom prst="rect">
            <a:avLst/>
          </a:prstGeom>
        </p:spPr>
      </p:pic>
      <p:pic>
        <p:nvPicPr>
          <p:cNvPr id="9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4346936" y="4773168"/>
            <a:ext cx="2258568" cy="3566160"/>
          </a:xfrm>
          <a:prstGeom prst="rect">
            <a:avLst/>
          </a:prstGeom>
        </p:spPr>
      </p:pic>
      <p:pic>
        <p:nvPicPr>
          <p:cNvPr id="10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5517368" y="3831336"/>
            <a:ext cx="4407408" cy="2377440"/>
          </a:xfrm>
          <a:prstGeom prst="rect">
            <a:avLst/>
          </a:prstGeom>
        </p:spPr>
      </p:pic>
      <p:pic>
        <p:nvPicPr>
          <p:cNvPr id="11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8736056" y="4626864"/>
            <a:ext cx="2523744" cy="3621024"/>
          </a:xfrm>
          <a:prstGeom prst="rect">
            <a:avLst/>
          </a:prstGeom>
        </p:spPr>
      </p:pic>
      <p:pic>
        <p:nvPicPr>
          <p:cNvPr id="12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18982944" y="7571232"/>
            <a:ext cx="3136392" cy="3127248"/>
          </a:xfrm>
          <a:prstGeom prst="rect">
            <a:avLst/>
          </a:prstGeom>
        </p:spPr>
      </p:pic>
      <p:sp>
        <p:nvSpPr>
          <p:cNvPr id="13" name="Text 1"/>
          <p:cNvSpPr/>
          <p:nvPr/>
        </p:nvSpPr>
        <p:spPr>
          <a:xfrm rot="21600000">
            <a:off x="14072616" y="9326880"/>
            <a:ext cx="2020824" cy="3383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640"/>
              </a:lnSpc>
              <a:buNone/>
            </a:pPr>
            <a:r>
              <a:rPr lang="en-US" sz="2200" dirty="0">
                <a:solidFill>
                  <a:srgbClr val="F1F6FA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记忆更新</a:t>
            </a:r>
            <a:endParaRPr lang="en-US" sz="2200" dirty="0"/>
          </a:p>
        </p:txBody>
      </p:sp>
      <p:sp>
        <p:nvSpPr>
          <p:cNvPr id="14" name="Text 2"/>
          <p:cNvSpPr/>
          <p:nvPr/>
        </p:nvSpPr>
        <p:spPr>
          <a:xfrm rot="21600000">
            <a:off x="19586448" y="9326880"/>
            <a:ext cx="2020824" cy="3383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640"/>
              </a:lnSpc>
              <a:buNone/>
            </a:pPr>
            <a:r>
              <a:rPr lang="en-US" sz="2200" dirty="0">
                <a:solidFill>
                  <a:srgbClr val="F1F6FA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结果输出</a:t>
            </a:r>
            <a:endParaRPr lang="en-US" sz="2200" dirty="0"/>
          </a:p>
        </p:txBody>
      </p:sp>
      <p:sp>
        <p:nvSpPr>
          <p:cNvPr id="15" name="Text 3"/>
          <p:cNvSpPr/>
          <p:nvPr/>
        </p:nvSpPr>
        <p:spPr>
          <a:xfrm rot="21600000">
            <a:off x="14374368" y="6464808"/>
            <a:ext cx="2020824" cy="3383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640"/>
              </a:lnSpc>
              <a:buNone/>
            </a:pPr>
            <a:r>
              <a:rPr lang="en-US" sz="2200" dirty="0">
                <a:solidFill>
                  <a:srgbClr val="F1F6FA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信息过滤</a:t>
            </a:r>
            <a:endParaRPr lang="en-US" sz="2200" dirty="0"/>
          </a:p>
        </p:txBody>
      </p:sp>
      <p:sp>
        <p:nvSpPr>
          <p:cNvPr id="16" name="Text 4"/>
          <p:cNvSpPr/>
          <p:nvPr/>
        </p:nvSpPr>
        <p:spPr>
          <a:xfrm rot="21600000">
            <a:off x="19202400" y="6464808"/>
            <a:ext cx="2020824" cy="3383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640"/>
              </a:lnSpc>
              <a:buNone/>
            </a:pPr>
            <a:r>
              <a:rPr lang="en-US" sz="2200" dirty="0">
                <a:solidFill>
                  <a:srgbClr val="F1F6FA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记忆整合</a:t>
            </a:r>
            <a:endParaRPr lang="en-US" sz="2200" dirty="0"/>
          </a:p>
        </p:txBody>
      </p:sp>
      <p:sp>
        <p:nvSpPr>
          <p:cNvPr id="17" name="Text 5"/>
          <p:cNvSpPr/>
          <p:nvPr/>
        </p:nvSpPr>
        <p:spPr>
          <a:xfrm rot="21600000">
            <a:off x="16989552" y="4663440"/>
            <a:ext cx="2020824" cy="3383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640"/>
              </a:lnSpc>
              <a:buNone/>
            </a:pPr>
            <a:r>
              <a:rPr lang="en-US" sz="2200" dirty="0">
                <a:solidFill>
                  <a:srgbClr val="F1F6FA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新息生成</a:t>
            </a:r>
            <a:endParaRPr lang="en-US" sz="2200" dirty="0"/>
          </a:p>
        </p:txBody>
      </p:sp>
      <p:sp>
        <p:nvSpPr>
          <p:cNvPr id="18" name="Text 6"/>
          <p:cNvSpPr/>
          <p:nvPr/>
        </p:nvSpPr>
        <p:spPr>
          <a:xfrm rot="21600000">
            <a:off x="15873984" y="11274552"/>
            <a:ext cx="3721608" cy="52120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4080"/>
              </a:lnSpc>
              <a:buNone/>
            </a:pPr>
            <a:r>
              <a:rPr lang="en-US" sz="34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GRU计算流程</a:t>
            </a:r>
            <a:endParaRPr lang="en-US" sz="3400" dirty="0"/>
          </a:p>
        </p:txBody>
      </p:sp>
      <p:sp>
        <p:nvSpPr>
          <p:cNvPr id="19" name="Text 7"/>
          <p:cNvSpPr/>
          <p:nvPr/>
        </p:nvSpPr>
        <p:spPr>
          <a:xfrm rot="21600000">
            <a:off x="2359152" y="7708392"/>
            <a:ext cx="9436608" cy="114300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取消细胞状态后，隐藏状态h_t直接承担记忆功能，在文本生成任务中保持95%的语义连贯性，同时训练迭代次数减少25%。</a:t>
            </a:r>
            <a:endParaRPr lang="en-US" sz="2600" dirty="0"/>
          </a:p>
        </p:txBody>
      </p:sp>
      <p:sp>
        <p:nvSpPr>
          <p:cNvPr id="20" name="Text 8"/>
          <p:cNvSpPr/>
          <p:nvPr/>
        </p:nvSpPr>
        <p:spPr>
          <a:xfrm rot="21600000">
            <a:off x="2359152" y="6821424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状态合并</a:t>
            </a:r>
            <a:endParaRPr lang="en-US" sz="3900" dirty="0"/>
          </a:p>
        </p:txBody>
      </p:sp>
      <p:pic>
        <p:nvPicPr>
          <p:cNvPr id="21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1444752" y="6803136"/>
            <a:ext cx="576072" cy="576072"/>
          </a:xfrm>
          <a:prstGeom prst="rect">
            <a:avLst/>
          </a:prstGeom>
        </p:spPr>
      </p:pic>
      <p:sp>
        <p:nvSpPr>
          <p:cNvPr id="22" name="Text 9"/>
          <p:cNvSpPr/>
          <p:nvPr/>
        </p:nvSpPr>
        <p:spPr>
          <a:xfrm rot="21600000">
            <a:off x="2350008" y="10634472"/>
            <a:ext cx="9436608" cy="114300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当处理“Not only...but also“等复杂句式时，重置门r_t=0.3有效过滤无关主语信息，准确率比基础RNN提升18%。</a:t>
            </a:r>
            <a:endParaRPr lang="en-US" sz="2600" dirty="0"/>
          </a:p>
        </p:txBody>
      </p:sp>
      <p:sp>
        <p:nvSpPr>
          <p:cNvPr id="23" name="Text 10"/>
          <p:cNvSpPr/>
          <p:nvPr/>
        </p:nvSpPr>
        <p:spPr>
          <a:xfrm rot="21600000">
            <a:off x="2350008" y="9793224"/>
            <a:ext cx="3721608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重置门应用</a:t>
            </a:r>
            <a:endParaRPr lang="en-US" sz="3900" dirty="0"/>
          </a:p>
        </p:txBody>
      </p:sp>
      <p:pic>
        <p:nvPicPr>
          <p:cNvPr id="24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1536192" y="9884664"/>
            <a:ext cx="365760" cy="466344"/>
          </a:xfrm>
          <a:prstGeom prst="rect">
            <a:avLst/>
          </a:prstGeom>
        </p:spPr>
      </p:pic>
      <p:sp>
        <p:nvSpPr>
          <p:cNvPr id="25" name="Text 11"/>
          <p:cNvSpPr/>
          <p:nvPr/>
        </p:nvSpPr>
        <p:spPr>
          <a:xfrm rot="21600000">
            <a:off x="2359152" y="4727448"/>
            <a:ext cx="9436608" cy="171907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GRU将LSTM的输入门和遗忘门合并为更新门z_t，参数量减少33%，在移动端部署时内存占用从1.2GB降至800MB，推理速度提升40%。</a:t>
            </a:r>
            <a:endParaRPr lang="en-US" sz="2600" dirty="0"/>
          </a:p>
        </p:txBody>
      </p:sp>
      <p:sp>
        <p:nvSpPr>
          <p:cNvPr id="26" name="Text 12"/>
          <p:cNvSpPr/>
          <p:nvPr/>
        </p:nvSpPr>
        <p:spPr>
          <a:xfrm rot="21600000">
            <a:off x="2359152" y="3858768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设计创新</a:t>
            </a:r>
            <a:endParaRPr lang="en-US" sz="3900" dirty="0"/>
          </a:p>
        </p:txBody>
      </p:sp>
      <p:pic>
        <p:nvPicPr>
          <p:cNvPr id="27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1536192" y="3941064"/>
            <a:ext cx="393192" cy="493776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20493355" y="1161415"/>
            <a:ext cx="12192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智码</a:t>
            </a:r>
            <a:r>
              <a:rPr lang="en-US" altLang="zh-CN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AI</a:t>
            </a:r>
            <a:endParaRPr lang="en-US" altLang="zh-CN" sz="5400" b="0" u="none" strike="noStrike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  <a:latin typeface="+mn-ea"/>
              <a:cs typeface="+mn-ea"/>
            </a:endParaRPr>
          </a:p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cs typeface="+mn-ea"/>
                <a:sym typeface="+mn-ea"/>
              </a:rPr>
              <a:t>盗版必究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50392" y="-365760"/>
            <a:ext cx="9144" cy="1474927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3408640" y="-365760"/>
            <a:ext cx="9144" cy="1474927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77824" y="1152144"/>
            <a:ext cx="22503384" cy="914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77824" y="2505456"/>
            <a:ext cx="22503384" cy="914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 rot="21600000">
            <a:off x="2048256" y="1325880"/>
            <a:ext cx="7379208" cy="10241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8060"/>
              </a:lnSpc>
              <a:buNone/>
            </a:pPr>
            <a:r>
              <a:rPr lang="en-US" sz="6700" dirty="0">
                <a:solidFill>
                  <a:srgbClr val="2C2C2C"/>
                </a:solidFill>
                <a:latin typeface="NotoSansSC-Bold" panose="020B0200000000000000" pitchFamily="34" charset="-122"/>
                <a:ea typeface="NotoSansSC-Bold" panose="020B0200000000000000" pitchFamily="34" charset="-122"/>
                <a:cs typeface="NotoSansSC-Bold" panose="020B0200000000000000" pitchFamily="34" charset="-120"/>
              </a:rPr>
              <a:t>数学公式GRU</a:t>
            </a:r>
            <a:endParaRPr lang="en-US" sz="6700" dirty="0"/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399032" y="1764792"/>
            <a:ext cx="237744" cy="265176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371600" y="7799832"/>
            <a:ext cx="21643848" cy="393192"/>
          </a:xfrm>
          <a:prstGeom prst="rect">
            <a:avLst/>
          </a:prstGeom>
        </p:spPr>
      </p:pic>
      <p:pic>
        <p:nvPicPr>
          <p:cNvPr id="9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3419856" y="7050024"/>
            <a:ext cx="2798064" cy="1499616"/>
          </a:xfrm>
          <a:prstGeom prst="rect">
            <a:avLst/>
          </a:prstGeom>
        </p:spPr>
      </p:pic>
      <p:pic>
        <p:nvPicPr>
          <p:cNvPr id="10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4462272" y="7452360"/>
            <a:ext cx="713232" cy="713232"/>
          </a:xfrm>
          <a:prstGeom prst="rect">
            <a:avLst/>
          </a:prstGeom>
        </p:spPr>
      </p:pic>
      <p:pic>
        <p:nvPicPr>
          <p:cNvPr id="11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330184" y="7050024"/>
            <a:ext cx="2798064" cy="1499616"/>
          </a:xfrm>
          <a:prstGeom prst="rect">
            <a:avLst/>
          </a:prstGeom>
        </p:spPr>
      </p:pic>
      <p:pic>
        <p:nvPicPr>
          <p:cNvPr id="12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9436608" y="7406640"/>
            <a:ext cx="585216" cy="786384"/>
          </a:xfrm>
          <a:prstGeom prst="rect">
            <a:avLst/>
          </a:prstGeom>
        </p:spPr>
      </p:pic>
      <p:pic>
        <p:nvPicPr>
          <p:cNvPr id="13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3258800" y="7050024"/>
            <a:ext cx="2798064" cy="1499616"/>
          </a:xfrm>
          <a:prstGeom prst="rect">
            <a:avLst/>
          </a:prstGeom>
        </p:spPr>
      </p:pic>
      <p:pic>
        <p:nvPicPr>
          <p:cNvPr id="14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14264640" y="7406640"/>
            <a:ext cx="786384" cy="786384"/>
          </a:xfrm>
          <a:prstGeom prst="rect">
            <a:avLst/>
          </a:prstGeom>
        </p:spPr>
      </p:pic>
      <p:pic>
        <p:nvPicPr>
          <p:cNvPr id="15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8187416" y="7050024"/>
            <a:ext cx="2798064" cy="1499616"/>
          </a:xfrm>
          <a:prstGeom prst="rect">
            <a:avLst/>
          </a:prstGeom>
        </p:spPr>
      </p:pic>
      <p:pic>
        <p:nvPicPr>
          <p:cNvPr id="16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19138392" y="7415784"/>
            <a:ext cx="886968" cy="777240"/>
          </a:xfrm>
          <a:prstGeom prst="rect">
            <a:avLst/>
          </a:prstGeom>
        </p:spPr>
      </p:pic>
      <p:sp>
        <p:nvSpPr>
          <p:cNvPr id="17" name="Text 1"/>
          <p:cNvSpPr/>
          <p:nvPr/>
        </p:nvSpPr>
        <p:spPr>
          <a:xfrm rot="21600000">
            <a:off x="1609344" y="4434840"/>
            <a:ext cx="6400800" cy="171907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z_t=σ（W_z·【h_{t-1}，x_t】）动态平衡历史记忆比例，当处理新闻事件时，z_t从0.2（突发新闻）到0.8（持续报道）自适应调整。</a:t>
            </a:r>
            <a:endParaRPr lang="en-US" sz="2600" dirty="0"/>
          </a:p>
        </p:txBody>
      </p:sp>
      <p:sp>
        <p:nvSpPr>
          <p:cNvPr id="18" name="Text 2"/>
          <p:cNvSpPr/>
          <p:nvPr/>
        </p:nvSpPr>
        <p:spPr>
          <a:xfrm rot="21600000">
            <a:off x="3200400" y="3566160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更新机制</a:t>
            </a:r>
            <a:endParaRPr lang="en-US" sz="3900" dirty="0"/>
          </a:p>
        </p:txBody>
      </p:sp>
      <p:sp>
        <p:nvSpPr>
          <p:cNvPr id="19" name="Text 3"/>
          <p:cNvSpPr/>
          <p:nvPr/>
        </p:nvSpPr>
        <p:spPr>
          <a:xfrm rot="21600000">
            <a:off x="16386048" y="9994392"/>
            <a:ext cx="6400800" cy="171907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h_t=（1-z_t）⊙h_{t-1}+z_t⊙h~_t的凸组合特性，保证数值稳定性，在100层深度GRU中梯度仍能有效传播。</a:t>
            </a:r>
            <a:endParaRPr lang="en-US" sz="2600" dirty="0"/>
          </a:p>
        </p:txBody>
      </p:sp>
      <p:sp>
        <p:nvSpPr>
          <p:cNvPr id="20" name="Text 4"/>
          <p:cNvSpPr/>
          <p:nvPr/>
        </p:nvSpPr>
        <p:spPr>
          <a:xfrm rot="21600000">
            <a:off x="17967960" y="9180576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最终输出</a:t>
            </a:r>
            <a:endParaRPr lang="en-US" sz="3900" dirty="0"/>
          </a:p>
        </p:txBody>
      </p:sp>
      <p:sp>
        <p:nvSpPr>
          <p:cNvPr id="21" name="Text 5"/>
          <p:cNvSpPr/>
          <p:nvPr/>
        </p:nvSpPr>
        <p:spPr>
          <a:xfrm rot="21600000">
            <a:off x="11457432" y="4462272"/>
            <a:ext cx="6400800" cy="171907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h~_t=tanh（W·【r_t⊙h_{t-1}，x_t】）通过逐元素乘法实现精确过滤，在机器翻译中使长句BLEU值提高0.15。</a:t>
            </a:r>
            <a:endParaRPr lang="en-US" sz="2600" dirty="0"/>
          </a:p>
        </p:txBody>
      </p:sp>
      <p:sp>
        <p:nvSpPr>
          <p:cNvPr id="22" name="Text 6"/>
          <p:cNvSpPr/>
          <p:nvPr/>
        </p:nvSpPr>
        <p:spPr>
          <a:xfrm rot="21600000">
            <a:off x="13039344" y="3639312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候选状态</a:t>
            </a:r>
            <a:endParaRPr lang="en-US" sz="3900" dirty="0"/>
          </a:p>
        </p:txBody>
      </p:sp>
      <p:sp>
        <p:nvSpPr>
          <p:cNvPr id="23" name="Text 7"/>
          <p:cNvSpPr/>
          <p:nvPr/>
        </p:nvSpPr>
        <p:spPr>
          <a:xfrm rot="21600000">
            <a:off x="6528816" y="10030968"/>
            <a:ext cx="6400800" cy="171907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r_t=σ（W_r·【h_{t-1}，x_t】）在分析否定句时自动降至0.4，有效抑制“不“字前的形容词影响，使情感分析准确率提升12%。</a:t>
            </a:r>
            <a:endParaRPr lang="en-US" sz="2600" dirty="0"/>
          </a:p>
        </p:txBody>
      </p:sp>
      <p:sp>
        <p:nvSpPr>
          <p:cNvPr id="24" name="Text 8"/>
          <p:cNvSpPr/>
          <p:nvPr/>
        </p:nvSpPr>
        <p:spPr>
          <a:xfrm rot="21600000">
            <a:off x="8119872" y="9171432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重置计算</a:t>
            </a:r>
            <a:endParaRPr lang="en-US" sz="3900" dirty="0"/>
          </a:p>
        </p:txBody>
      </p:sp>
      <p:sp>
        <p:nvSpPr>
          <p:cNvPr id="25" name="文本框 24"/>
          <p:cNvSpPr txBox="1"/>
          <p:nvPr/>
        </p:nvSpPr>
        <p:spPr>
          <a:xfrm>
            <a:off x="20433030" y="1161415"/>
            <a:ext cx="12192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智码</a:t>
            </a:r>
            <a:r>
              <a:rPr lang="en-US" altLang="zh-CN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AI</a:t>
            </a:r>
            <a:endParaRPr lang="en-US" altLang="zh-CN" sz="5400" b="0" u="none" strike="noStrike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  <a:latin typeface="+mn-ea"/>
              <a:cs typeface="+mn-ea"/>
            </a:endParaRPr>
          </a:p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cs typeface="+mn-ea"/>
                <a:sym typeface="+mn-ea"/>
              </a:rPr>
              <a:t>盗版必究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50392" y="-365760"/>
            <a:ext cx="9144" cy="1474927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3408640" y="-365760"/>
            <a:ext cx="9144" cy="1474927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77824" y="1152144"/>
            <a:ext cx="22503384" cy="914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77824" y="2505456"/>
            <a:ext cx="22503384" cy="914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 rot="21600000">
            <a:off x="2048256" y="1325880"/>
            <a:ext cx="7507224" cy="10241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8060"/>
              </a:lnSpc>
              <a:buNone/>
            </a:pPr>
            <a:r>
              <a:rPr lang="en-US" sz="6700" dirty="0">
                <a:solidFill>
                  <a:srgbClr val="2C2C2C"/>
                </a:solidFill>
                <a:latin typeface="NotoSansSC-Bold" panose="020B0200000000000000" pitchFamily="34" charset="-122"/>
                <a:ea typeface="NotoSansSC-Bold" panose="020B0200000000000000" pitchFamily="34" charset="-122"/>
                <a:cs typeface="NotoSansSC-Bold" panose="020B0200000000000000" pitchFamily="34" charset="-120"/>
              </a:rPr>
              <a:t>GRU vs LSTM</a:t>
            </a:r>
            <a:endParaRPr lang="en-US" sz="6700" dirty="0"/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399032" y="1764792"/>
            <a:ext cx="237744" cy="265176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3322808" y="10652760"/>
            <a:ext cx="8513064" cy="100584"/>
          </a:xfrm>
          <a:prstGeom prst="rect">
            <a:avLst/>
          </a:prstGeom>
        </p:spPr>
      </p:pic>
      <p:pic>
        <p:nvPicPr>
          <p:cNvPr id="9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2551176" y="10652760"/>
            <a:ext cx="8513064" cy="100584"/>
          </a:xfrm>
          <a:prstGeom prst="rect">
            <a:avLst/>
          </a:prstGeom>
        </p:spPr>
      </p:pic>
      <p:pic>
        <p:nvPicPr>
          <p:cNvPr id="10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6200000">
            <a:off x="10881360" y="8202168"/>
            <a:ext cx="2615184" cy="100584"/>
          </a:xfrm>
          <a:prstGeom prst="rect">
            <a:avLst/>
          </a:prstGeom>
        </p:spPr>
      </p:pic>
      <p:pic>
        <p:nvPicPr>
          <p:cNvPr id="11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1027664" y="9217152"/>
            <a:ext cx="2359152" cy="2377440"/>
          </a:xfrm>
          <a:prstGeom prst="rect">
            <a:avLst/>
          </a:prstGeom>
        </p:spPr>
      </p:pic>
      <p:pic>
        <p:nvPicPr>
          <p:cNvPr id="12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11667744" y="9957816"/>
            <a:ext cx="1051560" cy="886968"/>
          </a:xfrm>
          <a:prstGeom prst="rect">
            <a:avLst/>
          </a:prstGeom>
        </p:spPr>
      </p:pic>
      <p:sp>
        <p:nvSpPr>
          <p:cNvPr id="13" name="Text 1"/>
          <p:cNvSpPr/>
          <p:nvPr/>
        </p:nvSpPr>
        <p:spPr>
          <a:xfrm rot="21600000">
            <a:off x="9921240" y="10140696"/>
            <a:ext cx="1380744" cy="45720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000" dirty="0">
                <a:solidFill>
                  <a:srgbClr val="66B1E1"/>
                </a:solidFill>
                <a:latin typeface="Roboto-Regular" panose="02000000000000000000" pitchFamily="34" charset="0"/>
                <a:ea typeface="Roboto-Regular" panose="02000000000000000000" pitchFamily="34" charset="-122"/>
                <a:cs typeface="Roboto-Regular" panose="02000000000000000000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2"/>
          <p:cNvSpPr/>
          <p:nvPr/>
        </p:nvSpPr>
        <p:spPr>
          <a:xfrm rot="21600000">
            <a:off x="13094208" y="10140696"/>
            <a:ext cx="1380744" cy="45720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000" dirty="0">
                <a:solidFill>
                  <a:srgbClr val="66B1E1"/>
                </a:solidFill>
                <a:latin typeface="Roboto-Regular" panose="02000000000000000000" pitchFamily="34" charset="0"/>
                <a:ea typeface="Roboto-Regular" panose="02000000000000000000" pitchFamily="34" charset="-122"/>
                <a:cs typeface="Roboto-Regular" panose="02000000000000000000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3"/>
          <p:cNvSpPr/>
          <p:nvPr/>
        </p:nvSpPr>
        <p:spPr>
          <a:xfrm rot="21600000">
            <a:off x="11109960" y="7223760"/>
            <a:ext cx="1380744" cy="45720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000" dirty="0">
                <a:solidFill>
                  <a:srgbClr val="66B1E1"/>
                </a:solidFill>
                <a:latin typeface="Roboto-Regular" panose="02000000000000000000" pitchFamily="34" charset="0"/>
                <a:ea typeface="Roboto-Regular" panose="02000000000000000000" pitchFamily="34" charset="-122"/>
                <a:cs typeface="Roboto-Regular" panose="02000000000000000000" pitchFamily="34" charset="-120"/>
              </a:rPr>
              <a:t>01</a:t>
            </a:r>
            <a:endParaRPr lang="en-US" sz="3000" dirty="0"/>
          </a:p>
        </p:txBody>
      </p:sp>
      <p:sp>
        <p:nvSpPr>
          <p:cNvPr id="16" name="Text 4"/>
          <p:cNvSpPr/>
          <p:nvPr/>
        </p:nvSpPr>
        <p:spPr>
          <a:xfrm rot="21600000">
            <a:off x="3127248" y="8074152"/>
            <a:ext cx="6099048" cy="171907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GRU在IoT设备上峰值内存占用仅1.8MB，比LSTM的2.7MB更低，使得在智能手表等设备实现实时语义分析成为可能。</a:t>
            </a:r>
            <a:endParaRPr lang="en-US" sz="2600" dirty="0"/>
          </a:p>
        </p:txBody>
      </p:sp>
      <p:sp>
        <p:nvSpPr>
          <p:cNvPr id="17" name="Text 5"/>
          <p:cNvSpPr/>
          <p:nvPr/>
        </p:nvSpPr>
        <p:spPr>
          <a:xfrm rot="21600000">
            <a:off x="3127248" y="7251192"/>
            <a:ext cx="2971800" cy="54864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320"/>
              </a:lnSpc>
              <a:buNone/>
            </a:pPr>
            <a:r>
              <a:rPr lang="en-US" sz="36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结构优势</a:t>
            </a:r>
            <a:endParaRPr lang="en-US" sz="3600" dirty="0"/>
          </a:p>
        </p:txBody>
      </p:sp>
      <p:sp>
        <p:nvSpPr>
          <p:cNvPr id="18" name="Text 6"/>
          <p:cNvSpPr/>
          <p:nvPr/>
        </p:nvSpPr>
        <p:spPr>
          <a:xfrm rot="21600000">
            <a:off x="9144000" y="4636008"/>
            <a:ext cx="6099048" cy="21945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4315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在亚马逊评论分类任务中，GRU达到88.3%准确率，仅比LSTM低0.7%，但训练时间缩短35%，适合日均百万级新评论的场景。</a:t>
            </a:r>
            <a:endParaRPr lang="en-US" sz="2600" dirty="0"/>
          </a:p>
        </p:txBody>
      </p:sp>
      <p:sp>
        <p:nvSpPr>
          <p:cNvPr id="19" name="Text 7"/>
          <p:cNvSpPr/>
          <p:nvPr/>
        </p:nvSpPr>
        <p:spPr>
          <a:xfrm rot="21600000">
            <a:off x="10707624" y="3803904"/>
            <a:ext cx="2971800" cy="54864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性能对比</a:t>
            </a:r>
            <a:endParaRPr lang="en-US" sz="3600" dirty="0"/>
          </a:p>
        </p:txBody>
      </p:sp>
      <p:sp>
        <p:nvSpPr>
          <p:cNvPr id="20" name="Text 8"/>
          <p:cNvSpPr/>
          <p:nvPr/>
        </p:nvSpPr>
        <p:spPr>
          <a:xfrm rot="21600000">
            <a:off x="15160752" y="8074152"/>
            <a:ext cx="6099048" cy="1655064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315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当序列长度《50步时优选GRU，如短文本分类；而长序列（》100步）如文档摘要仍需要LSTM的精细门控能力。</a:t>
            </a:r>
            <a:endParaRPr lang="en-US" sz="2600" dirty="0"/>
          </a:p>
        </p:txBody>
      </p:sp>
      <p:sp>
        <p:nvSpPr>
          <p:cNvPr id="21" name="Text 9"/>
          <p:cNvSpPr/>
          <p:nvPr/>
        </p:nvSpPr>
        <p:spPr>
          <a:xfrm rot="21600000">
            <a:off x="15160752" y="7251192"/>
            <a:ext cx="2971800" cy="54864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320"/>
              </a:lnSpc>
              <a:buNone/>
            </a:pPr>
            <a:r>
              <a:rPr lang="en-US" sz="36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适用场景</a:t>
            </a:r>
            <a:endParaRPr lang="en-US" sz="3600" dirty="0"/>
          </a:p>
        </p:txBody>
      </p:sp>
      <p:sp>
        <p:nvSpPr>
          <p:cNvPr id="22" name="文本框 21"/>
          <p:cNvSpPr txBox="1"/>
          <p:nvPr/>
        </p:nvSpPr>
        <p:spPr>
          <a:xfrm>
            <a:off x="20493355" y="1161415"/>
            <a:ext cx="12192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智码</a:t>
            </a:r>
            <a:r>
              <a:rPr lang="en-US" altLang="zh-CN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AI</a:t>
            </a:r>
            <a:endParaRPr lang="en-US" altLang="zh-CN" sz="5400" b="0" u="none" strike="noStrike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  <a:latin typeface="+mn-ea"/>
              <a:cs typeface="+mn-ea"/>
            </a:endParaRPr>
          </a:p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cs typeface="+mn-ea"/>
                <a:sym typeface="+mn-ea"/>
              </a:rPr>
              <a:t>盗版必究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563624" y="1152144"/>
            <a:ext cx="21095208" cy="91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563624" y="7324344"/>
            <a:ext cx="9610344" cy="91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545336" y="-365760"/>
            <a:ext cx="9144" cy="1474927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173968" y="-365760"/>
            <a:ext cx="9144" cy="1474927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2640544" y="-365760"/>
            <a:ext cx="9144" cy="14749272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 rot="21600000">
            <a:off x="2221992" y="1956816"/>
            <a:ext cx="23874984" cy="248716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19605"/>
              </a:lnSpc>
              <a:buNone/>
            </a:pPr>
            <a:r>
              <a:rPr lang="en-US" sz="11300" dirty="0">
                <a:solidFill>
                  <a:srgbClr val="2C2C2C"/>
                </a:solidFill>
                <a:latin typeface="NotoSansSC-Bold" panose="020B0200000000000000" pitchFamily="34" charset="-122"/>
                <a:ea typeface="NotoSansSC-Bold" panose="020B0200000000000000" pitchFamily="34" charset="-122"/>
                <a:cs typeface="NotoSansSC-Bold" panose="020B0200000000000000" pitchFamily="34" charset="-120"/>
              </a:rPr>
              <a:t>模型对⽐与应⽤案例</a:t>
            </a:r>
            <a:endParaRPr lang="en-US" sz="11300" dirty="0"/>
          </a:p>
        </p:txBody>
      </p:sp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728216" y="8385048"/>
            <a:ext cx="237744" cy="265176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 rot="21600000">
            <a:off x="2359152" y="7699248"/>
            <a:ext cx="9546336" cy="1737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13710"/>
              </a:lnSpc>
              <a:buNone/>
            </a:pPr>
            <a:r>
              <a:rPr lang="en-US" sz="11400" dirty="0">
                <a:solidFill>
                  <a:srgbClr val="66B1E1"/>
                </a:solidFill>
                <a:latin typeface="Rubik-Medium" pitchFamily="34" charset="0"/>
                <a:ea typeface="Rubik-Medium" pitchFamily="34" charset="-122"/>
                <a:cs typeface="Rubik-Medium" pitchFamily="34" charset="-120"/>
              </a:rPr>
              <a:t>PART 05</a:t>
            </a:r>
            <a:endParaRPr lang="en-US" sz="11400" dirty="0"/>
          </a:p>
        </p:txBody>
      </p:sp>
      <p:sp>
        <p:nvSpPr>
          <p:cNvPr id="10" name="文本框 9"/>
          <p:cNvSpPr txBox="1"/>
          <p:nvPr/>
        </p:nvSpPr>
        <p:spPr>
          <a:xfrm>
            <a:off x="20611465" y="1151890"/>
            <a:ext cx="12192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智码</a:t>
            </a:r>
            <a:r>
              <a:rPr lang="en-US" altLang="zh-CN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AI</a:t>
            </a:r>
            <a:endParaRPr lang="en-US" altLang="zh-CN" sz="5400" b="0" u="none" strike="noStrike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  <a:latin typeface="+mn-ea"/>
              <a:cs typeface="+mn-ea"/>
            </a:endParaRPr>
          </a:p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cs typeface="+mn-ea"/>
                <a:sym typeface="+mn-ea"/>
              </a:rPr>
              <a:t>盗版必究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50392" y="-365760"/>
            <a:ext cx="9144" cy="1474927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3408640" y="-365760"/>
            <a:ext cx="9144" cy="1474927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77824" y="1152144"/>
            <a:ext cx="22503384" cy="914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77824" y="2505456"/>
            <a:ext cx="22503384" cy="914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 rot="21600000">
            <a:off x="2048256" y="1325880"/>
            <a:ext cx="7251192" cy="10241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8060"/>
              </a:lnSpc>
              <a:buNone/>
            </a:pPr>
            <a:r>
              <a:rPr lang="en-US" sz="6700" dirty="0">
                <a:solidFill>
                  <a:srgbClr val="2C2C2C"/>
                </a:solidFill>
                <a:latin typeface="NotoSansSC-Bold" panose="020B0200000000000000" pitchFamily="34" charset="-122"/>
                <a:ea typeface="NotoSansSC-Bold" panose="020B0200000000000000" pitchFamily="34" charset="-122"/>
                <a:cs typeface="NotoSansSC-Bold" panose="020B0200000000000000" pitchFamily="34" charset="-120"/>
              </a:rPr>
              <a:t>模型性能对⽐</a:t>
            </a:r>
            <a:endParaRPr lang="en-US" sz="6700" dirty="0"/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399032" y="1764792"/>
            <a:ext cx="237744" cy="265176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 rot="21600000">
            <a:off x="15992856" y="11356848"/>
            <a:ext cx="3666744" cy="52120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4080"/>
              </a:lnSpc>
              <a:buNone/>
            </a:pPr>
            <a:r>
              <a:rPr lang="en-US" sz="34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模型选型指南</a:t>
            </a:r>
            <a:endParaRPr lang="en-US" sz="3400" dirty="0"/>
          </a:p>
        </p:txBody>
      </p:sp>
      <p:sp>
        <p:nvSpPr>
          <p:cNvPr id="9" name="Text 2"/>
          <p:cNvSpPr/>
          <p:nvPr/>
        </p:nvSpPr>
        <p:spPr>
          <a:xfrm rot="21600000">
            <a:off x="16742664" y="3767328"/>
            <a:ext cx="1527048" cy="24688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r">
              <a:lnSpc>
                <a:spcPts val="1920"/>
              </a:lnSpc>
              <a:buNone/>
            </a:pPr>
            <a:r>
              <a:rPr lang="en-US" sz="16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长序列建模</a:t>
            </a:r>
            <a:endParaRPr lang="en-US" sz="1600" dirty="0"/>
          </a:p>
        </p:txBody>
      </p:sp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2838176" y="4169664"/>
            <a:ext cx="9893808" cy="6409944"/>
          </a:xfrm>
          <a:prstGeom prst="rect">
            <a:avLst/>
          </a:prstGeom>
        </p:spPr>
      </p:pic>
      <p:pic>
        <p:nvPicPr>
          <p:cNvPr id="11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14575536" y="7324344"/>
            <a:ext cx="6428232" cy="91440"/>
          </a:xfrm>
          <a:prstGeom prst="rect">
            <a:avLst/>
          </a:prstGeom>
        </p:spPr>
      </p:pic>
      <p:pic>
        <p:nvPicPr>
          <p:cNvPr id="12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2902184" y="7342632"/>
            <a:ext cx="9802368" cy="91440"/>
          </a:xfrm>
          <a:prstGeom prst="rect">
            <a:avLst/>
          </a:prstGeom>
        </p:spPr>
      </p:pic>
      <p:sp>
        <p:nvSpPr>
          <p:cNvPr id="13" name="Text 3"/>
          <p:cNvSpPr/>
          <p:nvPr/>
        </p:nvSpPr>
        <p:spPr>
          <a:xfrm rot="21600000">
            <a:off x="16742664" y="10735056"/>
            <a:ext cx="1527048" cy="24688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r">
              <a:lnSpc>
                <a:spcPts val="1920"/>
              </a:lnSpc>
              <a:buNone/>
            </a:pPr>
            <a:r>
              <a:rPr lang="en-US" sz="16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短序列处理</a:t>
            </a:r>
            <a:endParaRPr lang="en-US" sz="1600" dirty="0"/>
          </a:p>
        </p:txBody>
      </p:sp>
      <p:sp>
        <p:nvSpPr>
          <p:cNvPr id="14" name="Text 4"/>
          <p:cNvSpPr/>
          <p:nvPr/>
        </p:nvSpPr>
        <p:spPr>
          <a:xfrm rot="16200000">
            <a:off x="11777472" y="7260336"/>
            <a:ext cx="1316736" cy="24688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r">
              <a:lnSpc>
                <a:spcPts val="1920"/>
              </a:lnSpc>
              <a:buNone/>
            </a:pPr>
            <a:r>
              <a:rPr lang="en-US" sz="16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资源受限</a:t>
            </a:r>
            <a:endParaRPr lang="en-US" sz="1600" dirty="0"/>
          </a:p>
        </p:txBody>
      </p:sp>
      <p:sp>
        <p:nvSpPr>
          <p:cNvPr id="15" name="Text 5"/>
          <p:cNvSpPr/>
          <p:nvPr/>
        </p:nvSpPr>
        <p:spPr>
          <a:xfrm rot="5400000">
            <a:off x="22101048" y="7260336"/>
            <a:ext cx="1316736" cy="24688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r">
              <a:lnSpc>
                <a:spcPts val="1920"/>
              </a:lnSpc>
              <a:buNone/>
            </a:pPr>
            <a:r>
              <a:rPr lang="en-US" sz="16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资源充足</a:t>
            </a:r>
            <a:endParaRPr lang="en-US" sz="1600" dirty="0"/>
          </a:p>
        </p:txBody>
      </p:sp>
      <p:pic>
        <p:nvPicPr>
          <p:cNvPr id="16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3130784" y="4398264"/>
            <a:ext cx="1892808" cy="1892808"/>
          </a:xfrm>
          <a:prstGeom prst="rect">
            <a:avLst/>
          </a:prstGeom>
        </p:spPr>
      </p:pic>
      <p:sp>
        <p:nvSpPr>
          <p:cNvPr id="17" name="Text 6"/>
          <p:cNvSpPr/>
          <p:nvPr/>
        </p:nvSpPr>
        <p:spPr>
          <a:xfrm rot="21600000">
            <a:off x="13267944" y="5166360"/>
            <a:ext cx="1609344" cy="29260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280"/>
              </a:lnSpc>
              <a:buNone/>
            </a:pPr>
            <a:r>
              <a:rPr lang="en-US" sz="1900" dirty="0">
                <a:solidFill>
                  <a:srgbClr val="F1F6FA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平衡方案</a:t>
            </a:r>
            <a:endParaRPr lang="en-US" sz="1900" dirty="0"/>
          </a:p>
        </p:txBody>
      </p:sp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15142464" y="4937760"/>
            <a:ext cx="2221992" cy="2221992"/>
          </a:xfrm>
          <a:prstGeom prst="rect">
            <a:avLst/>
          </a:prstGeom>
        </p:spPr>
      </p:pic>
      <p:sp>
        <p:nvSpPr>
          <p:cNvPr id="19" name="Text 7"/>
          <p:cNvSpPr/>
          <p:nvPr/>
        </p:nvSpPr>
        <p:spPr>
          <a:xfrm rot="21600000">
            <a:off x="15179040" y="5852160"/>
            <a:ext cx="2157984" cy="29260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280"/>
              </a:lnSpc>
              <a:buNone/>
            </a:pPr>
            <a:r>
              <a:rPr lang="en-US" sz="1900" dirty="0">
                <a:solidFill>
                  <a:srgbClr val="66B1E1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GRU+注意力机制</a:t>
            </a:r>
            <a:endParaRPr lang="en-US" sz="1900" dirty="0"/>
          </a:p>
        </p:txBody>
      </p:sp>
      <p:pic>
        <p:nvPicPr>
          <p:cNvPr id="20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20253960" y="5330952"/>
            <a:ext cx="1892808" cy="1892808"/>
          </a:xfrm>
          <a:prstGeom prst="rect">
            <a:avLst/>
          </a:prstGeom>
        </p:spPr>
      </p:pic>
      <p:sp>
        <p:nvSpPr>
          <p:cNvPr id="21" name="Text 8"/>
          <p:cNvSpPr/>
          <p:nvPr/>
        </p:nvSpPr>
        <p:spPr>
          <a:xfrm rot="21600000">
            <a:off x="20400264" y="6089904"/>
            <a:ext cx="1609344" cy="29260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280"/>
              </a:lnSpc>
              <a:buNone/>
            </a:pPr>
            <a:r>
              <a:rPr lang="en-US" sz="1900" dirty="0">
                <a:solidFill>
                  <a:srgbClr val="F1F6FA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优选LSTM</a:t>
            </a:r>
            <a:endParaRPr lang="en-US" sz="1900" dirty="0"/>
          </a:p>
        </p:txBody>
      </p:sp>
      <p:pic>
        <p:nvPicPr>
          <p:cNvPr id="22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17949672" y="4462272"/>
            <a:ext cx="2221992" cy="2221992"/>
          </a:xfrm>
          <a:prstGeom prst="rect">
            <a:avLst/>
          </a:prstGeom>
        </p:spPr>
      </p:pic>
      <p:sp>
        <p:nvSpPr>
          <p:cNvPr id="23" name="Text 9"/>
          <p:cNvSpPr/>
          <p:nvPr/>
        </p:nvSpPr>
        <p:spPr>
          <a:xfrm rot="21600000">
            <a:off x="17967960" y="5330952"/>
            <a:ext cx="2157984" cy="29260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280"/>
              </a:lnSpc>
              <a:buNone/>
            </a:pPr>
            <a:r>
              <a:rPr lang="en-US" sz="1900" dirty="0">
                <a:solidFill>
                  <a:srgbClr val="66B1E1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复杂长序列任务</a:t>
            </a:r>
            <a:endParaRPr lang="en-US" sz="1900" dirty="0"/>
          </a:p>
        </p:txBody>
      </p:sp>
      <p:pic>
        <p:nvPicPr>
          <p:cNvPr id="2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5581376" y="7580376"/>
            <a:ext cx="1892808" cy="1892808"/>
          </a:xfrm>
          <a:prstGeom prst="rect">
            <a:avLst/>
          </a:prstGeom>
        </p:spPr>
      </p:pic>
      <p:sp>
        <p:nvSpPr>
          <p:cNvPr id="25" name="Text 10"/>
          <p:cNvSpPr/>
          <p:nvPr/>
        </p:nvSpPr>
        <p:spPr>
          <a:xfrm rot="21600000">
            <a:off x="15718536" y="8339328"/>
            <a:ext cx="1609344" cy="29260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280"/>
              </a:lnSpc>
              <a:buNone/>
            </a:pPr>
            <a:r>
              <a:rPr lang="en-US" sz="1900" dirty="0">
                <a:solidFill>
                  <a:srgbClr val="F1F6FA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基础RNN</a:t>
            </a:r>
            <a:endParaRPr lang="en-US" sz="1900" dirty="0"/>
          </a:p>
        </p:txBody>
      </p:sp>
      <p:pic>
        <p:nvPicPr>
          <p:cNvPr id="26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13350240" y="8119872"/>
            <a:ext cx="2221992" cy="2221992"/>
          </a:xfrm>
          <a:prstGeom prst="rect">
            <a:avLst/>
          </a:prstGeom>
        </p:spPr>
      </p:pic>
      <p:sp>
        <p:nvSpPr>
          <p:cNvPr id="27" name="Text 11"/>
          <p:cNvSpPr/>
          <p:nvPr/>
        </p:nvSpPr>
        <p:spPr>
          <a:xfrm rot="21600000">
            <a:off x="13377672" y="8979408"/>
            <a:ext cx="2157984" cy="29260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280"/>
              </a:lnSpc>
              <a:buNone/>
            </a:pPr>
            <a:r>
              <a:rPr lang="en-US" sz="1900" dirty="0">
                <a:solidFill>
                  <a:srgbClr val="66B1E1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简单时序分析</a:t>
            </a:r>
            <a:endParaRPr lang="en-US" sz="1900" dirty="0"/>
          </a:p>
        </p:txBody>
      </p:sp>
      <p:pic>
        <p:nvPicPr>
          <p:cNvPr id="28" name="Image 1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8095976" y="8449056"/>
            <a:ext cx="1892808" cy="1892808"/>
          </a:xfrm>
          <a:prstGeom prst="rect">
            <a:avLst/>
          </a:prstGeom>
        </p:spPr>
      </p:pic>
      <p:sp>
        <p:nvSpPr>
          <p:cNvPr id="29" name="Text 12"/>
          <p:cNvSpPr/>
          <p:nvPr/>
        </p:nvSpPr>
        <p:spPr>
          <a:xfrm rot="21600000">
            <a:off x="18233136" y="9208008"/>
            <a:ext cx="1609344" cy="29260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280"/>
              </a:lnSpc>
              <a:buNone/>
            </a:pPr>
            <a:r>
              <a:rPr lang="en-US" sz="1900" dirty="0">
                <a:solidFill>
                  <a:srgbClr val="F1F6FA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优化GRU</a:t>
            </a:r>
            <a:endParaRPr lang="en-US" sz="1900" dirty="0"/>
          </a:p>
        </p:txBody>
      </p:sp>
      <p:pic>
        <p:nvPicPr>
          <p:cNvPr id="30" name="Image 1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20007072" y="7580376"/>
            <a:ext cx="2221992" cy="2221992"/>
          </a:xfrm>
          <a:prstGeom prst="rect">
            <a:avLst/>
          </a:prstGeom>
        </p:spPr>
      </p:pic>
      <p:sp>
        <p:nvSpPr>
          <p:cNvPr id="31" name="Text 13"/>
          <p:cNvSpPr/>
          <p:nvPr/>
        </p:nvSpPr>
        <p:spPr>
          <a:xfrm rot="21600000">
            <a:off x="20025360" y="8439912"/>
            <a:ext cx="2157984" cy="29260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280"/>
              </a:lnSpc>
              <a:buNone/>
            </a:pPr>
            <a:r>
              <a:rPr lang="en-US" sz="1900" dirty="0">
                <a:solidFill>
                  <a:srgbClr val="66B1E1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实时短文本处理</a:t>
            </a:r>
            <a:endParaRPr lang="en-US" sz="1900" dirty="0"/>
          </a:p>
        </p:txBody>
      </p:sp>
      <p:sp>
        <p:nvSpPr>
          <p:cNvPr id="32" name="Text 14"/>
          <p:cNvSpPr/>
          <p:nvPr/>
        </p:nvSpPr>
        <p:spPr>
          <a:xfrm rot="21600000">
            <a:off x="2359152" y="7708392"/>
            <a:ext cx="9436608" cy="114300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 err="1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双向LSTM在长文本</a:t>
            </a: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（&gt;&gt;500词）任务中F1值达91.2%，比单向结构高4.7%，但参数量增加110%，需权衡计算成本。</a:t>
            </a:r>
            <a:endParaRPr lang="en-US" sz="2600" dirty="0"/>
          </a:p>
        </p:txBody>
      </p:sp>
      <p:sp>
        <p:nvSpPr>
          <p:cNvPr id="33" name="Text 15"/>
          <p:cNvSpPr/>
          <p:nvPr/>
        </p:nvSpPr>
        <p:spPr>
          <a:xfrm rot="21600000">
            <a:off x="2359152" y="6821424"/>
            <a:ext cx="3721608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准确率分析</a:t>
            </a:r>
            <a:endParaRPr lang="en-US" sz="3900" dirty="0"/>
          </a:p>
        </p:txBody>
      </p:sp>
      <p:pic>
        <p:nvPicPr>
          <p:cNvPr id="34" name="Image 1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1444752" y="6803136"/>
            <a:ext cx="576072" cy="576072"/>
          </a:xfrm>
          <a:prstGeom prst="rect">
            <a:avLst/>
          </a:prstGeom>
        </p:spPr>
      </p:pic>
      <p:sp>
        <p:nvSpPr>
          <p:cNvPr id="35" name="Text 16"/>
          <p:cNvSpPr/>
          <p:nvPr/>
        </p:nvSpPr>
        <p:spPr>
          <a:xfrm rot="21600000">
            <a:off x="2350008" y="10634472"/>
            <a:ext cx="9436608" cy="114300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加入20%噪声数据后，GRU准确率下降9.3%，而LSTM仅降5.8%，显示后者更适合低质量数据场景。</a:t>
            </a:r>
            <a:endParaRPr lang="en-US" sz="2600" dirty="0"/>
          </a:p>
        </p:txBody>
      </p:sp>
      <p:sp>
        <p:nvSpPr>
          <p:cNvPr id="36" name="Text 17"/>
          <p:cNvSpPr/>
          <p:nvPr/>
        </p:nvSpPr>
        <p:spPr>
          <a:xfrm rot="21600000">
            <a:off x="2350008" y="9793224"/>
            <a:ext cx="3721608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鲁棒性测试</a:t>
            </a:r>
            <a:endParaRPr lang="en-US" sz="3900" dirty="0"/>
          </a:p>
        </p:txBody>
      </p:sp>
      <p:pic>
        <p:nvPicPr>
          <p:cNvPr id="37" name="Image 1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1536192" y="9884664"/>
            <a:ext cx="365760" cy="466344"/>
          </a:xfrm>
          <a:prstGeom prst="rect">
            <a:avLst/>
          </a:prstGeom>
        </p:spPr>
      </p:pic>
      <p:sp>
        <p:nvSpPr>
          <p:cNvPr id="38" name="Text 18"/>
          <p:cNvSpPr/>
          <p:nvPr/>
        </p:nvSpPr>
        <p:spPr>
          <a:xfrm rot="21600000">
            <a:off x="2359152" y="4727448"/>
            <a:ext cx="9436608" cy="114300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GRU在IMDb数据集上训练耗时仅2.1小时，比LSTM快35%，在嵌入式设备推理速度达58FPS，满足实时性要求。</a:t>
            </a:r>
            <a:endParaRPr lang="en-US" sz="2600" dirty="0"/>
          </a:p>
        </p:txBody>
      </p:sp>
      <p:sp>
        <p:nvSpPr>
          <p:cNvPr id="39" name="Text 19"/>
          <p:cNvSpPr/>
          <p:nvPr/>
        </p:nvSpPr>
        <p:spPr>
          <a:xfrm rot="21600000">
            <a:off x="2359152" y="3858768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效率对比</a:t>
            </a:r>
            <a:endParaRPr lang="en-US" sz="3900" dirty="0"/>
          </a:p>
        </p:txBody>
      </p:sp>
      <p:pic>
        <p:nvPicPr>
          <p:cNvPr id="40" name="Image 18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1536192" y="3941064"/>
            <a:ext cx="393192" cy="493776"/>
          </a:xfrm>
          <a:prstGeom prst="rect">
            <a:avLst/>
          </a:prstGeom>
        </p:spPr>
      </p:pic>
      <p:sp>
        <p:nvSpPr>
          <p:cNvPr id="41" name="文本框 40"/>
          <p:cNvSpPr txBox="1"/>
          <p:nvPr/>
        </p:nvSpPr>
        <p:spPr>
          <a:xfrm>
            <a:off x="20400010" y="1161415"/>
            <a:ext cx="12192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智码</a:t>
            </a:r>
            <a:r>
              <a:rPr lang="en-US" altLang="zh-CN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AI</a:t>
            </a:r>
            <a:endParaRPr lang="en-US" altLang="zh-CN" sz="5400" b="0" u="none" strike="noStrike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  <a:latin typeface="+mn-ea"/>
              <a:cs typeface="+mn-ea"/>
            </a:endParaRPr>
          </a:p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cs typeface="+mn-ea"/>
                <a:sym typeface="+mn-ea"/>
              </a:rPr>
              <a:t>盗版必究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50392" y="-365760"/>
            <a:ext cx="9144" cy="1474927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3408640" y="-365760"/>
            <a:ext cx="9144" cy="1474927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77824" y="1152144"/>
            <a:ext cx="22503384" cy="914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77824" y="2505456"/>
            <a:ext cx="22503384" cy="914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 rot="21600000">
            <a:off x="2048256" y="1325880"/>
            <a:ext cx="7251192" cy="10241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8060"/>
              </a:lnSpc>
              <a:buNone/>
            </a:pPr>
            <a:r>
              <a:rPr lang="en-US" sz="6700" dirty="0">
                <a:solidFill>
                  <a:srgbClr val="2C2C2C"/>
                </a:solidFill>
                <a:latin typeface="NotoSansSC-Bold" panose="020B0200000000000000" pitchFamily="34" charset="-122"/>
                <a:ea typeface="NotoSansSC-Bold" panose="020B0200000000000000" pitchFamily="34" charset="-122"/>
                <a:cs typeface="NotoSansSC-Bold" panose="020B0200000000000000" pitchFamily="34" charset="-120"/>
              </a:rPr>
              <a:t>实际应⽤案例</a:t>
            </a:r>
            <a:endParaRPr lang="en-US" sz="6700" dirty="0"/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399032" y="1764792"/>
            <a:ext cx="237744" cy="265176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 rot="21600000">
            <a:off x="4663440" y="11567160"/>
            <a:ext cx="4105656" cy="52120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4080"/>
              </a:lnSpc>
              <a:buNone/>
            </a:pPr>
            <a:r>
              <a:rPr lang="en-US" sz="34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序列模型应用树</a:t>
            </a:r>
            <a:endParaRPr lang="en-US" sz="3400" dirty="0"/>
          </a:p>
        </p:txBody>
      </p:sp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3493008" y="4837176"/>
            <a:ext cx="6391656" cy="5541264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806440" y="3520440"/>
            <a:ext cx="1773936" cy="1773936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3035808" y="5230368"/>
            <a:ext cx="1773936" cy="1773936"/>
          </a:xfrm>
          <a:prstGeom prst="rect">
            <a:avLst/>
          </a:prstGeom>
        </p:spPr>
      </p:pic>
      <p:pic>
        <p:nvPicPr>
          <p:cNvPr id="12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3044952" y="8284464"/>
            <a:ext cx="1773936" cy="1773936"/>
          </a:xfrm>
          <a:prstGeom prst="rect">
            <a:avLst/>
          </a:prstGeom>
        </p:spPr>
      </p:pic>
      <p:pic>
        <p:nvPicPr>
          <p:cNvPr id="13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421624" y="5230368"/>
            <a:ext cx="1773936" cy="1773936"/>
          </a:xfrm>
          <a:prstGeom prst="rect">
            <a:avLst/>
          </a:prstGeom>
        </p:spPr>
      </p:pic>
      <p:pic>
        <p:nvPicPr>
          <p:cNvPr id="14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430768" y="8284464"/>
            <a:ext cx="1773936" cy="1773936"/>
          </a:xfrm>
          <a:prstGeom prst="rect">
            <a:avLst/>
          </a:prstGeom>
        </p:spPr>
      </p:pic>
      <p:pic>
        <p:nvPicPr>
          <p:cNvPr id="15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458968" y="6291072"/>
            <a:ext cx="2459736" cy="2459736"/>
          </a:xfrm>
          <a:prstGeom prst="rect">
            <a:avLst/>
          </a:prstGeom>
        </p:spPr>
      </p:pic>
      <p:sp>
        <p:nvSpPr>
          <p:cNvPr id="16" name="Text 2"/>
          <p:cNvSpPr/>
          <p:nvPr/>
        </p:nvSpPr>
        <p:spPr>
          <a:xfrm rot="21600000">
            <a:off x="5879592" y="4242816"/>
            <a:ext cx="1655064" cy="30175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000" dirty="0">
                <a:solidFill>
                  <a:srgbClr val="F1F6FA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金融风控</a:t>
            </a:r>
            <a:endParaRPr lang="en-US" sz="2000" dirty="0"/>
          </a:p>
        </p:txBody>
      </p:sp>
      <p:sp>
        <p:nvSpPr>
          <p:cNvPr id="17" name="Text 3"/>
          <p:cNvSpPr/>
          <p:nvPr/>
        </p:nvSpPr>
        <p:spPr>
          <a:xfrm rot="21600000">
            <a:off x="8513064" y="5980176"/>
            <a:ext cx="1655064" cy="30175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000" dirty="0">
                <a:solidFill>
                  <a:srgbClr val="F1F6FA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医疗诊断</a:t>
            </a:r>
            <a:endParaRPr lang="en-US" sz="2000" dirty="0"/>
          </a:p>
        </p:txBody>
      </p:sp>
      <p:sp>
        <p:nvSpPr>
          <p:cNvPr id="18" name="Text 4"/>
          <p:cNvSpPr/>
          <p:nvPr/>
        </p:nvSpPr>
        <p:spPr>
          <a:xfrm rot="21600000">
            <a:off x="8513064" y="9015984"/>
            <a:ext cx="1655064" cy="30175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000" dirty="0">
                <a:solidFill>
                  <a:srgbClr val="F1F6FA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工业预测</a:t>
            </a:r>
            <a:endParaRPr lang="en-US" sz="2000" dirty="0"/>
          </a:p>
        </p:txBody>
      </p:sp>
      <p:sp>
        <p:nvSpPr>
          <p:cNvPr id="19" name="Text 5"/>
          <p:cNvSpPr/>
          <p:nvPr/>
        </p:nvSpPr>
        <p:spPr>
          <a:xfrm rot="21600000">
            <a:off x="3108960" y="9015984"/>
            <a:ext cx="1655064" cy="30175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000" dirty="0">
                <a:solidFill>
                  <a:srgbClr val="F1F6FA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智能交互</a:t>
            </a:r>
            <a:endParaRPr lang="en-US" sz="2000" dirty="0"/>
          </a:p>
        </p:txBody>
      </p:sp>
      <p:sp>
        <p:nvSpPr>
          <p:cNvPr id="20" name="Text 6"/>
          <p:cNvSpPr/>
          <p:nvPr/>
        </p:nvSpPr>
        <p:spPr>
          <a:xfrm rot="21600000">
            <a:off x="3099816" y="5980176"/>
            <a:ext cx="1655064" cy="30175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000" dirty="0">
                <a:solidFill>
                  <a:srgbClr val="F1F6FA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内容生成</a:t>
            </a:r>
            <a:endParaRPr lang="en-US" sz="2000" dirty="0"/>
          </a:p>
        </p:txBody>
      </p:sp>
      <p:pic>
        <p:nvPicPr>
          <p:cNvPr id="21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6200000">
            <a:off x="6519672" y="5650992"/>
            <a:ext cx="329184" cy="256032"/>
          </a:xfrm>
          <a:prstGeom prst="rect">
            <a:avLst/>
          </a:prstGeom>
        </p:spPr>
      </p:pic>
      <p:pic>
        <p:nvPicPr>
          <p:cNvPr id="22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9000000">
            <a:off x="4809744" y="8357616"/>
            <a:ext cx="329184" cy="256032"/>
          </a:xfrm>
          <a:prstGeom prst="rect">
            <a:avLst/>
          </a:prstGeom>
        </p:spPr>
      </p:pic>
      <p:pic>
        <p:nvPicPr>
          <p:cNvPr id="23" name="Image 1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2600000">
            <a:off x="5020056" y="6473952"/>
            <a:ext cx="329184" cy="256032"/>
          </a:xfrm>
          <a:prstGeom prst="rect">
            <a:avLst/>
          </a:prstGeom>
        </p:spPr>
      </p:pic>
      <p:pic>
        <p:nvPicPr>
          <p:cNvPr id="24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9800000">
            <a:off x="7973568" y="6574536"/>
            <a:ext cx="329184" cy="256032"/>
          </a:xfrm>
          <a:prstGeom prst="rect">
            <a:avLst/>
          </a:prstGeom>
        </p:spPr>
      </p:pic>
      <p:pic>
        <p:nvPicPr>
          <p:cNvPr id="25" name="Image 1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800000">
            <a:off x="8174736" y="8348472"/>
            <a:ext cx="329184" cy="256032"/>
          </a:xfrm>
          <a:prstGeom prst="rect">
            <a:avLst/>
          </a:prstGeom>
        </p:spPr>
      </p:pic>
      <p:sp>
        <p:nvSpPr>
          <p:cNvPr id="26" name="Text 7"/>
          <p:cNvSpPr/>
          <p:nvPr/>
        </p:nvSpPr>
        <p:spPr>
          <a:xfrm rot="21600000">
            <a:off x="5385816" y="7351776"/>
            <a:ext cx="2587752" cy="3657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2400" dirty="0">
                <a:solidFill>
                  <a:srgbClr val="F1F6FA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序列模型应用</a:t>
            </a:r>
            <a:endParaRPr lang="en-US" sz="2400" dirty="0"/>
          </a:p>
        </p:txBody>
      </p:sp>
      <p:sp>
        <p:nvSpPr>
          <p:cNvPr id="27" name="Text 8"/>
          <p:cNvSpPr/>
          <p:nvPr/>
        </p:nvSpPr>
        <p:spPr>
          <a:xfrm rot="21600000">
            <a:off x="13432536" y="5349240"/>
            <a:ext cx="8631936" cy="1883664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930"/>
              </a:lnSpc>
              <a:buNone/>
            </a:pPr>
            <a:r>
              <a:rPr lang="en-US" sz="28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在智能客服系统部署GRU模型后，客户问题分类准确率提升至89%，平均响应时间缩短40%，人工转接率下降28%。</a:t>
            </a:r>
            <a:endParaRPr lang="en-US" sz="2800" dirty="0"/>
          </a:p>
        </p:txBody>
      </p:sp>
      <p:sp>
        <p:nvSpPr>
          <p:cNvPr id="28" name="Text 9"/>
          <p:cNvSpPr/>
          <p:nvPr/>
        </p:nvSpPr>
        <p:spPr>
          <a:xfrm rot="21600000">
            <a:off x="13432536" y="4379976"/>
            <a:ext cx="3465576" cy="64008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2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行业落地</a:t>
            </a:r>
            <a:endParaRPr lang="en-US" sz="4200" dirty="0"/>
          </a:p>
        </p:txBody>
      </p:sp>
      <p:sp>
        <p:nvSpPr>
          <p:cNvPr id="29" name="Text 10"/>
          <p:cNvSpPr/>
          <p:nvPr/>
        </p:nvSpPr>
        <p:spPr>
          <a:xfrm rot="21600000">
            <a:off x="13432536" y="9381744"/>
            <a:ext cx="8631936" cy="1883664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930"/>
              </a:lnSpc>
              <a:buNone/>
            </a:pPr>
            <a:r>
              <a:rPr lang="en-US" sz="28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结合LSTM与CNN的混合模型，成功实现视频弹幕情感分析，实时捕捉观众情绪波动，准确率82%，助力内容优化。</a:t>
            </a:r>
            <a:endParaRPr lang="en-US" sz="2800" dirty="0"/>
          </a:p>
        </p:txBody>
      </p:sp>
      <p:sp>
        <p:nvSpPr>
          <p:cNvPr id="30" name="Text 11"/>
          <p:cNvSpPr/>
          <p:nvPr/>
        </p:nvSpPr>
        <p:spPr>
          <a:xfrm rot="21600000">
            <a:off x="13432536" y="8421624"/>
            <a:ext cx="3465576" cy="64008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2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创新应用</a:t>
            </a:r>
            <a:endParaRPr lang="en-US" sz="4200" dirty="0"/>
          </a:p>
        </p:txBody>
      </p:sp>
      <p:sp>
        <p:nvSpPr>
          <p:cNvPr id="31" name="文本框 30"/>
          <p:cNvSpPr txBox="1"/>
          <p:nvPr/>
        </p:nvSpPr>
        <p:spPr>
          <a:xfrm>
            <a:off x="20313015" y="1151890"/>
            <a:ext cx="12192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智码</a:t>
            </a:r>
            <a:r>
              <a:rPr lang="en-US" altLang="zh-CN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AI</a:t>
            </a:r>
            <a:endParaRPr lang="en-US" altLang="zh-CN" sz="5400" b="0" u="none" strike="noStrike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  <a:latin typeface="+mn-ea"/>
              <a:cs typeface="+mn-ea"/>
            </a:endParaRPr>
          </a:p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cs typeface="+mn-ea"/>
                <a:sym typeface="+mn-ea"/>
              </a:rPr>
              <a:t>盗版必究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563624" y="1152144"/>
            <a:ext cx="21095208" cy="91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563624" y="7324344"/>
            <a:ext cx="9610344" cy="91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545336" y="-365760"/>
            <a:ext cx="9144" cy="1474927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173968" y="-365760"/>
            <a:ext cx="9144" cy="1474927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2640544" y="-365760"/>
            <a:ext cx="9144" cy="14749272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 rot="21600000">
            <a:off x="2221992" y="1956816"/>
            <a:ext cx="23874984" cy="248716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19605"/>
              </a:lnSpc>
              <a:buNone/>
            </a:pPr>
            <a:r>
              <a:rPr lang="en-US" sz="11300" dirty="0">
                <a:solidFill>
                  <a:srgbClr val="2C2C2C"/>
                </a:solidFill>
                <a:latin typeface="NotoSansSC-Bold" panose="020B0200000000000000" pitchFamily="34" charset="-122"/>
                <a:ea typeface="NotoSansSC-Bold" panose="020B0200000000000000" pitchFamily="34" charset="-122"/>
                <a:cs typeface="NotoSansSC-Bold" panose="020B0200000000000000" pitchFamily="34" charset="-120"/>
              </a:rPr>
              <a:t>常⻅问题与解决⽅案</a:t>
            </a:r>
            <a:endParaRPr lang="en-US" sz="11300" dirty="0"/>
          </a:p>
        </p:txBody>
      </p:sp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728216" y="8385048"/>
            <a:ext cx="237744" cy="265176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 rot="21600000">
            <a:off x="2359152" y="7699248"/>
            <a:ext cx="9427464" cy="1737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13710"/>
              </a:lnSpc>
              <a:buNone/>
            </a:pPr>
            <a:r>
              <a:rPr lang="en-US" sz="11400" dirty="0">
                <a:solidFill>
                  <a:srgbClr val="66B1E1"/>
                </a:solidFill>
                <a:latin typeface="Rubik-Medium" pitchFamily="34" charset="0"/>
                <a:ea typeface="Rubik-Medium" pitchFamily="34" charset="-122"/>
                <a:cs typeface="Rubik-Medium" pitchFamily="34" charset="-120"/>
              </a:rPr>
              <a:t>PART 06</a:t>
            </a:r>
            <a:endParaRPr lang="en-US" sz="11400" dirty="0"/>
          </a:p>
        </p:txBody>
      </p:sp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3889736" y="2807208"/>
            <a:ext cx="4965192" cy="4919472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0252690" y="1161415"/>
            <a:ext cx="12192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智码</a:t>
            </a:r>
            <a:r>
              <a:rPr lang="en-US" altLang="zh-CN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AI</a:t>
            </a:r>
            <a:endParaRPr lang="en-US" altLang="zh-CN" sz="5400" b="0" u="none" strike="noStrike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  <a:latin typeface="+mn-ea"/>
              <a:cs typeface="+mn-ea"/>
            </a:endParaRPr>
          </a:p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cs typeface="+mn-ea"/>
                <a:sym typeface="+mn-ea"/>
              </a:rPr>
              <a:t>盗版必究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50392" y="-365760"/>
            <a:ext cx="9144" cy="1474927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3408640" y="-365760"/>
            <a:ext cx="9144" cy="1474927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77824" y="1152144"/>
            <a:ext cx="22503384" cy="914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77824" y="2505456"/>
            <a:ext cx="22503384" cy="914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 rot="21600000">
            <a:off x="2048256" y="1325880"/>
            <a:ext cx="7251192" cy="10241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8060"/>
              </a:lnSpc>
              <a:buNone/>
            </a:pPr>
            <a:r>
              <a:rPr lang="en-US" sz="6700" dirty="0">
                <a:solidFill>
                  <a:srgbClr val="2C2C2C"/>
                </a:solidFill>
                <a:latin typeface="NotoSansSC-Bold" panose="020B0200000000000000" pitchFamily="34" charset="-122"/>
                <a:ea typeface="NotoSansSC-Bold" panose="020B0200000000000000" pitchFamily="34" charset="-122"/>
                <a:cs typeface="NotoSansSC-Bold" panose="020B0200000000000000" pitchFamily="34" charset="-120"/>
              </a:rPr>
              <a:t>常⻅问题诊断</a:t>
            </a:r>
            <a:endParaRPr lang="en-US" sz="6700" dirty="0"/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399032" y="1764792"/>
            <a:ext cx="237744" cy="265176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385048" y="8805672"/>
            <a:ext cx="7772400" cy="1115568"/>
          </a:xfrm>
          <a:prstGeom prst="rect">
            <a:avLst/>
          </a:prstGeom>
        </p:spPr>
      </p:pic>
      <p:pic>
        <p:nvPicPr>
          <p:cNvPr id="9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1301984" y="4855464"/>
            <a:ext cx="1901952" cy="1179576"/>
          </a:xfrm>
          <a:prstGeom prst="rect">
            <a:avLst/>
          </a:prstGeom>
        </p:spPr>
      </p:pic>
      <p:pic>
        <p:nvPicPr>
          <p:cNvPr id="10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9198864" y="7443216"/>
            <a:ext cx="6144768" cy="1307592"/>
          </a:xfrm>
          <a:prstGeom prst="rect">
            <a:avLst/>
          </a:prstGeom>
        </p:spPr>
      </p:pic>
      <p:pic>
        <p:nvPicPr>
          <p:cNvPr id="11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0259568" y="6062472"/>
            <a:ext cx="4014216" cy="1316736"/>
          </a:xfrm>
          <a:prstGeom prst="rect">
            <a:avLst/>
          </a:prstGeom>
        </p:spPr>
      </p:pic>
      <p:sp>
        <p:nvSpPr>
          <p:cNvPr id="12" name="Text 1"/>
          <p:cNvSpPr/>
          <p:nvPr/>
        </p:nvSpPr>
        <p:spPr>
          <a:xfrm rot="21600000">
            <a:off x="11420856" y="5358384"/>
            <a:ext cx="1664208" cy="54864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F1F6FA"/>
                </a:solidFill>
                <a:latin typeface="Roboto-Regular" panose="02000000000000000000" pitchFamily="34" charset="0"/>
                <a:ea typeface="Roboto-Regular" panose="02000000000000000000" pitchFamily="34" charset="-122"/>
                <a:cs typeface="Roboto-Regular" panose="02000000000000000000" pitchFamily="34" charset="-120"/>
              </a:rPr>
              <a:t>01</a:t>
            </a:r>
            <a:endParaRPr lang="en-US" sz="3600" dirty="0"/>
          </a:p>
        </p:txBody>
      </p:sp>
      <p:sp>
        <p:nvSpPr>
          <p:cNvPr id="13" name="Text 2"/>
          <p:cNvSpPr/>
          <p:nvPr/>
        </p:nvSpPr>
        <p:spPr>
          <a:xfrm rot="21600000">
            <a:off x="11420856" y="6446520"/>
            <a:ext cx="1664208" cy="54864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F1F6FA"/>
                </a:solidFill>
                <a:latin typeface="Roboto-Regular" panose="02000000000000000000" pitchFamily="34" charset="0"/>
                <a:ea typeface="Roboto-Regular" panose="02000000000000000000" pitchFamily="34" charset="-122"/>
                <a:cs typeface="Roboto-Regular" panose="02000000000000000000" pitchFamily="34" charset="-120"/>
              </a:rPr>
              <a:t>02</a:t>
            </a:r>
            <a:endParaRPr lang="en-US" sz="3600" dirty="0"/>
          </a:p>
        </p:txBody>
      </p:sp>
      <p:sp>
        <p:nvSpPr>
          <p:cNvPr id="14" name="Text 3"/>
          <p:cNvSpPr/>
          <p:nvPr/>
        </p:nvSpPr>
        <p:spPr>
          <a:xfrm rot="21600000">
            <a:off x="11420856" y="7818120"/>
            <a:ext cx="1664208" cy="54864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F1F6FA"/>
                </a:solidFill>
                <a:latin typeface="Roboto-Regular" panose="02000000000000000000" pitchFamily="34" charset="0"/>
                <a:ea typeface="Roboto-Regular" panose="02000000000000000000" pitchFamily="34" charset="-122"/>
                <a:cs typeface="Roboto-Regular" panose="02000000000000000000" pitchFamily="34" charset="-120"/>
              </a:rPr>
              <a:t>03</a:t>
            </a:r>
            <a:endParaRPr lang="en-US" sz="3600" dirty="0"/>
          </a:p>
        </p:txBody>
      </p:sp>
      <p:sp>
        <p:nvSpPr>
          <p:cNvPr id="15" name="Text 4"/>
          <p:cNvSpPr/>
          <p:nvPr/>
        </p:nvSpPr>
        <p:spPr>
          <a:xfrm rot="21600000">
            <a:off x="11420856" y="9089136"/>
            <a:ext cx="1664208" cy="54864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F1F6FA"/>
                </a:solidFill>
                <a:latin typeface="Roboto-Regular" panose="02000000000000000000" pitchFamily="34" charset="0"/>
                <a:ea typeface="Roboto-Regular" panose="02000000000000000000" pitchFamily="34" charset="-122"/>
                <a:cs typeface="Roboto-Regular" panose="02000000000000000000" pitchFamily="34" charset="-120"/>
              </a:rPr>
              <a:t>04</a:t>
            </a:r>
            <a:endParaRPr lang="en-US" sz="3600" dirty="0"/>
          </a:p>
        </p:txBody>
      </p:sp>
      <p:sp>
        <p:nvSpPr>
          <p:cNvPr id="16" name="Text 5"/>
          <p:cNvSpPr/>
          <p:nvPr/>
        </p:nvSpPr>
        <p:spPr>
          <a:xfrm rot="21600000">
            <a:off x="2487167" y="4992624"/>
            <a:ext cx="6382513" cy="171907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r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监控训练过程中梯度范数，当||∇||&gt;&gt;100时提示梯度爆炸风险，可采用梯度裁剪限制在5.0以内，使训练稳定性提升80%。</a:t>
            </a:r>
            <a:endParaRPr lang="en-US" sz="2600" dirty="0"/>
          </a:p>
        </p:txBody>
      </p:sp>
      <p:sp>
        <p:nvSpPr>
          <p:cNvPr id="17" name="Text 6"/>
          <p:cNvSpPr/>
          <p:nvPr/>
        </p:nvSpPr>
        <p:spPr>
          <a:xfrm rot="21600000">
            <a:off x="5641848" y="4123944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r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梯度异常</a:t>
            </a:r>
            <a:endParaRPr lang="en-US" sz="3900" dirty="0"/>
          </a:p>
        </p:txBody>
      </p:sp>
      <p:sp>
        <p:nvSpPr>
          <p:cNvPr id="18" name="Text 7"/>
          <p:cNvSpPr/>
          <p:nvPr/>
        </p:nvSpPr>
        <p:spPr>
          <a:xfrm rot="21600000">
            <a:off x="15261336" y="4992624"/>
            <a:ext cx="6099048" cy="2276856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验证集准确率比训练集低15%以上时，建议增加Dropout（0.3-0.5）和L2正则（λ=1e-4），在IMDb数据集上可使过拟合降低60%。</a:t>
            </a:r>
            <a:endParaRPr lang="en-US" sz="2600" dirty="0"/>
          </a:p>
        </p:txBody>
      </p:sp>
      <p:sp>
        <p:nvSpPr>
          <p:cNvPr id="19" name="Text 8"/>
          <p:cNvSpPr/>
          <p:nvPr/>
        </p:nvSpPr>
        <p:spPr>
          <a:xfrm rot="21600000">
            <a:off x="15261336" y="4123944"/>
            <a:ext cx="3721608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过拟合特征</a:t>
            </a:r>
            <a:endParaRPr lang="en-US" sz="3900" dirty="0"/>
          </a:p>
        </p:txBody>
      </p:sp>
      <p:sp>
        <p:nvSpPr>
          <p:cNvPr id="20" name="Text 9"/>
          <p:cNvSpPr/>
          <p:nvPr/>
        </p:nvSpPr>
        <p:spPr>
          <a:xfrm rot="21600000">
            <a:off x="16367760" y="9409176"/>
            <a:ext cx="6099048" cy="2276856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显存不足时可启用梯度累积，batch_size=32时累积4步等效于128批大小，显存占用减少75%而训练时间仅增加20%。</a:t>
            </a:r>
            <a:endParaRPr lang="en-US" sz="2600" dirty="0"/>
          </a:p>
        </p:txBody>
      </p:sp>
      <p:sp>
        <p:nvSpPr>
          <p:cNvPr id="21" name="Text 10"/>
          <p:cNvSpPr/>
          <p:nvPr/>
        </p:nvSpPr>
        <p:spPr>
          <a:xfrm rot="21600000">
            <a:off x="16367760" y="8595360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硬件瓶颈</a:t>
            </a:r>
            <a:endParaRPr lang="en-US" sz="3900" dirty="0"/>
          </a:p>
        </p:txBody>
      </p:sp>
      <p:sp>
        <p:nvSpPr>
          <p:cNvPr id="22" name="Text 11"/>
          <p:cNvSpPr/>
          <p:nvPr/>
        </p:nvSpPr>
        <p:spPr>
          <a:xfrm rot="21600000">
            <a:off x="1636776" y="9409176"/>
            <a:ext cx="6382512" cy="171907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r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当处理》200步序列时，基础RNN准确率骤降40%，应切换至LSTM或GRU结构，配合注意力机制提升长程依赖捕捉能力。</a:t>
            </a:r>
            <a:endParaRPr lang="en-US" sz="2600" dirty="0"/>
          </a:p>
        </p:txBody>
      </p:sp>
      <p:sp>
        <p:nvSpPr>
          <p:cNvPr id="23" name="Text 12"/>
          <p:cNvSpPr/>
          <p:nvPr/>
        </p:nvSpPr>
        <p:spPr>
          <a:xfrm rot="21600000">
            <a:off x="4288536" y="8595360"/>
            <a:ext cx="3721608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r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长序列失效</a:t>
            </a:r>
            <a:endParaRPr lang="en-US" sz="3900" dirty="0"/>
          </a:p>
        </p:txBody>
      </p:sp>
      <p:sp>
        <p:nvSpPr>
          <p:cNvPr id="24" name="文本框 23"/>
          <p:cNvSpPr txBox="1"/>
          <p:nvPr/>
        </p:nvSpPr>
        <p:spPr>
          <a:xfrm>
            <a:off x="20193000" y="1325880"/>
            <a:ext cx="12192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智码</a:t>
            </a:r>
            <a:r>
              <a:rPr lang="en-US" altLang="zh-CN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AI</a:t>
            </a:r>
            <a:endParaRPr lang="en-US" altLang="zh-CN" sz="5400" b="0" u="none" strike="noStrike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  <a:latin typeface="+mn-ea"/>
              <a:cs typeface="+mn-ea"/>
            </a:endParaRPr>
          </a:p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cs typeface="+mn-ea"/>
                <a:sym typeface="+mn-ea"/>
              </a:rPr>
              <a:t>盗版必究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50392" y="-365760"/>
            <a:ext cx="9144" cy="1474927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3408640" y="-365760"/>
            <a:ext cx="9144" cy="1474927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77824" y="1152144"/>
            <a:ext cx="22503384" cy="914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77824" y="2505456"/>
            <a:ext cx="22503384" cy="914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 rot="21600000">
            <a:off x="2048256" y="1325880"/>
            <a:ext cx="7251192" cy="10241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8060"/>
              </a:lnSpc>
              <a:buNone/>
            </a:pPr>
            <a:r>
              <a:rPr lang="en-US" sz="6700" dirty="0">
                <a:solidFill>
                  <a:srgbClr val="2C2C2C"/>
                </a:solidFill>
                <a:latin typeface="NotoSansSC-Bold" panose="020B0200000000000000" pitchFamily="34" charset="-122"/>
                <a:ea typeface="NotoSansSC-Bold" panose="020B0200000000000000" pitchFamily="34" charset="-122"/>
                <a:cs typeface="NotoSansSC-Bold" panose="020B0200000000000000" pitchFamily="34" charset="-120"/>
              </a:rPr>
              <a:t>⾼级优化技巧</a:t>
            </a:r>
            <a:endParaRPr lang="en-US" sz="6700" dirty="0"/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399032" y="1764792"/>
            <a:ext cx="237744" cy="265176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450592" y="3712464"/>
            <a:ext cx="8357616" cy="3547872"/>
          </a:xfrm>
          <a:prstGeom prst="rect">
            <a:avLst/>
          </a:prstGeom>
        </p:spPr>
      </p:pic>
      <p:pic>
        <p:nvPicPr>
          <p:cNvPr id="9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129784" y="3419856"/>
            <a:ext cx="2999232" cy="594360"/>
          </a:xfrm>
          <a:prstGeom prst="rect">
            <a:avLst/>
          </a:prstGeom>
        </p:spPr>
      </p:pic>
      <p:sp>
        <p:nvSpPr>
          <p:cNvPr id="10" name="Text 1"/>
          <p:cNvSpPr/>
          <p:nvPr/>
        </p:nvSpPr>
        <p:spPr>
          <a:xfrm rot="21600000">
            <a:off x="5477256" y="3511296"/>
            <a:ext cx="2313432" cy="42976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800" dirty="0">
                <a:solidFill>
                  <a:srgbClr val="F1F6FA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传统方案</a:t>
            </a:r>
            <a:endParaRPr lang="en-US" sz="2800" dirty="0"/>
          </a:p>
        </p:txBody>
      </p:sp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450592" y="7379208"/>
            <a:ext cx="8357616" cy="3547872"/>
          </a:xfrm>
          <a:prstGeom prst="rect">
            <a:avLst/>
          </a:prstGeom>
        </p:spPr>
      </p:pic>
      <p:pic>
        <p:nvPicPr>
          <p:cNvPr id="12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129784" y="10634472"/>
            <a:ext cx="2999232" cy="594360"/>
          </a:xfrm>
          <a:prstGeom prst="rect">
            <a:avLst/>
          </a:prstGeom>
        </p:spPr>
      </p:pic>
      <p:sp>
        <p:nvSpPr>
          <p:cNvPr id="13" name="Text 2"/>
          <p:cNvSpPr/>
          <p:nvPr/>
        </p:nvSpPr>
        <p:spPr>
          <a:xfrm rot="21600000">
            <a:off x="5477256" y="10725912"/>
            <a:ext cx="2313432" cy="42976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800" dirty="0">
                <a:solidFill>
                  <a:srgbClr val="F1F6FA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创新方案</a:t>
            </a:r>
            <a:endParaRPr lang="en-US" sz="2800" dirty="0"/>
          </a:p>
        </p:txBody>
      </p:sp>
      <p:sp>
        <p:nvSpPr>
          <p:cNvPr id="14" name="Text 3"/>
          <p:cNvSpPr/>
          <p:nvPr/>
        </p:nvSpPr>
        <p:spPr>
          <a:xfrm rot="21600000">
            <a:off x="4791456" y="11686032"/>
            <a:ext cx="3666744" cy="52120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4080"/>
              </a:lnSpc>
              <a:buNone/>
            </a:pPr>
            <a:r>
              <a:rPr lang="en-US" sz="34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优化方案对比</a:t>
            </a:r>
            <a:endParaRPr lang="en-US" sz="3400" dirty="0"/>
          </a:p>
        </p:txBody>
      </p:sp>
      <p:sp>
        <p:nvSpPr>
          <p:cNvPr id="15" name="Text 4"/>
          <p:cNvSpPr/>
          <p:nvPr/>
        </p:nvSpPr>
        <p:spPr>
          <a:xfrm rot="21600000">
            <a:off x="4005072" y="4864608"/>
            <a:ext cx="2670048" cy="42976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dirty="0">
                <a:solidFill>
                  <a:srgbClr val="66B1E1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固定学习率</a:t>
            </a:r>
            <a:endParaRPr lang="en-US" sz="2800" dirty="0"/>
          </a:p>
        </p:txBody>
      </p:sp>
      <p:pic>
        <p:nvPicPr>
          <p:cNvPr id="16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3328416" y="4873752"/>
            <a:ext cx="384048" cy="384048"/>
          </a:xfrm>
          <a:prstGeom prst="rect">
            <a:avLst/>
          </a:prstGeom>
        </p:spPr>
      </p:pic>
      <p:sp>
        <p:nvSpPr>
          <p:cNvPr id="17" name="Text 5"/>
          <p:cNvSpPr/>
          <p:nvPr/>
        </p:nvSpPr>
        <p:spPr>
          <a:xfrm rot="21600000">
            <a:off x="4005072" y="5797296"/>
            <a:ext cx="2670048" cy="42976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dirty="0">
                <a:solidFill>
                  <a:srgbClr val="66B1E1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全精度训练</a:t>
            </a:r>
            <a:endParaRPr lang="en-US" sz="2800" dirty="0"/>
          </a:p>
        </p:txBody>
      </p:sp>
      <p:pic>
        <p:nvPicPr>
          <p:cNvPr id="18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3364992" y="5815584"/>
            <a:ext cx="320040" cy="356616"/>
          </a:xfrm>
          <a:prstGeom prst="rect">
            <a:avLst/>
          </a:prstGeom>
        </p:spPr>
      </p:pic>
      <p:sp>
        <p:nvSpPr>
          <p:cNvPr id="19" name="Text 6"/>
          <p:cNvSpPr/>
          <p:nvPr/>
        </p:nvSpPr>
        <p:spPr>
          <a:xfrm rot="21600000">
            <a:off x="7644384" y="4864608"/>
            <a:ext cx="2313432" cy="42976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dirty="0">
                <a:solidFill>
                  <a:srgbClr val="66B1E1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人工调参</a:t>
            </a:r>
            <a:endParaRPr lang="en-US" sz="2800" dirty="0"/>
          </a:p>
        </p:txBody>
      </p:sp>
      <p:pic>
        <p:nvPicPr>
          <p:cNvPr id="20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7059168" y="4892040"/>
            <a:ext cx="283464" cy="356616"/>
          </a:xfrm>
          <a:prstGeom prst="rect">
            <a:avLst/>
          </a:prstGeom>
        </p:spPr>
      </p:pic>
      <p:sp>
        <p:nvSpPr>
          <p:cNvPr id="21" name="Text 7"/>
          <p:cNvSpPr/>
          <p:nvPr/>
        </p:nvSpPr>
        <p:spPr>
          <a:xfrm rot="21600000">
            <a:off x="7644384" y="5797296"/>
            <a:ext cx="2313432" cy="42976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dirty="0">
                <a:solidFill>
                  <a:srgbClr val="66B1E1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单一模型</a:t>
            </a:r>
            <a:endParaRPr lang="en-US" sz="2800" dirty="0"/>
          </a:p>
        </p:txBody>
      </p:sp>
      <p:pic>
        <p:nvPicPr>
          <p:cNvPr id="22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7031736" y="5815584"/>
            <a:ext cx="329184" cy="356616"/>
          </a:xfrm>
          <a:prstGeom prst="rect">
            <a:avLst/>
          </a:prstGeom>
        </p:spPr>
      </p:pic>
      <p:pic>
        <p:nvPicPr>
          <p:cNvPr id="23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3319272" y="8430768"/>
            <a:ext cx="402336" cy="402336"/>
          </a:xfrm>
          <a:prstGeom prst="rect">
            <a:avLst/>
          </a:prstGeom>
        </p:spPr>
      </p:pic>
      <p:sp>
        <p:nvSpPr>
          <p:cNvPr id="24" name="Text 8"/>
          <p:cNvSpPr/>
          <p:nvPr/>
        </p:nvSpPr>
        <p:spPr>
          <a:xfrm rot="21600000">
            <a:off x="4005072" y="8439912"/>
            <a:ext cx="2313432" cy="42976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dirty="0">
                <a:solidFill>
                  <a:srgbClr val="66B1E1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余弦退火</a:t>
            </a:r>
            <a:endParaRPr lang="en-US" sz="2800" dirty="0"/>
          </a:p>
        </p:txBody>
      </p:sp>
      <p:sp>
        <p:nvSpPr>
          <p:cNvPr id="25" name="Text 9"/>
          <p:cNvSpPr/>
          <p:nvPr/>
        </p:nvSpPr>
        <p:spPr>
          <a:xfrm rot="21600000">
            <a:off x="4005072" y="9390888"/>
            <a:ext cx="2313432" cy="42976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dirty="0">
                <a:solidFill>
                  <a:srgbClr val="66B1E1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混合精度</a:t>
            </a:r>
            <a:endParaRPr lang="en-US" sz="2800" dirty="0"/>
          </a:p>
        </p:txBody>
      </p:sp>
      <p:pic>
        <p:nvPicPr>
          <p:cNvPr id="2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3337560" y="9409176"/>
            <a:ext cx="356616" cy="356616"/>
          </a:xfrm>
          <a:prstGeom prst="rect">
            <a:avLst/>
          </a:prstGeom>
        </p:spPr>
      </p:pic>
      <p:sp>
        <p:nvSpPr>
          <p:cNvPr id="27" name="Text 10"/>
          <p:cNvSpPr/>
          <p:nvPr/>
        </p:nvSpPr>
        <p:spPr>
          <a:xfrm rot="21600000">
            <a:off x="7680960" y="8439912"/>
            <a:ext cx="2313432" cy="42976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dirty="0">
                <a:solidFill>
                  <a:srgbClr val="66B1E1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自动搜索</a:t>
            </a:r>
            <a:endParaRPr lang="en-US" sz="2800" dirty="0"/>
          </a:p>
        </p:txBody>
      </p:sp>
      <p:sp>
        <p:nvSpPr>
          <p:cNvPr id="28" name="Text 11"/>
          <p:cNvSpPr/>
          <p:nvPr/>
        </p:nvSpPr>
        <p:spPr>
          <a:xfrm rot="21600000">
            <a:off x="7680960" y="9390888"/>
            <a:ext cx="2313432" cy="42976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dirty="0">
                <a:solidFill>
                  <a:srgbClr val="66B1E1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模型蒸馏</a:t>
            </a:r>
            <a:endParaRPr lang="en-US" sz="2800" dirty="0"/>
          </a:p>
        </p:txBody>
      </p:sp>
      <p:pic>
        <p:nvPicPr>
          <p:cNvPr id="29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7050024" y="9381744"/>
            <a:ext cx="393192" cy="420624"/>
          </a:xfrm>
          <a:prstGeom prst="rect">
            <a:avLst/>
          </a:prstGeom>
        </p:spPr>
      </p:pic>
      <p:pic>
        <p:nvPicPr>
          <p:cNvPr id="30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7050024" y="8430768"/>
            <a:ext cx="384048" cy="402336"/>
          </a:xfrm>
          <a:prstGeom prst="rect">
            <a:avLst/>
          </a:prstGeom>
        </p:spPr>
      </p:pic>
      <p:sp>
        <p:nvSpPr>
          <p:cNvPr id="31" name="Text 12"/>
          <p:cNvSpPr/>
          <p:nvPr/>
        </p:nvSpPr>
        <p:spPr>
          <a:xfrm rot="21600000">
            <a:off x="13523976" y="7708392"/>
            <a:ext cx="9144000" cy="114300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将BERT模型的知识迁移至BiLSTM学生模型，在少量标注数据下使准确率从72%提升至85%，推理速度保持10倍优势。</a:t>
            </a:r>
            <a:endParaRPr lang="en-US" sz="2600" dirty="0"/>
          </a:p>
        </p:txBody>
      </p:sp>
      <p:sp>
        <p:nvSpPr>
          <p:cNvPr id="32" name="Text 13"/>
          <p:cNvSpPr/>
          <p:nvPr/>
        </p:nvSpPr>
        <p:spPr>
          <a:xfrm rot="21600000">
            <a:off x="13523976" y="6839712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知识蒸馏</a:t>
            </a:r>
            <a:endParaRPr lang="en-US" sz="3900" dirty="0"/>
          </a:p>
        </p:txBody>
      </p:sp>
      <p:pic>
        <p:nvPicPr>
          <p:cNvPr id="33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12829032" y="6958584"/>
            <a:ext cx="283464" cy="301752"/>
          </a:xfrm>
          <a:prstGeom prst="rect">
            <a:avLst/>
          </a:prstGeom>
        </p:spPr>
      </p:pic>
      <p:sp>
        <p:nvSpPr>
          <p:cNvPr id="34" name="Text 14"/>
          <p:cNvSpPr/>
          <p:nvPr/>
        </p:nvSpPr>
        <p:spPr>
          <a:xfrm rot="21600000">
            <a:off x="13523976" y="4764024"/>
            <a:ext cx="9144000" cy="114300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使用FP16训练可使LSTM模型显存占用减少50%，配合动态损失缩放保持数值稳定性，在V100上训练速度提升1.8倍。</a:t>
            </a:r>
            <a:endParaRPr lang="en-US" sz="2600" dirty="0"/>
          </a:p>
        </p:txBody>
      </p:sp>
      <p:sp>
        <p:nvSpPr>
          <p:cNvPr id="35" name="Text 15"/>
          <p:cNvSpPr/>
          <p:nvPr/>
        </p:nvSpPr>
        <p:spPr>
          <a:xfrm rot="21600000">
            <a:off x="13523976" y="3895344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混合精度</a:t>
            </a:r>
            <a:endParaRPr lang="en-US" sz="3900" dirty="0"/>
          </a:p>
        </p:txBody>
      </p:sp>
      <p:pic>
        <p:nvPicPr>
          <p:cNvPr id="36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12829032" y="4014216"/>
            <a:ext cx="283464" cy="301752"/>
          </a:xfrm>
          <a:prstGeom prst="rect">
            <a:avLst/>
          </a:prstGeom>
        </p:spPr>
      </p:pic>
      <p:sp>
        <p:nvSpPr>
          <p:cNvPr id="37" name="Text 16"/>
          <p:cNvSpPr/>
          <p:nvPr/>
        </p:nvSpPr>
        <p:spPr>
          <a:xfrm rot="21600000">
            <a:off x="13523976" y="10652760"/>
            <a:ext cx="9144000" cy="114300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基于ENAS算法自动搜索GRU架构，在情感分析任务中发现最优隐藏单元数为176，比人工设计结构F1值高2.3%。</a:t>
            </a:r>
            <a:endParaRPr lang="en-US" sz="2600" dirty="0"/>
          </a:p>
        </p:txBody>
      </p:sp>
      <p:sp>
        <p:nvSpPr>
          <p:cNvPr id="38" name="Text 17"/>
          <p:cNvSpPr/>
          <p:nvPr/>
        </p:nvSpPr>
        <p:spPr>
          <a:xfrm rot="21600000">
            <a:off x="13523976" y="9793224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结构搜索</a:t>
            </a:r>
            <a:endParaRPr lang="en-US" sz="3900" dirty="0"/>
          </a:p>
        </p:txBody>
      </p:sp>
      <p:pic>
        <p:nvPicPr>
          <p:cNvPr id="39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12829032" y="9902952"/>
            <a:ext cx="283464" cy="301752"/>
          </a:xfrm>
          <a:prstGeom prst="rect">
            <a:avLst/>
          </a:prstGeom>
        </p:spPr>
      </p:pic>
      <p:sp>
        <p:nvSpPr>
          <p:cNvPr id="40" name="文本框 39"/>
          <p:cNvSpPr txBox="1"/>
          <p:nvPr/>
        </p:nvSpPr>
        <p:spPr>
          <a:xfrm>
            <a:off x="20172680" y="1325880"/>
            <a:ext cx="12192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智码</a:t>
            </a:r>
            <a:r>
              <a:rPr lang="en-US" altLang="zh-CN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AI</a:t>
            </a:r>
            <a:endParaRPr lang="en-US" altLang="zh-CN" sz="5400" b="0" u="none" strike="noStrike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  <a:latin typeface="+mn-ea"/>
              <a:cs typeface="+mn-ea"/>
            </a:endParaRPr>
          </a:p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cs typeface="+mn-ea"/>
                <a:sym typeface="+mn-ea"/>
              </a:rPr>
              <a:t>盗版必究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563624" y="1152144"/>
            <a:ext cx="21095208" cy="91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563624" y="7324344"/>
            <a:ext cx="9610344" cy="91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545336" y="-365760"/>
            <a:ext cx="9144" cy="1474927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173968" y="-365760"/>
            <a:ext cx="9144" cy="1474927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2640544" y="-365760"/>
            <a:ext cx="9144" cy="14749272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 rot="21600000">
            <a:off x="2221992" y="1956816"/>
            <a:ext cx="19723608" cy="248716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19605"/>
              </a:lnSpc>
              <a:buNone/>
            </a:pPr>
            <a:r>
              <a:rPr lang="en-US" sz="11300" dirty="0">
                <a:solidFill>
                  <a:srgbClr val="2C2C2C"/>
                </a:solidFill>
                <a:latin typeface="NotoSansSC-Bold" panose="020B0200000000000000" pitchFamily="34" charset="-122"/>
                <a:ea typeface="NotoSansSC-Bold" panose="020B0200000000000000" pitchFamily="34" charset="-122"/>
                <a:cs typeface="NotoSansSC-Bold" panose="020B0200000000000000" pitchFamily="34" charset="-120"/>
              </a:rPr>
              <a:t>总结与扩展学习</a:t>
            </a:r>
            <a:endParaRPr lang="en-US" sz="11300" dirty="0"/>
          </a:p>
        </p:txBody>
      </p:sp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728216" y="8385048"/>
            <a:ext cx="237744" cy="265176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 rot="21600000">
            <a:off x="2359152" y="7699248"/>
            <a:ext cx="9582912" cy="1737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13710"/>
              </a:lnSpc>
              <a:buNone/>
            </a:pPr>
            <a:r>
              <a:rPr lang="en-US" sz="11400" dirty="0">
                <a:solidFill>
                  <a:srgbClr val="66B1E1"/>
                </a:solidFill>
                <a:latin typeface="Rubik-Medium" pitchFamily="34" charset="0"/>
                <a:ea typeface="Rubik-Medium" pitchFamily="34" charset="-122"/>
                <a:cs typeface="Rubik-Medium" pitchFamily="34" charset="-120"/>
              </a:rPr>
              <a:t>PART 07</a:t>
            </a:r>
            <a:endParaRPr lang="en-US" sz="11400" dirty="0"/>
          </a:p>
        </p:txBody>
      </p:sp>
      <p:sp>
        <p:nvSpPr>
          <p:cNvPr id="10" name="文本框 9"/>
          <p:cNvSpPr txBox="1"/>
          <p:nvPr/>
        </p:nvSpPr>
        <p:spPr>
          <a:xfrm>
            <a:off x="20252690" y="1161415"/>
            <a:ext cx="12192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智码</a:t>
            </a:r>
            <a:r>
              <a:rPr lang="en-US" altLang="zh-CN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AI</a:t>
            </a:r>
            <a:endParaRPr lang="en-US" altLang="zh-CN" sz="5400" b="0" u="none" strike="noStrike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  <a:latin typeface="+mn-ea"/>
              <a:cs typeface="+mn-ea"/>
            </a:endParaRPr>
          </a:p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cs typeface="+mn-ea"/>
                <a:sym typeface="+mn-ea"/>
              </a:rPr>
              <a:t>盗版必究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50392" y="-365760"/>
            <a:ext cx="9144" cy="1474927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3408640" y="-365760"/>
            <a:ext cx="9144" cy="1474927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77824" y="1152144"/>
            <a:ext cx="22503384" cy="914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77824" y="2505456"/>
            <a:ext cx="22503384" cy="914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 rot="21600000">
            <a:off x="2048256" y="1325880"/>
            <a:ext cx="6400800" cy="10241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8060"/>
              </a:lnSpc>
              <a:buNone/>
            </a:pPr>
            <a:r>
              <a:rPr lang="en-US" sz="6700" dirty="0">
                <a:solidFill>
                  <a:srgbClr val="2C2C2C"/>
                </a:solidFill>
                <a:latin typeface="NotoSansSC-Bold" panose="020B0200000000000000" pitchFamily="34" charset="-122"/>
                <a:ea typeface="NotoSansSC-Bold" panose="020B0200000000000000" pitchFamily="34" charset="-122"/>
                <a:cs typeface="NotoSansSC-Bold" panose="020B0200000000000000" pitchFamily="34" charset="-120"/>
              </a:rPr>
              <a:t>知识点总结</a:t>
            </a:r>
            <a:endParaRPr lang="en-US" sz="6700" dirty="0"/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399032" y="1764792"/>
            <a:ext cx="237744" cy="265176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3606272" y="4251960"/>
            <a:ext cx="4105656" cy="6272784"/>
          </a:xfrm>
          <a:prstGeom prst="rect">
            <a:avLst/>
          </a:prstGeom>
        </p:spPr>
      </p:pic>
      <p:pic>
        <p:nvPicPr>
          <p:cNvPr id="9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3587984" y="4087368"/>
            <a:ext cx="4105656" cy="1737360"/>
          </a:xfrm>
          <a:prstGeom prst="rect">
            <a:avLst/>
          </a:prstGeom>
        </p:spPr>
      </p:pic>
      <p:pic>
        <p:nvPicPr>
          <p:cNvPr id="10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7821656" y="4306824"/>
            <a:ext cx="4105656" cy="6208776"/>
          </a:xfrm>
          <a:prstGeom prst="rect">
            <a:avLst/>
          </a:prstGeom>
        </p:spPr>
      </p:pic>
      <p:pic>
        <p:nvPicPr>
          <p:cNvPr id="11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7821656" y="4087368"/>
            <a:ext cx="4105656" cy="1737360"/>
          </a:xfrm>
          <a:prstGeom prst="rect">
            <a:avLst/>
          </a:prstGeom>
        </p:spPr>
      </p:pic>
      <p:sp>
        <p:nvSpPr>
          <p:cNvPr id="12" name="Text 1"/>
          <p:cNvSpPr/>
          <p:nvPr/>
        </p:nvSpPr>
        <p:spPr>
          <a:xfrm rot="21600000">
            <a:off x="14456664" y="4599432"/>
            <a:ext cx="2359152" cy="42976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800" dirty="0">
                <a:solidFill>
                  <a:srgbClr val="F1F6FA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传统RNN</a:t>
            </a:r>
            <a:endParaRPr lang="en-US" sz="2800" dirty="0"/>
          </a:p>
        </p:txBody>
      </p:sp>
      <p:sp>
        <p:nvSpPr>
          <p:cNvPr id="13" name="Text 2"/>
          <p:cNvSpPr/>
          <p:nvPr/>
        </p:nvSpPr>
        <p:spPr>
          <a:xfrm rot="21600000">
            <a:off x="18708624" y="4599432"/>
            <a:ext cx="2313432" cy="42976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2800" dirty="0">
                <a:solidFill>
                  <a:srgbClr val="F1F6FA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现代模型</a:t>
            </a:r>
            <a:endParaRPr lang="en-US" sz="2800" dirty="0"/>
          </a:p>
        </p:txBody>
      </p:sp>
      <p:sp>
        <p:nvSpPr>
          <p:cNvPr id="14" name="Text 3"/>
          <p:cNvSpPr/>
          <p:nvPr/>
        </p:nvSpPr>
        <p:spPr>
          <a:xfrm rot="21600000">
            <a:off x="14822424" y="6428232"/>
            <a:ext cx="2359152" cy="42976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dirty="0">
                <a:solidFill>
                  <a:srgbClr val="66B1E1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10步记忆</a:t>
            </a:r>
            <a:endParaRPr lang="en-US" sz="2800" dirty="0"/>
          </a:p>
        </p:txBody>
      </p:sp>
      <p:pic>
        <p:nvPicPr>
          <p:cNvPr id="15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4182344" y="6428232"/>
            <a:ext cx="384048" cy="384048"/>
          </a:xfrm>
          <a:prstGeom prst="rect">
            <a:avLst/>
          </a:prstGeom>
        </p:spPr>
      </p:pic>
      <p:sp>
        <p:nvSpPr>
          <p:cNvPr id="16" name="Text 4"/>
          <p:cNvSpPr/>
          <p:nvPr/>
        </p:nvSpPr>
        <p:spPr>
          <a:xfrm rot="21600000">
            <a:off x="14822424" y="7406640"/>
            <a:ext cx="1956816" cy="42976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dirty="0">
                <a:solidFill>
                  <a:srgbClr val="66B1E1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硬截断</a:t>
            </a:r>
            <a:endParaRPr lang="en-US" sz="2800" dirty="0"/>
          </a:p>
        </p:txBody>
      </p:sp>
      <p:pic>
        <p:nvPicPr>
          <p:cNvPr id="17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14228064" y="7443216"/>
            <a:ext cx="320040" cy="356616"/>
          </a:xfrm>
          <a:prstGeom prst="rect">
            <a:avLst/>
          </a:prstGeom>
        </p:spPr>
      </p:pic>
      <p:sp>
        <p:nvSpPr>
          <p:cNvPr id="18" name="Text 5"/>
          <p:cNvSpPr/>
          <p:nvPr/>
        </p:nvSpPr>
        <p:spPr>
          <a:xfrm rot="21600000">
            <a:off x="14822424" y="8385048"/>
            <a:ext cx="2313432" cy="42976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dirty="0">
                <a:solidFill>
                  <a:srgbClr val="66B1E1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串行计算</a:t>
            </a:r>
            <a:endParaRPr lang="en-US" sz="2800" dirty="0"/>
          </a:p>
        </p:txBody>
      </p:sp>
      <p:pic>
        <p:nvPicPr>
          <p:cNvPr id="19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14237208" y="8430768"/>
            <a:ext cx="283464" cy="356616"/>
          </a:xfrm>
          <a:prstGeom prst="rect">
            <a:avLst/>
          </a:prstGeom>
        </p:spPr>
      </p:pic>
      <p:sp>
        <p:nvSpPr>
          <p:cNvPr id="20" name="Text 6"/>
          <p:cNvSpPr/>
          <p:nvPr/>
        </p:nvSpPr>
        <p:spPr>
          <a:xfrm rot="21600000">
            <a:off x="14822424" y="9363456"/>
            <a:ext cx="2313432" cy="42976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dirty="0">
                <a:solidFill>
                  <a:srgbClr val="66B1E1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固定结构</a:t>
            </a:r>
            <a:endParaRPr lang="en-US" sz="2800" dirty="0"/>
          </a:p>
        </p:txBody>
      </p:sp>
      <p:pic>
        <p:nvPicPr>
          <p:cNvPr id="2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14209776" y="9409176"/>
            <a:ext cx="329184" cy="356616"/>
          </a:xfrm>
          <a:prstGeom prst="rect">
            <a:avLst/>
          </a:prstGeom>
        </p:spPr>
      </p:pic>
      <p:pic>
        <p:nvPicPr>
          <p:cNvPr id="22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18525744" y="6428232"/>
            <a:ext cx="402336" cy="402336"/>
          </a:xfrm>
          <a:prstGeom prst="rect">
            <a:avLst/>
          </a:prstGeom>
        </p:spPr>
      </p:pic>
      <p:sp>
        <p:nvSpPr>
          <p:cNvPr id="23" name="Text 7"/>
          <p:cNvSpPr/>
          <p:nvPr/>
        </p:nvSpPr>
        <p:spPr>
          <a:xfrm rot="21600000">
            <a:off x="19174968" y="6428232"/>
            <a:ext cx="2770632" cy="42976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dirty="0">
                <a:solidFill>
                  <a:srgbClr val="66B1E1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100+步记忆</a:t>
            </a:r>
            <a:endParaRPr lang="en-US" sz="2800" dirty="0"/>
          </a:p>
        </p:txBody>
      </p:sp>
      <p:sp>
        <p:nvSpPr>
          <p:cNvPr id="24" name="Text 8"/>
          <p:cNvSpPr/>
          <p:nvPr/>
        </p:nvSpPr>
        <p:spPr>
          <a:xfrm rot="21600000">
            <a:off x="19174968" y="7406640"/>
            <a:ext cx="1956816" cy="42976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dirty="0">
                <a:solidFill>
                  <a:srgbClr val="66B1E1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软选择</a:t>
            </a:r>
            <a:endParaRPr lang="en-US" sz="2800" dirty="0"/>
          </a:p>
        </p:txBody>
      </p:sp>
      <p:pic>
        <p:nvPicPr>
          <p:cNvPr id="25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18553176" y="7434072"/>
            <a:ext cx="356616" cy="356616"/>
          </a:xfrm>
          <a:prstGeom prst="rect">
            <a:avLst/>
          </a:prstGeom>
        </p:spPr>
      </p:pic>
      <p:sp>
        <p:nvSpPr>
          <p:cNvPr id="26" name="Text 9"/>
          <p:cNvSpPr/>
          <p:nvPr/>
        </p:nvSpPr>
        <p:spPr>
          <a:xfrm rot="21600000">
            <a:off x="19174968" y="8385048"/>
            <a:ext cx="2313432" cy="42976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dirty="0">
                <a:solidFill>
                  <a:srgbClr val="66B1E1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并行处理</a:t>
            </a:r>
            <a:endParaRPr lang="en-US" sz="2800" dirty="0"/>
          </a:p>
        </p:txBody>
      </p:sp>
      <p:sp>
        <p:nvSpPr>
          <p:cNvPr id="27" name="Text 10"/>
          <p:cNvSpPr/>
          <p:nvPr/>
        </p:nvSpPr>
        <p:spPr>
          <a:xfrm rot="21600000">
            <a:off x="19174968" y="9363456"/>
            <a:ext cx="1956816" cy="42976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dirty="0">
                <a:solidFill>
                  <a:srgbClr val="66B1E1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自适应</a:t>
            </a:r>
            <a:endParaRPr lang="en-US" sz="2800" dirty="0"/>
          </a:p>
        </p:txBody>
      </p:sp>
      <p:sp>
        <p:nvSpPr>
          <p:cNvPr id="28" name="Text 11"/>
          <p:cNvSpPr/>
          <p:nvPr/>
        </p:nvSpPr>
        <p:spPr>
          <a:xfrm rot="21600000">
            <a:off x="15928848" y="11000232"/>
            <a:ext cx="3666744" cy="52120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ctr">
              <a:lnSpc>
                <a:spcPts val="4080"/>
              </a:lnSpc>
              <a:buNone/>
            </a:pPr>
            <a:r>
              <a:rPr lang="en-US" sz="34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模型能力对比</a:t>
            </a:r>
            <a:endParaRPr lang="en-US" sz="3400" dirty="0"/>
          </a:p>
        </p:txBody>
      </p:sp>
      <p:pic>
        <p:nvPicPr>
          <p:cNvPr id="29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18544032" y="9345168"/>
            <a:ext cx="393192" cy="420624"/>
          </a:xfrm>
          <a:prstGeom prst="rect">
            <a:avLst/>
          </a:prstGeom>
        </p:spPr>
      </p:pic>
      <p:pic>
        <p:nvPicPr>
          <p:cNvPr id="30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18544032" y="8394192"/>
            <a:ext cx="384048" cy="402336"/>
          </a:xfrm>
          <a:prstGeom prst="rect">
            <a:avLst/>
          </a:prstGeom>
        </p:spPr>
      </p:pic>
      <p:sp>
        <p:nvSpPr>
          <p:cNvPr id="31" name="Text 12"/>
          <p:cNvSpPr/>
          <p:nvPr/>
        </p:nvSpPr>
        <p:spPr>
          <a:xfrm rot="21600000">
            <a:off x="2359152" y="7708392"/>
            <a:ext cx="9436608" cy="171907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短文本（≤50词）推荐GRU+Attention组合，在商品评论分析中实现88%准确率；⻓文档（≥500词）需采用Transformer，比LSTM节省30%训练时间。</a:t>
            </a:r>
            <a:endParaRPr lang="en-US" sz="2600" dirty="0"/>
          </a:p>
        </p:txBody>
      </p:sp>
      <p:sp>
        <p:nvSpPr>
          <p:cNvPr id="32" name="Text 13"/>
          <p:cNvSpPr/>
          <p:nvPr/>
        </p:nvSpPr>
        <p:spPr>
          <a:xfrm rot="21600000">
            <a:off x="2359152" y="6821424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应用选择</a:t>
            </a:r>
            <a:endParaRPr lang="en-US" sz="3900" dirty="0"/>
          </a:p>
        </p:txBody>
      </p:sp>
      <p:pic>
        <p:nvPicPr>
          <p:cNvPr id="33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1444752" y="6803136"/>
            <a:ext cx="576072" cy="576072"/>
          </a:xfrm>
          <a:prstGeom prst="rect">
            <a:avLst/>
          </a:prstGeom>
        </p:spPr>
      </p:pic>
      <p:sp>
        <p:nvSpPr>
          <p:cNvPr id="34" name="Text 14"/>
          <p:cNvSpPr/>
          <p:nvPr/>
        </p:nvSpPr>
        <p:spPr>
          <a:xfrm rot="21600000">
            <a:off x="2350008" y="10634472"/>
            <a:ext cx="9436608" cy="114300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通过TensorRT量化可将LSTM模型压缩至原大小15%，在Jetson Xavier上实现50ms延迟，满足工业级实时性要求。</a:t>
            </a:r>
            <a:endParaRPr lang="en-US" sz="2600" dirty="0"/>
          </a:p>
        </p:txBody>
      </p:sp>
      <p:sp>
        <p:nvSpPr>
          <p:cNvPr id="35" name="Text 15"/>
          <p:cNvSpPr/>
          <p:nvPr/>
        </p:nvSpPr>
        <p:spPr>
          <a:xfrm rot="21600000">
            <a:off x="2350008" y="9793224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部署实践</a:t>
            </a:r>
            <a:endParaRPr lang="en-US" sz="3900" dirty="0"/>
          </a:p>
        </p:txBody>
      </p:sp>
      <p:pic>
        <p:nvPicPr>
          <p:cNvPr id="36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1536192" y="9884664"/>
            <a:ext cx="365760" cy="466344"/>
          </a:xfrm>
          <a:prstGeom prst="rect">
            <a:avLst/>
          </a:prstGeom>
        </p:spPr>
      </p:pic>
      <p:sp>
        <p:nvSpPr>
          <p:cNvPr id="37" name="Text 16"/>
          <p:cNvSpPr/>
          <p:nvPr/>
        </p:nvSpPr>
        <p:spPr>
          <a:xfrm rot="21600000">
            <a:off x="2359152" y="4727448"/>
            <a:ext cx="9436608" cy="171907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从基础RNN到LSTM/GRU的⻔控机制，再到Transformer的自注意力，序列模型参数量增长100倍但推理速度仅降低40%，体现算法优化价值。</a:t>
            </a:r>
            <a:endParaRPr lang="en-US" sz="2600" dirty="0"/>
          </a:p>
        </p:txBody>
      </p:sp>
      <p:sp>
        <p:nvSpPr>
          <p:cNvPr id="38" name="Text 17"/>
          <p:cNvSpPr/>
          <p:nvPr/>
        </p:nvSpPr>
        <p:spPr>
          <a:xfrm rot="21600000">
            <a:off x="2359152" y="3858768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模型演进</a:t>
            </a:r>
            <a:endParaRPr lang="en-US" sz="3900" dirty="0"/>
          </a:p>
        </p:txBody>
      </p:sp>
      <p:pic>
        <p:nvPicPr>
          <p:cNvPr id="39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1536192" y="3941064"/>
            <a:ext cx="393192" cy="493776"/>
          </a:xfrm>
          <a:prstGeom prst="rect">
            <a:avLst/>
          </a:prstGeom>
        </p:spPr>
      </p:pic>
      <p:sp>
        <p:nvSpPr>
          <p:cNvPr id="40" name="文本框 39"/>
          <p:cNvSpPr txBox="1"/>
          <p:nvPr/>
        </p:nvSpPr>
        <p:spPr>
          <a:xfrm>
            <a:off x="20233005" y="1151890"/>
            <a:ext cx="12192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智码</a:t>
            </a:r>
            <a:r>
              <a:rPr lang="en-US" altLang="zh-CN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AI</a:t>
            </a:r>
            <a:endParaRPr lang="en-US" altLang="zh-CN" sz="5400" b="0" u="none" strike="noStrike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  <a:latin typeface="+mn-ea"/>
              <a:cs typeface="+mn-ea"/>
            </a:endParaRPr>
          </a:p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cs typeface="+mn-ea"/>
                <a:sym typeface="+mn-ea"/>
              </a:rPr>
              <a:t>盗版必究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50392" y="-365760"/>
            <a:ext cx="9144" cy="1474927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3408640" y="-365760"/>
            <a:ext cx="9144" cy="1474927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77824" y="1152144"/>
            <a:ext cx="22503384" cy="914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77824" y="2505456"/>
            <a:ext cx="22503384" cy="914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 rot="21600000">
            <a:off x="2048256" y="1325880"/>
            <a:ext cx="7251192" cy="1024128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8060"/>
              </a:lnSpc>
              <a:buNone/>
            </a:pPr>
            <a:r>
              <a:rPr lang="en-US" sz="6700" dirty="0">
                <a:solidFill>
                  <a:srgbClr val="2C2C2C"/>
                </a:solidFill>
                <a:latin typeface="NotoSansSC-Bold" panose="020B0200000000000000" pitchFamily="34" charset="-122"/>
                <a:ea typeface="NotoSansSC-Bold" panose="020B0200000000000000" pitchFamily="34" charset="-122"/>
                <a:cs typeface="NotoSansSC-Bold" panose="020B0200000000000000" pitchFamily="34" charset="-120"/>
              </a:rPr>
              <a:t>扩展学习资源</a:t>
            </a:r>
            <a:endParaRPr lang="en-US" sz="6700" dirty="0"/>
          </a:p>
        </p:txBody>
      </p: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399032" y="1764792"/>
            <a:ext cx="237744" cy="265176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1649456" y="5321808"/>
            <a:ext cx="3355848" cy="3026664"/>
          </a:xfrm>
          <a:prstGeom prst="rect">
            <a:avLst/>
          </a:prstGeom>
        </p:spPr>
      </p:pic>
      <p:pic>
        <p:nvPicPr>
          <p:cNvPr id="9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9381744" y="6830568"/>
            <a:ext cx="3493008" cy="3026664"/>
          </a:xfrm>
          <a:prstGeom prst="rect">
            <a:avLst/>
          </a:prstGeom>
        </p:spPr>
      </p:pic>
      <p:sp>
        <p:nvSpPr>
          <p:cNvPr id="10" name="Text 1"/>
          <p:cNvSpPr/>
          <p:nvPr/>
        </p:nvSpPr>
        <p:spPr>
          <a:xfrm rot="21600000">
            <a:off x="1655064" y="5321808"/>
            <a:ext cx="7013448" cy="171907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r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《Sequence Modeling with Neural Networks》系统讲解BPTT推导过程，配合Jupyter实现梯度可视化，适合数学基础扎实的学习者。</a:t>
            </a:r>
            <a:endParaRPr lang="en-US" sz="2600" dirty="0"/>
          </a:p>
        </p:txBody>
      </p:sp>
      <p:sp>
        <p:nvSpPr>
          <p:cNvPr id="11" name="Text 2"/>
          <p:cNvSpPr/>
          <p:nvPr/>
        </p:nvSpPr>
        <p:spPr>
          <a:xfrm rot="21600000">
            <a:off x="5431536" y="4453128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r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理论深化</a:t>
            </a:r>
            <a:endParaRPr lang="en-US" sz="3900" dirty="0"/>
          </a:p>
        </p:txBody>
      </p:sp>
      <p:sp>
        <p:nvSpPr>
          <p:cNvPr id="12" name="Text 3"/>
          <p:cNvSpPr/>
          <p:nvPr/>
        </p:nvSpPr>
        <p:spPr>
          <a:xfrm rot="21600000">
            <a:off x="15718536" y="9985248"/>
            <a:ext cx="7013448" cy="171907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HuggingFace已提供200+预训练序列模型，支持PyTorch/TensorFlow双框架迁移学习，中小数据集微调可节省90%训练成本。</a:t>
            </a:r>
            <a:endParaRPr lang="en-US" sz="2600" dirty="0"/>
          </a:p>
        </p:txBody>
      </p:sp>
      <p:sp>
        <p:nvSpPr>
          <p:cNvPr id="13" name="Text 4"/>
          <p:cNvSpPr/>
          <p:nvPr/>
        </p:nvSpPr>
        <p:spPr>
          <a:xfrm rot="21600000">
            <a:off x="15718536" y="9171432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工具生态</a:t>
            </a:r>
            <a:endParaRPr lang="en-US" sz="3900" dirty="0"/>
          </a:p>
        </p:txBody>
      </p:sp>
      <p:sp>
        <p:nvSpPr>
          <p:cNvPr id="14" name="Text 5"/>
          <p:cNvSpPr/>
          <p:nvPr/>
        </p:nvSpPr>
        <p:spPr>
          <a:xfrm rot="21600000">
            <a:off x="1655064" y="9985248"/>
            <a:ext cx="7013448" cy="171907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r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ACL会议近三年最佳论文显示，Transformer变体在83%的NLP任务中超越RNN系模型，但医疗时序数据仍以LSTM为主流。</a:t>
            </a:r>
            <a:endParaRPr lang="en-US" sz="2600" dirty="0"/>
          </a:p>
        </p:txBody>
      </p:sp>
      <p:sp>
        <p:nvSpPr>
          <p:cNvPr id="15" name="Text 6"/>
          <p:cNvSpPr/>
          <p:nvPr/>
        </p:nvSpPr>
        <p:spPr>
          <a:xfrm rot="21600000">
            <a:off x="5431536" y="9171432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r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前沿追踪</a:t>
            </a:r>
            <a:endParaRPr lang="en-US" sz="3900" dirty="0"/>
          </a:p>
        </p:txBody>
      </p:sp>
      <p:sp>
        <p:nvSpPr>
          <p:cNvPr id="16" name="Text 7"/>
          <p:cNvSpPr/>
          <p:nvPr/>
        </p:nvSpPr>
        <p:spPr>
          <a:xfrm rot="21600000">
            <a:off x="15718536" y="5321808"/>
            <a:ext cx="7013448" cy="1719072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470"/>
              </a:lnSpc>
              <a:buNone/>
            </a:pPr>
            <a:r>
              <a:rPr lang="en-US" sz="2600" dirty="0">
                <a:solidFill>
                  <a:srgbClr val="2C2C2C"/>
                </a:solidFill>
                <a:latin typeface="SourceHanSansCN-Normal" panose="020B0400000000000000" pitchFamily="34" charset="-122"/>
                <a:ea typeface="SourceHanSansCN-Normal" panose="020B0400000000000000" pitchFamily="34" charset="-122"/>
                <a:cs typeface="SourceHanSansCN-Normal" panose="020B0400000000000000" pitchFamily="34" charset="-120"/>
              </a:rPr>
              <a:t>Kaggle竞赛“Quora Question Pairs“提供50万条标注数据，涵盖RNN/LSTM/Transformer对比实验，优胜方案代码已开源。</a:t>
            </a:r>
            <a:endParaRPr lang="en-US" sz="2600" dirty="0"/>
          </a:p>
        </p:txBody>
      </p:sp>
      <p:sp>
        <p:nvSpPr>
          <p:cNvPr id="17" name="Text 8"/>
          <p:cNvSpPr/>
          <p:nvPr/>
        </p:nvSpPr>
        <p:spPr>
          <a:xfrm rot="21600000">
            <a:off x="15718536" y="4453128"/>
            <a:ext cx="3227832" cy="594360"/>
          </a:xfrm>
          <a:prstGeom prst="rect">
            <a:avLst/>
          </a:prstGeom>
          <a:noFill/>
        </p:spPr>
        <p:txBody>
          <a:bodyPr vert="horz" wrap="square" rtlCol="0" anchor="ctr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dirty="0">
                <a:solidFill>
                  <a:srgbClr val="2C2C2C"/>
                </a:solidFill>
                <a:latin typeface="SourceHanSansCN-Medium" panose="020B0600000000000000" pitchFamily="34" charset="-122"/>
                <a:ea typeface="SourceHanSansCN-Medium" panose="020B0600000000000000" pitchFamily="34" charset="-122"/>
                <a:cs typeface="SourceHanSansCN-Medium" panose="020B0600000000000000" pitchFamily="34" charset="-120"/>
              </a:rPr>
              <a:t>工程实践</a:t>
            </a:r>
            <a:endParaRPr lang="en-US" sz="3900" dirty="0"/>
          </a:p>
        </p:txBody>
      </p:sp>
      <p:sp>
        <p:nvSpPr>
          <p:cNvPr id="18" name="文本框 17"/>
          <p:cNvSpPr txBox="1"/>
          <p:nvPr/>
        </p:nvSpPr>
        <p:spPr>
          <a:xfrm>
            <a:off x="20252690" y="1764665"/>
            <a:ext cx="12192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智码</a:t>
            </a:r>
            <a:r>
              <a:rPr lang="en-US" altLang="zh-CN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+mn-ea"/>
                <a:cs typeface="+mn-ea"/>
                <a:sym typeface="+mn-ea"/>
              </a:rPr>
              <a:t>AI</a:t>
            </a:r>
            <a:endParaRPr lang="en-US" altLang="zh-CN" sz="5400" b="0" u="none" strike="noStrike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  <a:latin typeface="+mn-ea"/>
              <a:cs typeface="+mn-ea"/>
            </a:endParaRPr>
          </a:p>
          <a:p>
            <a:r>
              <a:rPr lang="zh-CN" altLang="en-U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cs typeface="+mn-ea"/>
                <a:sym typeface="+mn-ea"/>
              </a:rPr>
              <a:t>盗版必究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Tc2ZGZiNzZiNDVlOGViOWVmM2JhOTY0NGJkNjUyYzg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1627</Words>
  <Application>Microsoft Office PowerPoint</Application>
  <PresentationFormat>自定义</PresentationFormat>
  <Paragraphs>349</Paragraphs>
  <Slides>29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6" baseType="lpstr">
      <vt:lpstr>NotoSansSC-Bold</vt:lpstr>
      <vt:lpstr>Roboto-Regular</vt:lpstr>
      <vt:lpstr>Rubik-Medium</vt:lpstr>
      <vt:lpstr>SourceHanSansCN-Normal</vt:lpstr>
      <vt:lpstr>Arial</vt:lpstr>
      <vt:lpstr>SourceHanSansCN-Medium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t75546</cp:lastModifiedBy>
  <cp:revision>7</cp:revision>
  <dcterms:created xsi:type="dcterms:W3CDTF">2025-08-03T14:17:00Z</dcterms:created>
  <dcterms:modified xsi:type="dcterms:W3CDTF">2026-02-03T14:28:34Z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BDF565DD64C140B5A8F7EAD45577514B_12</vt:lpwstr>
  </property>
  <property fmtid="{D5CDD505-2E9C-101B-9397-08002B2CF9AE}" pid="3" name="KSOProductBuildVer">
    <vt:lpwstr>2052-12.1.0.16417</vt:lpwstr>
  </property>
</Properties>
</file>