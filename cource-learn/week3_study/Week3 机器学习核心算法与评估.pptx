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257" r:id="rId3"/>
    <p:sldId id="258" r:id="rId4"/>
    <p:sldId id="281" r:id="rId5"/>
    <p:sldId id="282" r:id="rId6"/>
    <p:sldId id="283" r:id="rId7"/>
    <p:sldId id="259" r:id="rId8"/>
    <p:sldId id="284" r:id="rId9"/>
    <p:sldId id="285" r:id="rId10"/>
    <p:sldId id="286" r:id="rId11"/>
    <p:sldId id="287" r:id="rId12"/>
    <p:sldId id="288" r:id="rId13"/>
    <p:sldId id="294" r:id="rId14"/>
    <p:sldId id="260" r:id="rId15"/>
    <p:sldId id="261" r:id="rId16"/>
    <p:sldId id="292" r:id="rId17"/>
    <p:sldId id="289" r:id="rId18"/>
    <p:sldId id="262" r:id="rId19"/>
    <p:sldId id="290" r:id="rId20"/>
    <p:sldId id="291" r:id="rId21"/>
    <p:sldId id="263" r:id="rId22"/>
    <p:sldId id="264" r:id="rId23"/>
    <p:sldId id="280" r:id="rId24"/>
    <p:sldId id="266" r:id="rId25"/>
    <p:sldId id="267" r:id="rId26"/>
    <p:sldId id="268" r:id="rId27"/>
    <p:sldId id="269" r:id="rId28"/>
    <p:sldId id="270" r:id="rId29"/>
  </p:sldIdLst>
  <p:sldSz cx="12192000" cy="68580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580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040" cy="5046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32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402561" y="0"/>
            <a:ext cx="3368040" cy="5046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320"/>
            </a:lvl1pPr>
          </a:lstStyle>
          <a:p>
            <a:fld id="{0F9B84EA-7D68-4D60-9CB1-D50884785D1C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553734"/>
            <a:ext cx="3368040" cy="5046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32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402561" y="9553734"/>
            <a:ext cx="3368040" cy="5046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32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040" cy="5046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402561" y="0"/>
            <a:ext cx="3368040" cy="5046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68680" y="1257300"/>
            <a:ext cx="6035040" cy="339471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77240" y="4840605"/>
            <a:ext cx="6217920" cy="396049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553734"/>
            <a:ext cx="3368040" cy="5046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402561" y="9553734"/>
            <a:ext cx="3368040" cy="5046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69950" y="1257300"/>
            <a:ext cx="6032500" cy="33940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938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00030-FEA4-C505-5FD2-DC4C3B41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151E9D-88B2-97A0-AD68-94D51D836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69950" y="1257300"/>
            <a:ext cx="6032500" cy="33940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F7F68D-4DF0-0607-D5FB-357E7F376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20A0A7-037C-4132-106C-3A27C69960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5240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41E69-3302-DCCE-7661-9F435D272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835BAC-FE89-1F49-25C1-8EC1B516A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69950" y="1257300"/>
            <a:ext cx="6032500" cy="33940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BE3734-C5A1-30A0-DDD9-DA307B45A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B573FB-0B78-0458-9AD7-8C14F59643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102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152280" y="152280"/>
            <a:ext cx="11887560" cy="6705720"/>
          </a:xfrm>
          <a:custGeom>
            <a:avLst/>
            <a:gdLst/>
            <a:ahLst/>
            <a:cxnLst/>
            <a:rect l="0" t="0" r="r" b="b"/>
            <a:pathLst>
              <a:path w="33021" h="18627">
                <a:moveTo>
                  <a:pt x="0" y="0"/>
                </a:moveTo>
                <a:lnTo>
                  <a:pt x="33021" y="0"/>
                </a:lnTo>
                <a:lnTo>
                  <a:pt x="33021" y="18627"/>
                </a:lnTo>
                <a:lnTo>
                  <a:pt x="0" y="18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152280" y="152280"/>
            <a:ext cx="11887560" cy="962280"/>
          </a:xfrm>
          <a:custGeom>
            <a:avLst/>
            <a:gdLst/>
            <a:ahLst/>
            <a:cxnLst/>
            <a:rect l="0" t="0" r="r" b="b"/>
            <a:pathLst>
              <a:path w="33021" h="2673">
                <a:moveTo>
                  <a:pt x="0" y="0"/>
                </a:moveTo>
                <a:lnTo>
                  <a:pt x="33021" y="0"/>
                </a:lnTo>
                <a:lnTo>
                  <a:pt x="33021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152280" y="1114200"/>
            <a:ext cx="11887560" cy="5486760"/>
          </a:xfrm>
          <a:custGeom>
            <a:avLst/>
            <a:gdLst/>
            <a:ahLst/>
            <a:cxnLst/>
            <a:rect l="0" t="0" r="r" b="b"/>
            <a:pathLst>
              <a:path w="33021" h="15241">
                <a:moveTo>
                  <a:pt x="0" y="0"/>
                </a:moveTo>
                <a:lnTo>
                  <a:pt x="33021" y="0"/>
                </a:lnTo>
                <a:lnTo>
                  <a:pt x="33021" y="15241"/>
                </a:lnTo>
                <a:lnTo>
                  <a:pt x="0" y="1524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480" y="390600"/>
            <a:ext cx="3355200" cy="46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1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课程导⼊：机器学习的核⼼价值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609480" y="2009520"/>
            <a:ext cx="228960" cy="228960"/>
          </a:xfrm>
          <a:custGeom>
            <a:avLst/>
            <a:gdLst/>
            <a:ahLst/>
            <a:cxnLst/>
            <a:rect l="0" t="0" r="r" b="b"/>
            <a:pathLst>
              <a:path w="636" h="636">
                <a:moveTo>
                  <a:pt x="636" y="318"/>
                </a:moveTo>
                <a:cubicBezTo>
                  <a:pt x="636" y="339"/>
                  <a:pt x="634" y="359"/>
                  <a:pt x="630" y="380"/>
                </a:cubicBezTo>
                <a:cubicBezTo>
                  <a:pt x="626" y="400"/>
                  <a:pt x="620" y="420"/>
                  <a:pt x="612" y="439"/>
                </a:cubicBezTo>
                <a:cubicBezTo>
                  <a:pt x="604" y="459"/>
                  <a:pt x="594" y="478"/>
                  <a:pt x="582" y="495"/>
                </a:cubicBezTo>
                <a:cubicBezTo>
                  <a:pt x="571" y="512"/>
                  <a:pt x="558" y="528"/>
                  <a:pt x="543" y="543"/>
                </a:cubicBezTo>
                <a:cubicBezTo>
                  <a:pt x="528" y="558"/>
                  <a:pt x="511" y="571"/>
                  <a:pt x="494" y="583"/>
                </a:cubicBezTo>
                <a:cubicBezTo>
                  <a:pt x="476" y="594"/>
                  <a:pt x="458" y="604"/>
                  <a:pt x="439" y="612"/>
                </a:cubicBezTo>
                <a:cubicBezTo>
                  <a:pt x="420" y="620"/>
                  <a:pt x="400" y="626"/>
                  <a:pt x="379" y="630"/>
                </a:cubicBezTo>
                <a:cubicBezTo>
                  <a:pt x="359" y="634"/>
                  <a:pt x="338" y="636"/>
                  <a:pt x="317" y="636"/>
                </a:cubicBezTo>
                <a:cubicBezTo>
                  <a:pt x="296" y="636"/>
                  <a:pt x="276" y="634"/>
                  <a:pt x="255" y="630"/>
                </a:cubicBezTo>
                <a:cubicBezTo>
                  <a:pt x="235" y="626"/>
                  <a:pt x="215" y="620"/>
                  <a:pt x="196" y="612"/>
                </a:cubicBezTo>
                <a:cubicBezTo>
                  <a:pt x="177" y="604"/>
                  <a:pt x="158" y="594"/>
                  <a:pt x="141" y="583"/>
                </a:cubicBezTo>
                <a:cubicBezTo>
                  <a:pt x="124" y="571"/>
                  <a:pt x="108" y="558"/>
                  <a:pt x="93" y="543"/>
                </a:cubicBezTo>
                <a:cubicBezTo>
                  <a:pt x="78" y="528"/>
                  <a:pt x="65" y="512"/>
                  <a:pt x="53" y="495"/>
                </a:cubicBezTo>
                <a:cubicBezTo>
                  <a:pt x="42" y="478"/>
                  <a:pt x="32" y="459"/>
                  <a:pt x="24" y="439"/>
                </a:cubicBezTo>
                <a:cubicBezTo>
                  <a:pt x="16" y="420"/>
                  <a:pt x="10" y="400"/>
                  <a:pt x="6" y="380"/>
                </a:cubicBezTo>
                <a:cubicBezTo>
                  <a:pt x="2" y="359"/>
                  <a:pt x="0" y="339"/>
                  <a:pt x="0" y="318"/>
                </a:cubicBez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7"/>
                  <a:pt x="42" y="159"/>
                  <a:pt x="53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8"/>
                  <a:pt x="124" y="65"/>
                  <a:pt x="141" y="54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6"/>
                </a:cubicBezTo>
                <a:cubicBezTo>
                  <a:pt x="400" y="10"/>
                  <a:pt x="420" y="16"/>
                  <a:pt x="439" y="24"/>
                </a:cubicBezTo>
                <a:cubicBezTo>
                  <a:pt x="458" y="32"/>
                  <a:pt x="476" y="42"/>
                  <a:pt x="494" y="54"/>
                </a:cubicBezTo>
                <a:cubicBezTo>
                  <a:pt x="511" y="65"/>
                  <a:pt x="528" y="78"/>
                  <a:pt x="543" y="93"/>
                </a:cubicBezTo>
                <a:cubicBezTo>
                  <a:pt x="558" y="108"/>
                  <a:pt x="571" y="124"/>
                  <a:pt x="582" y="141"/>
                </a:cubicBezTo>
                <a:cubicBezTo>
                  <a:pt x="594" y="159"/>
                  <a:pt x="604" y="177"/>
                  <a:pt x="612" y="196"/>
                </a:cubicBezTo>
                <a:cubicBezTo>
                  <a:pt x="620" y="215"/>
                  <a:pt x="626" y="235"/>
                  <a:pt x="630" y="256"/>
                </a:cubicBezTo>
                <a:cubicBezTo>
                  <a:pt x="634" y="276"/>
                  <a:pt x="636" y="297"/>
                  <a:pt x="636" y="318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9480" y="1457640"/>
            <a:ext cx="96084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1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⽣活案例展⽰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76440" y="2021040"/>
            <a:ext cx="190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609480" y="2447640"/>
            <a:ext cx="228960" cy="228960"/>
          </a:xfrm>
          <a:custGeom>
            <a:avLst/>
            <a:gdLst/>
            <a:ahLst/>
            <a:cxnLst/>
            <a:rect l="0" t="0" r="r" b="b"/>
            <a:pathLst>
              <a:path w="636" h="636">
                <a:moveTo>
                  <a:pt x="636" y="318"/>
                </a:moveTo>
                <a:cubicBezTo>
                  <a:pt x="636" y="339"/>
                  <a:pt x="634" y="359"/>
                  <a:pt x="630" y="380"/>
                </a:cubicBezTo>
                <a:cubicBezTo>
                  <a:pt x="626" y="400"/>
                  <a:pt x="620" y="420"/>
                  <a:pt x="612" y="439"/>
                </a:cubicBezTo>
                <a:cubicBezTo>
                  <a:pt x="604" y="459"/>
                  <a:pt x="594" y="477"/>
                  <a:pt x="582" y="495"/>
                </a:cubicBezTo>
                <a:cubicBezTo>
                  <a:pt x="571" y="513"/>
                  <a:pt x="558" y="529"/>
                  <a:pt x="543" y="543"/>
                </a:cubicBezTo>
                <a:cubicBezTo>
                  <a:pt x="528" y="558"/>
                  <a:pt x="511" y="571"/>
                  <a:pt x="494" y="583"/>
                </a:cubicBezTo>
                <a:cubicBezTo>
                  <a:pt x="476" y="594"/>
                  <a:pt x="458" y="604"/>
                  <a:pt x="439" y="612"/>
                </a:cubicBezTo>
                <a:cubicBezTo>
                  <a:pt x="420" y="620"/>
                  <a:pt x="400" y="626"/>
                  <a:pt x="379" y="630"/>
                </a:cubicBezTo>
                <a:cubicBezTo>
                  <a:pt x="359" y="634"/>
                  <a:pt x="338" y="636"/>
                  <a:pt x="317" y="636"/>
                </a:cubicBezTo>
                <a:cubicBezTo>
                  <a:pt x="296" y="636"/>
                  <a:pt x="276" y="634"/>
                  <a:pt x="255" y="630"/>
                </a:cubicBezTo>
                <a:cubicBezTo>
                  <a:pt x="235" y="626"/>
                  <a:pt x="215" y="620"/>
                  <a:pt x="196" y="612"/>
                </a:cubicBezTo>
                <a:cubicBezTo>
                  <a:pt x="177" y="604"/>
                  <a:pt x="158" y="594"/>
                  <a:pt x="141" y="583"/>
                </a:cubicBezTo>
                <a:cubicBezTo>
                  <a:pt x="124" y="571"/>
                  <a:pt x="108" y="558"/>
                  <a:pt x="93" y="543"/>
                </a:cubicBezTo>
                <a:cubicBezTo>
                  <a:pt x="78" y="529"/>
                  <a:pt x="65" y="513"/>
                  <a:pt x="53" y="495"/>
                </a:cubicBezTo>
                <a:cubicBezTo>
                  <a:pt x="42" y="477"/>
                  <a:pt x="32" y="459"/>
                  <a:pt x="24" y="439"/>
                </a:cubicBezTo>
                <a:cubicBezTo>
                  <a:pt x="16" y="420"/>
                  <a:pt x="10" y="400"/>
                  <a:pt x="6" y="380"/>
                </a:cubicBezTo>
                <a:cubicBezTo>
                  <a:pt x="2" y="359"/>
                  <a:pt x="0" y="339"/>
                  <a:pt x="0" y="318"/>
                </a:cubicBez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6"/>
                  <a:pt x="24" y="196"/>
                </a:cubicBezTo>
                <a:cubicBezTo>
                  <a:pt x="32" y="177"/>
                  <a:pt x="42" y="159"/>
                  <a:pt x="53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9"/>
                  <a:pt x="124" y="65"/>
                  <a:pt x="141" y="54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6"/>
                </a:cubicBezTo>
                <a:cubicBezTo>
                  <a:pt x="400" y="10"/>
                  <a:pt x="420" y="16"/>
                  <a:pt x="439" y="24"/>
                </a:cubicBezTo>
                <a:cubicBezTo>
                  <a:pt x="458" y="32"/>
                  <a:pt x="476" y="42"/>
                  <a:pt x="494" y="54"/>
                </a:cubicBezTo>
                <a:cubicBezTo>
                  <a:pt x="511" y="65"/>
                  <a:pt x="528" y="79"/>
                  <a:pt x="543" y="93"/>
                </a:cubicBezTo>
                <a:cubicBezTo>
                  <a:pt x="558" y="108"/>
                  <a:pt x="571" y="124"/>
                  <a:pt x="582" y="141"/>
                </a:cubicBezTo>
                <a:cubicBezTo>
                  <a:pt x="594" y="159"/>
                  <a:pt x="604" y="177"/>
                  <a:pt x="612" y="196"/>
                </a:cubicBezTo>
                <a:cubicBezTo>
                  <a:pt x="620" y="216"/>
                  <a:pt x="626" y="235"/>
                  <a:pt x="630" y="256"/>
                </a:cubicBezTo>
                <a:cubicBezTo>
                  <a:pt x="634" y="276"/>
                  <a:pt x="636" y="297"/>
                  <a:pt x="636" y="318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52560" y="2004480"/>
            <a:ext cx="25156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推荐系统：电商平台根据⽤⼾⾏为推荐个性化商品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76440" y="2459160"/>
            <a:ext cx="190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52560" y="2442600"/>
            <a:ext cx="4424288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1" u="none" strike="noStrike" dirty="0">
                <a:solidFill>
                  <a:srgbClr val="374151"/>
                </a:solidFill>
                <a:effectLst/>
                <a:uFillTx/>
                <a:latin typeface="华文宋体" panose="02010600040101010101" pitchFamily="2" charset="-122"/>
                <a:ea typeface="华文宋体" panose="02010600040101010101" pitchFamily="2" charset="-122"/>
              </a:rPr>
              <a:t>垃圾邮件过滤：⾃动识别并过滤垃圾邮件，准确率超</a:t>
            </a:r>
            <a:endParaRPr lang="en-US" sz="1500" b="1" u="none" strike="noStrike" dirty="0">
              <a:solidFill>
                <a:srgbClr val="000000"/>
              </a:solidFill>
              <a:effectLst/>
              <a:uFillTx/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334120" y="2449800"/>
            <a:ext cx="349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99%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9480" y="3038760"/>
            <a:ext cx="64080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1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学习⽬标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09480" y="3594960"/>
            <a:ext cx="308736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掌握机器学习核⼼算法原理与实践应⽤，构建从数据预处理到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6333840" y="1428480"/>
            <a:ext cx="5239080" cy="2838960"/>
          </a:xfrm>
          <a:custGeom>
            <a:avLst/>
            <a:gdLst/>
            <a:ahLst/>
            <a:cxnLst/>
            <a:rect l="0" t="0" r="r" b="b"/>
            <a:pathLst>
              <a:path w="14553" h="7886" fill="none">
                <a:moveTo>
                  <a:pt x="0" y="7700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14368" y="0"/>
                </a:lnTo>
                <a:cubicBezTo>
                  <a:pt x="14380" y="0"/>
                  <a:pt x="14392" y="1"/>
                  <a:pt x="14404" y="4"/>
                </a:cubicBezTo>
                <a:cubicBezTo>
                  <a:pt x="14416" y="6"/>
                  <a:pt x="14428" y="10"/>
                  <a:pt x="14439" y="14"/>
                </a:cubicBezTo>
                <a:cubicBezTo>
                  <a:pt x="14450" y="19"/>
                  <a:pt x="14461" y="25"/>
                  <a:pt x="14471" y="31"/>
                </a:cubicBezTo>
                <a:cubicBezTo>
                  <a:pt x="14481" y="38"/>
                  <a:pt x="14491" y="46"/>
                  <a:pt x="14499" y="54"/>
                </a:cubicBezTo>
                <a:cubicBezTo>
                  <a:pt x="14508" y="63"/>
                  <a:pt x="14515" y="72"/>
                  <a:pt x="14522" y="83"/>
                </a:cubicBezTo>
                <a:cubicBezTo>
                  <a:pt x="14529" y="93"/>
                  <a:pt x="14535" y="103"/>
                  <a:pt x="14539" y="115"/>
                </a:cubicBezTo>
                <a:cubicBezTo>
                  <a:pt x="14544" y="126"/>
                  <a:pt x="14547" y="137"/>
                  <a:pt x="14550" y="149"/>
                </a:cubicBezTo>
                <a:cubicBezTo>
                  <a:pt x="14552" y="161"/>
                  <a:pt x="14553" y="173"/>
                  <a:pt x="14553" y="185"/>
                </a:cubicBezTo>
                <a:lnTo>
                  <a:pt x="14553" y="7700"/>
                </a:lnTo>
                <a:cubicBezTo>
                  <a:pt x="14553" y="7712"/>
                  <a:pt x="14552" y="7724"/>
                  <a:pt x="14550" y="7736"/>
                </a:cubicBezTo>
                <a:cubicBezTo>
                  <a:pt x="14547" y="7748"/>
                  <a:pt x="14544" y="7759"/>
                  <a:pt x="14539" y="7770"/>
                </a:cubicBezTo>
                <a:cubicBezTo>
                  <a:pt x="14535" y="7782"/>
                  <a:pt x="14529" y="7792"/>
                  <a:pt x="14522" y="7803"/>
                </a:cubicBezTo>
                <a:cubicBezTo>
                  <a:pt x="14515" y="7813"/>
                  <a:pt x="14508" y="7822"/>
                  <a:pt x="14499" y="7831"/>
                </a:cubicBezTo>
                <a:cubicBezTo>
                  <a:pt x="14491" y="7839"/>
                  <a:pt x="14481" y="7847"/>
                  <a:pt x="14471" y="7854"/>
                </a:cubicBezTo>
                <a:cubicBezTo>
                  <a:pt x="14461" y="7861"/>
                  <a:pt x="14450" y="7867"/>
                  <a:pt x="14439" y="7872"/>
                </a:cubicBezTo>
                <a:cubicBezTo>
                  <a:pt x="14428" y="7876"/>
                  <a:pt x="14416" y="7880"/>
                  <a:pt x="14404" y="7882"/>
                </a:cubicBezTo>
                <a:cubicBezTo>
                  <a:pt x="14392" y="7885"/>
                  <a:pt x="14380" y="7886"/>
                  <a:pt x="14368" y="7886"/>
                </a:cubicBezTo>
                <a:lnTo>
                  <a:pt x="185" y="7886"/>
                </a:lnTo>
                <a:cubicBezTo>
                  <a:pt x="173" y="7886"/>
                  <a:pt x="161" y="7885"/>
                  <a:pt x="149" y="7882"/>
                </a:cubicBezTo>
                <a:cubicBezTo>
                  <a:pt x="137" y="7880"/>
                  <a:pt x="126" y="7876"/>
                  <a:pt x="115" y="7872"/>
                </a:cubicBezTo>
                <a:cubicBezTo>
                  <a:pt x="103" y="7867"/>
                  <a:pt x="93" y="7861"/>
                  <a:pt x="83" y="7854"/>
                </a:cubicBezTo>
                <a:cubicBezTo>
                  <a:pt x="72" y="7847"/>
                  <a:pt x="63" y="7839"/>
                  <a:pt x="55" y="7831"/>
                </a:cubicBezTo>
                <a:cubicBezTo>
                  <a:pt x="46" y="7822"/>
                  <a:pt x="38" y="7813"/>
                  <a:pt x="32" y="7803"/>
                </a:cubicBezTo>
                <a:cubicBezTo>
                  <a:pt x="25" y="7792"/>
                  <a:pt x="19" y="7782"/>
                  <a:pt x="14" y="7770"/>
                </a:cubicBezTo>
                <a:cubicBezTo>
                  <a:pt x="10" y="7759"/>
                  <a:pt x="6" y="7748"/>
                  <a:pt x="4" y="7736"/>
                </a:cubicBezTo>
                <a:cubicBezTo>
                  <a:pt x="1" y="7724"/>
                  <a:pt x="0" y="7712"/>
                  <a:pt x="0" y="7700"/>
                </a:cubicBezTo>
              </a:path>
            </a:pathLst>
          </a:custGeom>
          <a:ln w="18720">
            <a:solidFill>
              <a:srgbClr val="E5E7EB"/>
            </a:solidFill>
            <a:miter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0" name="图片 19"/>
          <p:cNvPicPr/>
          <p:nvPr/>
        </p:nvPicPr>
        <p:blipFill>
          <a:blip r:embed="rId2"/>
          <a:stretch>
            <a:fillRect/>
          </a:stretch>
        </p:blipFill>
        <p:spPr>
          <a:xfrm>
            <a:off x="6249240" y="1431359"/>
            <a:ext cx="5313600" cy="337133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文本框 20"/>
          <p:cNvSpPr txBox="1"/>
          <p:nvPr/>
        </p:nvSpPr>
        <p:spPr>
          <a:xfrm>
            <a:off x="609480" y="3899880"/>
            <a:ext cx="1258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模型部署的完整知识框架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993582" y="5130180"/>
            <a:ext cx="11275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 dirty="0">
                <a:solidFill>
                  <a:srgbClr val="6B7280"/>
                </a:solidFill>
                <a:effectLst/>
                <a:uFillTx/>
                <a:latin typeface="NotoSansCJKsc"/>
                <a:ea typeface="NotoSansCJKsc"/>
              </a:rPr>
              <a:t>电商个性化推荐系统界⾯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492E4B0-0757-B1A1-A7AA-2E8FDAF928A0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 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" name="任意多边形 33"/>
          <p:cNvSpPr/>
          <p:nvPr/>
        </p:nvSpPr>
        <p:spPr>
          <a:xfrm>
            <a:off x="152280" y="152280"/>
            <a:ext cx="11887560" cy="6705720"/>
          </a:xfrm>
          <a:custGeom>
            <a:avLst/>
            <a:gdLst/>
            <a:ahLst/>
            <a:cxnLst/>
            <a:rect l="0" t="0" r="r" b="b"/>
            <a:pathLst>
              <a:path w="33021" h="18627">
                <a:moveTo>
                  <a:pt x="0" y="0"/>
                </a:moveTo>
                <a:lnTo>
                  <a:pt x="33021" y="0"/>
                </a:lnTo>
                <a:lnTo>
                  <a:pt x="33021" y="18627"/>
                </a:lnTo>
                <a:lnTo>
                  <a:pt x="0" y="18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152280" y="152280"/>
            <a:ext cx="11887560" cy="962280"/>
          </a:xfrm>
          <a:custGeom>
            <a:avLst/>
            <a:gdLst/>
            <a:ahLst/>
            <a:cxnLst/>
            <a:rect l="0" t="0" r="r" b="b"/>
            <a:pathLst>
              <a:path w="33021" h="2673">
                <a:moveTo>
                  <a:pt x="0" y="0"/>
                </a:moveTo>
                <a:lnTo>
                  <a:pt x="33021" y="0"/>
                </a:lnTo>
                <a:lnTo>
                  <a:pt x="33021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09480" y="390600"/>
            <a:ext cx="1677960" cy="46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1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算法分类：监督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480120" y="405720"/>
            <a:ext cx="3996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15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/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601080" y="390600"/>
            <a:ext cx="719640" cy="46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1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⽆监督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831200" y="405720"/>
            <a:ext cx="3996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15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/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" name="任意多边形 39"/>
          <p:cNvSpPr/>
          <p:nvPr/>
        </p:nvSpPr>
        <p:spPr>
          <a:xfrm>
            <a:off x="152280" y="1114200"/>
            <a:ext cx="11887560" cy="5486760"/>
          </a:xfrm>
          <a:custGeom>
            <a:avLst/>
            <a:gdLst/>
            <a:ahLst/>
            <a:cxnLst/>
            <a:rect l="0" t="0" r="r" b="b"/>
            <a:pathLst>
              <a:path w="33021" h="15241">
                <a:moveTo>
                  <a:pt x="0" y="0"/>
                </a:moveTo>
                <a:lnTo>
                  <a:pt x="33021" y="0"/>
                </a:lnTo>
                <a:lnTo>
                  <a:pt x="33021" y="15241"/>
                </a:lnTo>
                <a:lnTo>
                  <a:pt x="0" y="1524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" name="任意多边形 40"/>
          <p:cNvSpPr/>
          <p:nvPr/>
        </p:nvSpPr>
        <p:spPr>
          <a:xfrm>
            <a:off x="609480" y="1438200"/>
            <a:ext cx="3457800" cy="3772080"/>
          </a:xfrm>
          <a:custGeom>
            <a:avLst/>
            <a:gdLst/>
            <a:ahLst/>
            <a:cxnLst/>
            <a:rect l="0" t="0" r="r" b="b"/>
            <a:pathLst>
              <a:path w="9605" h="10478">
                <a:moveTo>
                  <a:pt x="0" y="10267"/>
                </a:moveTo>
                <a:lnTo>
                  <a:pt x="0" y="158"/>
                </a:lnTo>
                <a:cubicBezTo>
                  <a:pt x="0" y="148"/>
                  <a:pt x="1" y="138"/>
                  <a:pt x="4" y="127"/>
                </a:cubicBezTo>
                <a:cubicBezTo>
                  <a:pt x="7" y="117"/>
                  <a:pt x="11" y="107"/>
                  <a:pt x="16" y="98"/>
                </a:cubicBezTo>
                <a:cubicBezTo>
                  <a:pt x="21" y="88"/>
                  <a:pt x="28" y="79"/>
                  <a:pt x="36" y="70"/>
                </a:cubicBezTo>
                <a:cubicBezTo>
                  <a:pt x="43" y="62"/>
                  <a:pt x="52" y="54"/>
                  <a:pt x="62" y="46"/>
                </a:cubicBezTo>
                <a:cubicBezTo>
                  <a:pt x="72" y="39"/>
                  <a:pt x="82" y="32"/>
                  <a:pt x="94" y="26"/>
                </a:cubicBezTo>
                <a:cubicBezTo>
                  <a:pt x="105" y="21"/>
                  <a:pt x="118" y="16"/>
                  <a:pt x="130" y="12"/>
                </a:cubicBezTo>
                <a:cubicBezTo>
                  <a:pt x="143" y="8"/>
                  <a:pt x="157" y="5"/>
                  <a:pt x="170" y="3"/>
                </a:cubicBezTo>
                <a:cubicBezTo>
                  <a:pt x="184" y="1"/>
                  <a:pt x="198" y="0"/>
                  <a:pt x="211" y="0"/>
                </a:cubicBezTo>
                <a:lnTo>
                  <a:pt x="9394" y="0"/>
                </a:lnTo>
                <a:cubicBezTo>
                  <a:pt x="9407" y="0"/>
                  <a:pt x="9421" y="1"/>
                  <a:pt x="9435" y="3"/>
                </a:cubicBezTo>
                <a:cubicBezTo>
                  <a:pt x="9448" y="5"/>
                  <a:pt x="9462" y="8"/>
                  <a:pt x="9475" y="12"/>
                </a:cubicBezTo>
                <a:cubicBezTo>
                  <a:pt x="9487" y="16"/>
                  <a:pt x="9500" y="21"/>
                  <a:pt x="9511" y="26"/>
                </a:cubicBezTo>
                <a:cubicBezTo>
                  <a:pt x="9523" y="32"/>
                  <a:pt x="9533" y="39"/>
                  <a:pt x="9543" y="46"/>
                </a:cubicBezTo>
                <a:cubicBezTo>
                  <a:pt x="9553" y="54"/>
                  <a:pt x="9562" y="62"/>
                  <a:pt x="9570" y="70"/>
                </a:cubicBezTo>
                <a:cubicBezTo>
                  <a:pt x="9577" y="79"/>
                  <a:pt x="9584" y="88"/>
                  <a:pt x="9589" y="98"/>
                </a:cubicBezTo>
                <a:cubicBezTo>
                  <a:pt x="9594" y="107"/>
                  <a:pt x="9598" y="117"/>
                  <a:pt x="9601" y="127"/>
                </a:cubicBezTo>
                <a:cubicBezTo>
                  <a:pt x="9604" y="138"/>
                  <a:pt x="9605" y="148"/>
                  <a:pt x="9605" y="158"/>
                </a:cubicBezTo>
                <a:lnTo>
                  <a:pt x="9605" y="10267"/>
                </a:lnTo>
                <a:cubicBezTo>
                  <a:pt x="9605" y="10280"/>
                  <a:pt x="9604" y="10294"/>
                  <a:pt x="9601" y="10308"/>
                </a:cubicBezTo>
                <a:cubicBezTo>
                  <a:pt x="9598" y="10321"/>
                  <a:pt x="9594" y="10335"/>
                  <a:pt x="9589" y="10348"/>
                </a:cubicBezTo>
                <a:cubicBezTo>
                  <a:pt x="9584" y="10360"/>
                  <a:pt x="9577" y="10373"/>
                  <a:pt x="9570" y="10384"/>
                </a:cubicBezTo>
                <a:cubicBezTo>
                  <a:pt x="9562" y="10396"/>
                  <a:pt x="9553" y="10406"/>
                  <a:pt x="9543" y="10416"/>
                </a:cubicBezTo>
                <a:cubicBezTo>
                  <a:pt x="9533" y="10426"/>
                  <a:pt x="9523" y="10435"/>
                  <a:pt x="9511" y="10443"/>
                </a:cubicBezTo>
                <a:cubicBezTo>
                  <a:pt x="9500" y="10450"/>
                  <a:pt x="9487" y="10457"/>
                  <a:pt x="9475" y="10462"/>
                </a:cubicBezTo>
                <a:cubicBezTo>
                  <a:pt x="9462" y="10467"/>
                  <a:pt x="9448" y="10471"/>
                  <a:pt x="9435" y="10474"/>
                </a:cubicBezTo>
                <a:cubicBezTo>
                  <a:pt x="9421" y="10477"/>
                  <a:pt x="9407" y="10478"/>
                  <a:pt x="9394" y="10478"/>
                </a:cubicBezTo>
                <a:lnTo>
                  <a:pt x="211" y="10478"/>
                </a:lnTo>
                <a:cubicBezTo>
                  <a:pt x="198" y="10478"/>
                  <a:pt x="184" y="10477"/>
                  <a:pt x="170" y="10474"/>
                </a:cubicBezTo>
                <a:cubicBezTo>
                  <a:pt x="157" y="10471"/>
                  <a:pt x="143" y="10467"/>
                  <a:pt x="130" y="10462"/>
                </a:cubicBezTo>
                <a:cubicBezTo>
                  <a:pt x="118" y="10457"/>
                  <a:pt x="105" y="10450"/>
                  <a:pt x="94" y="10443"/>
                </a:cubicBezTo>
                <a:cubicBezTo>
                  <a:pt x="82" y="10435"/>
                  <a:pt x="72" y="10426"/>
                  <a:pt x="62" y="10416"/>
                </a:cubicBezTo>
                <a:cubicBezTo>
                  <a:pt x="52" y="10406"/>
                  <a:pt x="43" y="10396"/>
                  <a:pt x="36" y="10384"/>
                </a:cubicBezTo>
                <a:cubicBezTo>
                  <a:pt x="28" y="10373"/>
                  <a:pt x="21" y="10360"/>
                  <a:pt x="16" y="10348"/>
                </a:cubicBezTo>
                <a:cubicBezTo>
                  <a:pt x="11" y="10335"/>
                  <a:pt x="7" y="10321"/>
                  <a:pt x="4" y="10308"/>
                </a:cubicBezTo>
                <a:cubicBezTo>
                  <a:pt x="1" y="10294"/>
                  <a:pt x="0" y="10280"/>
                  <a:pt x="0" y="102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" name="任意多边形 41"/>
          <p:cNvSpPr/>
          <p:nvPr/>
        </p:nvSpPr>
        <p:spPr>
          <a:xfrm>
            <a:off x="609480" y="1419120"/>
            <a:ext cx="3457800" cy="76320"/>
          </a:xfrm>
          <a:custGeom>
            <a:avLst/>
            <a:gdLst/>
            <a:ahLst/>
            <a:cxnLst/>
            <a:rect l="0" t="0" r="r" b="b"/>
            <a:pathLst>
              <a:path w="9605" h="212">
                <a:moveTo>
                  <a:pt x="0" y="0"/>
                </a:moveTo>
                <a:lnTo>
                  <a:pt x="9605" y="0"/>
                </a:lnTo>
                <a:lnTo>
                  <a:pt x="9605" y="212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" name="任意多边形 42"/>
          <p:cNvSpPr/>
          <p:nvPr/>
        </p:nvSpPr>
        <p:spPr>
          <a:xfrm>
            <a:off x="838080" y="1695240"/>
            <a:ext cx="381240" cy="381240"/>
          </a:xfrm>
          <a:custGeom>
            <a:avLst/>
            <a:gdLst/>
            <a:ahLst/>
            <a:cxnLst/>
            <a:rect l="0" t="0" r="r" b="b"/>
            <a:pathLst>
              <a:path w="1059" h="1059">
                <a:moveTo>
                  <a:pt x="1059" y="530"/>
                </a:moveTo>
                <a:cubicBezTo>
                  <a:pt x="1059" y="565"/>
                  <a:pt x="1056" y="599"/>
                  <a:pt x="1049" y="633"/>
                </a:cubicBezTo>
                <a:cubicBezTo>
                  <a:pt x="1042" y="668"/>
                  <a:pt x="1032" y="701"/>
                  <a:pt x="1019" y="733"/>
                </a:cubicBezTo>
                <a:cubicBezTo>
                  <a:pt x="1006" y="765"/>
                  <a:pt x="989" y="795"/>
                  <a:pt x="970" y="824"/>
                </a:cubicBezTo>
                <a:cubicBezTo>
                  <a:pt x="951" y="853"/>
                  <a:pt x="929" y="880"/>
                  <a:pt x="904" y="904"/>
                </a:cubicBezTo>
                <a:cubicBezTo>
                  <a:pt x="880" y="929"/>
                  <a:pt x="853" y="951"/>
                  <a:pt x="824" y="970"/>
                </a:cubicBezTo>
                <a:cubicBezTo>
                  <a:pt x="795" y="990"/>
                  <a:pt x="765" y="1006"/>
                  <a:pt x="733" y="1019"/>
                </a:cubicBezTo>
                <a:cubicBezTo>
                  <a:pt x="700" y="1032"/>
                  <a:pt x="667" y="1042"/>
                  <a:pt x="633" y="1049"/>
                </a:cubicBezTo>
                <a:cubicBezTo>
                  <a:pt x="599" y="1056"/>
                  <a:pt x="565" y="1059"/>
                  <a:pt x="530" y="1059"/>
                </a:cubicBezTo>
                <a:cubicBezTo>
                  <a:pt x="495" y="1059"/>
                  <a:pt x="461" y="1056"/>
                  <a:pt x="427" y="1049"/>
                </a:cubicBezTo>
                <a:cubicBezTo>
                  <a:pt x="393" y="1042"/>
                  <a:pt x="360" y="1032"/>
                  <a:pt x="327" y="1019"/>
                </a:cubicBezTo>
                <a:cubicBezTo>
                  <a:pt x="294" y="1006"/>
                  <a:pt x="264" y="990"/>
                  <a:pt x="235" y="970"/>
                </a:cubicBezTo>
                <a:cubicBezTo>
                  <a:pt x="206" y="951"/>
                  <a:pt x="179" y="929"/>
                  <a:pt x="155" y="904"/>
                </a:cubicBezTo>
                <a:cubicBezTo>
                  <a:pt x="130" y="880"/>
                  <a:pt x="108" y="853"/>
                  <a:pt x="89" y="824"/>
                </a:cubicBezTo>
                <a:cubicBezTo>
                  <a:pt x="70" y="795"/>
                  <a:pt x="53" y="765"/>
                  <a:pt x="40" y="733"/>
                </a:cubicBezTo>
                <a:cubicBezTo>
                  <a:pt x="27" y="701"/>
                  <a:pt x="17" y="668"/>
                  <a:pt x="10" y="633"/>
                </a:cubicBezTo>
                <a:cubicBezTo>
                  <a:pt x="3" y="599"/>
                  <a:pt x="0" y="565"/>
                  <a:pt x="0" y="530"/>
                </a:cubicBezTo>
                <a:cubicBezTo>
                  <a:pt x="0" y="496"/>
                  <a:pt x="3" y="461"/>
                  <a:pt x="10" y="427"/>
                </a:cubicBezTo>
                <a:cubicBezTo>
                  <a:pt x="17" y="393"/>
                  <a:pt x="27" y="360"/>
                  <a:pt x="40" y="328"/>
                </a:cubicBezTo>
                <a:cubicBezTo>
                  <a:pt x="53" y="296"/>
                  <a:pt x="70" y="265"/>
                  <a:pt x="89" y="236"/>
                </a:cubicBezTo>
                <a:cubicBezTo>
                  <a:pt x="108" y="207"/>
                  <a:pt x="130" y="181"/>
                  <a:pt x="155" y="156"/>
                </a:cubicBezTo>
                <a:cubicBezTo>
                  <a:pt x="179" y="132"/>
                  <a:pt x="206" y="110"/>
                  <a:pt x="235" y="90"/>
                </a:cubicBezTo>
                <a:cubicBezTo>
                  <a:pt x="264" y="71"/>
                  <a:pt x="294" y="55"/>
                  <a:pt x="327" y="40"/>
                </a:cubicBezTo>
                <a:cubicBezTo>
                  <a:pt x="360" y="27"/>
                  <a:pt x="393" y="17"/>
                  <a:pt x="427" y="10"/>
                </a:cubicBezTo>
                <a:cubicBezTo>
                  <a:pt x="461" y="3"/>
                  <a:pt x="495" y="0"/>
                  <a:pt x="530" y="0"/>
                </a:cubicBezTo>
                <a:cubicBezTo>
                  <a:pt x="565" y="0"/>
                  <a:pt x="599" y="3"/>
                  <a:pt x="633" y="10"/>
                </a:cubicBezTo>
                <a:cubicBezTo>
                  <a:pt x="667" y="17"/>
                  <a:pt x="700" y="27"/>
                  <a:pt x="733" y="40"/>
                </a:cubicBezTo>
                <a:cubicBezTo>
                  <a:pt x="765" y="55"/>
                  <a:pt x="795" y="71"/>
                  <a:pt x="824" y="90"/>
                </a:cubicBezTo>
                <a:cubicBezTo>
                  <a:pt x="853" y="110"/>
                  <a:pt x="880" y="132"/>
                  <a:pt x="904" y="156"/>
                </a:cubicBezTo>
                <a:cubicBezTo>
                  <a:pt x="929" y="181"/>
                  <a:pt x="951" y="207"/>
                  <a:pt x="970" y="236"/>
                </a:cubicBezTo>
                <a:cubicBezTo>
                  <a:pt x="989" y="265"/>
                  <a:pt x="1006" y="296"/>
                  <a:pt x="1019" y="328"/>
                </a:cubicBezTo>
                <a:cubicBezTo>
                  <a:pt x="1032" y="360"/>
                  <a:pt x="1042" y="393"/>
                  <a:pt x="1049" y="427"/>
                </a:cubicBezTo>
                <a:cubicBezTo>
                  <a:pt x="1056" y="461"/>
                  <a:pt x="1059" y="496"/>
                  <a:pt x="1059" y="530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952520" y="390600"/>
            <a:ext cx="959040" cy="46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1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强化学习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81000" y="1782720"/>
            <a:ext cx="190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333440" y="1724040"/>
            <a:ext cx="64080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1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监督学习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38080" y="2260080"/>
            <a:ext cx="15372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核⼼差异：使⽤标注数据训练模型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38080" y="2631600"/>
            <a:ext cx="14346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典型应⽤：房价预测、图像分类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38080" y="3003120"/>
            <a:ext cx="9226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数据类型：输⼊特征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381400" y="3009600"/>
            <a:ext cx="182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+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563560" y="3003120"/>
            <a:ext cx="4104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⽬标标签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" name="任意多边形 51"/>
          <p:cNvSpPr/>
          <p:nvPr/>
        </p:nvSpPr>
        <p:spPr>
          <a:xfrm>
            <a:off x="4371840" y="1438200"/>
            <a:ext cx="3448440" cy="3772080"/>
          </a:xfrm>
          <a:custGeom>
            <a:avLst/>
            <a:gdLst/>
            <a:ahLst/>
            <a:cxnLst/>
            <a:rect l="0" t="0" r="r" b="b"/>
            <a:pathLst>
              <a:path w="9579" h="10478">
                <a:moveTo>
                  <a:pt x="0" y="10267"/>
                </a:moveTo>
                <a:lnTo>
                  <a:pt x="0" y="158"/>
                </a:lnTo>
                <a:cubicBezTo>
                  <a:pt x="0" y="148"/>
                  <a:pt x="1" y="138"/>
                  <a:pt x="4" y="127"/>
                </a:cubicBezTo>
                <a:cubicBezTo>
                  <a:pt x="7" y="117"/>
                  <a:pt x="11" y="107"/>
                  <a:pt x="16" y="98"/>
                </a:cubicBezTo>
                <a:cubicBezTo>
                  <a:pt x="21" y="88"/>
                  <a:pt x="28" y="79"/>
                  <a:pt x="36" y="70"/>
                </a:cubicBezTo>
                <a:cubicBezTo>
                  <a:pt x="43" y="62"/>
                  <a:pt x="52" y="54"/>
                  <a:pt x="62" y="46"/>
                </a:cubicBezTo>
                <a:cubicBezTo>
                  <a:pt x="72" y="39"/>
                  <a:pt x="82" y="32"/>
                  <a:pt x="94" y="26"/>
                </a:cubicBezTo>
                <a:cubicBezTo>
                  <a:pt x="106" y="21"/>
                  <a:pt x="118" y="16"/>
                  <a:pt x="131" y="12"/>
                </a:cubicBezTo>
                <a:cubicBezTo>
                  <a:pt x="143" y="8"/>
                  <a:pt x="157" y="5"/>
                  <a:pt x="170" y="3"/>
                </a:cubicBezTo>
                <a:cubicBezTo>
                  <a:pt x="184" y="1"/>
                  <a:pt x="198" y="0"/>
                  <a:pt x="212" y="0"/>
                </a:cubicBezTo>
                <a:lnTo>
                  <a:pt x="9367" y="0"/>
                </a:lnTo>
                <a:cubicBezTo>
                  <a:pt x="9381" y="0"/>
                  <a:pt x="9395" y="1"/>
                  <a:pt x="9408" y="3"/>
                </a:cubicBezTo>
                <a:cubicBezTo>
                  <a:pt x="9422" y="5"/>
                  <a:pt x="9435" y="8"/>
                  <a:pt x="9448" y="12"/>
                </a:cubicBezTo>
                <a:cubicBezTo>
                  <a:pt x="9461" y="16"/>
                  <a:pt x="9473" y="21"/>
                  <a:pt x="9485" y="26"/>
                </a:cubicBezTo>
                <a:cubicBezTo>
                  <a:pt x="9496" y="32"/>
                  <a:pt x="9507" y="39"/>
                  <a:pt x="9517" y="46"/>
                </a:cubicBezTo>
                <a:cubicBezTo>
                  <a:pt x="9527" y="54"/>
                  <a:pt x="9535" y="62"/>
                  <a:pt x="9543" y="70"/>
                </a:cubicBezTo>
                <a:cubicBezTo>
                  <a:pt x="9551" y="79"/>
                  <a:pt x="9557" y="88"/>
                  <a:pt x="9563" y="98"/>
                </a:cubicBezTo>
                <a:cubicBezTo>
                  <a:pt x="9568" y="107"/>
                  <a:pt x="9572" y="117"/>
                  <a:pt x="9575" y="127"/>
                </a:cubicBezTo>
                <a:cubicBezTo>
                  <a:pt x="9577" y="138"/>
                  <a:pt x="9579" y="148"/>
                  <a:pt x="9579" y="158"/>
                </a:cubicBezTo>
                <a:lnTo>
                  <a:pt x="9579" y="10267"/>
                </a:lnTo>
                <a:cubicBezTo>
                  <a:pt x="9579" y="10280"/>
                  <a:pt x="9577" y="10294"/>
                  <a:pt x="9575" y="10308"/>
                </a:cubicBezTo>
                <a:cubicBezTo>
                  <a:pt x="9572" y="10321"/>
                  <a:pt x="9568" y="10335"/>
                  <a:pt x="9563" y="10348"/>
                </a:cubicBezTo>
                <a:cubicBezTo>
                  <a:pt x="9557" y="10360"/>
                  <a:pt x="9551" y="10373"/>
                  <a:pt x="9543" y="10384"/>
                </a:cubicBezTo>
                <a:cubicBezTo>
                  <a:pt x="9535" y="10396"/>
                  <a:pt x="9527" y="10406"/>
                  <a:pt x="9517" y="10416"/>
                </a:cubicBezTo>
                <a:cubicBezTo>
                  <a:pt x="9507" y="10426"/>
                  <a:pt x="9496" y="10435"/>
                  <a:pt x="9485" y="10443"/>
                </a:cubicBezTo>
                <a:cubicBezTo>
                  <a:pt x="9473" y="10450"/>
                  <a:pt x="9461" y="10457"/>
                  <a:pt x="9448" y="10462"/>
                </a:cubicBezTo>
                <a:cubicBezTo>
                  <a:pt x="9435" y="10467"/>
                  <a:pt x="9422" y="10471"/>
                  <a:pt x="9408" y="10474"/>
                </a:cubicBezTo>
                <a:cubicBezTo>
                  <a:pt x="9395" y="10477"/>
                  <a:pt x="9381" y="10478"/>
                  <a:pt x="9367" y="10478"/>
                </a:cubicBezTo>
                <a:lnTo>
                  <a:pt x="212" y="10478"/>
                </a:lnTo>
                <a:cubicBezTo>
                  <a:pt x="198" y="10478"/>
                  <a:pt x="184" y="10477"/>
                  <a:pt x="170" y="10474"/>
                </a:cubicBezTo>
                <a:cubicBezTo>
                  <a:pt x="157" y="10471"/>
                  <a:pt x="143" y="10467"/>
                  <a:pt x="131" y="10462"/>
                </a:cubicBezTo>
                <a:cubicBezTo>
                  <a:pt x="118" y="10457"/>
                  <a:pt x="106" y="10450"/>
                  <a:pt x="94" y="10443"/>
                </a:cubicBezTo>
                <a:cubicBezTo>
                  <a:pt x="82" y="10435"/>
                  <a:pt x="72" y="10426"/>
                  <a:pt x="62" y="10416"/>
                </a:cubicBezTo>
                <a:cubicBezTo>
                  <a:pt x="52" y="10406"/>
                  <a:pt x="43" y="10396"/>
                  <a:pt x="36" y="10384"/>
                </a:cubicBezTo>
                <a:cubicBezTo>
                  <a:pt x="28" y="10373"/>
                  <a:pt x="21" y="10360"/>
                  <a:pt x="16" y="10348"/>
                </a:cubicBezTo>
                <a:cubicBezTo>
                  <a:pt x="11" y="10335"/>
                  <a:pt x="7" y="10321"/>
                  <a:pt x="4" y="10308"/>
                </a:cubicBezTo>
                <a:cubicBezTo>
                  <a:pt x="1" y="10294"/>
                  <a:pt x="0" y="10280"/>
                  <a:pt x="0" y="102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" name="任意多边形 52"/>
          <p:cNvSpPr/>
          <p:nvPr/>
        </p:nvSpPr>
        <p:spPr>
          <a:xfrm>
            <a:off x="4371840" y="1419120"/>
            <a:ext cx="3448440" cy="76320"/>
          </a:xfrm>
          <a:custGeom>
            <a:avLst/>
            <a:gdLst/>
            <a:ahLst/>
            <a:cxnLst/>
            <a:rect l="0" t="0" r="r" b="b"/>
            <a:pathLst>
              <a:path w="9579" h="212">
                <a:moveTo>
                  <a:pt x="0" y="0"/>
                </a:moveTo>
                <a:lnTo>
                  <a:pt x="9579" y="0"/>
                </a:lnTo>
                <a:lnTo>
                  <a:pt x="9579" y="212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" name="任意多边形 53"/>
          <p:cNvSpPr/>
          <p:nvPr/>
        </p:nvSpPr>
        <p:spPr>
          <a:xfrm>
            <a:off x="4600440" y="1695240"/>
            <a:ext cx="381240" cy="381240"/>
          </a:xfrm>
          <a:custGeom>
            <a:avLst/>
            <a:gdLst/>
            <a:ahLst/>
            <a:cxnLst/>
            <a:rect l="0" t="0" r="r" b="b"/>
            <a:pathLst>
              <a:path w="1059" h="1059">
                <a:moveTo>
                  <a:pt x="1059" y="530"/>
                </a:moveTo>
                <a:cubicBezTo>
                  <a:pt x="1059" y="565"/>
                  <a:pt x="1056" y="599"/>
                  <a:pt x="1049" y="633"/>
                </a:cubicBezTo>
                <a:cubicBezTo>
                  <a:pt x="1042" y="668"/>
                  <a:pt x="1032" y="701"/>
                  <a:pt x="1019" y="733"/>
                </a:cubicBezTo>
                <a:cubicBezTo>
                  <a:pt x="1006" y="765"/>
                  <a:pt x="989" y="795"/>
                  <a:pt x="970" y="824"/>
                </a:cubicBezTo>
                <a:cubicBezTo>
                  <a:pt x="951" y="853"/>
                  <a:pt x="929" y="880"/>
                  <a:pt x="904" y="904"/>
                </a:cubicBezTo>
                <a:cubicBezTo>
                  <a:pt x="880" y="929"/>
                  <a:pt x="853" y="951"/>
                  <a:pt x="824" y="970"/>
                </a:cubicBezTo>
                <a:cubicBezTo>
                  <a:pt x="795" y="990"/>
                  <a:pt x="765" y="1006"/>
                  <a:pt x="733" y="1019"/>
                </a:cubicBezTo>
                <a:cubicBezTo>
                  <a:pt x="700" y="1032"/>
                  <a:pt x="667" y="1042"/>
                  <a:pt x="633" y="1049"/>
                </a:cubicBezTo>
                <a:cubicBezTo>
                  <a:pt x="599" y="1056"/>
                  <a:pt x="565" y="1059"/>
                  <a:pt x="530" y="1059"/>
                </a:cubicBezTo>
                <a:cubicBezTo>
                  <a:pt x="495" y="1059"/>
                  <a:pt x="461" y="1056"/>
                  <a:pt x="426" y="1049"/>
                </a:cubicBezTo>
                <a:cubicBezTo>
                  <a:pt x="392" y="1042"/>
                  <a:pt x="359" y="1032"/>
                  <a:pt x="327" y="1019"/>
                </a:cubicBezTo>
                <a:cubicBezTo>
                  <a:pt x="294" y="1006"/>
                  <a:pt x="264" y="990"/>
                  <a:pt x="235" y="970"/>
                </a:cubicBezTo>
                <a:cubicBezTo>
                  <a:pt x="206" y="951"/>
                  <a:pt x="179" y="929"/>
                  <a:pt x="155" y="904"/>
                </a:cubicBezTo>
                <a:cubicBezTo>
                  <a:pt x="130" y="880"/>
                  <a:pt x="108" y="853"/>
                  <a:pt x="89" y="824"/>
                </a:cubicBezTo>
                <a:cubicBezTo>
                  <a:pt x="70" y="795"/>
                  <a:pt x="53" y="765"/>
                  <a:pt x="40" y="733"/>
                </a:cubicBezTo>
                <a:cubicBezTo>
                  <a:pt x="27" y="701"/>
                  <a:pt x="17" y="668"/>
                  <a:pt x="10" y="633"/>
                </a:cubicBezTo>
                <a:cubicBezTo>
                  <a:pt x="3" y="599"/>
                  <a:pt x="0" y="565"/>
                  <a:pt x="0" y="530"/>
                </a:cubicBezTo>
                <a:cubicBezTo>
                  <a:pt x="0" y="496"/>
                  <a:pt x="3" y="461"/>
                  <a:pt x="10" y="427"/>
                </a:cubicBezTo>
                <a:cubicBezTo>
                  <a:pt x="17" y="393"/>
                  <a:pt x="27" y="360"/>
                  <a:pt x="40" y="328"/>
                </a:cubicBezTo>
                <a:cubicBezTo>
                  <a:pt x="53" y="296"/>
                  <a:pt x="70" y="265"/>
                  <a:pt x="89" y="236"/>
                </a:cubicBezTo>
                <a:cubicBezTo>
                  <a:pt x="108" y="207"/>
                  <a:pt x="130" y="181"/>
                  <a:pt x="155" y="156"/>
                </a:cubicBezTo>
                <a:cubicBezTo>
                  <a:pt x="179" y="132"/>
                  <a:pt x="206" y="110"/>
                  <a:pt x="235" y="90"/>
                </a:cubicBezTo>
                <a:cubicBezTo>
                  <a:pt x="264" y="71"/>
                  <a:pt x="294" y="55"/>
                  <a:pt x="327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1" y="3"/>
                  <a:pt x="495" y="0"/>
                  <a:pt x="530" y="0"/>
                </a:cubicBezTo>
                <a:cubicBezTo>
                  <a:pt x="565" y="0"/>
                  <a:pt x="599" y="3"/>
                  <a:pt x="633" y="10"/>
                </a:cubicBezTo>
                <a:cubicBezTo>
                  <a:pt x="667" y="17"/>
                  <a:pt x="700" y="27"/>
                  <a:pt x="733" y="40"/>
                </a:cubicBezTo>
                <a:cubicBezTo>
                  <a:pt x="765" y="55"/>
                  <a:pt x="795" y="71"/>
                  <a:pt x="824" y="90"/>
                </a:cubicBezTo>
                <a:cubicBezTo>
                  <a:pt x="853" y="110"/>
                  <a:pt x="880" y="132"/>
                  <a:pt x="904" y="156"/>
                </a:cubicBezTo>
                <a:cubicBezTo>
                  <a:pt x="929" y="181"/>
                  <a:pt x="951" y="207"/>
                  <a:pt x="970" y="236"/>
                </a:cubicBezTo>
                <a:cubicBezTo>
                  <a:pt x="989" y="265"/>
                  <a:pt x="1006" y="296"/>
                  <a:pt x="1019" y="328"/>
                </a:cubicBezTo>
                <a:cubicBezTo>
                  <a:pt x="1032" y="360"/>
                  <a:pt x="1042" y="393"/>
                  <a:pt x="1049" y="427"/>
                </a:cubicBezTo>
                <a:cubicBezTo>
                  <a:pt x="1056" y="461"/>
                  <a:pt x="1059" y="496"/>
                  <a:pt x="1059" y="530"/>
                </a:cubicBezTo>
                <a:close/>
              </a:path>
            </a:pathLst>
          </a:custGeom>
          <a:solidFill>
            <a:srgbClr val="DCFC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38080" y="3374640"/>
            <a:ext cx="13323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算法⽰例：线性回归、决策树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4740120" y="1782720"/>
            <a:ext cx="190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092560" y="1724040"/>
            <a:ext cx="80100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1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⽆监督学习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4597200" y="2260080"/>
            <a:ext cx="13323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核⼼差异：发现数据内在结构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4597200" y="2631600"/>
            <a:ext cx="14346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典型应⽤：客⼾分群、异常检测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4597200" y="3003120"/>
            <a:ext cx="10249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数据类型：仅输⼊特征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4597200" y="3374640"/>
            <a:ext cx="513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算法⽰例：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5454720" y="3381120"/>
            <a:ext cx="6357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K-Means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092640" y="3374640"/>
            <a:ext cx="171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4" name="图片 63"/>
          <p:cNvPicPr/>
          <p:nvPr/>
        </p:nvPicPr>
        <p:blipFill>
          <a:blip r:embed="rId2"/>
          <a:stretch>
            <a:fillRect/>
          </a:stretch>
        </p:blipFill>
        <p:spPr>
          <a:xfrm>
            <a:off x="4600440" y="3757320"/>
            <a:ext cx="2990520" cy="122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任意多边形 64"/>
          <p:cNvSpPr/>
          <p:nvPr/>
        </p:nvSpPr>
        <p:spPr>
          <a:xfrm>
            <a:off x="8164800" y="1352038"/>
            <a:ext cx="3458160" cy="3772080"/>
          </a:xfrm>
          <a:custGeom>
            <a:avLst/>
            <a:gdLst/>
            <a:ahLst/>
            <a:cxnLst/>
            <a:rect l="0" t="0" r="r" b="b"/>
            <a:pathLst>
              <a:path w="9606" h="10478">
                <a:moveTo>
                  <a:pt x="0" y="10267"/>
                </a:moveTo>
                <a:lnTo>
                  <a:pt x="0" y="158"/>
                </a:lnTo>
                <a:cubicBezTo>
                  <a:pt x="0" y="148"/>
                  <a:pt x="2" y="138"/>
                  <a:pt x="5" y="127"/>
                </a:cubicBezTo>
                <a:cubicBezTo>
                  <a:pt x="7" y="117"/>
                  <a:pt x="11" y="107"/>
                  <a:pt x="17" y="98"/>
                </a:cubicBezTo>
                <a:cubicBezTo>
                  <a:pt x="22" y="88"/>
                  <a:pt x="28" y="79"/>
                  <a:pt x="36" y="70"/>
                </a:cubicBezTo>
                <a:cubicBezTo>
                  <a:pt x="44" y="62"/>
                  <a:pt x="53" y="54"/>
                  <a:pt x="62" y="46"/>
                </a:cubicBezTo>
                <a:cubicBezTo>
                  <a:pt x="72" y="39"/>
                  <a:pt x="83" y="32"/>
                  <a:pt x="95" y="26"/>
                </a:cubicBezTo>
                <a:cubicBezTo>
                  <a:pt x="106" y="21"/>
                  <a:pt x="118" y="16"/>
                  <a:pt x="131" y="12"/>
                </a:cubicBezTo>
                <a:cubicBezTo>
                  <a:pt x="144" y="8"/>
                  <a:pt x="157" y="5"/>
                  <a:pt x="171" y="3"/>
                </a:cubicBezTo>
                <a:cubicBezTo>
                  <a:pt x="184" y="1"/>
                  <a:pt x="198" y="0"/>
                  <a:pt x="212" y="0"/>
                </a:cubicBezTo>
                <a:lnTo>
                  <a:pt x="9394" y="0"/>
                </a:lnTo>
                <a:cubicBezTo>
                  <a:pt x="9408" y="0"/>
                  <a:pt x="9422" y="1"/>
                  <a:pt x="9435" y="3"/>
                </a:cubicBezTo>
                <a:cubicBezTo>
                  <a:pt x="9449" y="5"/>
                  <a:pt x="9462" y="8"/>
                  <a:pt x="9475" y="12"/>
                </a:cubicBezTo>
                <a:cubicBezTo>
                  <a:pt x="9488" y="16"/>
                  <a:pt x="9500" y="21"/>
                  <a:pt x="9512" y="26"/>
                </a:cubicBezTo>
                <a:cubicBezTo>
                  <a:pt x="9523" y="32"/>
                  <a:pt x="9534" y="39"/>
                  <a:pt x="9544" y="46"/>
                </a:cubicBezTo>
                <a:cubicBezTo>
                  <a:pt x="9554" y="54"/>
                  <a:pt x="9562" y="62"/>
                  <a:pt x="9570" y="70"/>
                </a:cubicBezTo>
                <a:cubicBezTo>
                  <a:pt x="9578" y="79"/>
                  <a:pt x="9584" y="88"/>
                  <a:pt x="9590" y="98"/>
                </a:cubicBezTo>
                <a:cubicBezTo>
                  <a:pt x="9595" y="107"/>
                  <a:pt x="9599" y="117"/>
                  <a:pt x="9602" y="127"/>
                </a:cubicBezTo>
                <a:cubicBezTo>
                  <a:pt x="9604" y="138"/>
                  <a:pt x="9606" y="148"/>
                  <a:pt x="9606" y="158"/>
                </a:cubicBezTo>
                <a:lnTo>
                  <a:pt x="9606" y="10267"/>
                </a:lnTo>
                <a:cubicBezTo>
                  <a:pt x="9606" y="10280"/>
                  <a:pt x="9604" y="10294"/>
                  <a:pt x="9602" y="10308"/>
                </a:cubicBezTo>
                <a:cubicBezTo>
                  <a:pt x="9599" y="10321"/>
                  <a:pt x="9595" y="10335"/>
                  <a:pt x="9590" y="10348"/>
                </a:cubicBezTo>
                <a:cubicBezTo>
                  <a:pt x="9584" y="10360"/>
                  <a:pt x="9578" y="10373"/>
                  <a:pt x="9570" y="10384"/>
                </a:cubicBezTo>
                <a:cubicBezTo>
                  <a:pt x="9562" y="10396"/>
                  <a:pt x="9554" y="10406"/>
                  <a:pt x="9544" y="10416"/>
                </a:cubicBezTo>
                <a:cubicBezTo>
                  <a:pt x="9534" y="10426"/>
                  <a:pt x="9523" y="10435"/>
                  <a:pt x="9512" y="10443"/>
                </a:cubicBezTo>
                <a:cubicBezTo>
                  <a:pt x="9500" y="10450"/>
                  <a:pt x="9488" y="10457"/>
                  <a:pt x="9475" y="10462"/>
                </a:cubicBezTo>
                <a:cubicBezTo>
                  <a:pt x="9462" y="10467"/>
                  <a:pt x="9449" y="10471"/>
                  <a:pt x="9435" y="10474"/>
                </a:cubicBezTo>
                <a:cubicBezTo>
                  <a:pt x="9422" y="10477"/>
                  <a:pt x="9408" y="10478"/>
                  <a:pt x="9394" y="10478"/>
                </a:cubicBezTo>
                <a:lnTo>
                  <a:pt x="212" y="10478"/>
                </a:lnTo>
                <a:cubicBezTo>
                  <a:pt x="198" y="10478"/>
                  <a:pt x="184" y="10477"/>
                  <a:pt x="171" y="10474"/>
                </a:cubicBezTo>
                <a:cubicBezTo>
                  <a:pt x="157" y="10471"/>
                  <a:pt x="144" y="10467"/>
                  <a:pt x="131" y="10462"/>
                </a:cubicBezTo>
                <a:cubicBezTo>
                  <a:pt x="118" y="10457"/>
                  <a:pt x="106" y="10450"/>
                  <a:pt x="95" y="10443"/>
                </a:cubicBezTo>
                <a:cubicBezTo>
                  <a:pt x="83" y="10435"/>
                  <a:pt x="72" y="10426"/>
                  <a:pt x="62" y="10416"/>
                </a:cubicBezTo>
                <a:cubicBezTo>
                  <a:pt x="53" y="10406"/>
                  <a:pt x="44" y="10396"/>
                  <a:pt x="36" y="10384"/>
                </a:cubicBezTo>
                <a:cubicBezTo>
                  <a:pt x="28" y="10373"/>
                  <a:pt x="22" y="10360"/>
                  <a:pt x="17" y="10348"/>
                </a:cubicBezTo>
                <a:cubicBezTo>
                  <a:pt x="11" y="10335"/>
                  <a:pt x="7" y="10321"/>
                  <a:pt x="5" y="10308"/>
                </a:cubicBezTo>
                <a:cubicBezTo>
                  <a:pt x="2" y="10294"/>
                  <a:pt x="0" y="10280"/>
                  <a:pt x="0" y="102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" name="任意多边形 65"/>
          <p:cNvSpPr/>
          <p:nvPr/>
        </p:nvSpPr>
        <p:spPr>
          <a:xfrm>
            <a:off x="8124480" y="1419120"/>
            <a:ext cx="3458160" cy="76320"/>
          </a:xfrm>
          <a:custGeom>
            <a:avLst/>
            <a:gdLst/>
            <a:ahLst/>
            <a:cxnLst/>
            <a:rect l="0" t="0" r="r" b="b"/>
            <a:pathLst>
              <a:path w="9606" h="212">
                <a:moveTo>
                  <a:pt x="0" y="0"/>
                </a:moveTo>
                <a:lnTo>
                  <a:pt x="9606" y="0"/>
                </a:lnTo>
                <a:lnTo>
                  <a:pt x="9606" y="212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" name="任意多边形 66"/>
          <p:cNvSpPr/>
          <p:nvPr/>
        </p:nvSpPr>
        <p:spPr>
          <a:xfrm>
            <a:off x="8353080" y="1695240"/>
            <a:ext cx="381600" cy="381240"/>
          </a:xfrm>
          <a:custGeom>
            <a:avLst/>
            <a:gdLst/>
            <a:ahLst/>
            <a:cxnLst/>
            <a:rect l="0" t="0" r="r" b="b"/>
            <a:pathLst>
              <a:path w="1060" h="1059">
                <a:moveTo>
                  <a:pt x="1060" y="530"/>
                </a:moveTo>
                <a:cubicBezTo>
                  <a:pt x="1060" y="565"/>
                  <a:pt x="1056" y="599"/>
                  <a:pt x="1050" y="633"/>
                </a:cubicBezTo>
                <a:cubicBezTo>
                  <a:pt x="1043" y="668"/>
                  <a:pt x="1033" y="701"/>
                  <a:pt x="1020" y="733"/>
                </a:cubicBezTo>
                <a:cubicBezTo>
                  <a:pt x="1006" y="765"/>
                  <a:pt x="990" y="795"/>
                  <a:pt x="971" y="824"/>
                </a:cubicBezTo>
                <a:cubicBezTo>
                  <a:pt x="951" y="853"/>
                  <a:pt x="929" y="880"/>
                  <a:pt x="905" y="904"/>
                </a:cubicBezTo>
                <a:cubicBezTo>
                  <a:pt x="880" y="929"/>
                  <a:pt x="854" y="951"/>
                  <a:pt x="825" y="970"/>
                </a:cubicBezTo>
                <a:cubicBezTo>
                  <a:pt x="796" y="990"/>
                  <a:pt x="765" y="1006"/>
                  <a:pt x="733" y="1019"/>
                </a:cubicBezTo>
                <a:cubicBezTo>
                  <a:pt x="701" y="1032"/>
                  <a:pt x="668" y="1042"/>
                  <a:pt x="634" y="1049"/>
                </a:cubicBezTo>
                <a:cubicBezTo>
                  <a:pt x="599" y="1056"/>
                  <a:pt x="564" y="1059"/>
                  <a:pt x="530" y="1059"/>
                </a:cubicBezTo>
                <a:cubicBezTo>
                  <a:pt x="495" y="1059"/>
                  <a:pt x="460" y="1056"/>
                  <a:pt x="426" y="1049"/>
                </a:cubicBezTo>
                <a:cubicBezTo>
                  <a:pt x="392" y="1042"/>
                  <a:pt x="359" y="1032"/>
                  <a:pt x="327" y="1019"/>
                </a:cubicBezTo>
                <a:cubicBezTo>
                  <a:pt x="295" y="1006"/>
                  <a:pt x="265" y="990"/>
                  <a:pt x="236" y="970"/>
                </a:cubicBezTo>
                <a:cubicBezTo>
                  <a:pt x="207" y="951"/>
                  <a:pt x="180" y="929"/>
                  <a:pt x="155" y="904"/>
                </a:cubicBezTo>
                <a:cubicBezTo>
                  <a:pt x="131" y="880"/>
                  <a:pt x="109" y="853"/>
                  <a:pt x="90" y="824"/>
                </a:cubicBezTo>
                <a:cubicBezTo>
                  <a:pt x="70" y="795"/>
                  <a:pt x="54" y="765"/>
                  <a:pt x="41" y="733"/>
                </a:cubicBezTo>
                <a:cubicBezTo>
                  <a:pt x="27" y="701"/>
                  <a:pt x="17" y="668"/>
                  <a:pt x="11" y="633"/>
                </a:cubicBezTo>
                <a:cubicBezTo>
                  <a:pt x="4" y="599"/>
                  <a:pt x="0" y="565"/>
                  <a:pt x="0" y="530"/>
                </a:cubicBezTo>
                <a:cubicBezTo>
                  <a:pt x="0" y="496"/>
                  <a:pt x="4" y="461"/>
                  <a:pt x="11" y="427"/>
                </a:cubicBezTo>
                <a:cubicBezTo>
                  <a:pt x="17" y="393"/>
                  <a:pt x="27" y="360"/>
                  <a:pt x="41" y="328"/>
                </a:cubicBezTo>
                <a:cubicBezTo>
                  <a:pt x="54" y="296"/>
                  <a:pt x="70" y="265"/>
                  <a:pt x="90" y="236"/>
                </a:cubicBezTo>
                <a:cubicBezTo>
                  <a:pt x="109" y="207"/>
                  <a:pt x="131" y="181"/>
                  <a:pt x="155" y="156"/>
                </a:cubicBezTo>
                <a:cubicBezTo>
                  <a:pt x="180" y="132"/>
                  <a:pt x="207" y="110"/>
                  <a:pt x="236" y="90"/>
                </a:cubicBezTo>
                <a:cubicBezTo>
                  <a:pt x="265" y="71"/>
                  <a:pt x="295" y="55"/>
                  <a:pt x="327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0" y="3"/>
                  <a:pt x="495" y="0"/>
                  <a:pt x="530" y="0"/>
                </a:cubicBezTo>
                <a:cubicBezTo>
                  <a:pt x="564" y="0"/>
                  <a:pt x="599" y="3"/>
                  <a:pt x="634" y="10"/>
                </a:cubicBezTo>
                <a:cubicBezTo>
                  <a:pt x="668" y="17"/>
                  <a:pt x="701" y="27"/>
                  <a:pt x="733" y="40"/>
                </a:cubicBezTo>
                <a:cubicBezTo>
                  <a:pt x="765" y="55"/>
                  <a:pt x="796" y="71"/>
                  <a:pt x="825" y="90"/>
                </a:cubicBezTo>
                <a:cubicBezTo>
                  <a:pt x="854" y="110"/>
                  <a:pt x="880" y="132"/>
                  <a:pt x="905" y="156"/>
                </a:cubicBezTo>
                <a:cubicBezTo>
                  <a:pt x="929" y="181"/>
                  <a:pt x="951" y="207"/>
                  <a:pt x="971" y="236"/>
                </a:cubicBezTo>
                <a:cubicBezTo>
                  <a:pt x="990" y="265"/>
                  <a:pt x="1006" y="296"/>
                  <a:pt x="1020" y="328"/>
                </a:cubicBezTo>
                <a:cubicBezTo>
                  <a:pt x="1033" y="360"/>
                  <a:pt x="1043" y="393"/>
                  <a:pt x="1050" y="427"/>
                </a:cubicBezTo>
                <a:cubicBezTo>
                  <a:pt x="1056" y="461"/>
                  <a:pt x="1060" y="496"/>
                  <a:pt x="1060" y="530"/>
                </a:cubicBezTo>
                <a:close/>
              </a:path>
            </a:pathLst>
          </a:custGeom>
          <a:solidFill>
            <a:srgbClr val="F3E8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6264000" y="3381120"/>
            <a:ext cx="3326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PCA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8499600" y="1782720"/>
            <a:ext cx="190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8851680" y="1724040"/>
            <a:ext cx="64080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1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强化学习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8356680" y="2260080"/>
            <a:ext cx="15372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核⼼差异：通过试错学习最优策略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8356680" y="2631600"/>
            <a:ext cx="7178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典型应⽤：游戏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9556560" y="2638080"/>
            <a:ext cx="1807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AI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9737640" y="2631600"/>
            <a:ext cx="513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、⾃动驾驶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8356680" y="3003120"/>
            <a:ext cx="7178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数据类型：状态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9556560" y="3009600"/>
            <a:ext cx="182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+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9739080" y="3003120"/>
            <a:ext cx="2055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动作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0082160" y="3009600"/>
            <a:ext cx="182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+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0264320" y="3003120"/>
            <a:ext cx="2055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奖励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8356680" y="3374640"/>
            <a:ext cx="513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算法⽰例：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9213840" y="3381120"/>
            <a:ext cx="740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Q-learning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9956520" y="3374640"/>
            <a:ext cx="171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10127880" y="3381120"/>
            <a:ext cx="11808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Deep Q-Network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2BEB806-CB2D-02AE-7DED-76B6DCD01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842" y="3732542"/>
            <a:ext cx="1289196" cy="12405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BB76ABE-6BA4-9E8F-D287-B30D53ADF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3083" y="3725264"/>
            <a:ext cx="1701833" cy="125510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ADB331D-0CDC-187A-1B7F-88977A844ECE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任意多边形 9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5" name="任意多边形 94"/>
          <p:cNvSpPr/>
          <p:nvPr/>
        </p:nvSpPr>
        <p:spPr>
          <a:xfrm>
            <a:off x="152280" y="136800"/>
            <a:ext cx="11887560" cy="6721200"/>
          </a:xfrm>
          <a:custGeom>
            <a:avLst/>
            <a:gdLst/>
            <a:ahLst/>
            <a:cxnLst/>
            <a:rect l="0" t="0" r="r" b="b"/>
            <a:pathLst>
              <a:path w="33021" h="18670">
                <a:moveTo>
                  <a:pt x="0" y="0"/>
                </a:moveTo>
                <a:lnTo>
                  <a:pt x="33021" y="0"/>
                </a:lnTo>
                <a:lnTo>
                  <a:pt x="33021" y="18670"/>
                </a:lnTo>
                <a:lnTo>
                  <a:pt x="0" y="186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6" name="任意多边形 95"/>
          <p:cNvSpPr/>
          <p:nvPr/>
        </p:nvSpPr>
        <p:spPr>
          <a:xfrm>
            <a:off x="152280" y="136800"/>
            <a:ext cx="11887560" cy="866520"/>
          </a:xfrm>
          <a:custGeom>
            <a:avLst/>
            <a:gdLst/>
            <a:ahLst/>
            <a:cxnLst/>
            <a:rect l="0" t="0" r="r" b="b"/>
            <a:pathLst>
              <a:path w="33021" h="2407">
                <a:moveTo>
                  <a:pt x="0" y="0"/>
                </a:moveTo>
                <a:lnTo>
                  <a:pt x="33021" y="0"/>
                </a:lnTo>
                <a:lnTo>
                  <a:pt x="33021" y="2407"/>
                </a:lnTo>
                <a:lnTo>
                  <a:pt x="0" y="2407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7" name="任意多边形 96"/>
          <p:cNvSpPr/>
          <p:nvPr/>
        </p:nvSpPr>
        <p:spPr>
          <a:xfrm>
            <a:off x="152280" y="1002960"/>
            <a:ext cx="11887560" cy="5623920"/>
          </a:xfrm>
          <a:custGeom>
            <a:avLst/>
            <a:gdLst/>
            <a:ahLst/>
            <a:cxnLst/>
            <a:rect l="0" t="0" r="r" b="b"/>
            <a:pathLst>
              <a:path w="33021" h="15622">
                <a:moveTo>
                  <a:pt x="0" y="0"/>
                </a:moveTo>
                <a:lnTo>
                  <a:pt x="33021" y="0"/>
                </a:lnTo>
                <a:lnTo>
                  <a:pt x="33021" y="15622"/>
                </a:lnTo>
                <a:lnTo>
                  <a:pt x="0" y="1562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8" name="任意多边形 97"/>
          <p:cNvSpPr/>
          <p:nvPr/>
        </p:nvSpPr>
        <p:spPr>
          <a:xfrm>
            <a:off x="628560" y="1774440"/>
            <a:ext cx="5162760" cy="1534680"/>
          </a:xfrm>
          <a:custGeom>
            <a:avLst/>
            <a:gdLst/>
            <a:ahLst/>
            <a:cxnLst/>
            <a:rect l="0" t="0" r="r" b="b"/>
            <a:pathLst>
              <a:path w="14341" h="4263">
                <a:moveTo>
                  <a:pt x="0" y="4263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3"/>
                </a:cubicBezTo>
                <a:cubicBezTo>
                  <a:pt x="14184" y="6"/>
                  <a:pt x="14198" y="9"/>
                  <a:pt x="14210" y="14"/>
                </a:cubicBezTo>
                <a:cubicBezTo>
                  <a:pt x="14223" y="19"/>
                  <a:pt x="14236" y="25"/>
                  <a:pt x="14247" y="32"/>
                </a:cubicBezTo>
                <a:cubicBezTo>
                  <a:pt x="14259" y="39"/>
                  <a:pt x="14269" y="47"/>
                  <a:pt x="14279" y="55"/>
                </a:cubicBezTo>
                <a:cubicBezTo>
                  <a:pt x="14289" y="64"/>
                  <a:pt x="14298" y="74"/>
                  <a:pt x="14305" y="84"/>
                </a:cubicBezTo>
                <a:cubicBezTo>
                  <a:pt x="14313" y="95"/>
                  <a:pt x="14320" y="106"/>
                  <a:pt x="14325" y="117"/>
                </a:cubicBezTo>
                <a:cubicBezTo>
                  <a:pt x="14330" y="129"/>
                  <a:pt x="14334" y="141"/>
                  <a:pt x="14337" y="153"/>
                </a:cubicBezTo>
                <a:cubicBezTo>
                  <a:pt x="14340" y="165"/>
                  <a:pt x="14341" y="178"/>
                  <a:pt x="14341" y="190"/>
                </a:cubicBezTo>
                <a:lnTo>
                  <a:pt x="14341" y="4073"/>
                </a:lnTo>
                <a:cubicBezTo>
                  <a:pt x="14341" y="4085"/>
                  <a:pt x="14340" y="4098"/>
                  <a:pt x="14337" y="4110"/>
                </a:cubicBezTo>
                <a:cubicBezTo>
                  <a:pt x="14334" y="4122"/>
                  <a:pt x="14330" y="4134"/>
                  <a:pt x="14325" y="4146"/>
                </a:cubicBezTo>
                <a:cubicBezTo>
                  <a:pt x="14320" y="4157"/>
                  <a:pt x="14313" y="4168"/>
                  <a:pt x="14305" y="4178"/>
                </a:cubicBezTo>
                <a:cubicBezTo>
                  <a:pt x="14298" y="4189"/>
                  <a:pt x="14289" y="4198"/>
                  <a:pt x="14279" y="4207"/>
                </a:cubicBezTo>
                <a:cubicBezTo>
                  <a:pt x="14269" y="4216"/>
                  <a:pt x="14259" y="4224"/>
                  <a:pt x="14247" y="4231"/>
                </a:cubicBezTo>
                <a:cubicBezTo>
                  <a:pt x="14236" y="4238"/>
                  <a:pt x="14223" y="4244"/>
                  <a:pt x="14210" y="4249"/>
                </a:cubicBezTo>
                <a:cubicBezTo>
                  <a:pt x="14198" y="4253"/>
                  <a:pt x="14184" y="4257"/>
                  <a:pt x="14171" y="4259"/>
                </a:cubicBezTo>
                <a:cubicBezTo>
                  <a:pt x="14157" y="4262"/>
                  <a:pt x="14143" y="4263"/>
                  <a:pt x="14129" y="4263"/>
                </a:cubicBezTo>
                <a:lnTo>
                  <a:pt x="0" y="4263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0" name="任意多边形 99"/>
          <p:cNvSpPr/>
          <p:nvPr/>
        </p:nvSpPr>
        <p:spPr>
          <a:xfrm>
            <a:off x="618840" y="4500360"/>
            <a:ext cx="1419840" cy="377640"/>
          </a:xfrm>
          <a:custGeom>
            <a:avLst/>
            <a:gdLst/>
            <a:ahLst/>
            <a:cxnLst/>
            <a:rect l="0" t="0" r="r" b="b"/>
            <a:pathLst>
              <a:path w="3944" h="1049">
                <a:moveTo>
                  <a:pt x="0" y="0"/>
                </a:moveTo>
                <a:lnTo>
                  <a:pt x="3944" y="0"/>
                </a:lnTo>
                <a:lnTo>
                  <a:pt x="3944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1" name="任意多边形 100"/>
          <p:cNvSpPr/>
          <p:nvPr/>
        </p:nvSpPr>
        <p:spPr>
          <a:xfrm>
            <a:off x="2038320" y="4500360"/>
            <a:ext cx="1686240" cy="377640"/>
          </a:xfrm>
          <a:custGeom>
            <a:avLst/>
            <a:gdLst/>
            <a:ahLst/>
            <a:cxnLst/>
            <a:rect l="0" t="0" r="r" b="b"/>
            <a:pathLst>
              <a:path w="4684" h="1049">
                <a:moveTo>
                  <a:pt x="0" y="0"/>
                </a:moveTo>
                <a:lnTo>
                  <a:pt x="4684" y="0"/>
                </a:lnTo>
                <a:lnTo>
                  <a:pt x="4684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2" name="任意多边形 101"/>
          <p:cNvSpPr/>
          <p:nvPr/>
        </p:nvSpPr>
        <p:spPr>
          <a:xfrm>
            <a:off x="3724200" y="4500360"/>
            <a:ext cx="1181520" cy="377640"/>
          </a:xfrm>
          <a:custGeom>
            <a:avLst/>
            <a:gdLst/>
            <a:ahLst/>
            <a:cxnLst/>
            <a:rect l="0" t="0" r="r" b="b"/>
            <a:pathLst>
              <a:path w="3282" h="1049">
                <a:moveTo>
                  <a:pt x="0" y="0"/>
                </a:moveTo>
                <a:lnTo>
                  <a:pt x="3282" y="0"/>
                </a:lnTo>
                <a:lnTo>
                  <a:pt x="3282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3" name="任意多边形 102"/>
          <p:cNvSpPr/>
          <p:nvPr/>
        </p:nvSpPr>
        <p:spPr>
          <a:xfrm>
            <a:off x="4905360" y="4500360"/>
            <a:ext cx="885960" cy="377640"/>
          </a:xfrm>
          <a:custGeom>
            <a:avLst/>
            <a:gdLst/>
            <a:ahLst/>
            <a:cxnLst/>
            <a:rect l="0" t="0" r="r" b="b"/>
            <a:pathLst>
              <a:path w="2461" h="1049">
                <a:moveTo>
                  <a:pt x="0" y="0"/>
                </a:moveTo>
                <a:lnTo>
                  <a:pt x="2461" y="0"/>
                </a:lnTo>
                <a:lnTo>
                  <a:pt x="2461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4" name="任意多边形 103"/>
          <p:cNvSpPr/>
          <p:nvPr/>
        </p:nvSpPr>
        <p:spPr>
          <a:xfrm>
            <a:off x="618840" y="5254920"/>
            <a:ext cx="1419840" cy="377280"/>
          </a:xfrm>
          <a:custGeom>
            <a:avLst/>
            <a:gdLst/>
            <a:ahLst/>
            <a:cxnLst/>
            <a:rect l="0" t="0" r="r" b="b"/>
            <a:pathLst>
              <a:path w="3944" h="1048">
                <a:moveTo>
                  <a:pt x="0" y="0"/>
                </a:moveTo>
                <a:lnTo>
                  <a:pt x="3944" y="0"/>
                </a:lnTo>
                <a:lnTo>
                  <a:pt x="3944" y="1048"/>
                </a:lnTo>
                <a:lnTo>
                  <a:pt x="0" y="104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" name="任意多边形 104"/>
          <p:cNvSpPr/>
          <p:nvPr/>
        </p:nvSpPr>
        <p:spPr>
          <a:xfrm>
            <a:off x="2038320" y="5254920"/>
            <a:ext cx="1686240" cy="377280"/>
          </a:xfrm>
          <a:custGeom>
            <a:avLst/>
            <a:gdLst/>
            <a:ahLst/>
            <a:cxnLst/>
            <a:rect l="0" t="0" r="r" b="b"/>
            <a:pathLst>
              <a:path w="4684" h="1048">
                <a:moveTo>
                  <a:pt x="0" y="0"/>
                </a:moveTo>
                <a:lnTo>
                  <a:pt x="4684" y="0"/>
                </a:lnTo>
                <a:lnTo>
                  <a:pt x="4684" y="1048"/>
                </a:lnTo>
                <a:lnTo>
                  <a:pt x="0" y="104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" name="任意多边形 105"/>
          <p:cNvSpPr/>
          <p:nvPr/>
        </p:nvSpPr>
        <p:spPr>
          <a:xfrm>
            <a:off x="3724200" y="5254920"/>
            <a:ext cx="1181520" cy="377280"/>
          </a:xfrm>
          <a:custGeom>
            <a:avLst/>
            <a:gdLst/>
            <a:ahLst/>
            <a:cxnLst/>
            <a:rect l="0" t="0" r="r" b="b"/>
            <a:pathLst>
              <a:path w="3282" h="1048">
                <a:moveTo>
                  <a:pt x="0" y="0"/>
                </a:moveTo>
                <a:lnTo>
                  <a:pt x="3282" y="0"/>
                </a:lnTo>
                <a:lnTo>
                  <a:pt x="3282" y="1048"/>
                </a:lnTo>
                <a:lnTo>
                  <a:pt x="0" y="104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" name="任意多边形 106"/>
          <p:cNvSpPr/>
          <p:nvPr/>
        </p:nvSpPr>
        <p:spPr>
          <a:xfrm>
            <a:off x="4905360" y="5254920"/>
            <a:ext cx="885960" cy="377280"/>
          </a:xfrm>
          <a:custGeom>
            <a:avLst/>
            <a:gdLst/>
            <a:ahLst/>
            <a:cxnLst/>
            <a:rect l="0" t="0" r="r" b="b"/>
            <a:pathLst>
              <a:path w="2461" h="1048">
                <a:moveTo>
                  <a:pt x="0" y="0"/>
                </a:moveTo>
                <a:lnTo>
                  <a:pt x="2461" y="0"/>
                </a:lnTo>
                <a:lnTo>
                  <a:pt x="2461" y="1048"/>
                </a:lnTo>
                <a:lnTo>
                  <a:pt x="0" y="104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" name="任意多边形 107"/>
          <p:cNvSpPr/>
          <p:nvPr/>
        </p:nvSpPr>
        <p:spPr>
          <a:xfrm>
            <a:off x="609480" y="4500360"/>
            <a:ext cx="9720" cy="386280"/>
          </a:xfrm>
          <a:custGeom>
            <a:avLst/>
            <a:gdLst/>
            <a:ahLst/>
            <a:cxnLst/>
            <a:rect l="0" t="0" r="r" b="b"/>
            <a:pathLst>
              <a:path w="27" h="1073">
                <a:moveTo>
                  <a:pt x="0" y="0"/>
                </a:moveTo>
                <a:lnTo>
                  <a:pt x="27" y="0"/>
                </a:lnTo>
                <a:lnTo>
                  <a:pt x="27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" name="任意多边形 108"/>
          <p:cNvSpPr/>
          <p:nvPr/>
        </p:nvSpPr>
        <p:spPr>
          <a:xfrm>
            <a:off x="609480" y="4500360"/>
            <a:ext cx="1429200" cy="9000"/>
          </a:xfrm>
          <a:custGeom>
            <a:avLst/>
            <a:gdLst/>
            <a:ahLst/>
            <a:cxnLst/>
            <a:rect l="0" t="0" r="r" b="b"/>
            <a:pathLst>
              <a:path w="3970" h="25">
                <a:moveTo>
                  <a:pt x="0" y="0"/>
                </a:moveTo>
                <a:lnTo>
                  <a:pt x="3970" y="0"/>
                </a:lnTo>
                <a:lnTo>
                  <a:pt x="3970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" name="任意多边形 109"/>
          <p:cNvSpPr/>
          <p:nvPr/>
        </p:nvSpPr>
        <p:spPr>
          <a:xfrm>
            <a:off x="2028600" y="4500360"/>
            <a:ext cx="10080" cy="386280"/>
          </a:xfrm>
          <a:custGeom>
            <a:avLst/>
            <a:gdLst/>
            <a:ahLst/>
            <a:cxnLst/>
            <a:rect l="0" t="0" r="r" b="b"/>
            <a:pathLst>
              <a:path w="28" h="1073">
                <a:moveTo>
                  <a:pt x="0" y="0"/>
                </a:moveTo>
                <a:lnTo>
                  <a:pt x="28" y="0"/>
                </a:lnTo>
                <a:lnTo>
                  <a:pt x="28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" name="任意多边形 110"/>
          <p:cNvSpPr/>
          <p:nvPr/>
        </p:nvSpPr>
        <p:spPr>
          <a:xfrm>
            <a:off x="2038320" y="4500360"/>
            <a:ext cx="1686240" cy="9000"/>
          </a:xfrm>
          <a:custGeom>
            <a:avLst/>
            <a:gdLst/>
            <a:ahLst/>
            <a:cxnLst/>
            <a:rect l="0" t="0" r="r" b="b"/>
            <a:pathLst>
              <a:path w="4684" h="25">
                <a:moveTo>
                  <a:pt x="0" y="0"/>
                </a:moveTo>
                <a:lnTo>
                  <a:pt x="4684" y="0"/>
                </a:lnTo>
                <a:lnTo>
                  <a:pt x="4684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" name="任意多边形 111"/>
          <p:cNvSpPr/>
          <p:nvPr/>
        </p:nvSpPr>
        <p:spPr>
          <a:xfrm>
            <a:off x="3714480" y="4500360"/>
            <a:ext cx="10080" cy="386280"/>
          </a:xfrm>
          <a:custGeom>
            <a:avLst/>
            <a:gdLst/>
            <a:ahLst/>
            <a:cxnLst/>
            <a:rect l="0" t="0" r="r" b="b"/>
            <a:pathLst>
              <a:path w="28" h="1073">
                <a:moveTo>
                  <a:pt x="0" y="0"/>
                </a:moveTo>
                <a:lnTo>
                  <a:pt x="28" y="0"/>
                </a:lnTo>
                <a:lnTo>
                  <a:pt x="28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" name="任意多边形 112"/>
          <p:cNvSpPr/>
          <p:nvPr/>
        </p:nvSpPr>
        <p:spPr>
          <a:xfrm>
            <a:off x="3724200" y="4500360"/>
            <a:ext cx="1181520" cy="9000"/>
          </a:xfrm>
          <a:custGeom>
            <a:avLst/>
            <a:gdLst/>
            <a:ahLst/>
            <a:cxnLst/>
            <a:rect l="0" t="0" r="r" b="b"/>
            <a:pathLst>
              <a:path w="3282" h="25">
                <a:moveTo>
                  <a:pt x="0" y="0"/>
                </a:moveTo>
                <a:lnTo>
                  <a:pt x="3282" y="0"/>
                </a:lnTo>
                <a:lnTo>
                  <a:pt x="3282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" name="任意多边形 113"/>
          <p:cNvSpPr/>
          <p:nvPr/>
        </p:nvSpPr>
        <p:spPr>
          <a:xfrm>
            <a:off x="4895640" y="4500360"/>
            <a:ext cx="10080" cy="386280"/>
          </a:xfrm>
          <a:custGeom>
            <a:avLst/>
            <a:gdLst/>
            <a:ahLst/>
            <a:cxnLst/>
            <a:rect l="0" t="0" r="r" b="b"/>
            <a:pathLst>
              <a:path w="28" h="1073">
                <a:moveTo>
                  <a:pt x="0" y="0"/>
                </a:moveTo>
                <a:lnTo>
                  <a:pt x="28" y="0"/>
                </a:lnTo>
                <a:lnTo>
                  <a:pt x="28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" name="任意多边形 114"/>
          <p:cNvSpPr/>
          <p:nvPr/>
        </p:nvSpPr>
        <p:spPr>
          <a:xfrm>
            <a:off x="4905360" y="4500360"/>
            <a:ext cx="885960" cy="9000"/>
          </a:xfrm>
          <a:custGeom>
            <a:avLst/>
            <a:gdLst/>
            <a:ahLst/>
            <a:cxnLst/>
            <a:rect l="0" t="0" r="r" b="b"/>
            <a:pathLst>
              <a:path w="2461" h="25">
                <a:moveTo>
                  <a:pt x="0" y="0"/>
                </a:moveTo>
                <a:lnTo>
                  <a:pt x="2461" y="0"/>
                </a:lnTo>
                <a:lnTo>
                  <a:pt x="2461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" name="任意多边形 115"/>
          <p:cNvSpPr/>
          <p:nvPr/>
        </p:nvSpPr>
        <p:spPr>
          <a:xfrm>
            <a:off x="5781600" y="4500360"/>
            <a:ext cx="9720" cy="386280"/>
          </a:xfrm>
          <a:custGeom>
            <a:avLst/>
            <a:gdLst/>
            <a:ahLst/>
            <a:cxnLst/>
            <a:rect l="0" t="0" r="r" b="b"/>
            <a:pathLst>
              <a:path w="27" h="1073">
                <a:moveTo>
                  <a:pt x="0" y="0"/>
                </a:moveTo>
                <a:lnTo>
                  <a:pt x="27" y="0"/>
                </a:lnTo>
                <a:lnTo>
                  <a:pt x="27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" name="任意多边形 116"/>
          <p:cNvSpPr/>
          <p:nvPr/>
        </p:nvSpPr>
        <p:spPr>
          <a:xfrm>
            <a:off x="609480" y="4877640"/>
            <a:ext cx="1429200" cy="9000"/>
          </a:xfrm>
          <a:custGeom>
            <a:avLst/>
            <a:gdLst/>
            <a:ahLst/>
            <a:cxnLst/>
            <a:rect l="0" t="0" r="r" b="b"/>
            <a:pathLst>
              <a:path w="3970" h="25">
                <a:moveTo>
                  <a:pt x="0" y="0"/>
                </a:moveTo>
                <a:lnTo>
                  <a:pt x="3970" y="0"/>
                </a:lnTo>
                <a:lnTo>
                  <a:pt x="3970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" name="任意多边形 117"/>
          <p:cNvSpPr/>
          <p:nvPr/>
        </p:nvSpPr>
        <p:spPr>
          <a:xfrm>
            <a:off x="2038320" y="4877640"/>
            <a:ext cx="1686240" cy="9000"/>
          </a:xfrm>
          <a:custGeom>
            <a:avLst/>
            <a:gdLst/>
            <a:ahLst/>
            <a:cxnLst/>
            <a:rect l="0" t="0" r="r" b="b"/>
            <a:pathLst>
              <a:path w="4684" h="25">
                <a:moveTo>
                  <a:pt x="0" y="0"/>
                </a:moveTo>
                <a:lnTo>
                  <a:pt x="4684" y="0"/>
                </a:lnTo>
                <a:lnTo>
                  <a:pt x="4684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" name="任意多边形 118"/>
          <p:cNvSpPr/>
          <p:nvPr/>
        </p:nvSpPr>
        <p:spPr>
          <a:xfrm>
            <a:off x="3724200" y="4877640"/>
            <a:ext cx="1181520" cy="9000"/>
          </a:xfrm>
          <a:custGeom>
            <a:avLst/>
            <a:gdLst/>
            <a:ahLst/>
            <a:cxnLst/>
            <a:rect l="0" t="0" r="r" b="b"/>
            <a:pathLst>
              <a:path w="3282" h="25">
                <a:moveTo>
                  <a:pt x="0" y="0"/>
                </a:moveTo>
                <a:lnTo>
                  <a:pt x="3282" y="0"/>
                </a:lnTo>
                <a:lnTo>
                  <a:pt x="3282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" name="任意多边形 119"/>
          <p:cNvSpPr/>
          <p:nvPr/>
        </p:nvSpPr>
        <p:spPr>
          <a:xfrm>
            <a:off x="4905360" y="4877640"/>
            <a:ext cx="885960" cy="9000"/>
          </a:xfrm>
          <a:custGeom>
            <a:avLst/>
            <a:gdLst/>
            <a:ahLst/>
            <a:cxnLst/>
            <a:rect l="0" t="0" r="r" b="b"/>
            <a:pathLst>
              <a:path w="2461" h="25">
                <a:moveTo>
                  <a:pt x="0" y="0"/>
                </a:moveTo>
                <a:lnTo>
                  <a:pt x="2461" y="0"/>
                </a:lnTo>
                <a:lnTo>
                  <a:pt x="2461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" name="任意多边形 120"/>
          <p:cNvSpPr/>
          <p:nvPr/>
        </p:nvSpPr>
        <p:spPr>
          <a:xfrm>
            <a:off x="609480" y="4886280"/>
            <a:ext cx="9720" cy="377280"/>
          </a:xfrm>
          <a:custGeom>
            <a:avLst/>
            <a:gdLst/>
            <a:ahLst/>
            <a:cxnLst/>
            <a:rect l="0" t="0" r="r" b="b"/>
            <a:pathLst>
              <a:path w="27" h="1048">
                <a:moveTo>
                  <a:pt x="0" y="0"/>
                </a:moveTo>
                <a:lnTo>
                  <a:pt x="27" y="0"/>
                </a:lnTo>
                <a:lnTo>
                  <a:pt x="27" y="1048"/>
                </a:lnTo>
                <a:lnTo>
                  <a:pt x="0" y="10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" name="任意多边形 121"/>
          <p:cNvSpPr/>
          <p:nvPr/>
        </p:nvSpPr>
        <p:spPr>
          <a:xfrm>
            <a:off x="2028600" y="4886280"/>
            <a:ext cx="10080" cy="377280"/>
          </a:xfrm>
          <a:custGeom>
            <a:avLst/>
            <a:gdLst/>
            <a:ahLst/>
            <a:cxnLst/>
            <a:rect l="0" t="0" r="r" b="b"/>
            <a:pathLst>
              <a:path w="28" h="1048">
                <a:moveTo>
                  <a:pt x="0" y="0"/>
                </a:moveTo>
                <a:lnTo>
                  <a:pt x="28" y="0"/>
                </a:lnTo>
                <a:lnTo>
                  <a:pt x="28" y="1048"/>
                </a:lnTo>
                <a:lnTo>
                  <a:pt x="0" y="10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" name="任意多边形 122"/>
          <p:cNvSpPr/>
          <p:nvPr/>
        </p:nvSpPr>
        <p:spPr>
          <a:xfrm>
            <a:off x="3714480" y="4886280"/>
            <a:ext cx="10080" cy="377280"/>
          </a:xfrm>
          <a:custGeom>
            <a:avLst/>
            <a:gdLst/>
            <a:ahLst/>
            <a:cxnLst/>
            <a:rect l="0" t="0" r="r" b="b"/>
            <a:pathLst>
              <a:path w="28" h="1048">
                <a:moveTo>
                  <a:pt x="0" y="0"/>
                </a:moveTo>
                <a:lnTo>
                  <a:pt x="28" y="0"/>
                </a:lnTo>
                <a:lnTo>
                  <a:pt x="28" y="1048"/>
                </a:lnTo>
                <a:lnTo>
                  <a:pt x="0" y="10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4" name="任意多边形 123"/>
          <p:cNvSpPr/>
          <p:nvPr/>
        </p:nvSpPr>
        <p:spPr>
          <a:xfrm>
            <a:off x="4895640" y="4886280"/>
            <a:ext cx="10080" cy="377280"/>
          </a:xfrm>
          <a:custGeom>
            <a:avLst/>
            <a:gdLst/>
            <a:ahLst/>
            <a:cxnLst/>
            <a:rect l="0" t="0" r="r" b="b"/>
            <a:pathLst>
              <a:path w="28" h="1048">
                <a:moveTo>
                  <a:pt x="0" y="0"/>
                </a:moveTo>
                <a:lnTo>
                  <a:pt x="28" y="0"/>
                </a:lnTo>
                <a:lnTo>
                  <a:pt x="28" y="1048"/>
                </a:lnTo>
                <a:lnTo>
                  <a:pt x="0" y="10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" name="任意多边形 124"/>
          <p:cNvSpPr/>
          <p:nvPr/>
        </p:nvSpPr>
        <p:spPr>
          <a:xfrm>
            <a:off x="5781600" y="4886280"/>
            <a:ext cx="9720" cy="377280"/>
          </a:xfrm>
          <a:custGeom>
            <a:avLst/>
            <a:gdLst/>
            <a:ahLst/>
            <a:cxnLst/>
            <a:rect l="0" t="0" r="r" b="b"/>
            <a:pathLst>
              <a:path w="27" h="1048">
                <a:moveTo>
                  <a:pt x="0" y="0"/>
                </a:moveTo>
                <a:lnTo>
                  <a:pt x="27" y="0"/>
                </a:lnTo>
                <a:lnTo>
                  <a:pt x="27" y="1048"/>
                </a:lnTo>
                <a:lnTo>
                  <a:pt x="0" y="10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6" name="任意多边形 125"/>
          <p:cNvSpPr/>
          <p:nvPr/>
        </p:nvSpPr>
        <p:spPr>
          <a:xfrm>
            <a:off x="609480" y="5263200"/>
            <a:ext cx="9720" cy="377640"/>
          </a:xfrm>
          <a:custGeom>
            <a:avLst/>
            <a:gdLst/>
            <a:ahLst/>
            <a:cxnLst/>
            <a:rect l="0" t="0" r="r" b="b"/>
            <a:pathLst>
              <a:path w="27" h="1049">
                <a:moveTo>
                  <a:pt x="0" y="0"/>
                </a:moveTo>
                <a:lnTo>
                  <a:pt x="27" y="0"/>
                </a:lnTo>
                <a:lnTo>
                  <a:pt x="27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" name="任意多边形 126"/>
          <p:cNvSpPr/>
          <p:nvPr/>
        </p:nvSpPr>
        <p:spPr>
          <a:xfrm>
            <a:off x="609480" y="5254920"/>
            <a:ext cx="1429200" cy="8640"/>
          </a:xfrm>
          <a:custGeom>
            <a:avLst/>
            <a:gdLst/>
            <a:ahLst/>
            <a:cxnLst/>
            <a:rect l="0" t="0" r="r" b="b"/>
            <a:pathLst>
              <a:path w="3970" h="24">
                <a:moveTo>
                  <a:pt x="0" y="0"/>
                </a:moveTo>
                <a:lnTo>
                  <a:pt x="3970" y="0"/>
                </a:lnTo>
                <a:lnTo>
                  <a:pt x="3970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" name="任意多边形 127"/>
          <p:cNvSpPr/>
          <p:nvPr/>
        </p:nvSpPr>
        <p:spPr>
          <a:xfrm>
            <a:off x="2028600" y="5263200"/>
            <a:ext cx="10080" cy="377640"/>
          </a:xfrm>
          <a:custGeom>
            <a:avLst/>
            <a:gdLst/>
            <a:ahLst/>
            <a:cxnLst/>
            <a:rect l="0" t="0" r="r" b="b"/>
            <a:pathLst>
              <a:path w="28" h="1049">
                <a:moveTo>
                  <a:pt x="0" y="0"/>
                </a:moveTo>
                <a:lnTo>
                  <a:pt x="28" y="0"/>
                </a:lnTo>
                <a:lnTo>
                  <a:pt x="28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" name="任意多边形 128"/>
          <p:cNvSpPr/>
          <p:nvPr/>
        </p:nvSpPr>
        <p:spPr>
          <a:xfrm>
            <a:off x="2038320" y="5254920"/>
            <a:ext cx="1686240" cy="8640"/>
          </a:xfrm>
          <a:custGeom>
            <a:avLst/>
            <a:gdLst/>
            <a:ahLst/>
            <a:cxnLst/>
            <a:rect l="0" t="0" r="r" b="b"/>
            <a:pathLst>
              <a:path w="4684" h="24">
                <a:moveTo>
                  <a:pt x="0" y="0"/>
                </a:moveTo>
                <a:lnTo>
                  <a:pt x="4684" y="0"/>
                </a:lnTo>
                <a:lnTo>
                  <a:pt x="4684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" name="任意多边形 129"/>
          <p:cNvSpPr/>
          <p:nvPr/>
        </p:nvSpPr>
        <p:spPr>
          <a:xfrm>
            <a:off x="3714480" y="5263200"/>
            <a:ext cx="10080" cy="377640"/>
          </a:xfrm>
          <a:custGeom>
            <a:avLst/>
            <a:gdLst/>
            <a:ahLst/>
            <a:cxnLst/>
            <a:rect l="0" t="0" r="r" b="b"/>
            <a:pathLst>
              <a:path w="28" h="1049">
                <a:moveTo>
                  <a:pt x="0" y="0"/>
                </a:moveTo>
                <a:lnTo>
                  <a:pt x="28" y="0"/>
                </a:lnTo>
                <a:lnTo>
                  <a:pt x="28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" name="任意多边形 130"/>
          <p:cNvSpPr/>
          <p:nvPr/>
        </p:nvSpPr>
        <p:spPr>
          <a:xfrm>
            <a:off x="3724200" y="5254920"/>
            <a:ext cx="1181520" cy="8640"/>
          </a:xfrm>
          <a:custGeom>
            <a:avLst/>
            <a:gdLst/>
            <a:ahLst/>
            <a:cxnLst/>
            <a:rect l="0" t="0" r="r" b="b"/>
            <a:pathLst>
              <a:path w="3282" h="24">
                <a:moveTo>
                  <a:pt x="0" y="0"/>
                </a:moveTo>
                <a:lnTo>
                  <a:pt x="3282" y="0"/>
                </a:lnTo>
                <a:lnTo>
                  <a:pt x="3282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2" name="任意多边形 131"/>
          <p:cNvSpPr/>
          <p:nvPr/>
        </p:nvSpPr>
        <p:spPr>
          <a:xfrm>
            <a:off x="4895640" y="5263200"/>
            <a:ext cx="10080" cy="377640"/>
          </a:xfrm>
          <a:custGeom>
            <a:avLst/>
            <a:gdLst/>
            <a:ahLst/>
            <a:cxnLst/>
            <a:rect l="0" t="0" r="r" b="b"/>
            <a:pathLst>
              <a:path w="28" h="1049">
                <a:moveTo>
                  <a:pt x="0" y="0"/>
                </a:moveTo>
                <a:lnTo>
                  <a:pt x="28" y="0"/>
                </a:lnTo>
                <a:lnTo>
                  <a:pt x="28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3" name="任意多边形 132"/>
          <p:cNvSpPr/>
          <p:nvPr/>
        </p:nvSpPr>
        <p:spPr>
          <a:xfrm>
            <a:off x="4905360" y="5254920"/>
            <a:ext cx="885960" cy="8640"/>
          </a:xfrm>
          <a:custGeom>
            <a:avLst/>
            <a:gdLst/>
            <a:ahLst/>
            <a:cxnLst/>
            <a:rect l="0" t="0" r="r" b="b"/>
            <a:pathLst>
              <a:path w="2461" h="24">
                <a:moveTo>
                  <a:pt x="0" y="0"/>
                </a:moveTo>
                <a:lnTo>
                  <a:pt x="2461" y="0"/>
                </a:lnTo>
                <a:lnTo>
                  <a:pt x="2461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" name="任意多边形 133"/>
          <p:cNvSpPr/>
          <p:nvPr/>
        </p:nvSpPr>
        <p:spPr>
          <a:xfrm>
            <a:off x="5781600" y="5263200"/>
            <a:ext cx="9720" cy="377640"/>
          </a:xfrm>
          <a:custGeom>
            <a:avLst/>
            <a:gdLst/>
            <a:ahLst/>
            <a:cxnLst/>
            <a:rect l="0" t="0" r="r" b="b"/>
            <a:pathLst>
              <a:path w="27" h="1049">
                <a:moveTo>
                  <a:pt x="0" y="0"/>
                </a:moveTo>
                <a:lnTo>
                  <a:pt x="27" y="0"/>
                </a:lnTo>
                <a:lnTo>
                  <a:pt x="27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" name="任意多边形 134"/>
          <p:cNvSpPr/>
          <p:nvPr/>
        </p:nvSpPr>
        <p:spPr>
          <a:xfrm>
            <a:off x="609480" y="5640480"/>
            <a:ext cx="9720" cy="377640"/>
          </a:xfrm>
          <a:custGeom>
            <a:avLst/>
            <a:gdLst/>
            <a:ahLst/>
            <a:cxnLst/>
            <a:rect l="0" t="0" r="r" b="b"/>
            <a:pathLst>
              <a:path w="27" h="1049">
                <a:moveTo>
                  <a:pt x="0" y="0"/>
                </a:moveTo>
                <a:lnTo>
                  <a:pt x="27" y="0"/>
                </a:lnTo>
                <a:lnTo>
                  <a:pt x="27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" name="任意多边形 135"/>
          <p:cNvSpPr/>
          <p:nvPr/>
        </p:nvSpPr>
        <p:spPr>
          <a:xfrm>
            <a:off x="609480" y="5631840"/>
            <a:ext cx="1429200" cy="9000"/>
          </a:xfrm>
          <a:custGeom>
            <a:avLst/>
            <a:gdLst/>
            <a:ahLst/>
            <a:cxnLst/>
            <a:rect l="0" t="0" r="r" b="b"/>
            <a:pathLst>
              <a:path w="3970" h="25">
                <a:moveTo>
                  <a:pt x="0" y="0"/>
                </a:moveTo>
                <a:lnTo>
                  <a:pt x="3970" y="0"/>
                </a:lnTo>
                <a:lnTo>
                  <a:pt x="3970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" name="任意多边形 136"/>
          <p:cNvSpPr/>
          <p:nvPr/>
        </p:nvSpPr>
        <p:spPr>
          <a:xfrm>
            <a:off x="2028600" y="5640480"/>
            <a:ext cx="10080" cy="377640"/>
          </a:xfrm>
          <a:custGeom>
            <a:avLst/>
            <a:gdLst/>
            <a:ahLst/>
            <a:cxnLst/>
            <a:rect l="0" t="0" r="r" b="b"/>
            <a:pathLst>
              <a:path w="28" h="1049">
                <a:moveTo>
                  <a:pt x="0" y="0"/>
                </a:moveTo>
                <a:lnTo>
                  <a:pt x="28" y="0"/>
                </a:lnTo>
                <a:lnTo>
                  <a:pt x="28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" name="任意多边形 137"/>
          <p:cNvSpPr/>
          <p:nvPr/>
        </p:nvSpPr>
        <p:spPr>
          <a:xfrm>
            <a:off x="2038320" y="5631840"/>
            <a:ext cx="1686240" cy="9000"/>
          </a:xfrm>
          <a:custGeom>
            <a:avLst/>
            <a:gdLst/>
            <a:ahLst/>
            <a:cxnLst/>
            <a:rect l="0" t="0" r="r" b="b"/>
            <a:pathLst>
              <a:path w="4684" h="25">
                <a:moveTo>
                  <a:pt x="0" y="0"/>
                </a:moveTo>
                <a:lnTo>
                  <a:pt x="4684" y="0"/>
                </a:lnTo>
                <a:lnTo>
                  <a:pt x="4684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" name="任意多边形 138"/>
          <p:cNvSpPr/>
          <p:nvPr/>
        </p:nvSpPr>
        <p:spPr>
          <a:xfrm>
            <a:off x="3714480" y="5640480"/>
            <a:ext cx="10080" cy="377640"/>
          </a:xfrm>
          <a:custGeom>
            <a:avLst/>
            <a:gdLst/>
            <a:ahLst/>
            <a:cxnLst/>
            <a:rect l="0" t="0" r="r" b="b"/>
            <a:pathLst>
              <a:path w="28" h="1049">
                <a:moveTo>
                  <a:pt x="0" y="0"/>
                </a:moveTo>
                <a:lnTo>
                  <a:pt x="28" y="0"/>
                </a:lnTo>
                <a:lnTo>
                  <a:pt x="28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" name="任意多边形 139"/>
          <p:cNvSpPr/>
          <p:nvPr/>
        </p:nvSpPr>
        <p:spPr>
          <a:xfrm>
            <a:off x="3724200" y="5631840"/>
            <a:ext cx="1181520" cy="9000"/>
          </a:xfrm>
          <a:custGeom>
            <a:avLst/>
            <a:gdLst/>
            <a:ahLst/>
            <a:cxnLst/>
            <a:rect l="0" t="0" r="r" b="b"/>
            <a:pathLst>
              <a:path w="3282" h="25">
                <a:moveTo>
                  <a:pt x="0" y="0"/>
                </a:moveTo>
                <a:lnTo>
                  <a:pt x="3282" y="0"/>
                </a:lnTo>
                <a:lnTo>
                  <a:pt x="3282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" name="任意多边形 140"/>
          <p:cNvSpPr/>
          <p:nvPr/>
        </p:nvSpPr>
        <p:spPr>
          <a:xfrm>
            <a:off x="4895640" y="5640480"/>
            <a:ext cx="10080" cy="377640"/>
          </a:xfrm>
          <a:custGeom>
            <a:avLst/>
            <a:gdLst/>
            <a:ahLst/>
            <a:cxnLst/>
            <a:rect l="0" t="0" r="r" b="b"/>
            <a:pathLst>
              <a:path w="28" h="1049">
                <a:moveTo>
                  <a:pt x="0" y="0"/>
                </a:moveTo>
                <a:lnTo>
                  <a:pt x="28" y="0"/>
                </a:lnTo>
                <a:lnTo>
                  <a:pt x="28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" name="任意多边形 141"/>
          <p:cNvSpPr/>
          <p:nvPr/>
        </p:nvSpPr>
        <p:spPr>
          <a:xfrm>
            <a:off x="4905360" y="5631840"/>
            <a:ext cx="885960" cy="9000"/>
          </a:xfrm>
          <a:custGeom>
            <a:avLst/>
            <a:gdLst/>
            <a:ahLst/>
            <a:cxnLst/>
            <a:rect l="0" t="0" r="r" b="b"/>
            <a:pathLst>
              <a:path w="2461" h="25">
                <a:moveTo>
                  <a:pt x="0" y="0"/>
                </a:moveTo>
                <a:lnTo>
                  <a:pt x="2461" y="0"/>
                </a:lnTo>
                <a:lnTo>
                  <a:pt x="2461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" name="任意多边形 142"/>
          <p:cNvSpPr/>
          <p:nvPr/>
        </p:nvSpPr>
        <p:spPr>
          <a:xfrm>
            <a:off x="5781600" y="5640480"/>
            <a:ext cx="9720" cy="377640"/>
          </a:xfrm>
          <a:custGeom>
            <a:avLst/>
            <a:gdLst/>
            <a:ahLst/>
            <a:cxnLst/>
            <a:rect l="0" t="0" r="r" b="b"/>
            <a:pathLst>
              <a:path w="27" h="1049">
                <a:moveTo>
                  <a:pt x="0" y="0"/>
                </a:moveTo>
                <a:lnTo>
                  <a:pt x="27" y="0"/>
                </a:lnTo>
                <a:lnTo>
                  <a:pt x="27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" name="任意多边形 143"/>
          <p:cNvSpPr/>
          <p:nvPr/>
        </p:nvSpPr>
        <p:spPr>
          <a:xfrm>
            <a:off x="609480" y="6009120"/>
            <a:ext cx="1429200" cy="9000"/>
          </a:xfrm>
          <a:custGeom>
            <a:avLst/>
            <a:gdLst/>
            <a:ahLst/>
            <a:cxnLst/>
            <a:rect l="0" t="0" r="r" b="b"/>
            <a:pathLst>
              <a:path w="3970" h="25">
                <a:moveTo>
                  <a:pt x="0" y="0"/>
                </a:moveTo>
                <a:lnTo>
                  <a:pt x="3970" y="0"/>
                </a:lnTo>
                <a:lnTo>
                  <a:pt x="3970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" name="任意多边形 144"/>
          <p:cNvSpPr/>
          <p:nvPr/>
        </p:nvSpPr>
        <p:spPr>
          <a:xfrm>
            <a:off x="2038320" y="6009120"/>
            <a:ext cx="1686240" cy="9000"/>
          </a:xfrm>
          <a:custGeom>
            <a:avLst/>
            <a:gdLst/>
            <a:ahLst/>
            <a:cxnLst/>
            <a:rect l="0" t="0" r="r" b="b"/>
            <a:pathLst>
              <a:path w="4684" h="25">
                <a:moveTo>
                  <a:pt x="0" y="0"/>
                </a:moveTo>
                <a:lnTo>
                  <a:pt x="4684" y="0"/>
                </a:lnTo>
                <a:lnTo>
                  <a:pt x="4684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" name="任意多边形 145"/>
          <p:cNvSpPr/>
          <p:nvPr/>
        </p:nvSpPr>
        <p:spPr>
          <a:xfrm>
            <a:off x="3724200" y="6009120"/>
            <a:ext cx="1181520" cy="9000"/>
          </a:xfrm>
          <a:custGeom>
            <a:avLst/>
            <a:gdLst/>
            <a:ahLst/>
            <a:cxnLst/>
            <a:rect l="0" t="0" r="r" b="b"/>
            <a:pathLst>
              <a:path w="3282" h="25">
                <a:moveTo>
                  <a:pt x="0" y="0"/>
                </a:moveTo>
                <a:lnTo>
                  <a:pt x="3282" y="0"/>
                </a:lnTo>
                <a:lnTo>
                  <a:pt x="3282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" name="任意多边形 146"/>
          <p:cNvSpPr/>
          <p:nvPr/>
        </p:nvSpPr>
        <p:spPr>
          <a:xfrm>
            <a:off x="4905360" y="6009120"/>
            <a:ext cx="885960" cy="9000"/>
          </a:xfrm>
          <a:custGeom>
            <a:avLst/>
            <a:gdLst/>
            <a:ahLst/>
            <a:cxnLst/>
            <a:rect l="0" t="0" r="r" b="b"/>
            <a:pathLst>
              <a:path w="2461" h="25">
                <a:moveTo>
                  <a:pt x="0" y="0"/>
                </a:moveTo>
                <a:lnTo>
                  <a:pt x="2461" y="0"/>
                </a:lnTo>
                <a:lnTo>
                  <a:pt x="2461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609480" y="351720"/>
            <a:ext cx="3115800" cy="419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83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线性回归：从数学原理到应⽤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609480" y="4037760"/>
            <a:ext cx="96084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⼿⼯计算⽰例</a:t>
            </a:r>
            <a:endParaRPr lang="en-US" sz="18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1000080" y="4597560"/>
            <a:ext cx="205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⾯积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1342800" y="4602960"/>
            <a:ext cx="307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1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(m²)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2478600" y="4597560"/>
            <a:ext cx="205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房价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2821320" y="460296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1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2878560" y="4597560"/>
            <a:ext cx="205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万元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3221640" y="460296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1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)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4054320" y="4597560"/>
            <a:ext cx="308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预测值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5173200" y="4597560"/>
            <a:ext cx="205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残差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695160" y="498024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80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2118240" y="4980240"/>
            <a:ext cx="256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320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3801240" y="4980240"/>
            <a:ext cx="235642" cy="187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328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4984200" y="4980240"/>
            <a:ext cx="131446" cy="187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dirty="0">
                <a:solidFill>
                  <a:srgbClr val="000000"/>
                </a:solidFill>
                <a:latin typeface="Times New Roman" panose="02020603050405020304"/>
              </a:rPr>
              <a:t>-8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695160" y="5357520"/>
            <a:ext cx="256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100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" name="文本框 167"/>
          <p:cNvSpPr txBox="1"/>
          <p:nvPr/>
        </p:nvSpPr>
        <p:spPr>
          <a:xfrm>
            <a:off x="2118240" y="5357520"/>
            <a:ext cx="256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380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3801240" y="5357520"/>
            <a:ext cx="235642" cy="187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380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4984200" y="5357520"/>
            <a:ext cx="78548" cy="187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dirty="0">
                <a:solidFill>
                  <a:srgbClr val="000000"/>
                </a:solidFill>
                <a:latin typeface="Times New Roman" panose="02020603050405020304"/>
              </a:rPr>
              <a:t>0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695160" y="5734800"/>
            <a:ext cx="256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120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2118240" y="5734800"/>
            <a:ext cx="256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430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3801240" y="5734800"/>
            <a:ext cx="235642" cy="187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432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4" name="文本框 173"/>
          <p:cNvSpPr txBox="1"/>
          <p:nvPr/>
        </p:nvSpPr>
        <p:spPr>
          <a:xfrm>
            <a:off x="4984200" y="5734800"/>
            <a:ext cx="131446" cy="1877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-2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609480" y="6140520"/>
            <a:ext cx="717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回归⽅程：房价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1809720" y="6146280"/>
            <a:ext cx="10148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= 120 + 2.6 × 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7" name="任意多边形 176"/>
          <p:cNvSpPr/>
          <p:nvPr/>
        </p:nvSpPr>
        <p:spPr>
          <a:xfrm>
            <a:off x="653940" y="1612080"/>
            <a:ext cx="5477400" cy="2186280"/>
          </a:xfrm>
          <a:custGeom>
            <a:avLst/>
            <a:gdLst/>
            <a:ahLst/>
            <a:cxnLst/>
            <a:rect l="0" t="0" r="r" b="b"/>
            <a:pathLst>
              <a:path w="15215" h="6073" fill="none">
                <a:moveTo>
                  <a:pt x="0" y="5894"/>
                </a:moveTo>
                <a:lnTo>
                  <a:pt x="0" y="178"/>
                </a:lnTo>
                <a:cubicBezTo>
                  <a:pt x="0" y="166"/>
                  <a:pt x="1" y="155"/>
                  <a:pt x="4" y="143"/>
                </a:cubicBezTo>
                <a:cubicBezTo>
                  <a:pt x="6" y="132"/>
                  <a:pt x="10" y="121"/>
                  <a:pt x="15" y="110"/>
                </a:cubicBezTo>
                <a:cubicBezTo>
                  <a:pt x="20" y="99"/>
                  <a:pt x="26" y="89"/>
                  <a:pt x="34" y="79"/>
                </a:cubicBezTo>
                <a:cubicBezTo>
                  <a:pt x="41" y="69"/>
                  <a:pt x="49" y="60"/>
                  <a:pt x="58" y="52"/>
                </a:cubicBezTo>
                <a:cubicBezTo>
                  <a:pt x="67" y="44"/>
                  <a:pt x="77" y="36"/>
                  <a:pt x="88" y="30"/>
                </a:cubicBezTo>
                <a:cubicBezTo>
                  <a:pt x="99" y="23"/>
                  <a:pt x="111" y="18"/>
                  <a:pt x="123" y="13"/>
                </a:cubicBezTo>
                <a:cubicBezTo>
                  <a:pt x="135" y="9"/>
                  <a:pt x="147" y="5"/>
                  <a:pt x="160" y="3"/>
                </a:cubicBezTo>
                <a:cubicBezTo>
                  <a:pt x="173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3"/>
                </a:cubicBezTo>
                <a:cubicBezTo>
                  <a:pt x="15068" y="5"/>
                  <a:pt x="15080" y="9"/>
                  <a:pt x="15092" y="13"/>
                </a:cubicBezTo>
                <a:cubicBezTo>
                  <a:pt x="15104" y="18"/>
                  <a:pt x="15116" y="23"/>
                  <a:pt x="15126" y="30"/>
                </a:cubicBezTo>
                <a:cubicBezTo>
                  <a:pt x="15137" y="36"/>
                  <a:pt x="15147" y="44"/>
                  <a:pt x="15156" y="52"/>
                </a:cubicBezTo>
                <a:cubicBezTo>
                  <a:pt x="15166" y="60"/>
                  <a:pt x="15174" y="69"/>
                  <a:pt x="15181" y="79"/>
                </a:cubicBezTo>
                <a:cubicBezTo>
                  <a:pt x="15188" y="89"/>
                  <a:pt x="15195" y="99"/>
                  <a:pt x="15199" y="110"/>
                </a:cubicBezTo>
                <a:cubicBezTo>
                  <a:pt x="15204" y="121"/>
                  <a:pt x="15208" y="132"/>
                  <a:pt x="15211" y="143"/>
                </a:cubicBezTo>
                <a:cubicBezTo>
                  <a:pt x="15213" y="155"/>
                  <a:pt x="15215" y="166"/>
                  <a:pt x="15215" y="178"/>
                </a:cubicBezTo>
                <a:lnTo>
                  <a:pt x="15215" y="5894"/>
                </a:lnTo>
                <a:cubicBezTo>
                  <a:pt x="15215" y="5906"/>
                  <a:pt x="15213" y="5918"/>
                  <a:pt x="15211" y="5929"/>
                </a:cubicBezTo>
                <a:cubicBezTo>
                  <a:pt x="15208" y="5941"/>
                  <a:pt x="15204" y="5952"/>
                  <a:pt x="15199" y="5963"/>
                </a:cubicBezTo>
                <a:cubicBezTo>
                  <a:pt x="15195" y="5973"/>
                  <a:pt x="15188" y="5984"/>
                  <a:pt x="15181" y="5993"/>
                </a:cubicBezTo>
                <a:cubicBezTo>
                  <a:pt x="15174" y="6003"/>
                  <a:pt x="15166" y="6012"/>
                  <a:pt x="15156" y="6020"/>
                </a:cubicBezTo>
                <a:cubicBezTo>
                  <a:pt x="15147" y="6029"/>
                  <a:pt x="15137" y="6036"/>
                  <a:pt x="15126" y="6043"/>
                </a:cubicBezTo>
                <a:cubicBezTo>
                  <a:pt x="15116" y="6049"/>
                  <a:pt x="15104" y="6055"/>
                  <a:pt x="15092" y="6059"/>
                </a:cubicBezTo>
                <a:cubicBezTo>
                  <a:pt x="15080" y="6064"/>
                  <a:pt x="15068" y="6067"/>
                  <a:pt x="15055" y="6069"/>
                </a:cubicBezTo>
                <a:cubicBezTo>
                  <a:pt x="15042" y="6072"/>
                  <a:pt x="15029" y="6073"/>
                  <a:pt x="15016" y="6073"/>
                </a:cubicBezTo>
                <a:lnTo>
                  <a:pt x="198" y="6073"/>
                </a:lnTo>
                <a:cubicBezTo>
                  <a:pt x="185" y="6073"/>
                  <a:pt x="173" y="6072"/>
                  <a:pt x="160" y="6069"/>
                </a:cubicBezTo>
                <a:cubicBezTo>
                  <a:pt x="147" y="6067"/>
                  <a:pt x="135" y="6064"/>
                  <a:pt x="123" y="6059"/>
                </a:cubicBezTo>
                <a:cubicBezTo>
                  <a:pt x="111" y="6055"/>
                  <a:pt x="99" y="6049"/>
                  <a:pt x="88" y="6043"/>
                </a:cubicBezTo>
                <a:cubicBezTo>
                  <a:pt x="77" y="6036"/>
                  <a:pt x="67" y="6029"/>
                  <a:pt x="58" y="6020"/>
                </a:cubicBezTo>
                <a:cubicBezTo>
                  <a:pt x="49" y="6012"/>
                  <a:pt x="41" y="6003"/>
                  <a:pt x="34" y="5993"/>
                </a:cubicBezTo>
                <a:cubicBezTo>
                  <a:pt x="26" y="5984"/>
                  <a:pt x="20" y="5973"/>
                  <a:pt x="15" y="5963"/>
                </a:cubicBezTo>
                <a:cubicBezTo>
                  <a:pt x="10" y="5952"/>
                  <a:pt x="6" y="5941"/>
                  <a:pt x="4" y="5929"/>
                </a:cubicBezTo>
                <a:cubicBezTo>
                  <a:pt x="1" y="5918"/>
                  <a:pt x="0" y="5906"/>
                  <a:pt x="0" y="5894"/>
                </a:cubicBezTo>
              </a:path>
            </a:pathLst>
          </a:custGeom>
          <a:ln w="9000">
            <a:solidFill>
              <a:srgbClr val="E5E7EB"/>
            </a:solidFill>
            <a:miter/>
          </a:ln>
        </p:spPr>
        <p:txBody>
          <a:bodyPr lIns="4320" tIns="4320" rIns="4320" bIns="43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2828520" y="6140520"/>
            <a:ext cx="205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⾯积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79" name="图片 178"/>
          <p:cNvPicPr/>
          <p:nvPr/>
        </p:nvPicPr>
        <p:blipFill>
          <a:blip r:embed="rId2"/>
          <a:stretch>
            <a:fillRect/>
          </a:stretch>
        </p:blipFill>
        <p:spPr>
          <a:xfrm>
            <a:off x="2182860" y="1616400"/>
            <a:ext cx="2418840" cy="217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文本框 179"/>
          <p:cNvSpPr txBox="1"/>
          <p:nvPr/>
        </p:nvSpPr>
        <p:spPr>
          <a:xfrm>
            <a:off x="649260" y="1145160"/>
            <a:ext cx="96084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房价预测案例</a:t>
            </a:r>
            <a:endParaRPr lang="en-US" sz="18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2478060" y="3889440"/>
            <a:ext cx="10980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80" b="0" u="none" strike="noStrike">
                <a:solidFill>
                  <a:srgbClr val="6B7280"/>
                </a:solidFill>
                <a:effectLst/>
                <a:uFillTx/>
                <a:latin typeface="NotoSansCJKsc"/>
                <a:ea typeface="NotoSansCJKsc"/>
              </a:rPr>
              <a:t>房屋⾯积与价格关系趋势图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2" name="任意多边形 181"/>
          <p:cNvSpPr/>
          <p:nvPr/>
        </p:nvSpPr>
        <p:spPr>
          <a:xfrm>
            <a:off x="6095880" y="4980600"/>
            <a:ext cx="228960" cy="205920"/>
          </a:xfrm>
          <a:custGeom>
            <a:avLst/>
            <a:gdLst/>
            <a:ahLst/>
            <a:cxnLst/>
            <a:rect l="0" t="0" r="r" b="b"/>
            <a:pathLst>
              <a:path w="636" h="572">
                <a:moveTo>
                  <a:pt x="636" y="286"/>
                </a:moveTo>
                <a:cubicBezTo>
                  <a:pt x="636" y="305"/>
                  <a:pt x="634" y="324"/>
                  <a:pt x="630" y="342"/>
                </a:cubicBezTo>
                <a:cubicBezTo>
                  <a:pt x="626" y="360"/>
                  <a:pt x="620" y="378"/>
                  <a:pt x="612" y="396"/>
                </a:cubicBezTo>
                <a:cubicBezTo>
                  <a:pt x="604" y="413"/>
                  <a:pt x="594" y="429"/>
                  <a:pt x="582" y="445"/>
                </a:cubicBezTo>
                <a:cubicBezTo>
                  <a:pt x="571" y="461"/>
                  <a:pt x="558" y="475"/>
                  <a:pt x="543" y="488"/>
                </a:cubicBezTo>
                <a:cubicBezTo>
                  <a:pt x="528" y="502"/>
                  <a:pt x="512" y="513"/>
                  <a:pt x="494" y="524"/>
                </a:cubicBezTo>
                <a:cubicBezTo>
                  <a:pt x="476" y="534"/>
                  <a:pt x="458" y="543"/>
                  <a:pt x="439" y="550"/>
                </a:cubicBezTo>
                <a:cubicBezTo>
                  <a:pt x="420" y="557"/>
                  <a:pt x="400" y="563"/>
                  <a:pt x="379" y="567"/>
                </a:cubicBezTo>
                <a:cubicBezTo>
                  <a:pt x="359" y="570"/>
                  <a:pt x="338" y="572"/>
                  <a:pt x="317" y="572"/>
                </a:cubicBezTo>
                <a:cubicBezTo>
                  <a:pt x="296" y="572"/>
                  <a:pt x="276" y="570"/>
                  <a:pt x="255" y="567"/>
                </a:cubicBezTo>
                <a:cubicBezTo>
                  <a:pt x="235" y="563"/>
                  <a:pt x="215" y="557"/>
                  <a:pt x="196" y="550"/>
                </a:cubicBezTo>
                <a:cubicBezTo>
                  <a:pt x="177" y="543"/>
                  <a:pt x="158" y="534"/>
                  <a:pt x="141" y="524"/>
                </a:cubicBezTo>
                <a:cubicBezTo>
                  <a:pt x="124" y="513"/>
                  <a:pt x="108" y="502"/>
                  <a:pt x="93" y="488"/>
                </a:cubicBezTo>
                <a:cubicBezTo>
                  <a:pt x="78" y="475"/>
                  <a:pt x="65" y="461"/>
                  <a:pt x="53" y="445"/>
                </a:cubicBezTo>
                <a:cubicBezTo>
                  <a:pt x="42" y="429"/>
                  <a:pt x="32" y="413"/>
                  <a:pt x="24" y="396"/>
                </a:cubicBezTo>
                <a:cubicBezTo>
                  <a:pt x="16" y="378"/>
                  <a:pt x="10" y="360"/>
                  <a:pt x="6" y="342"/>
                </a:cubicBezTo>
                <a:cubicBezTo>
                  <a:pt x="2" y="324"/>
                  <a:pt x="0" y="305"/>
                  <a:pt x="0" y="286"/>
                </a:cubicBezTo>
                <a:cubicBezTo>
                  <a:pt x="0" y="268"/>
                  <a:pt x="2" y="249"/>
                  <a:pt x="6" y="231"/>
                </a:cubicBezTo>
                <a:cubicBezTo>
                  <a:pt x="10" y="212"/>
                  <a:pt x="16" y="194"/>
                  <a:pt x="24" y="177"/>
                </a:cubicBezTo>
                <a:cubicBezTo>
                  <a:pt x="32" y="160"/>
                  <a:pt x="42" y="142"/>
                  <a:pt x="53" y="127"/>
                </a:cubicBezTo>
                <a:cubicBezTo>
                  <a:pt x="65" y="111"/>
                  <a:pt x="78" y="97"/>
                  <a:pt x="93" y="83"/>
                </a:cubicBezTo>
                <a:cubicBezTo>
                  <a:pt x="108" y="70"/>
                  <a:pt x="124" y="58"/>
                  <a:pt x="141" y="48"/>
                </a:cubicBezTo>
                <a:cubicBezTo>
                  <a:pt x="158" y="37"/>
                  <a:pt x="177" y="28"/>
                  <a:pt x="196" y="21"/>
                </a:cubicBezTo>
                <a:cubicBezTo>
                  <a:pt x="215" y="14"/>
                  <a:pt x="235" y="9"/>
                  <a:pt x="255" y="5"/>
                </a:cubicBezTo>
                <a:cubicBezTo>
                  <a:pt x="276" y="1"/>
                  <a:pt x="296" y="0"/>
                  <a:pt x="317" y="0"/>
                </a:cubicBezTo>
                <a:cubicBezTo>
                  <a:pt x="338" y="0"/>
                  <a:pt x="359" y="1"/>
                  <a:pt x="379" y="5"/>
                </a:cubicBezTo>
                <a:cubicBezTo>
                  <a:pt x="400" y="9"/>
                  <a:pt x="420" y="14"/>
                  <a:pt x="439" y="21"/>
                </a:cubicBezTo>
                <a:cubicBezTo>
                  <a:pt x="458" y="28"/>
                  <a:pt x="476" y="37"/>
                  <a:pt x="494" y="48"/>
                </a:cubicBezTo>
                <a:cubicBezTo>
                  <a:pt x="512" y="58"/>
                  <a:pt x="528" y="70"/>
                  <a:pt x="543" y="83"/>
                </a:cubicBezTo>
                <a:cubicBezTo>
                  <a:pt x="558" y="97"/>
                  <a:pt x="571" y="111"/>
                  <a:pt x="582" y="127"/>
                </a:cubicBezTo>
                <a:cubicBezTo>
                  <a:pt x="594" y="142"/>
                  <a:pt x="604" y="160"/>
                  <a:pt x="612" y="177"/>
                </a:cubicBezTo>
                <a:cubicBezTo>
                  <a:pt x="620" y="194"/>
                  <a:pt x="626" y="212"/>
                  <a:pt x="630" y="231"/>
                </a:cubicBezTo>
                <a:cubicBezTo>
                  <a:pt x="634" y="249"/>
                  <a:pt x="636" y="268"/>
                  <a:pt x="636" y="286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6095880" y="4483440"/>
            <a:ext cx="96084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特征选择影响</a:t>
            </a:r>
            <a:endParaRPr lang="en-US" sz="18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6151680" y="4983120"/>
            <a:ext cx="171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5" name="任意多边形 184"/>
          <p:cNvSpPr/>
          <p:nvPr/>
        </p:nvSpPr>
        <p:spPr>
          <a:xfrm>
            <a:off x="6095880" y="5323320"/>
            <a:ext cx="228960" cy="206280"/>
          </a:xfrm>
          <a:custGeom>
            <a:avLst/>
            <a:gdLst/>
            <a:ahLst/>
            <a:cxnLst/>
            <a:rect l="0" t="0" r="r" b="b"/>
            <a:pathLst>
              <a:path w="636" h="573">
                <a:moveTo>
                  <a:pt x="636" y="286"/>
                </a:moveTo>
                <a:cubicBezTo>
                  <a:pt x="636" y="305"/>
                  <a:pt x="634" y="323"/>
                  <a:pt x="630" y="342"/>
                </a:cubicBezTo>
                <a:cubicBezTo>
                  <a:pt x="626" y="361"/>
                  <a:pt x="620" y="379"/>
                  <a:pt x="612" y="396"/>
                </a:cubicBezTo>
                <a:cubicBezTo>
                  <a:pt x="604" y="413"/>
                  <a:pt x="594" y="430"/>
                  <a:pt x="582" y="446"/>
                </a:cubicBezTo>
                <a:cubicBezTo>
                  <a:pt x="571" y="461"/>
                  <a:pt x="558" y="476"/>
                  <a:pt x="543" y="489"/>
                </a:cubicBezTo>
                <a:cubicBezTo>
                  <a:pt x="528" y="502"/>
                  <a:pt x="512" y="514"/>
                  <a:pt x="494" y="524"/>
                </a:cubicBezTo>
                <a:cubicBezTo>
                  <a:pt x="476" y="535"/>
                  <a:pt x="458" y="544"/>
                  <a:pt x="439" y="551"/>
                </a:cubicBezTo>
                <a:cubicBezTo>
                  <a:pt x="420" y="558"/>
                  <a:pt x="400" y="563"/>
                  <a:pt x="379" y="567"/>
                </a:cubicBezTo>
                <a:cubicBezTo>
                  <a:pt x="359" y="571"/>
                  <a:pt x="338" y="573"/>
                  <a:pt x="317" y="573"/>
                </a:cubicBezTo>
                <a:cubicBezTo>
                  <a:pt x="296" y="573"/>
                  <a:pt x="276" y="571"/>
                  <a:pt x="255" y="567"/>
                </a:cubicBezTo>
                <a:cubicBezTo>
                  <a:pt x="235" y="563"/>
                  <a:pt x="215" y="558"/>
                  <a:pt x="196" y="551"/>
                </a:cubicBezTo>
                <a:cubicBezTo>
                  <a:pt x="177" y="544"/>
                  <a:pt x="158" y="535"/>
                  <a:pt x="141" y="524"/>
                </a:cubicBezTo>
                <a:cubicBezTo>
                  <a:pt x="124" y="514"/>
                  <a:pt x="108" y="502"/>
                  <a:pt x="93" y="489"/>
                </a:cubicBezTo>
                <a:cubicBezTo>
                  <a:pt x="78" y="476"/>
                  <a:pt x="65" y="461"/>
                  <a:pt x="53" y="446"/>
                </a:cubicBezTo>
                <a:cubicBezTo>
                  <a:pt x="42" y="430"/>
                  <a:pt x="32" y="413"/>
                  <a:pt x="24" y="396"/>
                </a:cubicBezTo>
                <a:cubicBezTo>
                  <a:pt x="16" y="379"/>
                  <a:pt x="10" y="361"/>
                  <a:pt x="6" y="342"/>
                </a:cubicBezTo>
                <a:cubicBezTo>
                  <a:pt x="2" y="323"/>
                  <a:pt x="0" y="305"/>
                  <a:pt x="0" y="286"/>
                </a:cubicBezTo>
                <a:cubicBezTo>
                  <a:pt x="0" y="267"/>
                  <a:pt x="2" y="248"/>
                  <a:pt x="6" y="230"/>
                </a:cubicBezTo>
                <a:cubicBezTo>
                  <a:pt x="10" y="212"/>
                  <a:pt x="16" y="194"/>
                  <a:pt x="24" y="176"/>
                </a:cubicBezTo>
                <a:cubicBezTo>
                  <a:pt x="32" y="159"/>
                  <a:pt x="42" y="143"/>
                  <a:pt x="53" y="127"/>
                </a:cubicBezTo>
                <a:cubicBezTo>
                  <a:pt x="65" y="111"/>
                  <a:pt x="78" y="97"/>
                  <a:pt x="93" y="84"/>
                </a:cubicBezTo>
                <a:cubicBezTo>
                  <a:pt x="108" y="70"/>
                  <a:pt x="124" y="59"/>
                  <a:pt x="141" y="48"/>
                </a:cubicBezTo>
                <a:cubicBezTo>
                  <a:pt x="158" y="38"/>
                  <a:pt x="177" y="29"/>
                  <a:pt x="196" y="22"/>
                </a:cubicBezTo>
                <a:cubicBezTo>
                  <a:pt x="215" y="15"/>
                  <a:pt x="235" y="9"/>
                  <a:pt x="255" y="6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6"/>
                </a:cubicBezTo>
                <a:cubicBezTo>
                  <a:pt x="400" y="9"/>
                  <a:pt x="420" y="15"/>
                  <a:pt x="439" y="22"/>
                </a:cubicBezTo>
                <a:cubicBezTo>
                  <a:pt x="458" y="29"/>
                  <a:pt x="476" y="38"/>
                  <a:pt x="494" y="48"/>
                </a:cubicBezTo>
                <a:cubicBezTo>
                  <a:pt x="512" y="59"/>
                  <a:pt x="528" y="70"/>
                  <a:pt x="543" y="84"/>
                </a:cubicBezTo>
                <a:cubicBezTo>
                  <a:pt x="558" y="97"/>
                  <a:pt x="571" y="111"/>
                  <a:pt x="582" y="127"/>
                </a:cubicBezTo>
                <a:cubicBezTo>
                  <a:pt x="594" y="143"/>
                  <a:pt x="604" y="159"/>
                  <a:pt x="612" y="176"/>
                </a:cubicBezTo>
                <a:cubicBezTo>
                  <a:pt x="620" y="194"/>
                  <a:pt x="626" y="212"/>
                  <a:pt x="630" y="230"/>
                </a:cubicBezTo>
                <a:cubicBezTo>
                  <a:pt x="634" y="248"/>
                  <a:pt x="636" y="267"/>
                  <a:pt x="636" y="286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6438960" y="4965840"/>
            <a:ext cx="16394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关键特征：⾯积、地段、房龄、楼层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6151680" y="5326200"/>
            <a:ext cx="171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6438960" y="5308920"/>
            <a:ext cx="615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加⼊房龄后：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7467480" y="531468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R²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7633440" y="5308920"/>
            <a:ext cx="171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从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7804800" y="5314680"/>
            <a:ext cx="2995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0.75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8104680" y="5308920"/>
            <a:ext cx="308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提升⾄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3" name="任意多边形 192"/>
          <p:cNvSpPr/>
          <p:nvPr/>
        </p:nvSpPr>
        <p:spPr>
          <a:xfrm>
            <a:off x="6095880" y="5666400"/>
            <a:ext cx="228960" cy="205920"/>
          </a:xfrm>
          <a:custGeom>
            <a:avLst/>
            <a:gdLst/>
            <a:ahLst/>
            <a:cxnLst/>
            <a:rect l="0" t="0" r="r" b="b"/>
            <a:pathLst>
              <a:path w="636" h="572">
                <a:moveTo>
                  <a:pt x="636" y="285"/>
                </a:moveTo>
                <a:cubicBezTo>
                  <a:pt x="636" y="304"/>
                  <a:pt x="634" y="323"/>
                  <a:pt x="630" y="341"/>
                </a:cubicBezTo>
                <a:cubicBezTo>
                  <a:pt x="626" y="359"/>
                  <a:pt x="620" y="377"/>
                  <a:pt x="612" y="395"/>
                </a:cubicBezTo>
                <a:cubicBezTo>
                  <a:pt x="604" y="412"/>
                  <a:pt x="594" y="428"/>
                  <a:pt x="582" y="444"/>
                </a:cubicBezTo>
                <a:cubicBezTo>
                  <a:pt x="571" y="460"/>
                  <a:pt x="558" y="474"/>
                  <a:pt x="543" y="487"/>
                </a:cubicBezTo>
                <a:cubicBezTo>
                  <a:pt x="528" y="501"/>
                  <a:pt x="512" y="512"/>
                  <a:pt x="494" y="523"/>
                </a:cubicBezTo>
                <a:cubicBezTo>
                  <a:pt x="476" y="533"/>
                  <a:pt x="458" y="543"/>
                  <a:pt x="439" y="550"/>
                </a:cubicBezTo>
                <a:cubicBezTo>
                  <a:pt x="420" y="557"/>
                  <a:pt x="400" y="563"/>
                  <a:pt x="379" y="567"/>
                </a:cubicBezTo>
                <a:cubicBezTo>
                  <a:pt x="359" y="570"/>
                  <a:pt x="338" y="572"/>
                  <a:pt x="317" y="572"/>
                </a:cubicBezTo>
                <a:cubicBezTo>
                  <a:pt x="296" y="572"/>
                  <a:pt x="276" y="570"/>
                  <a:pt x="255" y="567"/>
                </a:cubicBezTo>
                <a:cubicBezTo>
                  <a:pt x="235" y="563"/>
                  <a:pt x="215" y="557"/>
                  <a:pt x="196" y="550"/>
                </a:cubicBezTo>
                <a:cubicBezTo>
                  <a:pt x="177" y="543"/>
                  <a:pt x="158" y="533"/>
                  <a:pt x="141" y="523"/>
                </a:cubicBezTo>
                <a:cubicBezTo>
                  <a:pt x="124" y="512"/>
                  <a:pt x="108" y="501"/>
                  <a:pt x="93" y="487"/>
                </a:cubicBezTo>
                <a:cubicBezTo>
                  <a:pt x="78" y="474"/>
                  <a:pt x="65" y="460"/>
                  <a:pt x="53" y="444"/>
                </a:cubicBezTo>
                <a:cubicBezTo>
                  <a:pt x="42" y="428"/>
                  <a:pt x="32" y="412"/>
                  <a:pt x="24" y="395"/>
                </a:cubicBezTo>
                <a:cubicBezTo>
                  <a:pt x="16" y="377"/>
                  <a:pt x="10" y="359"/>
                  <a:pt x="6" y="341"/>
                </a:cubicBezTo>
                <a:cubicBezTo>
                  <a:pt x="2" y="323"/>
                  <a:pt x="0" y="304"/>
                  <a:pt x="0" y="285"/>
                </a:cubicBezTo>
                <a:cubicBezTo>
                  <a:pt x="0" y="267"/>
                  <a:pt x="2" y="248"/>
                  <a:pt x="6" y="230"/>
                </a:cubicBezTo>
                <a:cubicBezTo>
                  <a:pt x="10" y="211"/>
                  <a:pt x="16" y="193"/>
                  <a:pt x="24" y="176"/>
                </a:cubicBezTo>
                <a:cubicBezTo>
                  <a:pt x="32" y="159"/>
                  <a:pt x="42" y="142"/>
                  <a:pt x="53" y="127"/>
                </a:cubicBezTo>
                <a:cubicBezTo>
                  <a:pt x="65" y="111"/>
                  <a:pt x="78" y="97"/>
                  <a:pt x="93" y="83"/>
                </a:cubicBezTo>
                <a:cubicBezTo>
                  <a:pt x="108" y="70"/>
                  <a:pt x="124" y="58"/>
                  <a:pt x="141" y="48"/>
                </a:cubicBezTo>
                <a:cubicBezTo>
                  <a:pt x="158" y="37"/>
                  <a:pt x="177" y="28"/>
                  <a:pt x="196" y="21"/>
                </a:cubicBezTo>
                <a:cubicBezTo>
                  <a:pt x="215" y="14"/>
                  <a:pt x="235" y="9"/>
                  <a:pt x="255" y="5"/>
                </a:cubicBezTo>
                <a:cubicBezTo>
                  <a:pt x="276" y="1"/>
                  <a:pt x="296" y="0"/>
                  <a:pt x="317" y="0"/>
                </a:cubicBezTo>
                <a:cubicBezTo>
                  <a:pt x="338" y="0"/>
                  <a:pt x="359" y="1"/>
                  <a:pt x="379" y="5"/>
                </a:cubicBezTo>
                <a:cubicBezTo>
                  <a:pt x="400" y="9"/>
                  <a:pt x="420" y="14"/>
                  <a:pt x="439" y="21"/>
                </a:cubicBezTo>
                <a:cubicBezTo>
                  <a:pt x="458" y="28"/>
                  <a:pt x="476" y="37"/>
                  <a:pt x="494" y="48"/>
                </a:cubicBezTo>
                <a:cubicBezTo>
                  <a:pt x="512" y="58"/>
                  <a:pt x="528" y="70"/>
                  <a:pt x="543" y="83"/>
                </a:cubicBezTo>
                <a:cubicBezTo>
                  <a:pt x="558" y="97"/>
                  <a:pt x="571" y="111"/>
                  <a:pt x="582" y="127"/>
                </a:cubicBezTo>
                <a:cubicBezTo>
                  <a:pt x="594" y="142"/>
                  <a:pt x="604" y="159"/>
                  <a:pt x="612" y="176"/>
                </a:cubicBezTo>
                <a:cubicBezTo>
                  <a:pt x="620" y="193"/>
                  <a:pt x="626" y="211"/>
                  <a:pt x="630" y="230"/>
                </a:cubicBezTo>
                <a:cubicBezTo>
                  <a:pt x="634" y="248"/>
                  <a:pt x="636" y="267"/>
                  <a:pt x="636" y="285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8619120" y="5314680"/>
            <a:ext cx="2995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0.88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6151680" y="5668920"/>
            <a:ext cx="171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6438960" y="5651640"/>
            <a:ext cx="19468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⽆关特征：周边超市数量（降低模型性能）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103541-9507-09A3-C59A-0F4F73D3149D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8CB01-05C3-8EA1-B46A-7207E0B07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任意多边形 93">
            <a:extLst>
              <a:ext uri="{FF2B5EF4-FFF2-40B4-BE49-F238E27FC236}">
                <a16:creationId xmlns:a16="http://schemas.microsoft.com/office/drawing/2014/main" id="{67F130A8-B903-6D36-AACB-D1EDB31341CA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5" name="任意多边形 94">
            <a:extLst>
              <a:ext uri="{FF2B5EF4-FFF2-40B4-BE49-F238E27FC236}">
                <a16:creationId xmlns:a16="http://schemas.microsoft.com/office/drawing/2014/main" id="{A5D0035A-AFA6-E497-05BB-3DD5F53A2C36}"/>
              </a:ext>
            </a:extLst>
          </p:cNvPr>
          <p:cNvSpPr/>
          <p:nvPr/>
        </p:nvSpPr>
        <p:spPr>
          <a:xfrm>
            <a:off x="152280" y="136800"/>
            <a:ext cx="11887560" cy="6721200"/>
          </a:xfrm>
          <a:custGeom>
            <a:avLst/>
            <a:gdLst/>
            <a:ahLst/>
            <a:cxnLst/>
            <a:rect l="0" t="0" r="r" b="b"/>
            <a:pathLst>
              <a:path w="33021" h="18670">
                <a:moveTo>
                  <a:pt x="0" y="0"/>
                </a:moveTo>
                <a:lnTo>
                  <a:pt x="33021" y="0"/>
                </a:lnTo>
                <a:lnTo>
                  <a:pt x="33021" y="18670"/>
                </a:lnTo>
                <a:lnTo>
                  <a:pt x="0" y="186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6" name="任意多边形 95">
            <a:extLst>
              <a:ext uri="{FF2B5EF4-FFF2-40B4-BE49-F238E27FC236}">
                <a16:creationId xmlns:a16="http://schemas.microsoft.com/office/drawing/2014/main" id="{D22FB9D4-E37B-3FCB-FA1C-A80FA393DDBC}"/>
              </a:ext>
            </a:extLst>
          </p:cNvPr>
          <p:cNvSpPr/>
          <p:nvPr/>
        </p:nvSpPr>
        <p:spPr>
          <a:xfrm>
            <a:off x="152280" y="136800"/>
            <a:ext cx="11887560" cy="866520"/>
          </a:xfrm>
          <a:custGeom>
            <a:avLst/>
            <a:gdLst/>
            <a:ahLst/>
            <a:cxnLst/>
            <a:rect l="0" t="0" r="r" b="b"/>
            <a:pathLst>
              <a:path w="33021" h="2407">
                <a:moveTo>
                  <a:pt x="0" y="0"/>
                </a:moveTo>
                <a:lnTo>
                  <a:pt x="33021" y="0"/>
                </a:lnTo>
                <a:lnTo>
                  <a:pt x="33021" y="2407"/>
                </a:lnTo>
                <a:lnTo>
                  <a:pt x="0" y="2407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7" name="任意多边形 96">
            <a:extLst>
              <a:ext uri="{FF2B5EF4-FFF2-40B4-BE49-F238E27FC236}">
                <a16:creationId xmlns:a16="http://schemas.microsoft.com/office/drawing/2014/main" id="{3F741685-3BFD-16EA-2A0F-2D3A6ADA2BF3}"/>
              </a:ext>
            </a:extLst>
          </p:cNvPr>
          <p:cNvSpPr/>
          <p:nvPr/>
        </p:nvSpPr>
        <p:spPr>
          <a:xfrm>
            <a:off x="152280" y="1002960"/>
            <a:ext cx="11887560" cy="5623920"/>
          </a:xfrm>
          <a:custGeom>
            <a:avLst/>
            <a:gdLst/>
            <a:ahLst/>
            <a:cxnLst/>
            <a:rect l="0" t="0" r="r" b="b"/>
            <a:pathLst>
              <a:path w="33021" h="15622">
                <a:moveTo>
                  <a:pt x="0" y="0"/>
                </a:moveTo>
                <a:lnTo>
                  <a:pt x="33021" y="0"/>
                </a:lnTo>
                <a:lnTo>
                  <a:pt x="33021" y="15622"/>
                </a:lnTo>
                <a:lnTo>
                  <a:pt x="0" y="1562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A7760AB4-4322-62D7-6F78-7F0E48C46AD9}"/>
              </a:ext>
            </a:extLst>
          </p:cNvPr>
          <p:cNvSpPr txBox="1"/>
          <p:nvPr/>
        </p:nvSpPr>
        <p:spPr>
          <a:xfrm>
            <a:off x="609480" y="351720"/>
            <a:ext cx="3115800" cy="419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83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线性回归：从数学原理到应⽤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69B3E3-632B-E6F4-113B-6A5CB96AE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61" y="1140120"/>
            <a:ext cx="10126717" cy="525271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CEAD12C-9E28-0F43-2E31-AB6C0959CC28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284090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B0CFC-1725-4198-FFAD-B14549167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任意多边形 93">
            <a:extLst>
              <a:ext uri="{FF2B5EF4-FFF2-40B4-BE49-F238E27FC236}">
                <a16:creationId xmlns:a16="http://schemas.microsoft.com/office/drawing/2014/main" id="{8E9C5D33-21A0-B42A-FA4A-DFE94B806B4C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5" name="任意多边形 94">
            <a:extLst>
              <a:ext uri="{FF2B5EF4-FFF2-40B4-BE49-F238E27FC236}">
                <a16:creationId xmlns:a16="http://schemas.microsoft.com/office/drawing/2014/main" id="{337F6051-1107-61CA-0B12-C4F86ADCEC0B}"/>
              </a:ext>
            </a:extLst>
          </p:cNvPr>
          <p:cNvSpPr/>
          <p:nvPr/>
        </p:nvSpPr>
        <p:spPr>
          <a:xfrm>
            <a:off x="152280" y="136800"/>
            <a:ext cx="11887560" cy="6721200"/>
          </a:xfrm>
          <a:custGeom>
            <a:avLst/>
            <a:gdLst/>
            <a:ahLst/>
            <a:cxnLst/>
            <a:rect l="0" t="0" r="r" b="b"/>
            <a:pathLst>
              <a:path w="33021" h="18670">
                <a:moveTo>
                  <a:pt x="0" y="0"/>
                </a:moveTo>
                <a:lnTo>
                  <a:pt x="33021" y="0"/>
                </a:lnTo>
                <a:lnTo>
                  <a:pt x="33021" y="18670"/>
                </a:lnTo>
                <a:lnTo>
                  <a:pt x="0" y="186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6" name="任意多边形 95">
            <a:extLst>
              <a:ext uri="{FF2B5EF4-FFF2-40B4-BE49-F238E27FC236}">
                <a16:creationId xmlns:a16="http://schemas.microsoft.com/office/drawing/2014/main" id="{E5B151C9-3DF9-4440-38EE-793953E465C3}"/>
              </a:ext>
            </a:extLst>
          </p:cNvPr>
          <p:cNvSpPr/>
          <p:nvPr/>
        </p:nvSpPr>
        <p:spPr>
          <a:xfrm>
            <a:off x="152280" y="136800"/>
            <a:ext cx="11887560" cy="866520"/>
          </a:xfrm>
          <a:custGeom>
            <a:avLst/>
            <a:gdLst/>
            <a:ahLst/>
            <a:cxnLst/>
            <a:rect l="0" t="0" r="r" b="b"/>
            <a:pathLst>
              <a:path w="33021" h="2407">
                <a:moveTo>
                  <a:pt x="0" y="0"/>
                </a:moveTo>
                <a:lnTo>
                  <a:pt x="33021" y="0"/>
                </a:lnTo>
                <a:lnTo>
                  <a:pt x="33021" y="2407"/>
                </a:lnTo>
                <a:lnTo>
                  <a:pt x="0" y="2407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7" name="任意多边形 96">
            <a:extLst>
              <a:ext uri="{FF2B5EF4-FFF2-40B4-BE49-F238E27FC236}">
                <a16:creationId xmlns:a16="http://schemas.microsoft.com/office/drawing/2014/main" id="{A3D11835-A4BC-B685-CC45-A89674D33BE8}"/>
              </a:ext>
            </a:extLst>
          </p:cNvPr>
          <p:cNvSpPr/>
          <p:nvPr/>
        </p:nvSpPr>
        <p:spPr>
          <a:xfrm>
            <a:off x="152280" y="1002960"/>
            <a:ext cx="11887560" cy="5623920"/>
          </a:xfrm>
          <a:custGeom>
            <a:avLst/>
            <a:gdLst/>
            <a:ahLst/>
            <a:cxnLst/>
            <a:rect l="0" t="0" r="r" b="b"/>
            <a:pathLst>
              <a:path w="33021" h="15622">
                <a:moveTo>
                  <a:pt x="0" y="0"/>
                </a:moveTo>
                <a:lnTo>
                  <a:pt x="33021" y="0"/>
                </a:lnTo>
                <a:lnTo>
                  <a:pt x="33021" y="15622"/>
                </a:lnTo>
                <a:lnTo>
                  <a:pt x="0" y="1562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D4E69856-64FF-93B2-D254-CBB36A767D4E}"/>
              </a:ext>
            </a:extLst>
          </p:cNvPr>
          <p:cNvSpPr txBox="1"/>
          <p:nvPr/>
        </p:nvSpPr>
        <p:spPr>
          <a:xfrm>
            <a:off x="609480" y="351720"/>
            <a:ext cx="1811393" cy="4355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3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</a:rPr>
              <a:t>多项式回归</a:t>
            </a:r>
            <a:endParaRPr kumimoji="0" lang="en-US" sz="283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CC1DA96-5581-3F99-D086-22AB575D8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79" y="1054693"/>
            <a:ext cx="10710041" cy="561971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44CD524-37B7-B7D5-B776-BCB72D67EE84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703102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4D531-A9F0-5E0F-0760-621CC6AEA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任意多边形 206">
            <a:extLst>
              <a:ext uri="{FF2B5EF4-FFF2-40B4-BE49-F238E27FC236}">
                <a16:creationId xmlns:a16="http://schemas.microsoft.com/office/drawing/2014/main" id="{AE8C6DFA-0C59-ED7D-7207-A2534204C128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8" name="任意多边形 207">
            <a:extLst>
              <a:ext uri="{FF2B5EF4-FFF2-40B4-BE49-F238E27FC236}">
                <a16:creationId xmlns:a16="http://schemas.microsoft.com/office/drawing/2014/main" id="{A60959DB-23E0-C054-A6AB-C4EABD6F0DC2}"/>
              </a:ext>
            </a:extLst>
          </p:cNvPr>
          <p:cNvSpPr/>
          <p:nvPr/>
        </p:nvSpPr>
        <p:spPr>
          <a:xfrm>
            <a:off x="152280" y="129240"/>
            <a:ext cx="11887560" cy="6728760"/>
          </a:xfrm>
          <a:custGeom>
            <a:avLst/>
            <a:gdLst/>
            <a:ahLst/>
            <a:cxnLst/>
            <a:rect l="0" t="0" r="r" b="b"/>
            <a:pathLst>
              <a:path w="33021" h="18691">
                <a:moveTo>
                  <a:pt x="0" y="0"/>
                </a:moveTo>
                <a:lnTo>
                  <a:pt x="33021" y="0"/>
                </a:lnTo>
                <a:lnTo>
                  <a:pt x="33021" y="18691"/>
                </a:lnTo>
                <a:lnTo>
                  <a:pt x="0" y="186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9" name="任意多边形 208">
            <a:extLst>
              <a:ext uri="{FF2B5EF4-FFF2-40B4-BE49-F238E27FC236}">
                <a16:creationId xmlns:a16="http://schemas.microsoft.com/office/drawing/2014/main" id="{DDC07428-744E-D9CC-6203-BB401E0A1541}"/>
              </a:ext>
            </a:extLst>
          </p:cNvPr>
          <p:cNvSpPr/>
          <p:nvPr/>
        </p:nvSpPr>
        <p:spPr>
          <a:xfrm>
            <a:off x="152280" y="129240"/>
            <a:ext cx="11887560" cy="817200"/>
          </a:xfrm>
          <a:custGeom>
            <a:avLst/>
            <a:gdLst/>
            <a:ahLst/>
            <a:cxnLst/>
            <a:rect l="0" t="0" r="r" b="b"/>
            <a:pathLst>
              <a:path w="33021" h="2270">
                <a:moveTo>
                  <a:pt x="0" y="0"/>
                </a:moveTo>
                <a:lnTo>
                  <a:pt x="33021" y="0"/>
                </a:lnTo>
                <a:lnTo>
                  <a:pt x="33021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10" name="任意多边形 209">
            <a:extLst>
              <a:ext uri="{FF2B5EF4-FFF2-40B4-BE49-F238E27FC236}">
                <a16:creationId xmlns:a16="http://schemas.microsoft.com/office/drawing/2014/main" id="{7F6311DF-6F77-8A53-AF49-D288590DFC12}"/>
              </a:ext>
            </a:extLst>
          </p:cNvPr>
          <p:cNvSpPr/>
          <p:nvPr/>
        </p:nvSpPr>
        <p:spPr>
          <a:xfrm>
            <a:off x="152280" y="946080"/>
            <a:ext cx="11887560" cy="5693760"/>
          </a:xfrm>
          <a:custGeom>
            <a:avLst/>
            <a:gdLst/>
            <a:ahLst/>
            <a:cxnLst/>
            <a:rect l="0" t="0" r="r" b="b"/>
            <a:pathLst>
              <a:path w="33021" h="15816">
                <a:moveTo>
                  <a:pt x="0" y="0"/>
                </a:moveTo>
                <a:lnTo>
                  <a:pt x="33021" y="0"/>
                </a:lnTo>
                <a:lnTo>
                  <a:pt x="33021" y="15816"/>
                </a:lnTo>
                <a:lnTo>
                  <a:pt x="0" y="15816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06A97A57-D044-B2D8-AF36-B8DDFCBA8445}"/>
              </a:ext>
            </a:extLst>
          </p:cNvPr>
          <p:cNvSpPr txBox="1"/>
          <p:nvPr/>
        </p:nvSpPr>
        <p:spPr>
          <a:xfrm>
            <a:off x="609480" y="331920"/>
            <a:ext cx="336816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8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逻辑回归：分类问题的概率建模</a:t>
            </a:r>
            <a:endParaRPr kumimoji="0" lang="en-US" sz="26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25CAC15-4FDB-8A7B-6887-85F78D6C3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118" y="1001574"/>
            <a:ext cx="9608905" cy="571298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F8D59DD-C663-46AD-A83A-0C393BCC9563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989411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任意多边形 20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8" name="任意多边形 207"/>
          <p:cNvSpPr/>
          <p:nvPr/>
        </p:nvSpPr>
        <p:spPr>
          <a:xfrm>
            <a:off x="152280" y="129240"/>
            <a:ext cx="11887560" cy="6728760"/>
          </a:xfrm>
          <a:custGeom>
            <a:avLst/>
            <a:gdLst/>
            <a:ahLst/>
            <a:cxnLst/>
            <a:rect l="0" t="0" r="r" b="b"/>
            <a:pathLst>
              <a:path w="33021" h="18691">
                <a:moveTo>
                  <a:pt x="0" y="0"/>
                </a:moveTo>
                <a:lnTo>
                  <a:pt x="33021" y="0"/>
                </a:lnTo>
                <a:lnTo>
                  <a:pt x="33021" y="18691"/>
                </a:lnTo>
                <a:lnTo>
                  <a:pt x="0" y="186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9" name="任意多边形 208"/>
          <p:cNvSpPr/>
          <p:nvPr/>
        </p:nvSpPr>
        <p:spPr>
          <a:xfrm>
            <a:off x="152280" y="129240"/>
            <a:ext cx="11887560" cy="817200"/>
          </a:xfrm>
          <a:custGeom>
            <a:avLst/>
            <a:gdLst/>
            <a:ahLst/>
            <a:cxnLst/>
            <a:rect l="0" t="0" r="r" b="b"/>
            <a:pathLst>
              <a:path w="33021" h="2270">
                <a:moveTo>
                  <a:pt x="0" y="0"/>
                </a:moveTo>
                <a:lnTo>
                  <a:pt x="33021" y="0"/>
                </a:lnTo>
                <a:lnTo>
                  <a:pt x="33021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0" name="任意多边形 209"/>
          <p:cNvSpPr/>
          <p:nvPr/>
        </p:nvSpPr>
        <p:spPr>
          <a:xfrm>
            <a:off x="152280" y="946080"/>
            <a:ext cx="11887560" cy="5693760"/>
          </a:xfrm>
          <a:custGeom>
            <a:avLst/>
            <a:gdLst/>
            <a:ahLst/>
            <a:cxnLst/>
            <a:rect l="0" t="0" r="r" b="b"/>
            <a:pathLst>
              <a:path w="33021" h="15816">
                <a:moveTo>
                  <a:pt x="0" y="0"/>
                </a:moveTo>
                <a:lnTo>
                  <a:pt x="33021" y="0"/>
                </a:lnTo>
                <a:lnTo>
                  <a:pt x="33021" y="15816"/>
                </a:lnTo>
                <a:lnTo>
                  <a:pt x="0" y="15816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1" name="任意多边形 210"/>
          <p:cNvSpPr/>
          <p:nvPr/>
        </p:nvSpPr>
        <p:spPr>
          <a:xfrm>
            <a:off x="596880" y="3442680"/>
            <a:ext cx="991080" cy="356040"/>
          </a:xfrm>
          <a:custGeom>
            <a:avLst/>
            <a:gdLst/>
            <a:ahLst/>
            <a:cxnLst/>
            <a:rect l="0" t="0" r="r" b="b"/>
            <a:pathLst>
              <a:path w="2753" h="989">
                <a:moveTo>
                  <a:pt x="0" y="0"/>
                </a:moveTo>
                <a:lnTo>
                  <a:pt x="2753" y="0"/>
                </a:lnTo>
                <a:lnTo>
                  <a:pt x="2753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2" name="任意多边形 211"/>
          <p:cNvSpPr/>
          <p:nvPr/>
        </p:nvSpPr>
        <p:spPr>
          <a:xfrm>
            <a:off x="1587600" y="3442680"/>
            <a:ext cx="1553040" cy="356040"/>
          </a:xfrm>
          <a:custGeom>
            <a:avLst/>
            <a:gdLst/>
            <a:ahLst/>
            <a:cxnLst/>
            <a:rect l="0" t="0" r="r" b="b"/>
            <a:pathLst>
              <a:path w="4314" h="989">
                <a:moveTo>
                  <a:pt x="0" y="0"/>
                </a:moveTo>
                <a:lnTo>
                  <a:pt x="4314" y="0"/>
                </a:lnTo>
                <a:lnTo>
                  <a:pt x="4314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3" name="任意多边形 212"/>
          <p:cNvSpPr/>
          <p:nvPr/>
        </p:nvSpPr>
        <p:spPr>
          <a:xfrm>
            <a:off x="3140280" y="3442680"/>
            <a:ext cx="2629080" cy="356040"/>
          </a:xfrm>
          <a:custGeom>
            <a:avLst/>
            <a:gdLst/>
            <a:ahLst/>
            <a:cxnLst/>
            <a:rect l="0" t="0" r="r" b="b"/>
            <a:pathLst>
              <a:path w="7303" h="989">
                <a:moveTo>
                  <a:pt x="0" y="0"/>
                </a:moveTo>
                <a:lnTo>
                  <a:pt x="7303" y="0"/>
                </a:lnTo>
                <a:lnTo>
                  <a:pt x="7303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4" name="任意多边形 213"/>
          <p:cNvSpPr/>
          <p:nvPr/>
        </p:nvSpPr>
        <p:spPr>
          <a:xfrm>
            <a:off x="596880" y="4154400"/>
            <a:ext cx="991080" cy="356040"/>
          </a:xfrm>
          <a:custGeom>
            <a:avLst/>
            <a:gdLst/>
            <a:ahLst/>
            <a:cxnLst/>
            <a:rect l="0" t="0" r="r" b="b"/>
            <a:pathLst>
              <a:path w="2753" h="989">
                <a:moveTo>
                  <a:pt x="0" y="0"/>
                </a:moveTo>
                <a:lnTo>
                  <a:pt x="2753" y="0"/>
                </a:lnTo>
                <a:lnTo>
                  <a:pt x="2753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5" name="任意多边形 214"/>
          <p:cNvSpPr/>
          <p:nvPr/>
        </p:nvSpPr>
        <p:spPr>
          <a:xfrm>
            <a:off x="1587600" y="4154400"/>
            <a:ext cx="1553040" cy="356040"/>
          </a:xfrm>
          <a:custGeom>
            <a:avLst/>
            <a:gdLst/>
            <a:ahLst/>
            <a:cxnLst/>
            <a:rect l="0" t="0" r="r" b="b"/>
            <a:pathLst>
              <a:path w="4314" h="989">
                <a:moveTo>
                  <a:pt x="0" y="0"/>
                </a:moveTo>
                <a:lnTo>
                  <a:pt x="4314" y="0"/>
                </a:lnTo>
                <a:lnTo>
                  <a:pt x="4314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6" name="任意多边形 215"/>
          <p:cNvSpPr/>
          <p:nvPr/>
        </p:nvSpPr>
        <p:spPr>
          <a:xfrm>
            <a:off x="3140280" y="4154400"/>
            <a:ext cx="2629080" cy="356040"/>
          </a:xfrm>
          <a:custGeom>
            <a:avLst/>
            <a:gdLst/>
            <a:ahLst/>
            <a:cxnLst/>
            <a:rect l="0" t="0" r="r" b="b"/>
            <a:pathLst>
              <a:path w="7303" h="989">
                <a:moveTo>
                  <a:pt x="0" y="0"/>
                </a:moveTo>
                <a:lnTo>
                  <a:pt x="7303" y="0"/>
                </a:lnTo>
                <a:lnTo>
                  <a:pt x="7303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7" name="任意多边形 216"/>
          <p:cNvSpPr/>
          <p:nvPr/>
        </p:nvSpPr>
        <p:spPr>
          <a:xfrm>
            <a:off x="596880" y="4866120"/>
            <a:ext cx="991080" cy="356040"/>
          </a:xfrm>
          <a:custGeom>
            <a:avLst/>
            <a:gdLst/>
            <a:ahLst/>
            <a:cxnLst/>
            <a:rect l="0" t="0" r="r" b="b"/>
            <a:pathLst>
              <a:path w="2753" h="989">
                <a:moveTo>
                  <a:pt x="0" y="0"/>
                </a:moveTo>
                <a:lnTo>
                  <a:pt x="2753" y="0"/>
                </a:lnTo>
                <a:lnTo>
                  <a:pt x="2753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8" name="任意多边形 217"/>
          <p:cNvSpPr/>
          <p:nvPr/>
        </p:nvSpPr>
        <p:spPr>
          <a:xfrm>
            <a:off x="1587600" y="4866120"/>
            <a:ext cx="1553040" cy="356040"/>
          </a:xfrm>
          <a:custGeom>
            <a:avLst/>
            <a:gdLst/>
            <a:ahLst/>
            <a:cxnLst/>
            <a:rect l="0" t="0" r="r" b="b"/>
            <a:pathLst>
              <a:path w="4314" h="989">
                <a:moveTo>
                  <a:pt x="0" y="0"/>
                </a:moveTo>
                <a:lnTo>
                  <a:pt x="4314" y="0"/>
                </a:lnTo>
                <a:lnTo>
                  <a:pt x="4314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9" name="任意多边形 218"/>
          <p:cNvSpPr/>
          <p:nvPr/>
        </p:nvSpPr>
        <p:spPr>
          <a:xfrm>
            <a:off x="3140280" y="4866120"/>
            <a:ext cx="2629080" cy="356040"/>
          </a:xfrm>
          <a:custGeom>
            <a:avLst/>
            <a:gdLst/>
            <a:ahLst/>
            <a:cxnLst/>
            <a:rect l="0" t="0" r="r" b="b"/>
            <a:pathLst>
              <a:path w="7303" h="989">
                <a:moveTo>
                  <a:pt x="0" y="0"/>
                </a:moveTo>
                <a:lnTo>
                  <a:pt x="7303" y="0"/>
                </a:lnTo>
                <a:lnTo>
                  <a:pt x="7303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0" name="任意多边形 219"/>
          <p:cNvSpPr/>
          <p:nvPr/>
        </p:nvSpPr>
        <p:spPr>
          <a:xfrm>
            <a:off x="587520" y="3434400"/>
            <a:ext cx="9720" cy="364320"/>
          </a:xfrm>
          <a:custGeom>
            <a:avLst/>
            <a:gdLst/>
            <a:ahLst/>
            <a:cxnLst/>
            <a:rect l="0" t="0" r="r" b="b"/>
            <a:pathLst>
              <a:path w="27" h="1012">
                <a:moveTo>
                  <a:pt x="0" y="0"/>
                </a:moveTo>
                <a:lnTo>
                  <a:pt x="27" y="0"/>
                </a:lnTo>
                <a:lnTo>
                  <a:pt x="27" y="1012"/>
                </a:lnTo>
                <a:lnTo>
                  <a:pt x="0" y="101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1" name="任意多边形 220"/>
          <p:cNvSpPr/>
          <p:nvPr/>
        </p:nvSpPr>
        <p:spPr>
          <a:xfrm>
            <a:off x="587520" y="3434400"/>
            <a:ext cx="1009800" cy="8640"/>
          </a:xfrm>
          <a:custGeom>
            <a:avLst/>
            <a:gdLst/>
            <a:ahLst/>
            <a:cxnLst/>
            <a:rect l="0" t="0" r="r" b="b"/>
            <a:pathLst>
              <a:path w="2805" h="24">
                <a:moveTo>
                  <a:pt x="0" y="0"/>
                </a:moveTo>
                <a:lnTo>
                  <a:pt x="2805" y="0"/>
                </a:lnTo>
                <a:lnTo>
                  <a:pt x="2805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2" name="任意多边形 221"/>
          <p:cNvSpPr/>
          <p:nvPr/>
        </p:nvSpPr>
        <p:spPr>
          <a:xfrm>
            <a:off x="1587600" y="3434400"/>
            <a:ext cx="9720" cy="364320"/>
          </a:xfrm>
          <a:custGeom>
            <a:avLst/>
            <a:gdLst/>
            <a:ahLst/>
            <a:cxnLst/>
            <a:rect l="0" t="0" r="r" b="b"/>
            <a:pathLst>
              <a:path w="27" h="1012">
                <a:moveTo>
                  <a:pt x="0" y="0"/>
                </a:moveTo>
                <a:lnTo>
                  <a:pt x="27" y="0"/>
                </a:lnTo>
                <a:lnTo>
                  <a:pt x="27" y="1012"/>
                </a:lnTo>
                <a:lnTo>
                  <a:pt x="0" y="101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3" name="任意多边形 222"/>
          <p:cNvSpPr/>
          <p:nvPr/>
        </p:nvSpPr>
        <p:spPr>
          <a:xfrm>
            <a:off x="1596960" y="3434400"/>
            <a:ext cx="1543680" cy="8640"/>
          </a:xfrm>
          <a:custGeom>
            <a:avLst/>
            <a:gdLst/>
            <a:ahLst/>
            <a:cxnLst/>
            <a:rect l="0" t="0" r="r" b="b"/>
            <a:pathLst>
              <a:path w="4288" h="24">
                <a:moveTo>
                  <a:pt x="0" y="0"/>
                </a:moveTo>
                <a:lnTo>
                  <a:pt x="4288" y="0"/>
                </a:lnTo>
                <a:lnTo>
                  <a:pt x="4288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4" name="任意多边形 223"/>
          <p:cNvSpPr/>
          <p:nvPr/>
        </p:nvSpPr>
        <p:spPr>
          <a:xfrm>
            <a:off x="3130560" y="3434400"/>
            <a:ext cx="10080" cy="364320"/>
          </a:xfrm>
          <a:custGeom>
            <a:avLst/>
            <a:gdLst/>
            <a:ahLst/>
            <a:cxnLst/>
            <a:rect l="0" t="0" r="r" b="b"/>
            <a:pathLst>
              <a:path w="28" h="1012">
                <a:moveTo>
                  <a:pt x="0" y="0"/>
                </a:moveTo>
                <a:lnTo>
                  <a:pt x="28" y="0"/>
                </a:lnTo>
                <a:lnTo>
                  <a:pt x="28" y="1012"/>
                </a:lnTo>
                <a:lnTo>
                  <a:pt x="0" y="101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5" name="任意多边形 224"/>
          <p:cNvSpPr/>
          <p:nvPr/>
        </p:nvSpPr>
        <p:spPr>
          <a:xfrm>
            <a:off x="3140280" y="3434400"/>
            <a:ext cx="2629080" cy="8640"/>
          </a:xfrm>
          <a:custGeom>
            <a:avLst/>
            <a:gdLst/>
            <a:ahLst/>
            <a:cxnLst/>
            <a:rect l="0" t="0" r="r" b="b"/>
            <a:pathLst>
              <a:path w="7303" h="24">
                <a:moveTo>
                  <a:pt x="0" y="0"/>
                </a:moveTo>
                <a:lnTo>
                  <a:pt x="7303" y="0"/>
                </a:lnTo>
                <a:lnTo>
                  <a:pt x="7303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6" name="任意多边形 225"/>
          <p:cNvSpPr/>
          <p:nvPr/>
        </p:nvSpPr>
        <p:spPr>
          <a:xfrm>
            <a:off x="5759640" y="3434400"/>
            <a:ext cx="9720" cy="364320"/>
          </a:xfrm>
          <a:custGeom>
            <a:avLst/>
            <a:gdLst/>
            <a:ahLst/>
            <a:cxnLst/>
            <a:rect l="0" t="0" r="r" b="b"/>
            <a:pathLst>
              <a:path w="27" h="1012">
                <a:moveTo>
                  <a:pt x="0" y="0"/>
                </a:moveTo>
                <a:lnTo>
                  <a:pt x="27" y="0"/>
                </a:lnTo>
                <a:lnTo>
                  <a:pt x="27" y="1012"/>
                </a:lnTo>
                <a:lnTo>
                  <a:pt x="0" y="101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7" name="任意多边形 226"/>
          <p:cNvSpPr/>
          <p:nvPr/>
        </p:nvSpPr>
        <p:spPr>
          <a:xfrm>
            <a:off x="587520" y="3790440"/>
            <a:ext cx="1009800" cy="8280"/>
          </a:xfrm>
          <a:custGeom>
            <a:avLst/>
            <a:gdLst/>
            <a:ahLst/>
            <a:cxnLst/>
            <a:rect l="0" t="0" r="r" b="b"/>
            <a:pathLst>
              <a:path w="2805" h="23">
                <a:moveTo>
                  <a:pt x="0" y="0"/>
                </a:moveTo>
                <a:lnTo>
                  <a:pt x="2805" y="0"/>
                </a:lnTo>
                <a:lnTo>
                  <a:pt x="2805" y="23"/>
                </a:lnTo>
                <a:lnTo>
                  <a:pt x="0" y="2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8" name="任意多边形 227"/>
          <p:cNvSpPr/>
          <p:nvPr/>
        </p:nvSpPr>
        <p:spPr>
          <a:xfrm>
            <a:off x="1596960" y="3790440"/>
            <a:ext cx="1543680" cy="8280"/>
          </a:xfrm>
          <a:custGeom>
            <a:avLst/>
            <a:gdLst/>
            <a:ahLst/>
            <a:cxnLst/>
            <a:rect l="0" t="0" r="r" b="b"/>
            <a:pathLst>
              <a:path w="4288" h="23">
                <a:moveTo>
                  <a:pt x="0" y="0"/>
                </a:moveTo>
                <a:lnTo>
                  <a:pt x="4288" y="0"/>
                </a:lnTo>
                <a:lnTo>
                  <a:pt x="4288" y="23"/>
                </a:lnTo>
                <a:lnTo>
                  <a:pt x="0" y="2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9" name="任意多边形 228"/>
          <p:cNvSpPr/>
          <p:nvPr/>
        </p:nvSpPr>
        <p:spPr>
          <a:xfrm>
            <a:off x="3140280" y="3790440"/>
            <a:ext cx="2629080" cy="8280"/>
          </a:xfrm>
          <a:custGeom>
            <a:avLst/>
            <a:gdLst/>
            <a:ahLst/>
            <a:cxnLst/>
            <a:rect l="0" t="0" r="r" b="b"/>
            <a:pathLst>
              <a:path w="7303" h="23">
                <a:moveTo>
                  <a:pt x="0" y="0"/>
                </a:moveTo>
                <a:lnTo>
                  <a:pt x="7303" y="0"/>
                </a:lnTo>
                <a:lnTo>
                  <a:pt x="7303" y="23"/>
                </a:lnTo>
                <a:lnTo>
                  <a:pt x="0" y="2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0" name="任意多边形 229"/>
          <p:cNvSpPr/>
          <p:nvPr/>
        </p:nvSpPr>
        <p:spPr>
          <a:xfrm>
            <a:off x="587520" y="3798360"/>
            <a:ext cx="9720" cy="356400"/>
          </a:xfrm>
          <a:custGeom>
            <a:avLst/>
            <a:gdLst/>
            <a:ahLst/>
            <a:cxnLst/>
            <a:rect l="0" t="0" r="r" b="b"/>
            <a:pathLst>
              <a:path w="27" h="990">
                <a:moveTo>
                  <a:pt x="0" y="0"/>
                </a:moveTo>
                <a:lnTo>
                  <a:pt x="27" y="0"/>
                </a:lnTo>
                <a:lnTo>
                  <a:pt x="27" y="990"/>
                </a:lnTo>
                <a:lnTo>
                  <a:pt x="0" y="99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1" name="任意多边形 230"/>
          <p:cNvSpPr/>
          <p:nvPr/>
        </p:nvSpPr>
        <p:spPr>
          <a:xfrm>
            <a:off x="1587600" y="3798360"/>
            <a:ext cx="9720" cy="356400"/>
          </a:xfrm>
          <a:custGeom>
            <a:avLst/>
            <a:gdLst/>
            <a:ahLst/>
            <a:cxnLst/>
            <a:rect l="0" t="0" r="r" b="b"/>
            <a:pathLst>
              <a:path w="27" h="990">
                <a:moveTo>
                  <a:pt x="0" y="0"/>
                </a:moveTo>
                <a:lnTo>
                  <a:pt x="27" y="0"/>
                </a:lnTo>
                <a:lnTo>
                  <a:pt x="27" y="990"/>
                </a:lnTo>
                <a:lnTo>
                  <a:pt x="0" y="99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2" name="任意多边形 231"/>
          <p:cNvSpPr/>
          <p:nvPr/>
        </p:nvSpPr>
        <p:spPr>
          <a:xfrm>
            <a:off x="3130560" y="3798360"/>
            <a:ext cx="10080" cy="356400"/>
          </a:xfrm>
          <a:custGeom>
            <a:avLst/>
            <a:gdLst/>
            <a:ahLst/>
            <a:cxnLst/>
            <a:rect l="0" t="0" r="r" b="b"/>
            <a:pathLst>
              <a:path w="28" h="990">
                <a:moveTo>
                  <a:pt x="0" y="0"/>
                </a:moveTo>
                <a:lnTo>
                  <a:pt x="28" y="0"/>
                </a:lnTo>
                <a:lnTo>
                  <a:pt x="28" y="990"/>
                </a:lnTo>
                <a:lnTo>
                  <a:pt x="0" y="99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3" name="任意多边形 232"/>
          <p:cNvSpPr/>
          <p:nvPr/>
        </p:nvSpPr>
        <p:spPr>
          <a:xfrm>
            <a:off x="5759640" y="3798360"/>
            <a:ext cx="9720" cy="356400"/>
          </a:xfrm>
          <a:custGeom>
            <a:avLst/>
            <a:gdLst/>
            <a:ahLst/>
            <a:cxnLst/>
            <a:rect l="0" t="0" r="r" b="b"/>
            <a:pathLst>
              <a:path w="27" h="990">
                <a:moveTo>
                  <a:pt x="0" y="0"/>
                </a:moveTo>
                <a:lnTo>
                  <a:pt x="27" y="0"/>
                </a:lnTo>
                <a:lnTo>
                  <a:pt x="27" y="990"/>
                </a:lnTo>
                <a:lnTo>
                  <a:pt x="0" y="99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4" name="任意多边形 233"/>
          <p:cNvSpPr/>
          <p:nvPr/>
        </p:nvSpPr>
        <p:spPr>
          <a:xfrm>
            <a:off x="587520" y="4154400"/>
            <a:ext cx="9720" cy="356040"/>
          </a:xfrm>
          <a:custGeom>
            <a:avLst/>
            <a:gdLst/>
            <a:ahLst/>
            <a:cxnLst/>
            <a:rect l="0" t="0" r="r" b="b"/>
            <a:pathLst>
              <a:path w="27" h="989">
                <a:moveTo>
                  <a:pt x="0" y="0"/>
                </a:moveTo>
                <a:lnTo>
                  <a:pt x="27" y="0"/>
                </a:lnTo>
                <a:lnTo>
                  <a:pt x="27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5" name="任意多边形 234"/>
          <p:cNvSpPr/>
          <p:nvPr/>
        </p:nvSpPr>
        <p:spPr>
          <a:xfrm>
            <a:off x="587520" y="4146120"/>
            <a:ext cx="1009800" cy="8640"/>
          </a:xfrm>
          <a:custGeom>
            <a:avLst/>
            <a:gdLst/>
            <a:ahLst/>
            <a:cxnLst/>
            <a:rect l="0" t="0" r="r" b="b"/>
            <a:pathLst>
              <a:path w="2805" h="24">
                <a:moveTo>
                  <a:pt x="0" y="0"/>
                </a:moveTo>
                <a:lnTo>
                  <a:pt x="2805" y="0"/>
                </a:lnTo>
                <a:lnTo>
                  <a:pt x="2805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6" name="任意多边形 235"/>
          <p:cNvSpPr/>
          <p:nvPr/>
        </p:nvSpPr>
        <p:spPr>
          <a:xfrm>
            <a:off x="1587600" y="4154400"/>
            <a:ext cx="9720" cy="356040"/>
          </a:xfrm>
          <a:custGeom>
            <a:avLst/>
            <a:gdLst/>
            <a:ahLst/>
            <a:cxnLst/>
            <a:rect l="0" t="0" r="r" b="b"/>
            <a:pathLst>
              <a:path w="27" h="989">
                <a:moveTo>
                  <a:pt x="0" y="0"/>
                </a:moveTo>
                <a:lnTo>
                  <a:pt x="27" y="0"/>
                </a:lnTo>
                <a:lnTo>
                  <a:pt x="27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7" name="任意多边形 236"/>
          <p:cNvSpPr/>
          <p:nvPr/>
        </p:nvSpPr>
        <p:spPr>
          <a:xfrm>
            <a:off x="1596960" y="4146120"/>
            <a:ext cx="1543680" cy="8640"/>
          </a:xfrm>
          <a:custGeom>
            <a:avLst/>
            <a:gdLst/>
            <a:ahLst/>
            <a:cxnLst/>
            <a:rect l="0" t="0" r="r" b="b"/>
            <a:pathLst>
              <a:path w="4288" h="24">
                <a:moveTo>
                  <a:pt x="0" y="0"/>
                </a:moveTo>
                <a:lnTo>
                  <a:pt x="4288" y="0"/>
                </a:lnTo>
                <a:lnTo>
                  <a:pt x="4288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8" name="任意多边形 237"/>
          <p:cNvSpPr/>
          <p:nvPr/>
        </p:nvSpPr>
        <p:spPr>
          <a:xfrm>
            <a:off x="3130560" y="4154400"/>
            <a:ext cx="10080" cy="356040"/>
          </a:xfrm>
          <a:custGeom>
            <a:avLst/>
            <a:gdLst/>
            <a:ahLst/>
            <a:cxnLst/>
            <a:rect l="0" t="0" r="r" b="b"/>
            <a:pathLst>
              <a:path w="28" h="989">
                <a:moveTo>
                  <a:pt x="0" y="0"/>
                </a:moveTo>
                <a:lnTo>
                  <a:pt x="28" y="0"/>
                </a:lnTo>
                <a:lnTo>
                  <a:pt x="28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9" name="任意多边形 238"/>
          <p:cNvSpPr/>
          <p:nvPr/>
        </p:nvSpPr>
        <p:spPr>
          <a:xfrm>
            <a:off x="3140280" y="4146120"/>
            <a:ext cx="2629080" cy="8640"/>
          </a:xfrm>
          <a:custGeom>
            <a:avLst/>
            <a:gdLst/>
            <a:ahLst/>
            <a:cxnLst/>
            <a:rect l="0" t="0" r="r" b="b"/>
            <a:pathLst>
              <a:path w="7303" h="24">
                <a:moveTo>
                  <a:pt x="0" y="0"/>
                </a:moveTo>
                <a:lnTo>
                  <a:pt x="7303" y="0"/>
                </a:lnTo>
                <a:lnTo>
                  <a:pt x="7303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0" name="任意多边形 239"/>
          <p:cNvSpPr/>
          <p:nvPr/>
        </p:nvSpPr>
        <p:spPr>
          <a:xfrm>
            <a:off x="5759640" y="4154400"/>
            <a:ext cx="9720" cy="356040"/>
          </a:xfrm>
          <a:custGeom>
            <a:avLst/>
            <a:gdLst/>
            <a:ahLst/>
            <a:cxnLst/>
            <a:rect l="0" t="0" r="r" b="b"/>
            <a:pathLst>
              <a:path w="27" h="989">
                <a:moveTo>
                  <a:pt x="0" y="0"/>
                </a:moveTo>
                <a:lnTo>
                  <a:pt x="27" y="0"/>
                </a:lnTo>
                <a:lnTo>
                  <a:pt x="27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1" name="任意多边形 240"/>
          <p:cNvSpPr/>
          <p:nvPr/>
        </p:nvSpPr>
        <p:spPr>
          <a:xfrm>
            <a:off x="587520" y="4510080"/>
            <a:ext cx="9720" cy="356400"/>
          </a:xfrm>
          <a:custGeom>
            <a:avLst/>
            <a:gdLst/>
            <a:ahLst/>
            <a:cxnLst/>
            <a:rect l="0" t="0" r="r" b="b"/>
            <a:pathLst>
              <a:path w="27" h="990">
                <a:moveTo>
                  <a:pt x="0" y="0"/>
                </a:moveTo>
                <a:lnTo>
                  <a:pt x="27" y="0"/>
                </a:lnTo>
                <a:lnTo>
                  <a:pt x="27" y="990"/>
                </a:lnTo>
                <a:lnTo>
                  <a:pt x="0" y="99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2" name="任意多边形 241"/>
          <p:cNvSpPr/>
          <p:nvPr/>
        </p:nvSpPr>
        <p:spPr>
          <a:xfrm>
            <a:off x="587520" y="4502160"/>
            <a:ext cx="1009800" cy="8280"/>
          </a:xfrm>
          <a:custGeom>
            <a:avLst/>
            <a:gdLst/>
            <a:ahLst/>
            <a:cxnLst/>
            <a:rect l="0" t="0" r="r" b="b"/>
            <a:pathLst>
              <a:path w="2805" h="23">
                <a:moveTo>
                  <a:pt x="0" y="0"/>
                </a:moveTo>
                <a:lnTo>
                  <a:pt x="2805" y="0"/>
                </a:lnTo>
                <a:lnTo>
                  <a:pt x="2805" y="23"/>
                </a:lnTo>
                <a:lnTo>
                  <a:pt x="0" y="2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3" name="任意多边形 242"/>
          <p:cNvSpPr/>
          <p:nvPr/>
        </p:nvSpPr>
        <p:spPr>
          <a:xfrm>
            <a:off x="1587600" y="4510080"/>
            <a:ext cx="9720" cy="356400"/>
          </a:xfrm>
          <a:custGeom>
            <a:avLst/>
            <a:gdLst/>
            <a:ahLst/>
            <a:cxnLst/>
            <a:rect l="0" t="0" r="r" b="b"/>
            <a:pathLst>
              <a:path w="27" h="990">
                <a:moveTo>
                  <a:pt x="0" y="0"/>
                </a:moveTo>
                <a:lnTo>
                  <a:pt x="27" y="0"/>
                </a:lnTo>
                <a:lnTo>
                  <a:pt x="27" y="990"/>
                </a:lnTo>
                <a:lnTo>
                  <a:pt x="0" y="99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4" name="任意多边形 243"/>
          <p:cNvSpPr/>
          <p:nvPr/>
        </p:nvSpPr>
        <p:spPr>
          <a:xfrm>
            <a:off x="1596960" y="4502160"/>
            <a:ext cx="1543680" cy="8280"/>
          </a:xfrm>
          <a:custGeom>
            <a:avLst/>
            <a:gdLst/>
            <a:ahLst/>
            <a:cxnLst/>
            <a:rect l="0" t="0" r="r" b="b"/>
            <a:pathLst>
              <a:path w="4288" h="23">
                <a:moveTo>
                  <a:pt x="0" y="0"/>
                </a:moveTo>
                <a:lnTo>
                  <a:pt x="4288" y="0"/>
                </a:lnTo>
                <a:lnTo>
                  <a:pt x="4288" y="23"/>
                </a:lnTo>
                <a:lnTo>
                  <a:pt x="0" y="2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5" name="任意多边形 244"/>
          <p:cNvSpPr/>
          <p:nvPr/>
        </p:nvSpPr>
        <p:spPr>
          <a:xfrm>
            <a:off x="3130560" y="4510080"/>
            <a:ext cx="10080" cy="356400"/>
          </a:xfrm>
          <a:custGeom>
            <a:avLst/>
            <a:gdLst/>
            <a:ahLst/>
            <a:cxnLst/>
            <a:rect l="0" t="0" r="r" b="b"/>
            <a:pathLst>
              <a:path w="28" h="990">
                <a:moveTo>
                  <a:pt x="0" y="0"/>
                </a:moveTo>
                <a:lnTo>
                  <a:pt x="28" y="0"/>
                </a:lnTo>
                <a:lnTo>
                  <a:pt x="28" y="990"/>
                </a:lnTo>
                <a:lnTo>
                  <a:pt x="0" y="99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6" name="任意多边形 245"/>
          <p:cNvSpPr/>
          <p:nvPr/>
        </p:nvSpPr>
        <p:spPr>
          <a:xfrm>
            <a:off x="3140280" y="4502160"/>
            <a:ext cx="2629080" cy="8280"/>
          </a:xfrm>
          <a:custGeom>
            <a:avLst/>
            <a:gdLst/>
            <a:ahLst/>
            <a:cxnLst/>
            <a:rect l="0" t="0" r="r" b="b"/>
            <a:pathLst>
              <a:path w="7303" h="23">
                <a:moveTo>
                  <a:pt x="0" y="0"/>
                </a:moveTo>
                <a:lnTo>
                  <a:pt x="7303" y="0"/>
                </a:lnTo>
                <a:lnTo>
                  <a:pt x="7303" y="23"/>
                </a:lnTo>
                <a:lnTo>
                  <a:pt x="0" y="2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7" name="任意多边形 246"/>
          <p:cNvSpPr/>
          <p:nvPr/>
        </p:nvSpPr>
        <p:spPr>
          <a:xfrm>
            <a:off x="5759640" y="4510080"/>
            <a:ext cx="9720" cy="356400"/>
          </a:xfrm>
          <a:custGeom>
            <a:avLst/>
            <a:gdLst/>
            <a:ahLst/>
            <a:cxnLst/>
            <a:rect l="0" t="0" r="r" b="b"/>
            <a:pathLst>
              <a:path w="27" h="990">
                <a:moveTo>
                  <a:pt x="0" y="0"/>
                </a:moveTo>
                <a:lnTo>
                  <a:pt x="27" y="0"/>
                </a:lnTo>
                <a:lnTo>
                  <a:pt x="27" y="990"/>
                </a:lnTo>
                <a:lnTo>
                  <a:pt x="0" y="99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8" name="任意多边形 247"/>
          <p:cNvSpPr/>
          <p:nvPr/>
        </p:nvSpPr>
        <p:spPr>
          <a:xfrm>
            <a:off x="587520" y="4866120"/>
            <a:ext cx="9720" cy="356040"/>
          </a:xfrm>
          <a:custGeom>
            <a:avLst/>
            <a:gdLst/>
            <a:ahLst/>
            <a:cxnLst/>
            <a:rect l="0" t="0" r="r" b="b"/>
            <a:pathLst>
              <a:path w="27" h="989">
                <a:moveTo>
                  <a:pt x="0" y="0"/>
                </a:moveTo>
                <a:lnTo>
                  <a:pt x="27" y="0"/>
                </a:lnTo>
                <a:lnTo>
                  <a:pt x="27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9" name="任意多边形 248"/>
          <p:cNvSpPr/>
          <p:nvPr/>
        </p:nvSpPr>
        <p:spPr>
          <a:xfrm>
            <a:off x="587520" y="4857840"/>
            <a:ext cx="1009800" cy="8640"/>
          </a:xfrm>
          <a:custGeom>
            <a:avLst/>
            <a:gdLst/>
            <a:ahLst/>
            <a:cxnLst/>
            <a:rect l="0" t="0" r="r" b="b"/>
            <a:pathLst>
              <a:path w="2805" h="24">
                <a:moveTo>
                  <a:pt x="0" y="0"/>
                </a:moveTo>
                <a:lnTo>
                  <a:pt x="2805" y="0"/>
                </a:lnTo>
                <a:lnTo>
                  <a:pt x="2805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0" name="任意多边形 249"/>
          <p:cNvSpPr/>
          <p:nvPr/>
        </p:nvSpPr>
        <p:spPr>
          <a:xfrm>
            <a:off x="1587600" y="4866120"/>
            <a:ext cx="9720" cy="356040"/>
          </a:xfrm>
          <a:custGeom>
            <a:avLst/>
            <a:gdLst/>
            <a:ahLst/>
            <a:cxnLst/>
            <a:rect l="0" t="0" r="r" b="b"/>
            <a:pathLst>
              <a:path w="27" h="989">
                <a:moveTo>
                  <a:pt x="0" y="0"/>
                </a:moveTo>
                <a:lnTo>
                  <a:pt x="27" y="0"/>
                </a:lnTo>
                <a:lnTo>
                  <a:pt x="27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1" name="任意多边形 250"/>
          <p:cNvSpPr/>
          <p:nvPr/>
        </p:nvSpPr>
        <p:spPr>
          <a:xfrm>
            <a:off x="1596960" y="4857840"/>
            <a:ext cx="1543680" cy="8640"/>
          </a:xfrm>
          <a:custGeom>
            <a:avLst/>
            <a:gdLst/>
            <a:ahLst/>
            <a:cxnLst/>
            <a:rect l="0" t="0" r="r" b="b"/>
            <a:pathLst>
              <a:path w="4288" h="24">
                <a:moveTo>
                  <a:pt x="0" y="0"/>
                </a:moveTo>
                <a:lnTo>
                  <a:pt x="4288" y="0"/>
                </a:lnTo>
                <a:lnTo>
                  <a:pt x="4288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2" name="任意多边形 251"/>
          <p:cNvSpPr/>
          <p:nvPr/>
        </p:nvSpPr>
        <p:spPr>
          <a:xfrm>
            <a:off x="3130560" y="4866120"/>
            <a:ext cx="10080" cy="356040"/>
          </a:xfrm>
          <a:custGeom>
            <a:avLst/>
            <a:gdLst/>
            <a:ahLst/>
            <a:cxnLst/>
            <a:rect l="0" t="0" r="r" b="b"/>
            <a:pathLst>
              <a:path w="28" h="989">
                <a:moveTo>
                  <a:pt x="0" y="0"/>
                </a:moveTo>
                <a:lnTo>
                  <a:pt x="28" y="0"/>
                </a:lnTo>
                <a:lnTo>
                  <a:pt x="28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3" name="任意多边形 252"/>
          <p:cNvSpPr/>
          <p:nvPr/>
        </p:nvSpPr>
        <p:spPr>
          <a:xfrm>
            <a:off x="3140280" y="4857840"/>
            <a:ext cx="2629080" cy="8640"/>
          </a:xfrm>
          <a:custGeom>
            <a:avLst/>
            <a:gdLst/>
            <a:ahLst/>
            <a:cxnLst/>
            <a:rect l="0" t="0" r="r" b="b"/>
            <a:pathLst>
              <a:path w="7303" h="24">
                <a:moveTo>
                  <a:pt x="0" y="0"/>
                </a:moveTo>
                <a:lnTo>
                  <a:pt x="7303" y="0"/>
                </a:lnTo>
                <a:lnTo>
                  <a:pt x="7303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4" name="任意多边形 253"/>
          <p:cNvSpPr/>
          <p:nvPr/>
        </p:nvSpPr>
        <p:spPr>
          <a:xfrm>
            <a:off x="5759640" y="4866120"/>
            <a:ext cx="9720" cy="356040"/>
          </a:xfrm>
          <a:custGeom>
            <a:avLst/>
            <a:gdLst/>
            <a:ahLst/>
            <a:cxnLst/>
            <a:rect l="0" t="0" r="r" b="b"/>
            <a:pathLst>
              <a:path w="27" h="989">
                <a:moveTo>
                  <a:pt x="0" y="0"/>
                </a:moveTo>
                <a:lnTo>
                  <a:pt x="27" y="0"/>
                </a:lnTo>
                <a:lnTo>
                  <a:pt x="27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5" name="任意多边形 254"/>
          <p:cNvSpPr/>
          <p:nvPr/>
        </p:nvSpPr>
        <p:spPr>
          <a:xfrm>
            <a:off x="587520" y="5213880"/>
            <a:ext cx="1009800" cy="8280"/>
          </a:xfrm>
          <a:custGeom>
            <a:avLst/>
            <a:gdLst/>
            <a:ahLst/>
            <a:cxnLst/>
            <a:rect l="0" t="0" r="r" b="b"/>
            <a:pathLst>
              <a:path w="2805" h="23">
                <a:moveTo>
                  <a:pt x="0" y="0"/>
                </a:moveTo>
                <a:lnTo>
                  <a:pt x="2805" y="0"/>
                </a:lnTo>
                <a:lnTo>
                  <a:pt x="2805" y="23"/>
                </a:lnTo>
                <a:lnTo>
                  <a:pt x="0" y="2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6" name="任意多边形 255"/>
          <p:cNvSpPr/>
          <p:nvPr/>
        </p:nvSpPr>
        <p:spPr>
          <a:xfrm>
            <a:off x="1596960" y="5213880"/>
            <a:ext cx="1543680" cy="8280"/>
          </a:xfrm>
          <a:custGeom>
            <a:avLst/>
            <a:gdLst/>
            <a:ahLst/>
            <a:cxnLst/>
            <a:rect l="0" t="0" r="r" b="b"/>
            <a:pathLst>
              <a:path w="4288" h="23">
                <a:moveTo>
                  <a:pt x="0" y="0"/>
                </a:moveTo>
                <a:lnTo>
                  <a:pt x="4288" y="0"/>
                </a:lnTo>
                <a:lnTo>
                  <a:pt x="4288" y="23"/>
                </a:lnTo>
                <a:lnTo>
                  <a:pt x="0" y="2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7" name="任意多边形 256"/>
          <p:cNvSpPr/>
          <p:nvPr/>
        </p:nvSpPr>
        <p:spPr>
          <a:xfrm>
            <a:off x="3140280" y="5213880"/>
            <a:ext cx="2629080" cy="8280"/>
          </a:xfrm>
          <a:custGeom>
            <a:avLst/>
            <a:gdLst/>
            <a:ahLst/>
            <a:cxnLst/>
            <a:rect l="0" t="0" r="r" b="b"/>
            <a:pathLst>
              <a:path w="7303" h="23">
                <a:moveTo>
                  <a:pt x="0" y="0"/>
                </a:moveTo>
                <a:lnTo>
                  <a:pt x="7303" y="0"/>
                </a:lnTo>
                <a:lnTo>
                  <a:pt x="7303" y="23"/>
                </a:lnTo>
                <a:lnTo>
                  <a:pt x="0" y="2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8" name="文本框 257"/>
          <p:cNvSpPr txBox="1"/>
          <p:nvPr/>
        </p:nvSpPr>
        <p:spPr>
          <a:xfrm>
            <a:off x="609480" y="331920"/>
            <a:ext cx="336816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68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逻辑回归：分类问题的概率建模</a:t>
            </a:r>
            <a:endParaRPr lang="en-US" sz="26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9" name="文本框 258"/>
          <p:cNvSpPr txBox="1"/>
          <p:nvPr/>
        </p:nvSpPr>
        <p:spPr>
          <a:xfrm>
            <a:off x="609480" y="1245960"/>
            <a:ext cx="939600" cy="25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79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Sigmoid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0" name="任意多边形 259"/>
          <p:cNvSpPr/>
          <p:nvPr/>
        </p:nvSpPr>
        <p:spPr>
          <a:xfrm>
            <a:off x="587520" y="1857600"/>
            <a:ext cx="228960" cy="194400"/>
          </a:xfrm>
          <a:custGeom>
            <a:avLst/>
            <a:gdLst/>
            <a:ahLst/>
            <a:cxnLst/>
            <a:rect l="0" t="0" r="r" b="b"/>
            <a:pathLst>
              <a:path w="636" h="540">
                <a:moveTo>
                  <a:pt x="636" y="269"/>
                </a:moveTo>
                <a:cubicBezTo>
                  <a:pt x="636" y="287"/>
                  <a:pt x="634" y="305"/>
                  <a:pt x="630" y="322"/>
                </a:cubicBezTo>
                <a:cubicBezTo>
                  <a:pt x="626" y="339"/>
                  <a:pt x="620" y="356"/>
                  <a:pt x="612" y="373"/>
                </a:cubicBezTo>
                <a:cubicBezTo>
                  <a:pt x="604" y="389"/>
                  <a:pt x="594" y="404"/>
                  <a:pt x="582" y="419"/>
                </a:cubicBezTo>
                <a:cubicBezTo>
                  <a:pt x="571" y="434"/>
                  <a:pt x="558" y="447"/>
                  <a:pt x="543" y="460"/>
                </a:cubicBezTo>
                <a:cubicBezTo>
                  <a:pt x="528" y="473"/>
                  <a:pt x="511" y="484"/>
                  <a:pt x="494" y="494"/>
                </a:cubicBezTo>
                <a:cubicBezTo>
                  <a:pt x="476" y="503"/>
                  <a:pt x="458" y="512"/>
                  <a:pt x="439" y="519"/>
                </a:cubicBezTo>
                <a:cubicBezTo>
                  <a:pt x="420" y="526"/>
                  <a:pt x="400" y="531"/>
                  <a:pt x="379" y="535"/>
                </a:cubicBezTo>
                <a:cubicBezTo>
                  <a:pt x="359" y="538"/>
                  <a:pt x="338" y="540"/>
                  <a:pt x="317" y="540"/>
                </a:cubicBezTo>
                <a:cubicBezTo>
                  <a:pt x="296" y="540"/>
                  <a:pt x="276" y="538"/>
                  <a:pt x="255" y="535"/>
                </a:cubicBezTo>
                <a:cubicBezTo>
                  <a:pt x="235" y="531"/>
                  <a:pt x="215" y="526"/>
                  <a:pt x="196" y="519"/>
                </a:cubicBezTo>
                <a:cubicBezTo>
                  <a:pt x="177" y="512"/>
                  <a:pt x="158" y="503"/>
                  <a:pt x="141" y="494"/>
                </a:cubicBezTo>
                <a:cubicBezTo>
                  <a:pt x="124" y="484"/>
                  <a:pt x="108" y="473"/>
                  <a:pt x="93" y="460"/>
                </a:cubicBezTo>
                <a:cubicBezTo>
                  <a:pt x="78" y="447"/>
                  <a:pt x="65" y="434"/>
                  <a:pt x="53" y="419"/>
                </a:cubicBezTo>
                <a:cubicBezTo>
                  <a:pt x="42" y="404"/>
                  <a:pt x="32" y="389"/>
                  <a:pt x="24" y="373"/>
                </a:cubicBezTo>
                <a:cubicBezTo>
                  <a:pt x="16" y="356"/>
                  <a:pt x="10" y="339"/>
                  <a:pt x="6" y="322"/>
                </a:cubicBezTo>
                <a:cubicBezTo>
                  <a:pt x="2" y="305"/>
                  <a:pt x="0" y="287"/>
                  <a:pt x="0" y="269"/>
                </a:cubicBezTo>
                <a:cubicBezTo>
                  <a:pt x="0" y="252"/>
                  <a:pt x="2" y="234"/>
                  <a:pt x="6" y="217"/>
                </a:cubicBezTo>
                <a:cubicBezTo>
                  <a:pt x="10" y="199"/>
                  <a:pt x="16" y="183"/>
                  <a:pt x="24" y="166"/>
                </a:cubicBezTo>
                <a:cubicBezTo>
                  <a:pt x="32" y="150"/>
                  <a:pt x="42" y="134"/>
                  <a:pt x="53" y="120"/>
                </a:cubicBezTo>
                <a:cubicBezTo>
                  <a:pt x="65" y="105"/>
                  <a:pt x="78" y="91"/>
                  <a:pt x="93" y="79"/>
                </a:cubicBezTo>
                <a:cubicBezTo>
                  <a:pt x="108" y="66"/>
                  <a:pt x="124" y="55"/>
                  <a:pt x="141" y="45"/>
                </a:cubicBezTo>
                <a:cubicBezTo>
                  <a:pt x="158" y="35"/>
                  <a:pt x="177" y="27"/>
                  <a:pt x="196" y="20"/>
                </a:cubicBezTo>
                <a:cubicBezTo>
                  <a:pt x="215" y="14"/>
                  <a:pt x="235" y="8"/>
                  <a:pt x="255" y="5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5"/>
                </a:cubicBezTo>
                <a:cubicBezTo>
                  <a:pt x="400" y="8"/>
                  <a:pt x="420" y="14"/>
                  <a:pt x="439" y="20"/>
                </a:cubicBezTo>
                <a:cubicBezTo>
                  <a:pt x="458" y="27"/>
                  <a:pt x="476" y="35"/>
                  <a:pt x="494" y="45"/>
                </a:cubicBezTo>
                <a:cubicBezTo>
                  <a:pt x="511" y="55"/>
                  <a:pt x="528" y="66"/>
                  <a:pt x="543" y="79"/>
                </a:cubicBezTo>
                <a:cubicBezTo>
                  <a:pt x="558" y="91"/>
                  <a:pt x="571" y="105"/>
                  <a:pt x="582" y="120"/>
                </a:cubicBezTo>
                <a:cubicBezTo>
                  <a:pt x="594" y="134"/>
                  <a:pt x="604" y="150"/>
                  <a:pt x="612" y="166"/>
                </a:cubicBezTo>
                <a:cubicBezTo>
                  <a:pt x="620" y="183"/>
                  <a:pt x="626" y="199"/>
                  <a:pt x="630" y="217"/>
                </a:cubicBezTo>
                <a:cubicBezTo>
                  <a:pt x="634" y="234"/>
                  <a:pt x="636" y="252"/>
                  <a:pt x="636" y="269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1" name="文本框 260"/>
          <p:cNvSpPr txBox="1"/>
          <p:nvPr/>
        </p:nvSpPr>
        <p:spPr>
          <a:xfrm>
            <a:off x="1543320" y="1237320"/>
            <a:ext cx="96660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790" b="0" u="none" strike="noStrike" dirty="0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函数核⼼作⽤</a:t>
            </a:r>
            <a:endParaRPr lang="en-US" sz="179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659160" y="187344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3" name="文本框 262"/>
          <p:cNvSpPr txBox="1"/>
          <p:nvPr/>
        </p:nvSpPr>
        <p:spPr>
          <a:xfrm>
            <a:off x="930600" y="1843920"/>
            <a:ext cx="8200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将线性输出转换为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4" name="文本框 263"/>
          <p:cNvSpPr txBox="1"/>
          <p:nvPr/>
        </p:nvSpPr>
        <p:spPr>
          <a:xfrm>
            <a:off x="2129760" y="1850613"/>
            <a:ext cx="3276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(0,1)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2467215" y="1843920"/>
            <a:ext cx="513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区间概率值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1" name="任意多边形 270"/>
          <p:cNvSpPr/>
          <p:nvPr/>
        </p:nvSpPr>
        <p:spPr>
          <a:xfrm>
            <a:off x="587520" y="2415970"/>
            <a:ext cx="228960" cy="194760"/>
          </a:xfrm>
          <a:custGeom>
            <a:avLst/>
            <a:gdLst/>
            <a:ahLst/>
            <a:cxnLst/>
            <a:rect l="0" t="0" r="r" b="b"/>
            <a:pathLst>
              <a:path w="636" h="541">
                <a:moveTo>
                  <a:pt x="636" y="270"/>
                </a:moveTo>
                <a:cubicBezTo>
                  <a:pt x="636" y="288"/>
                  <a:pt x="634" y="305"/>
                  <a:pt x="630" y="324"/>
                </a:cubicBezTo>
                <a:cubicBezTo>
                  <a:pt x="626" y="341"/>
                  <a:pt x="620" y="358"/>
                  <a:pt x="612" y="374"/>
                </a:cubicBezTo>
                <a:cubicBezTo>
                  <a:pt x="604" y="391"/>
                  <a:pt x="594" y="406"/>
                  <a:pt x="582" y="421"/>
                </a:cubicBezTo>
                <a:cubicBezTo>
                  <a:pt x="571" y="435"/>
                  <a:pt x="558" y="449"/>
                  <a:pt x="543" y="462"/>
                </a:cubicBezTo>
                <a:cubicBezTo>
                  <a:pt x="528" y="474"/>
                  <a:pt x="511" y="485"/>
                  <a:pt x="494" y="495"/>
                </a:cubicBezTo>
                <a:cubicBezTo>
                  <a:pt x="476" y="505"/>
                  <a:pt x="458" y="513"/>
                  <a:pt x="439" y="520"/>
                </a:cubicBezTo>
                <a:cubicBezTo>
                  <a:pt x="420" y="527"/>
                  <a:pt x="400" y="532"/>
                  <a:pt x="379" y="535"/>
                </a:cubicBezTo>
                <a:cubicBezTo>
                  <a:pt x="359" y="539"/>
                  <a:pt x="338" y="541"/>
                  <a:pt x="317" y="541"/>
                </a:cubicBezTo>
                <a:cubicBezTo>
                  <a:pt x="296" y="541"/>
                  <a:pt x="276" y="539"/>
                  <a:pt x="255" y="535"/>
                </a:cubicBezTo>
                <a:cubicBezTo>
                  <a:pt x="235" y="532"/>
                  <a:pt x="215" y="527"/>
                  <a:pt x="196" y="520"/>
                </a:cubicBezTo>
                <a:cubicBezTo>
                  <a:pt x="177" y="513"/>
                  <a:pt x="158" y="505"/>
                  <a:pt x="141" y="495"/>
                </a:cubicBezTo>
                <a:cubicBezTo>
                  <a:pt x="124" y="485"/>
                  <a:pt x="108" y="474"/>
                  <a:pt x="93" y="462"/>
                </a:cubicBezTo>
                <a:cubicBezTo>
                  <a:pt x="78" y="449"/>
                  <a:pt x="65" y="435"/>
                  <a:pt x="53" y="421"/>
                </a:cubicBezTo>
                <a:cubicBezTo>
                  <a:pt x="42" y="406"/>
                  <a:pt x="32" y="391"/>
                  <a:pt x="24" y="374"/>
                </a:cubicBezTo>
                <a:cubicBezTo>
                  <a:pt x="16" y="358"/>
                  <a:pt x="10" y="341"/>
                  <a:pt x="6" y="324"/>
                </a:cubicBezTo>
                <a:cubicBezTo>
                  <a:pt x="2" y="305"/>
                  <a:pt x="0" y="288"/>
                  <a:pt x="0" y="270"/>
                </a:cubicBezTo>
                <a:cubicBezTo>
                  <a:pt x="0" y="252"/>
                  <a:pt x="2" y="235"/>
                  <a:pt x="6" y="217"/>
                </a:cubicBezTo>
                <a:cubicBezTo>
                  <a:pt x="10" y="200"/>
                  <a:pt x="16" y="183"/>
                  <a:pt x="24" y="167"/>
                </a:cubicBezTo>
                <a:cubicBezTo>
                  <a:pt x="32" y="150"/>
                  <a:pt x="42" y="135"/>
                  <a:pt x="53" y="120"/>
                </a:cubicBezTo>
                <a:cubicBezTo>
                  <a:pt x="65" y="106"/>
                  <a:pt x="78" y="92"/>
                  <a:pt x="93" y="79"/>
                </a:cubicBezTo>
                <a:cubicBezTo>
                  <a:pt x="108" y="67"/>
                  <a:pt x="124" y="56"/>
                  <a:pt x="141" y="46"/>
                </a:cubicBezTo>
                <a:cubicBezTo>
                  <a:pt x="158" y="36"/>
                  <a:pt x="177" y="28"/>
                  <a:pt x="196" y="21"/>
                </a:cubicBezTo>
                <a:cubicBezTo>
                  <a:pt x="215" y="14"/>
                  <a:pt x="235" y="9"/>
                  <a:pt x="255" y="6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6"/>
                </a:cubicBezTo>
                <a:cubicBezTo>
                  <a:pt x="400" y="9"/>
                  <a:pt x="420" y="14"/>
                  <a:pt x="439" y="21"/>
                </a:cubicBezTo>
                <a:cubicBezTo>
                  <a:pt x="458" y="28"/>
                  <a:pt x="476" y="36"/>
                  <a:pt x="494" y="46"/>
                </a:cubicBezTo>
                <a:cubicBezTo>
                  <a:pt x="511" y="56"/>
                  <a:pt x="528" y="67"/>
                  <a:pt x="543" y="79"/>
                </a:cubicBezTo>
                <a:cubicBezTo>
                  <a:pt x="558" y="92"/>
                  <a:pt x="571" y="106"/>
                  <a:pt x="582" y="120"/>
                </a:cubicBezTo>
                <a:cubicBezTo>
                  <a:pt x="594" y="135"/>
                  <a:pt x="604" y="150"/>
                  <a:pt x="612" y="167"/>
                </a:cubicBezTo>
                <a:cubicBezTo>
                  <a:pt x="620" y="183"/>
                  <a:pt x="626" y="200"/>
                  <a:pt x="630" y="217"/>
                </a:cubicBezTo>
                <a:cubicBezTo>
                  <a:pt x="634" y="235"/>
                  <a:pt x="636" y="252"/>
                  <a:pt x="636" y="270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3" name="文本框 272"/>
          <p:cNvSpPr txBox="1"/>
          <p:nvPr/>
        </p:nvSpPr>
        <p:spPr>
          <a:xfrm>
            <a:off x="659160" y="2432170"/>
            <a:ext cx="73738" cy="1769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dirty="0">
                <a:solidFill>
                  <a:srgbClr val="FFFFFF"/>
                </a:solidFill>
                <a:latin typeface="Times New Roman" panose="02020603050405020304"/>
              </a:rPr>
              <a:t>2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930600" y="2402650"/>
            <a:ext cx="2151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⾮线性映射：解决线性回归⽆法处理的分类问题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5" name="文本框 274"/>
          <p:cNvSpPr txBox="1"/>
          <p:nvPr/>
        </p:nvSpPr>
        <p:spPr>
          <a:xfrm>
            <a:off x="587520" y="2998080"/>
            <a:ext cx="161028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7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与线性回归的本质区别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6" name="文本框 275"/>
          <p:cNvSpPr txBox="1"/>
          <p:nvPr/>
        </p:nvSpPr>
        <p:spPr>
          <a:xfrm>
            <a:off x="748800" y="3526200"/>
            <a:ext cx="410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对⽐维度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7" name="文本框 276"/>
          <p:cNvSpPr txBox="1"/>
          <p:nvPr/>
        </p:nvSpPr>
        <p:spPr>
          <a:xfrm>
            <a:off x="2021760" y="3526200"/>
            <a:ext cx="410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线性回归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8" name="文本框 277"/>
          <p:cNvSpPr txBox="1"/>
          <p:nvPr/>
        </p:nvSpPr>
        <p:spPr>
          <a:xfrm>
            <a:off x="4108680" y="3526200"/>
            <a:ext cx="410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逻辑回归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9" name="文本框 278"/>
          <p:cNvSpPr txBox="1"/>
          <p:nvPr/>
        </p:nvSpPr>
        <p:spPr>
          <a:xfrm>
            <a:off x="673200" y="3881880"/>
            <a:ext cx="410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输出类型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0" name="文本框 279"/>
          <p:cNvSpPr txBox="1"/>
          <p:nvPr/>
        </p:nvSpPr>
        <p:spPr>
          <a:xfrm>
            <a:off x="1671840" y="3881880"/>
            <a:ext cx="308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连续值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1" name="文本框 280"/>
          <p:cNvSpPr txBox="1"/>
          <p:nvPr/>
        </p:nvSpPr>
        <p:spPr>
          <a:xfrm>
            <a:off x="3219840" y="3881880"/>
            <a:ext cx="308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概率值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2" name="文本框 281"/>
          <p:cNvSpPr txBox="1"/>
          <p:nvPr/>
        </p:nvSpPr>
        <p:spPr>
          <a:xfrm>
            <a:off x="3734280" y="3887280"/>
            <a:ext cx="342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(0-1)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3" name="文本框 282"/>
          <p:cNvSpPr txBox="1"/>
          <p:nvPr/>
        </p:nvSpPr>
        <p:spPr>
          <a:xfrm>
            <a:off x="673200" y="4237920"/>
            <a:ext cx="410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⽬标函数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4" name="文本框 283"/>
          <p:cNvSpPr txBox="1"/>
          <p:nvPr/>
        </p:nvSpPr>
        <p:spPr>
          <a:xfrm>
            <a:off x="1671840" y="4237920"/>
            <a:ext cx="410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均⽅误差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5" name="文本框 284"/>
          <p:cNvSpPr txBox="1"/>
          <p:nvPr/>
        </p:nvSpPr>
        <p:spPr>
          <a:xfrm>
            <a:off x="2357640" y="4243320"/>
            <a:ext cx="4654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(MSE)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6" name="文本框 285"/>
          <p:cNvSpPr txBox="1"/>
          <p:nvPr/>
        </p:nvSpPr>
        <p:spPr>
          <a:xfrm>
            <a:off x="3219840" y="4237920"/>
            <a:ext cx="513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交叉熵损失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7" name="文本框 286"/>
          <p:cNvSpPr txBox="1"/>
          <p:nvPr/>
        </p:nvSpPr>
        <p:spPr>
          <a:xfrm>
            <a:off x="673200" y="4593600"/>
            <a:ext cx="410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应⽤场景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8" name="文本框 287"/>
          <p:cNvSpPr txBox="1"/>
          <p:nvPr/>
        </p:nvSpPr>
        <p:spPr>
          <a:xfrm>
            <a:off x="1671840" y="4593600"/>
            <a:ext cx="410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房价预测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9" name="文本框 288"/>
          <p:cNvSpPr txBox="1"/>
          <p:nvPr/>
        </p:nvSpPr>
        <p:spPr>
          <a:xfrm>
            <a:off x="3219840" y="4593600"/>
            <a:ext cx="410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疾病诊断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673200" y="4949280"/>
            <a:ext cx="410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决策边界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1" name="文本框 290"/>
          <p:cNvSpPr txBox="1"/>
          <p:nvPr/>
        </p:nvSpPr>
        <p:spPr>
          <a:xfrm>
            <a:off x="1671840" y="4949280"/>
            <a:ext cx="205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线性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3219840" y="4949280"/>
            <a:ext cx="205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线性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3" name="文本框 292"/>
          <p:cNvSpPr txBox="1"/>
          <p:nvPr/>
        </p:nvSpPr>
        <p:spPr>
          <a:xfrm>
            <a:off x="3562560" y="4954680"/>
            <a:ext cx="636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(Sigmoid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4200840" y="4949280"/>
            <a:ext cx="6152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变换后⾮线性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5" name="任意多边形 294"/>
          <p:cNvSpPr/>
          <p:nvPr/>
        </p:nvSpPr>
        <p:spPr>
          <a:xfrm>
            <a:off x="6100560" y="1677960"/>
            <a:ext cx="5477400" cy="2062440"/>
          </a:xfrm>
          <a:custGeom>
            <a:avLst/>
            <a:gdLst/>
            <a:ahLst/>
            <a:cxnLst/>
            <a:rect l="0" t="0" r="r" b="b"/>
            <a:pathLst>
              <a:path w="15215" h="5729" fill="none">
                <a:moveTo>
                  <a:pt x="0" y="5561"/>
                </a:moveTo>
                <a:lnTo>
                  <a:pt x="0" y="168"/>
                </a:lnTo>
                <a:cubicBezTo>
                  <a:pt x="0" y="157"/>
                  <a:pt x="1" y="146"/>
                  <a:pt x="4" y="136"/>
                </a:cubicBezTo>
                <a:cubicBezTo>
                  <a:pt x="6" y="125"/>
                  <a:pt x="10" y="114"/>
                  <a:pt x="15" y="104"/>
                </a:cubicBezTo>
                <a:cubicBezTo>
                  <a:pt x="20" y="94"/>
                  <a:pt x="26" y="84"/>
                  <a:pt x="34" y="75"/>
                </a:cubicBezTo>
                <a:cubicBezTo>
                  <a:pt x="41" y="66"/>
                  <a:pt x="49" y="57"/>
                  <a:pt x="58" y="49"/>
                </a:cubicBezTo>
                <a:cubicBezTo>
                  <a:pt x="67" y="41"/>
                  <a:pt x="77" y="34"/>
                  <a:pt x="88" y="28"/>
                </a:cubicBezTo>
                <a:cubicBezTo>
                  <a:pt x="99" y="22"/>
                  <a:pt x="111" y="17"/>
                  <a:pt x="123" y="13"/>
                </a:cubicBezTo>
                <a:cubicBezTo>
                  <a:pt x="135" y="9"/>
                  <a:pt x="147" y="5"/>
                  <a:pt x="160" y="3"/>
                </a:cubicBezTo>
                <a:cubicBezTo>
                  <a:pt x="173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3"/>
                </a:cubicBezTo>
                <a:cubicBezTo>
                  <a:pt x="15068" y="5"/>
                  <a:pt x="15080" y="9"/>
                  <a:pt x="15092" y="13"/>
                </a:cubicBezTo>
                <a:cubicBezTo>
                  <a:pt x="15104" y="17"/>
                  <a:pt x="15116" y="22"/>
                  <a:pt x="15126" y="28"/>
                </a:cubicBezTo>
                <a:cubicBezTo>
                  <a:pt x="15137" y="34"/>
                  <a:pt x="15147" y="41"/>
                  <a:pt x="15156" y="49"/>
                </a:cubicBezTo>
                <a:cubicBezTo>
                  <a:pt x="15166" y="57"/>
                  <a:pt x="15174" y="66"/>
                  <a:pt x="15181" y="75"/>
                </a:cubicBezTo>
                <a:cubicBezTo>
                  <a:pt x="15188" y="84"/>
                  <a:pt x="15195" y="94"/>
                  <a:pt x="15199" y="104"/>
                </a:cubicBezTo>
                <a:cubicBezTo>
                  <a:pt x="15204" y="114"/>
                  <a:pt x="15208" y="125"/>
                  <a:pt x="15211" y="136"/>
                </a:cubicBezTo>
                <a:cubicBezTo>
                  <a:pt x="15213" y="146"/>
                  <a:pt x="15215" y="157"/>
                  <a:pt x="15215" y="168"/>
                </a:cubicBezTo>
                <a:lnTo>
                  <a:pt x="15215" y="5561"/>
                </a:lnTo>
                <a:cubicBezTo>
                  <a:pt x="15215" y="5572"/>
                  <a:pt x="15213" y="5583"/>
                  <a:pt x="15211" y="5594"/>
                </a:cubicBezTo>
                <a:cubicBezTo>
                  <a:pt x="15208" y="5605"/>
                  <a:pt x="15204" y="5615"/>
                  <a:pt x="15199" y="5625"/>
                </a:cubicBezTo>
                <a:cubicBezTo>
                  <a:pt x="15195" y="5636"/>
                  <a:pt x="15188" y="5645"/>
                  <a:pt x="15181" y="5655"/>
                </a:cubicBezTo>
                <a:cubicBezTo>
                  <a:pt x="15174" y="5664"/>
                  <a:pt x="15166" y="5672"/>
                  <a:pt x="15156" y="5680"/>
                </a:cubicBezTo>
                <a:cubicBezTo>
                  <a:pt x="15147" y="5688"/>
                  <a:pt x="15137" y="5695"/>
                  <a:pt x="15126" y="5701"/>
                </a:cubicBezTo>
                <a:cubicBezTo>
                  <a:pt x="15116" y="5707"/>
                  <a:pt x="15104" y="5712"/>
                  <a:pt x="15092" y="5717"/>
                </a:cubicBezTo>
                <a:cubicBezTo>
                  <a:pt x="15080" y="5721"/>
                  <a:pt x="15068" y="5724"/>
                  <a:pt x="15055" y="5726"/>
                </a:cubicBezTo>
                <a:cubicBezTo>
                  <a:pt x="15042" y="5728"/>
                  <a:pt x="15029" y="5729"/>
                  <a:pt x="15016" y="5729"/>
                </a:cubicBezTo>
                <a:lnTo>
                  <a:pt x="198" y="5729"/>
                </a:lnTo>
                <a:cubicBezTo>
                  <a:pt x="185" y="5729"/>
                  <a:pt x="173" y="5728"/>
                  <a:pt x="160" y="5726"/>
                </a:cubicBezTo>
                <a:cubicBezTo>
                  <a:pt x="147" y="5724"/>
                  <a:pt x="135" y="5721"/>
                  <a:pt x="123" y="5717"/>
                </a:cubicBezTo>
                <a:cubicBezTo>
                  <a:pt x="111" y="5712"/>
                  <a:pt x="99" y="5707"/>
                  <a:pt x="88" y="5701"/>
                </a:cubicBezTo>
                <a:cubicBezTo>
                  <a:pt x="77" y="5695"/>
                  <a:pt x="67" y="5688"/>
                  <a:pt x="58" y="5680"/>
                </a:cubicBezTo>
                <a:cubicBezTo>
                  <a:pt x="49" y="5672"/>
                  <a:pt x="41" y="5664"/>
                  <a:pt x="34" y="5655"/>
                </a:cubicBezTo>
                <a:cubicBezTo>
                  <a:pt x="26" y="5645"/>
                  <a:pt x="20" y="5636"/>
                  <a:pt x="15" y="5625"/>
                </a:cubicBezTo>
                <a:cubicBezTo>
                  <a:pt x="10" y="5615"/>
                  <a:pt x="6" y="5605"/>
                  <a:pt x="4" y="5594"/>
                </a:cubicBezTo>
                <a:cubicBezTo>
                  <a:pt x="1" y="5583"/>
                  <a:pt x="0" y="5572"/>
                  <a:pt x="0" y="5561"/>
                </a:cubicBezTo>
              </a:path>
            </a:pathLst>
          </a:custGeom>
          <a:ln w="8640">
            <a:solidFill>
              <a:srgbClr val="E5E7EB"/>
            </a:solidFill>
            <a:miter/>
          </a:ln>
        </p:spPr>
        <p:txBody>
          <a:bodyPr lIns="4320" tIns="4320" rIns="4320" bIns="43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5229720" y="495468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97" name="图片 296"/>
          <p:cNvPicPr/>
          <p:nvPr/>
        </p:nvPicPr>
        <p:blipFill>
          <a:blip r:embed="rId2"/>
          <a:stretch>
            <a:fillRect/>
          </a:stretch>
        </p:blipFill>
        <p:spPr>
          <a:xfrm>
            <a:off x="7138080" y="1682280"/>
            <a:ext cx="3180450" cy="29943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文本框 297"/>
          <p:cNvSpPr txBox="1"/>
          <p:nvPr/>
        </p:nvSpPr>
        <p:spPr>
          <a:xfrm>
            <a:off x="6095880" y="1237320"/>
            <a:ext cx="96660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7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疾病诊断案例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9" name="文本框 298"/>
          <p:cNvSpPr txBox="1"/>
          <p:nvPr/>
        </p:nvSpPr>
        <p:spPr>
          <a:xfrm>
            <a:off x="7896012" y="5051500"/>
            <a:ext cx="3139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20" b="0" u="none" strike="noStrike" dirty="0">
                <a:solidFill>
                  <a:srgbClr val="6B728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IgG4</a:t>
            </a:r>
            <a:endParaRPr lang="en-US" sz="102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0" name="文本框 299"/>
          <p:cNvSpPr txBox="1"/>
          <p:nvPr/>
        </p:nvSpPr>
        <p:spPr>
          <a:xfrm>
            <a:off x="8196629" y="5044140"/>
            <a:ext cx="8236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20" b="0" u="none" strike="noStrike" dirty="0">
                <a:solidFill>
                  <a:srgbClr val="6B7280"/>
                </a:solidFill>
                <a:effectLst/>
                <a:uFillTx/>
                <a:latin typeface="NotoSansCJKsc"/>
                <a:ea typeface="NotoSansCJKsc"/>
              </a:rPr>
              <a:t>相关疾病诊断流程图</a:t>
            </a:r>
            <a:endParaRPr lang="en-US" sz="102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2" name="文本框 301"/>
          <p:cNvSpPr txBox="1"/>
          <p:nvPr/>
        </p:nvSpPr>
        <p:spPr>
          <a:xfrm>
            <a:off x="6058130" y="5357960"/>
            <a:ext cx="96660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790" b="0" u="none" strike="noStrike" dirty="0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诊断模型特征</a:t>
            </a:r>
            <a:endParaRPr lang="en-US" sz="179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51989" y="5750653"/>
            <a:ext cx="583034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根据这张诊断流程图，可总结两个关键特征：</a:t>
            </a:r>
            <a:r>
              <a:rPr lang="en-US" altLang="zh-CN" sz="900" dirty="0"/>
              <a:t>1. </a:t>
            </a:r>
            <a:r>
              <a:rPr lang="zh-CN" altLang="en-US" sz="900" dirty="0"/>
              <a:t>该诊断流程主要基于</a:t>
            </a:r>
            <a:r>
              <a:rPr lang="en-US" altLang="zh-CN" sz="900" dirty="0"/>
              <a:t>IgG4</a:t>
            </a:r>
            <a:r>
              <a:rPr lang="zh-CN" altLang="en-US" sz="900" dirty="0"/>
              <a:t>水平（</a:t>
            </a:r>
            <a:r>
              <a:rPr lang="en-US" altLang="zh-CN" sz="900" dirty="0"/>
              <a:t>&gt;135 mg/dl</a:t>
            </a:r>
            <a:r>
              <a:rPr lang="zh-CN" altLang="en-US" sz="900" dirty="0"/>
              <a:t>）和</a:t>
            </a:r>
            <a:r>
              <a:rPr lang="en-US" altLang="zh-CN" sz="900" dirty="0"/>
              <a:t>IgG4</a:t>
            </a:r>
            <a:r>
              <a:rPr lang="zh-CN" altLang="en-US" sz="900" dirty="0"/>
              <a:t>阳性细胞数量（</a:t>
            </a:r>
            <a:r>
              <a:rPr lang="en-US" altLang="zh-CN" sz="900" dirty="0"/>
              <a:t>&gt;10</a:t>
            </a:r>
            <a:r>
              <a:rPr lang="zh-CN" altLang="en-US" sz="900" dirty="0"/>
              <a:t>个</a:t>
            </a:r>
            <a:r>
              <a:rPr lang="en-US" altLang="zh-CN" sz="900" dirty="0"/>
              <a:t>/HPF</a:t>
            </a:r>
            <a:r>
              <a:rPr lang="zh-CN" altLang="en-US" sz="900" dirty="0"/>
              <a:t>且</a:t>
            </a:r>
            <a:r>
              <a:rPr lang="en-US" altLang="zh-CN" sz="900" dirty="0"/>
              <a:t>IgG4/IgG&gt;40%</a:t>
            </a:r>
            <a:r>
              <a:rPr lang="zh-CN" altLang="en-US" sz="900" dirty="0"/>
              <a:t>）两个核心指标进行分类判断。</a:t>
            </a:r>
            <a:r>
              <a:rPr lang="en-US" altLang="zh-CN" sz="900" dirty="0"/>
              <a:t>2. </a:t>
            </a:r>
            <a:r>
              <a:rPr lang="zh-CN" altLang="en-US" sz="900" dirty="0"/>
              <a:t>最终诊断结果分为</a:t>
            </a:r>
            <a:r>
              <a:rPr lang="en-US" altLang="zh-CN" sz="900" dirty="0"/>
              <a:t>IgG4-RD</a:t>
            </a:r>
            <a:r>
              <a:rPr lang="zh-CN" altLang="en-US" sz="900" dirty="0"/>
              <a:t>（确诊）和非</a:t>
            </a:r>
            <a:r>
              <a:rPr lang="en-US" altLang="zh-CN" sz="900" dirty="0"/>
              <a:t>IgG4-RD</a:t>
            </a:r>
            <a:r>
              <a:rPr lang="zh-CN" altLang="en-US" sz="900" dirty="0"/>
              <a:t>两类，并需要结合</a:t>
            </a:r>
            <a:r>
              <a:rPr lang="en-US" altLang="zh-CN" sz="900" dirty="0"/>
              <a:t>AIP</a:t>
            </a:r>
            <a:r>
              <a:rPr lang="zh-CN" altLang="en-US" sz="900" dirty="0"/>
              <a:t>、</a:t>
            </a:r>
            <a:r>
              <a:rPr lang="en-US" altLang="zh-CN" sz="900" dirty="0"/>
              <a:t>Mikulicz</a:t>
            </a:r>
            <a:r>
              <a:rPr lang="zh-CN" altLang="en-US" sz="900" dirty="0"/>
              <a:t>病等特征性表现进行综合诊断。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817AB7-2721-E7DC-532F-789E75178936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C3AAC-5EB6-CEBA-1EF1-D37FF7BC4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任意多边形 206">
            <a:extLst>
              <a:ext uri="{FF2B5EF4-FFF2-40B4-BE49-F238E27FC236}">
                <a16:creationId xmlns:a16="http://schemas.microsoft.com/office/drawing/2014/main" id="{7591200A-E17F-6B50-B343-DA75E581B019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8" name="任意多边形 207">
            <a:extLst>
              <a:ext uri="{FF2B5EF4-FFF2-40B4-BE49-F238E27FC236}">
                <a16:creationId xmlns:a16="http://schemas.microsoft.com/office/drawing/2014/main" id="{EBDE6C34-1C6F-7E03-C11D-3E6F278649E8}"/>
              </a:ext>
            </a:extLst>
          </p:cNvPr>
          <p:cNvSpPr/>
          <p:nvPr/>
        </p:nvSpPr>
        <p:spPr>
          <a:xfrm>
            <a:off x="152280" y="129240"/>
            <a:ext cx="11887560" cy="6728760"/>
          </a:xfrm>
          <a:custGeom>
            <a:avLst/>
            <a:gdLst/>
            <a:ahLst/>
            <a:cxnLst/>
            <a:rect l="0" t="0" r="r" b="b"/>
            <a:pathLst>
              <a:path w="33021" h="18691">
                <a:moveTo>
                  <a:pt x="0" y="0"/>
                </a:moveTo>
                <a:lnTo>
                  <a:pt x="33021" y="0"/>
                </a:lnTo>
                <a:lnTo>
                  <a:pt x="33021" y="18691"/>
                </a:lnTo>
                <a:lnTo>
                  <a:pt x="0" y="186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9" name="任意多边形 208">
            <a:extLst>
              <a:ext uri="{FF2B5EF4-FFF2-40B4-BE49-F238E27FC236}">
                <a16:creationId xmlns:a16="http://schemas.microsoft.com/office/drawing/2014/main" id="{A833F5F1-2B3E-521C-44BE-E4087DE0CCDB}"/>
              </a:ext>
            </a:extLst>
          </p:cNvPr>
          <p:cNvSpPr/>
          <p:nvPr/>
        </p:nvSpPr>
        <p:spPr>
          <a:xfrm>
            <a:off x="152280" y="129240"/>
            <a:ext cx="11887560" cy="817200"/>
          </a:xfrm>
          <a:custGeom>
            <a:avLst/>
            <a:gdLst/>
            <a:ahLst/>
            <a:cxnLst/>
            <a:rect l="0" t="0" r="r" b="b"/>
            <a:pathLst>
              <a:path w="33021" h="2270">
                <a:moveTo>
                  <a:pt x="0" y="0"/>
                </a:moveTo>
                <a:lnTo>
                  <a:pt x="33021" y="0"/>
                </a:lnTo>
                <a:lnTo>
                  <a:pt x="33021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10" name="任意多边形 209">
            <a:extLst>
              <a:ext uri="{FF2B5EF4-FFF2-40B4-BE49-F238E27FC236}">
                <a16:creationId xmlns:a16="http://schemas.microsoft.com/office/drawing/2014/main" id="{915AFF91-6006-E88C-A898-1272388CC5AB}"/>
              </a:ext>
            </a:extLst>
          </p:cNvPr>
          <p:cNvSpPr/>
          <p:nvPr/>
        </p:nvSpPr>
        <p:spPr>
          <a:xfrm>
            <a:off x="152280" y="946080"/>
            <a:ext cx="11887560" cy="5693760"/>
          </a:xfrm>
          <a:custGeom>
            <a:avLst/>
            <a:gdLst/>
            <a:ahLst/>
            <a:cxnLst/>
            <a:rect l="0" t="0" r="r" b="b"/>
            <a:pathLst>
              <a:path w="33021" h="15816">
                <a:moveTo>
                  <a:pt x="0" y="0"/>
                </a:moveTo>
                <a:lnTo>
                  <a:pt x="33021" y="0"/>
                </a:lnTo>
                <a:lnTo>
                  <a:pt x="33021" y="15816"/>
                </a:lnTo>
                <a:lnTo>
                  <a:pt x="0" y="15816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4D270631-C083-0A47-B3B3-62C2153B9DDD}"/>
              </a:ext>
            </a:extLst>
          </p:cNvPr>
          <p:cNvSpPr txBox="1"/>
          <p:nvPr/>
        </p:nvSpPr>
        <p:spPr>
          <a:xfrm>
            <a:off x="609480" y="331920"/>
            <a:ext cx="1715213" cy="4124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8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支持向量机</a:t>
            </a:r>
            <a:endParaRPr kumimoji="0" lang="en-US" sz="268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C8B2174-F652-6CD9-10BE-ADBADDCAC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817" y="1527858"/>
            <a:ext cx="9666365" cy="417362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56208B6-CAFA-5F05-6A75-812C8737E565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4133731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14B48-8605-ADDC-D7DB-C15D79BFE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任意多边形 206">
            <a:extLst>
              <a:ext uri="{FF2B5EF4-FFF2-40B4-BE49-F238E27FC236}">
                <a16:creationId xmlns:a16="http://schemas.microsoft.com/office/drawing/2014/main" id="{F249035B-279F-2005-9BF5-81E71A732CA4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8" name="任意多边形 207">
            <a:extLst>
              <a:ext uri="{FF2B5EF4-FFF2-40B4-BE49-F238E27FC236}">
                <a16:creationId xmlns:a16="http://schemas.microsoft.com/office/drawing/2014/main" id="{4A4A96E6-7BE0-3F90-F3CD-D3ED714C5C37}"/>
              </a:ext>
            </a:extLst>
          </p:cNvPr>
          <p:cNvSpPr/>
          <p:nvPr/>
        </p:nvSpPr>
        <p:spPr>
          <a:xfrm>
            <a:off x="152280" y="129240"/>
            <a:ext cx="11887560" cy="6728760"/>
          </a:xfrm>
          <a:custGeom>
            <a:avLst/>
            <a:gdLst/>
            <a:ahLst/>
            <a:cxnLst/>
            <a:rect l="0" t="0" r="r" b="b"/>
            <a:pathLst>
              <a:path w="33021" h="18691">
                <a:moveTo>
                  <a:pt x="0" y="0"/>
                </a:moveTo>
                <a:lnTo>
                  <a:pt x="33021" y="0"/>
                </a:lnTo>
                <a:lnTo>
                  <a:pt x="33021" y="18691"/>
                </a:lnTo>
                <a:lnTo>
                  <a:pt x="0" y="186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9" name="任意多边形 208">
            <a:extLst>
              <a:ext uri="{FF2B5EF4-FFF2-40B4-BE49-F238E27FC236}">
                <a16:creationId xmlns:a16="http://schemas.microsoft.com/office/drawing/2014/main" id="{1E96A031-793F-9BFD-4FFE-E63AF93810CB}"/>
              </a:ext>
            </a:extLst>
          </p:cNvPr>
          <p:cNvSpPr/>
          <p:nvPr/>
        </p:nvSpPr>
        <p:spPr>
          <a:xfrm>
            <a:off x="152280" y="129240"/>
            <a:ext cx="11887560" cy="817200"/>
          </a:xfrm>
          <a:custGeom>
            <a:avLst/>
            <a:gdLst/>
            <a:ahLst/>
            <a:cxnLst/>
            <a:rect l="0" t="0" r="r" b="b"/>
            <a:pathLst>
              <a:path w="33021" h="2270">
                <a:moveTo>
                  <a:pt x="0" y="0"/>
                </a:moveTo>
                <a:lnTo>
                  <a:pt x="33021" y="0"/>
                </a:lnTo>
                <a:lnTo>
                  <a:pt x="33021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10" name="任意多边形 209">
            <a:extLst>
              <a:ext uri="{FF2B5EF4-FFF2-40B4-BE49-F238E27FC236}">
                <a16:creationId xmlns:a16="http://schemas.microsoft.com/office/drawing/2014/main" id="{F533A24D-FF3E-4480-3A34-2D1A1414B206}"/>
              </a:ext>
            </a:extLst>
          </p:cNvPr>
          <p:cNvSpPr/>
          <p:nvPr/>
        </p:nvSpPr>
        <p:spPr>
          <a:xfrm>
            <a:off x="152280" y="946080"/>
            <a:ext cx="11887560" cy="5693760"/>
          </a:xfrm>
          <a:custGeom>
            <a:avLst/>
            <a:gdLst/>
            <a:ahLst/>
            <a:cxnLst/>
            <a:rect l="0" t="0" r="r" b="b"/>
            <a:pathLst>
              <a:path w="33021" h="15816">
                <a:moveTo>
                  <a:pt x="0" y="0"/>
                </a:moveTo>
                <a:lnTo>
                  <a:pt x="33021" y="0"/>
                </a:lnTo>
                <a:lnTo>
                  <a:pt x="33021" y="15816"/>
                </a:lnTo>
                <a:lnTo>
                  <a:pt x="0" y="15816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BD40EAD0-585B-733F-6087-397CB1BAA8D8}"/>
              </a:ext>
            </a:extLst>
          </p:cNvPr>
          <p:cNvSpPr txBox="1"/>
          <p:nvPr/>
        </p:nvSpPr>
        <p:spPr>
          <a:xfrm>
            <a:off x="609480" y="331920"/>
            <a:ext cx="1715213" cy="4124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8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支持向量机</a:t>
            </a:r>
            <a:endParaRPr kumimoji="0" lang="en-US" sz="268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A66AE77-AB2C-1E55-5EB6-D744852B9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748" y="1016200"/>
            <a:ext cx="10093530" cy="570127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A20A567-B8E8-3716-CA5E-D2DBF4E599F0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789471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75084-81CF-F030-9C1D-88C7F1B2F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任意多边形 206">
            <a:extLst>
              <a:ext uri="{FF2B5EF4-FFF2-40B4-BE49-F238E27FC236}">
                <a16:creationId xmlns:a16="http://schemas.microsoft.com/office/drawing/2014/main" id="{7FB4FA20-C8B6-AEB8-4C1A-1CB08280D1D6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8" name="任意多边形 207">
            <a:extLst>
              <a:ext uri="{FF2B5EF4-FFF2-40B4-BE49-F238E27FC236}">
                <a16:creationId xmlns:a16="http://schemas.microsoft.com/office/drawing/2014/main" id="{27B9D64B-6EA0-0A23-33F5-3103AE9EEB57}"/>
              </a:ext>
            </a:extLst>
          </p:cNvPr>
          <p:cNvSpPr/>
          <p:nvPr/>
        </p:nvSpPr>
        <p:spPr>
          <a:xfrm>
            <a:off x="152280" y="129240"/>
            <a:ext cx="11887560" cy="6728760"/>
          </a:xfrm>
          <a:custGeom>
            <a:avLst/>
            <a:gdLst/>
            <a:ahLst/>
            <a:cxnLst/>
            <a:rect l="0" t="0" r="r" b="b"/>
            <a:pathLst>
              <a:path w="33021" h="18691">
                <a:moveTo>
                  <a:pt x="0" y="0"/>
                </a:moveTo>
                <a:lnTo>
                  <a:pt x="33021" y="0"/>
                </a:lnTo>
                <a:lnTo>
                  <a:pt x="33021" y="18691"/>
                </a:lnTo>
                <a:lnTo>
                  <a:pt x="0" y="186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9" name="任意多边形 208">
            <a:extLst>
              <a:ext uri="{FF2B5EF4-FFF2-40B4-BE49-F238E27FC236}">
                <a16:creationId xmlns:a16="http://schemas.microsoft.com/office/drawing/2014/main" id="{BA7CBC86-61FE-5341-0380-6D12CAC63809}"/>
              </a:ext>
            </a:extLst>
          </p:cNvPr>
          <p:cNvSpPr/>
          <p:nvPr/>
        </p:nvSpPr>
        <p:spPr>
          <a:xfrm>
            <a:off x="152280" y="129240"/>
            <a:ext cx="11887560" cy="817200"/>
          </a:xfrm>
          <a:custGeom>
            <a:avLst/>
            <a:gdLst/>
            <a:ahLst/>
            <a:cxnLst/>
            <a:rect l="0" t="0" r="r" b="b"/>
            <a:pathLst>
              <a:path w="33021" h="2270">
                <a:moveTo>
                  <a:pt x="0" y="0"/>
                </a:moveTo>
                <a:lnTo>
                  <a:pt x="33021" y="0"/>
                </a:lnTo>
                <a:lnTo>
                  <a:pt x="33021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10" name="任意多边形 209">
            <a:extLst>
              <a:ext uri="{FF2B5EF4-FFF2-40B4-BE49-F238E27FC236}">
                <a16:creationId xmlns:a16="http://schemas.microsoft.com/office/drawing/2014/main" id="{60485030-B5EA-A5B8-81CE-CE771C031D82}"/>
              </a:ext>
            </a:extLst>
          </p:cNvPr>
          <p:cNvSpPr/>
          <p:nvPr/>
        </p:nvSpPr>
        <p:spPr>
          <a:xfrm>
            <a:off x="152280" y="946080"/>
            <a:ext cx="11887560" cy="5693760"/>
          </a:xfrm>
          <a:custGeom>
            <a:avLst/>
            <a:gdLst/>
            <a:ahLst/>
            <a:cxnLst/>
            <a:rect l="0" t="0" r="r" b="b"/>
            <a:pathLst>
              <a:path w="33021" h="15816">
                <a:moveTo>
                  <a:pt x="0" y="0"/>
                </a:moveTo>
                <a:lnTo>
                  <a:pt x="33021" y="0"/>
                </a:lnTo>
                <a:lnTo>
                  <a:pt x="33021" y="15816"/>
                </a:lnTo>
                <a:lnTo>
                  <a:pt x="0" y="15816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5C1E9226-F0D5-1AB0-8A57-A21C152270C2}"/>
              </a:ext>
            </a:extLst>
          </p:cNvPr>
          <p:cNvSpPr txBox="1"/>
          <p:nvPr/>
        </p:nvSpPr>
        <p:spPr>
          <a:xfrm>
            <a:off x="609480" y="331920"/>
            <a:ext cx="2401298" cy="4124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8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线性支持向量机</a:t>
            </a:r>
            <a:endParaRPr kumimoji="0" lang="en-US" sz="268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F1C4CFF-8A2C-C141-F33D-846CB261A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302" y="1213732"/>
            <a:ext cx="8309249" cy="25665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21A4083-CA76-1409-96A2-919B69896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302" y="3977368"/>
            <a:ext cx="8355642" cy="244708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4228011-A508-65AB-3716-E9065C38031E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487691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BF08C-DC03-A2D4-A0A9-0043D8697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任意多边形 206">
            <a:extLst>
              <a:ext uri="{FF2B5EF4-FFF2-40B4-BE49-F238E27FC236}">
                <a16:creationId xmlns:a16="http://schemas.microsoft.com/office/drawing/2014/main" id="{4B7F7B50-2916-B6D0-6F0A-BCF2C10CAAD5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8" name="任意多边形 207">
            <a:extLst>
              <a:ext uri="{FF2B5EF4-FFF2-40B4-BE49-F238E27FC236}">
                <a16:creationId xmlns:a16="http://schemas.microsoft.com/office/drawing/2014/main" id="{0EFEB0EB-BEB5-A2EA-B311-807F9FAB58D2}"/>
              </a:ext>
            </a:extLst>
          </p:cNvPr>
          <p:cNvSpPr/>
          <p:nvPr/>
        </p:nvSpPr>
        <p:spPr>
          <a:xfrm>
            <a:off x="152280" y="129240"/>
            <a:ext cx="11887560" cy="6728760"/>
          </a:xfrm>
          <a:custGeom>
            <a:avLst/>
            <a:gdLst/>
            <a:ahLst/>
            <a:cxnLst/>
            <a:rect l="0" t="0" r="r" b="b"/>
            <a:pathLst>
              <a:path w="33021" h="18691">
                <a:moveTo>
                  <a:pt x="0" y="0"/>
                </a:moveTo>
                <a:lnTo>
                  <a:pt x="33021" y="0"/>
                </a:lnTo>
                <a:lnTo>
                  <a:pt x="33021" y="18691"/>
                </a:lnTo>
                <a:lnTo>
                  <a:pt x="0" y="186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9" name="任意多边形 208">
            <a:extLst>
              <a:ext uri="{FF2B5EF4-FFF2-40B4-BE49-F238E27FC236}">
                <a16:creationId xmlns:a16="http://schemas.microsoft.com/office/drawing/2014/main" id="{5CC18C0E-10F9-E51B-C10D-2B6176C72217}"/>
              </a:ext>
            </a:extLst>
          </p:cNvPr>
          <p:cNvSpPr/>
          <p:nvPr/>
        </p:nvSpPr>
        <p:spPr>
          <a:xfrm>
            <a:off x="152280" y="129240"/>
            <a:ext cx="11887560" cy="817200"/>
          </a:xfrm>
          <a:custGeom>
            <a:avLst/>
            <a:gdLst/>
            <a:ahLst/>
            <a:cxnLst/>
            <a:rect l="0" t="0" r="r" b="b"/>
            <a:pathLst>
              <a:path w="33021" h="2270">
                <a:moveTo>
                  <a:pt x="0" y="0"/>
                </a:moveTo>
                <a:lnTo>
                  <a:pt x="33021" y="0"/>
                </a:lnTo>
                <a:lnTo>
                  <a:pt x="33021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10" name="任意多边形 209">
            <a:extLst>
              <a:ext uri="{FF2B5EF4-FFF2-40B4-BE49-F238E27FC236}">
                <a16:creationId xmlns:a16="http://schemas.microsoft.com/office/drawing/2014/main" id="{606E9DF1-C033-62FA-C4C3-87EE7A34C381}"/>
              </a:ext>
            </a:extLst>
          </p:cNvPr>
          <p:cNvSpPr/>
          <p:nvPr/>
        </p:nvSpPr>
        <p:spPr>
          <a:xfrm>
            <a:off x="152280" y="946080"/>
            <a:ext cx="11887560" cy="5693760"/>
          </a:xfrm>
          <a:custGeom>
            <a:avLst/>
            <a:gdLst/>
            <a:ahLst/>
            <a:cxnLst/>
            <a:rect l="0" t="0" r="r" b="b"/>
            <a:pathLst>
              <a:path w="33021" h="15816">
                <a:moveTo>
                  <a:pt x="0" y="0"/>
                </a:moveTo>
                <a:lnTo>
                  <a:pt x="33021" y="0"/>
                </a:lnTo>
                <a:lnTo>
                  <a:pt x="33021" y="15816"/>
                </a:lnTo>
                <a:lnTo>
                  <a:pt x="0" y="15816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12F9C25B-AAC6-A25F-5598-39C053B84DDB}"/>
              </a:ext>
            </a:extLst>
          </p:cNvPr>
          <p:cNvSpPr txBox="1"/>
          <p:nvPr/>
        </p:nvSpPr>
        <p:spPr>
          <a:xfrm>
            <a:off x="609480" y="331920"/>
            <a:ext cx="3010440" cy="4124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680" dirty="0">
                <a:solidFill>
                  <a:srgbClr val="FFFFFF"/>
                </a:solidFill>
                <a:latin typeface="NotoSansCJKsc"/>
              </a:rPr>
              <a:t>K</a:t>
            </a:r>
            <a:r>
              <a:rPr lang="zh-CN" altLang="en-US" sz="2680" dirty="0">
                <a:solidFill>
                  <a:srgbClr val="FFFFFF"/>
                </a:solidFill>
                <a:latin typeface="NotoSansCJKsc"/>
              </a:rPr>
              <a:t>近邻算法（</a:t>
            </a:r>
            <a:r>
              <a:rPr lang="en-US" altLang="zh-CN" sz="2680" dirty="0">
                <a:solidFill>
                  <a:srgbClr val="FFFFFF"/>
                </a:solidFill>
                <a:latin typeface="NotoSansCJKsc"/>
              </a:rPr>
              <a:t> KNN </a:t>
            </a:r>
            <a:r>
              <a:rPr lang="zh-CN" altLang="en-US" sz="2680" dirty="0">
                <a:solidFill>
                  <a:srgbClr val="FFFFFF"/>
                </a:solidFill>
                <a:latin typeface="NotoSansCJKsc"/>
              </a:rPr>
              <a:t>）</a:t>
            </a:r>
            <a:endParaRPr kumimoji="0" lang="en-US" sz="268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DC5BAB-346F-B1C4-2B24-37C32BAA0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72" y="1037675"/>
            <a:ext cx="9842640" cy="567622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4EE8172-6883-3F72-ECCC-6D1721FDDCDB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494798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EA7D9-DB4C-7B1B-1DD1-2782D99E4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任意多边形 206">
            <a:extLst>
              <a:ext uri="{FF2B5EF4-FFF2-40B4-BE49-F238E27FC236}">
                <a16:creationId xmlns:a16="http://schemas.microsoft.com/office/drawing/2014/main" id="{0E6BE461-B775-A33B-1256-EFDA3AB073A5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8" name="任意多边形 207">
            <a:extLst>
              <a:ext uri="{FF2B5EF4-FFF2-40B4-BE49-F238E27FC236}">
                <a16:creationId xmlns:a16="http://schemas.microsoft.com/office/drawing/2014/main" id="{F0371CF6-74A6-9D40-D702-38D710EC4857}"/>
              </a:ext>
            </a:extLst>
          </p:cNvPr>
          <p:cNvSpPr/>
          <p:nvPr/>
        </p:nvSpPr>
        <p:spPr>
          <a:xfrm>
            <a:off x="152280" y="129240"/>
            <a:ext cx="11887560" cy="6728760"/>
          </a:xfrm>
          <a:custGeom>
            <a:avLst/>
            <a:gdLst/>
            <a:ahLst/>
            <a:cxnLst/>
            <a:rect l="0" t="0" r="r" b="b"/>
            <a:pathLst>
              <a:path w="33021" h="18691">
                <a:moveTo>
                  <a:pt x="0" y="0"/>
                </a:moveTo>
                <a:lnTo>
                  <a:pt x="33021" y="0"/>
                </a:lnTo>
                <a:lnTo>
                  <a:pt x="33021" y="18691"/>
                </a:lnTo>
                <a:lnTo>
                  <a:pt x="0" y="186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9" name="任意多边形 208">
            <a:extLst>
              <a:ext uri="{FF2B5EF4-FFF2-40B4-BE49-F238E27FC236}">
                <a16:creationId xmlns:a16="http://schemas.microsoft.com/office/drawing/2014/main" id="{5E8F361D-75C4-26BD-1466-6D4A4F3D5DB5}"/>
              </a:ext>
            </a:extLst>
          </p:cNvPr>
          <p:cNvSpPr/>
          <p:nvPr/>
        </p:nvSpPr>
        <p:spPr>
          <a:xfrm>
            <a:off x="152280" y="129240"/>
            <a:ext cx="11887560" cy="817200"/>
          </a:xfrm>
          <a:custGeom>
            <a:avLst/>
            <a:gdLst/>
            <a:ahLst/>
            <a:cxnLst/>
            <a:rect l="0" t="0" r="r" b="b"/>
            <a:pathLst>
              <a:path w="33021" h="2270">
                <a:moveTo>
                  <a:pt x="0" y="0"/>
                </a:moveTo>
                <a:lnTo>
                  <a:pt x="33021" y="0"/>
                </a:lnTo>
                <a:lnTo>
                  <a:pt x="33021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10" name="任意多边形 209">
            <a:extLst>
              <a:ext uri="{FF2B5EF4-FFF2-40B4-BE49-F238E27FC236}">
                <a16:creationId xmlns:a16="http://schemas.microsoft.com/office/drawing/2014/main" id="{A119F084-6E2F-C087-B9A2-95F7A74F48C6}"/>
              </a:ext>
            </a:extLst>
          </p:cNvPr>
          <p:cNvSpPr/>
          <p:nvPr/>
        </p:nvSpPr>
        <p:spPr>
          <a:xfrm>
            <a:off x="152280" y="946080"/>
            <a:ext cx="11887560" cy="5693760"/>
          </a:xfrm>
          <a:custGeom>
            <a:avLst/>
            <a:gdLst/>
            <a:ahLst/>
            <a:cxnLst/>
            <a:rect l="0" t="0" r="r" b="b"/>
            <a:pathLst>
              <a:path w="33021" h="15816">
                <a:moveTo>
                  <a:pt x="0" y="0"/>
                </a:moveTo>
                <a:lnTo>
                  <a:pt x="33021" y="0"/>
                </a:lnTo>
                <a:lnTo>
                  <a:pt x="33021" y="15816"/>
                </a:lnTo>
                <a:lnTo>
                  <a:pt x="0" y="15816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A0F5D3AA-BA10-2765-948D-E7A0308CAF07}"/>
              </a:ext>
            </a:extLst>
          </p:cNvPr>
          <p:cNvSpPr txBox="1"/>
          <p:nvPr/>
        </p:nvSpPr>
        <p:spPr>
          <a:xfrm>
            <a:off x="609480" y="331920"/>
            <a:ext cx="3010440" cy="4124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8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</a:rPr>
              <a:t>K</a:t>
            </a:r>
            <a:r>
              <a:rPr kumimoji="0" lang="zh-CN" altLang="en-US" sz="268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</a:rPr>
              <a:t>近邻算法（</a:t>
            </a:r>
            <a:r>
              <a:rPr kumimoji="0" lang="en-US" altLang="zh-CN" sz="268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</a:rPr>
              <a:t> KNN </a:t>
            </a:r>
            <a:r>
              <a:rPr kumimoji="0" lang="zh-CN" altLang="en-US" sz="268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</a:rPr>
              <a:t>）</a:t>
            </a:r>
            <a:endParaRPr kumimoji="0" lang="en-US" sz="268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9F5E455-8574-1675-6D82-87BC049A9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402" y="1223075"/>
            <a:ext cx="10545195" cy="483570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75E4BF8-3FA6-26F5-F594-A2D6E155F26A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58510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F515E-8790-BA5E-74E9-D6305EE7D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任意多边形 336">
            <a:extLst>
              <a:ext uri="{FF2B5EF4-FFF2-40B4-BE49-F238E27FC236}">
                <a16:creationId xmlns:a16="http://schemas.microsoft.com/office/drawing/2014/main" id="{91F2B172-E71E-DF05-F6BD-60A2F705C8C9}"/>
              </a:ext>
            </a:extLst>
          </p:cNvPr>
          <p:cNvSpPr/>
          <p:nvPr/>
        </p:nvSpPr>
        <p:spPr>
          <a:xfrm>
            <a:off x="0" y="0"/>
            <a:ext cx="12192119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338" name="任意多边形 337">
            <a:extLst>
              <a:ext uri="{FF2B5EF4-FFF2-40B4-BE49-F238E27FC236}">
                <a16:creationId xmlns:a16="http://schemas.microsoft.com/office/drawing/2014/main" id="{4C890C16-AE20-6603-CA49-8D2057E3C76E}"/>
              </a:ext>
            </a:extLst>
          </p:cNvPr>
          <p:cNvSpPr/>
          <p:nvPr/>
        </p:nvSpPr>
        <p:spPr>
          <a:xfrm>
            <a:off x="152280" y="130320"/>
            <a:ext cx="11887560" cy="6727680"/>
          </a:xfrm>
          <a:custGeom>
            <a:avLst/>
            <a:gdLst/>
            <a:ahLst/>
            <a:cxnLst/>
            <a:rect l="0" t="0" r="r" b="b"/>
            <a:pathLst>
              <a:path w="33021" h="18688">
                <a:moveTo>
                  <a:pt x="0" y="0"/>
                </a:moveTo>
                <a:lnTo>
                  <a:pt x="33021" y="0"/>
                </a:lnTo>
                <a:lnTo>
                  <a:pt x="33021" y="18688"/>
                </a:lnTo>
                <a:lnTo>
                  <a:pt x="0" y="186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339" name="任意多边形 338">
            <a:extLst>
              <a:ext uri="{FF2B5EF4-FFF2-40B4-BE49-F238E27FC236}">
                <a16:creationId xmlns:a16="http://schemas.microsoft.com/office/drawing/2014/main" id="{EF83A724-5E8E-D8E4-3A12-65829C4888C7}"/>
              </a:ext>
            </a:extLst>
          </p:cNvPr>
          <p:cNvSpPr/>
          <p:nvPr/>
        </p:nvSpPr>
        <p:spPr>
          <a:xfrm>
            <a:off x="152280" y="130320"/>
            <a:ext cx="11887560" cy="825120"/>
          </a:xfrm>
          <a:custGeom>
            <a:avLst/>
            <a:gdLst/>
            <a:ahLst/>
            <a:cxnLst/>
            <a:rect l="0" t="0" r="r" b="b"/>
            <a:pathLst>
              <a:path w="33021" h="2292">
                <a:moveTo>
                  <a:pt x="0" y="0"/>
                </a:moveTo>
                <a:lnTo>
                  <a:pt x="33021" y="0"/>
                </a:lnTo>
                <a:lnTo>
                  <a:pt x="33021" y="2292"/>
                </a:lnTo>
                <a:lnTo>
                  <a:pt x="0" y="229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340" name="任意多边形 339">
            <a:extLst>
              <a:ext uri="{FF2B5EF4-FFF2-40B4-BE49-F238E27FC236}">
                <a16:creationId xmlns:a16="http://schemas.microsoft.com/office/drawing/2014/main" id="{98642283-DC42-2825-9EB0-1024559611BB}"/>
              </a:ext>
            </a:extLst>
          </p:cNvPr>
          <p:cNvSpPr/>
          <p:nvPr/>
        </p:nvSpPr>
        <p:spPr>
          <a:xfrm>
            <a:off x="152280" y="955080"/>
            <a:ext cx="11887560" cy="5902920"/>
          </a:xfrm>
          <a:custGeom>
            <a:avLst/>
            <a:gdLst/>
            <a:ahLst/>
            <a:cxnLst/>
            <a:rect l="0" t="0" r="r" b="b"/>
            <a:pathLst>
              <a:path w="33021" h="15785">
                <a:moveTo>
                  <a:pt x="0" y="0"/>
                </a:moveTo>
                <a:lnTo>
                  <a:pt x="33021" y="0"/>
                </a:lnTo>
                <a:lnTo>
                  <a:pt x="33021" y="15785"/>
                </a:lnTo>
                <a:lnTo>
                  <a:pt x="0" y="1578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380" name="文本框 379">
            <a:extLst>
              <a:ext uri="{FF2B5EF4-FFF2-40B4-BE49-F238E27FC236}">
                <a16:creationId xmlns:a16="http://schemas.microsoft.com/office/drawing/2014/main" id="{003A8732-0CE1-1AC3-7009-258EA3A873EB}"/>
              </a:ext>
            </a:extLst>
          </p:cNvPr>
          <p:cNvSpPr txBox="1"/>
          <p:nvPr/>
        </p:nvSpPr>
        <p:spPr>
          <a:xfrm>
            <a:off x="609480" y="334800"/>
            <a:ext cx="33681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决策树：直观可解释的分类模型</a:t>
            </a:r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381" name="文本框 380">
            <a:extLst>
              <a:ext uri="{FF2B5EF4-FFF2-40B4-BE49-F238E27FC236}">
                <a16:creationId xmlns:a16="http://schemas.microsoft.com/office/drawing/2014/main" id="{AED83CDB-C993-B4EA-8708-8AEDDBA58FDF}"/>
              </a:ext>
            </a:extLst>
          </p:cNvPr>
          <p:cNvSpPr txBox="1"/>
          <p:nvPr/>
        </p:nvSpPr>
        <p:spPr>
          <a:xfrm>
            <a:off x="331782" y="1387297"/>
            <a:ext cx="1601272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ID3/C4.5/CART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382" name="文本框 381">
            <a:extLst>
              <a:ext uri="{FF2B5EF4-FFF2-40B4-BE49-F238E27FC236}">
                <a16:creationId xmlns:a16="http://schemas.microsoft.com/office/drawing/2014/main" id="{032D4BE4-7097-1785-82C2-AFBCA602EA4F}"/>
              </a:ext>
            </a:extLst>
          </p:cNvPr>
          <p:cNvSpPr txBox="1"/>
          <p:nvPr/>
        </p:nvSpPr>
        <p:spPr>
          <a:xfrm>
            <a:off x="1933054" y="1388742"/>
            <a:ext cx="960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NotoSansCJKsc"/>
                <a:ea typeface="NotoSansCJKsc"/>
              </a:rPr>
              <a:t>算法特征选择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16" name="任意多边形 415">
            <a:extLst>
              <a:ext uri="{FF2B5EF4-FFF2-40B4-BE49-F238E27FC236}">
                <a16:creationId xmlns:a16="http://schemas.microsoft.com/office/drawing/2014/main" id="{BA1CB3C7-F1D9-CB60-335D-32F815D9F469}"/>
              </a:ext>
            </a:extLst>
          </p:cNvPr>
          <p:cNvSpPr/>
          <p:nvPr/>
        </p:nvSpPr>
        <p:spPr>
          <a:xfrm>
            <a:off x="6100560" y="1220400"/>
            <a:ext cx="5477400" cy="2604600"/>
          </a:xfrm>
          <a:custGeom>
            <a:avLst/>
            <a:gdLst/>
            <a:ahLst/>
            <a:cxnLst/>
            <a:rect l="0" t="0" r="r" b="b"/>
            <a:pathLst>
              <a:path w="15215" h="7235" fill="none">
                <a:moveTo>
                  <a:pt x="0" y="7065"/>
                </a:moveTo>
                <a:lnTo>
                  <a:pt x="0" y="170"/>
                </a:lnTo>
                <a:cubicBezTo>
                  <a:pt x="0" y="159"/>
                  <a:pt x="1" y="148"/>
                  <a:pt x="4" y="137"/>
                </a:cubicBezTo>
                <a:cubicBezTo>
                  <a:pt x="6" y="126"/>
                  <a:pt x="10" y="115"/>
                  <a:pt x="15" y="105"/>
                </a:cubicBezTo>
                <a:cubicBezTo>
                  <a:pt x="20" y="95"/>
                  <a:pt x="26" y="85"/>
                  <a:pt x="34" y="76"/>
                </a:cubicBezTo>
                <a:cubicBezTo>
                  <a:pt x="41" y="66"/>
                  <a:pt x="49" y="58"/>
                  <a:pt x="58" y="50"/>
                </a:cubicBezTo>
                <a:cubicBezTo>
                  <a:pt x="67" y="42"/>
                  <a:pt x="77" y="35"/>
                  <a:pt x="88" y="29"/>
                </a:cubicBezTo>
                <a:cubicBezTo>
                  <a:pt x="99" y="22"/>
                  <a:pt x="111" y="17"/>
                  <a:pt x="123" y="13"/>
                </a:cubicBezTo>
                <a:cubicBezTo>
                  <a:pt x="135" y="9"/>
                  <a:pt x="147" y="5"/>
                  <a:pt x="160" y="3"/>
                </a:cubicBezTo>
                <a:cubicBezTo>
                  <a:pt x="173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3"/>
                </a:cubicBezTo>
                <a:cubicBezTo>
                  <a:pt x="15068" y="5"/>
                  <a:pt x="15080" y="9"/>
                  <a:pt x="15092" y="13"/>
                </a:cubicBezTo>
                <a:cubicBezTo>
                  <a:pt x="15104" y="17"/>
                  <a:pt x="15116" y="22"/>
                  <a:pt x="15126" y="29"/>
                </a:cubicBezTo>
                <a:cubicBezTo>
                  <a:pt x="15137" y="35"/>
                  <a:pt x="15147" y="42"/>
                  <a:pt x="15156" y="50"/>
                </a:cubicBezTo>
                <a:cubicBezTo>
                  <a:pt x="15166" y="58"/>
                  <a:pt x="15174" y="66"/>
                  <a:pt x="15181" y="76"/>
                </a:cubicBezTo>
                <a:cubicBezTo>
                  <a:pt x="15188" y="85"/>
                  <a:pt x="15195" y="95"/>
                  <a:pt x="15199" y="105"/>
                </a:cubicBezTo>
                <a:cubicBezTo>
                  <a:pt x="15204" y="115"/>
                  <a:pt x="15208" y="126"/>
                  <a:pt x="15211" y="137"/>
                </a:cubicBezTo>
                <a:cubicBezTo>
                  <a:pt x="15213" y="148"/>
                  <a:pt x="15215" y="159"/>
                  <a:pt x="15215" y="170"/>
                </a:cubicBezTo>
                <a:lnTo>
                  <a:pt x="15215" y="7065"/>
                </a:lnTo>
                <a:cubicBezTo>
                  <a:pt x="15215" y="7076"/>
                  <a:pt x="15213" y="7088"/>
                  <a:pt x="15211" y="7099"/>
                </a:cubicBezTo>
                <a:cubicBezTo>
                  <a:pt x="15208" y="7109"/>
                  <a:pt x="15204" y="7120"/>
                  <a:pt x="15199" y="7130"/>
                </a:cubicBezTo>
                <a:cubicBezTo>
                  <a:pt x="15195" y="7141"/>
                  <a:pt x="15188" y="7151"/>
                  <a:pt x="15181" y="7160"/>
                </a:cubicBezTo>
                <a:cubicBezTo>
                  <a:pt x="15174" y="7169"/>
                  <a:pt x="15166" y="7178"/>
                  <a:pt x="15156" y="7186"/>
                </a:cubicBezTo>
                <a:cubicBezTo>
                  <a:pt x="15147" y="7193"/>
                  <a:pt x="15137" y="7201"/>
                  <a:pt x="15126" y="7207"/>
                </a:cubicBezTo>
                <a:cubicBezTo>
                  <a:pt x="15116" y="7213"/>
                  <a:pt x="15104" y="7218"/>
                  <a:pt x="15092" y="7222"/>
                </a:cubicBezTo>
                <a:cubicBezTo>
                  <a:pt x="15080" y="7227"/>
                  <a:pt x="15068" y="7230"/>
                  <a:pt x="15055" y="7232"/>
                </a:cubicBezTo>
                <a:cubicBezTo>
                  <a:pt x="15042" y="7234"/>
                  <a:pt x="15029" y="7235"/>
                  <a:pt x="15016" y="7235"/>
                </a:cubicBezTo>
                <a:lnTo>
                  <a:pt x="198" y="7235"/>
                </a:lnTo>
                <a:cubicBezTo>
                  <a:pt x="185" y="7235"/>
                  <a:pt x="173" y="7234"/>
                  <a:pt x="160" y="7232"/>
                </a:cubicBezTo>
                <a:cubicBezTo>
                  <a:pt x="147" y="7230"/>
                  <a:pt x="135" y="7227"/>
                  <a:pt x="123" y="7222"/>
                </a:cubicBezTo>
                <a:cubicBezTo>
                  <a:pt x="111" y="7218"/>
                  <a:pt x="99" y="7213"/>
                  <a:pt x="88" y="7207"/>
                </a:cubicBezTo>
                <a:cubicBezTo>
                  <a:pt x="77" y="7201"/>
                  <a:pt x="67" y="7193"/>
                  <a:pt x="58" y="7186"/>
                </a:cubicBezTo>
                <a:cubicBezTo>
                  <a:pt x="49" y="7178"/>
                  <a:pt x="41" y="7169"/>
                  <a:pt x="34" y="7160"/>
                </a:cubicBezTo>
                <a:cubicBezTo>
                  <a:pt x="26" y="7151"/>
                  <a:pt x="20" y="7141"/>
                  <a:pt x="15" y="7130"/>
                </a:cubicBezTo>
                <a:cubicBezTo>
                  <a:pt x="10" y="7120"/>
                  <a:pt x="6" y="7109"/>
                  <a:pt x="4" y="7099"/>
                </a:cubicBezTo>
                <a:cubicBezTo>
                  <a:pt x="1" y="7088"/>
                  <a:pt x="0" y="7076"/>
                  <a:pt x="0" y="7065"/>
                </a:cubicBezTo>
              </a:path>
            </a:pathLst>
          </a:custGeom>
          <a:ln w="8640">
            <a:solidFill>
              <a:srgbClr val="E5E7EB"/>
            </a:solidFill>
            <a:miter/>
          </a:ln>
        </p:spPr>
        <p:txBody>
          <a:bodyPr lIns="4320" tIns="4320" rIns="4320" bIns="432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17" name="任意多边形 416">
            <a:extLst>
              <a:ext uri="{FF2B5EF4-FFF2-40B4-BE49-F238E27FC236}">
                <a16:creationId xmlns:a16="http://schemas.microsoft.com/office/drawing/2014/main" id="{4CA99E7A-10ED-BED0-D051-3F15FB5819FB}"/>
              </a:ext>
            </a:extLst>
          </p:cNvPr>
          <p:cNvSpPr/>
          <p:nvPr/>
        </p:nvSpPr>
        <p:spPr>
          <a:xfrm>
            <a:off x="6114960" y="4694400"/>
            <a:ext cx="5467680" cy="1681920"/>
          </a:xfrm>
          <a:custGeom>
            <a:avLst/>
            <a:gdLst/>
            <a:ahLst/>
            <a:cxnLst/>
            <a:rect l="0" t="0" r="r" b="b"/>
            <a:pathLst>
              <a:path w="15188" h="4672">
                <a:moveTo>
                  <a:pt x="0" y="4672"/>
                </a:moveTo>
                <a:lnTo>
                  <a:pt x="0" y="0"/>
                </a:lnTo>
                <a:lnTo>
                  <a:pt x="14976" y="0"/>
                </a:lnTo>
                <a:cubicBezTo>
                  <a:pt x="14990" y="0"/>
                  <a:pt x="15004" y="1"/>
                  <a:pt x="15017" y="3"/>
                </a:cubicBezTo>
                <a:cubicBezTo>
                  <a:pt x="15031" y="5"/>
                  <a:pt x="15044" y="9"/>
                  <a:pt x="15057" y="13"/>
                </a:cubicBezTo>
                <a:cubicBezTo>
                  <a:pt x="15070" y="18"/>
                  <a:pt x="15082" y="24"/>
                  <a:pt x="15094" y="30"/>
                </a:cubicBezTo>
                <a:cubicBezTo>
                  <a:pt x="15105" y="37"/>
                  <a:pt x="15116" y="44"/>
                  <a:pt x="15126" y="53"/>
                </a:cubicBezTo>
                <a:cubicBezTo>
                  <a:pt x="15136" y="61"/>
                  <a:pt x="15144" y="70"/>
                  <a:pt x="15152" y="80"/>
                </a:cubicBezTo>
                <a:cubicBezTo>
                  <a:pt x="15160" y="90"/>
                  <a:pt x="15166" y="101"/>
                  <a:pt x="15172" y="112"/>
                </a:cubicBezTo>
                <a:cubicBezTo>
                  <a:pt x="15177" y="123"/>
                  <a:pt x="15181" y="134"/>
                  <a:pt x="15184" y="146"/>
                </a:cubicBezTo>
                <a:cubicBezTo>
                  <a:pt x="15186" y="157"/>
                  <a:pt x="15188" y="169"/>
                  <a:pt x="15188" y="181"/>
                </a:cubicBezTo>
                <a:lnTo>
                  <a:pt x="15188" y="4491"/>
                </a:lnTo>
                <a:cubicBezTo>
                  <a:pt x="15188" y="4503"/>
                  <a:pt x="15186" y="4515"/>
                  <a:pt x="15184" y="4526"/>
                </a:cubicBezTo>
                <a:cubicBezTo>
                  <a:pt x="15181" y="4538"/>
                  <a:pt x="15177" y="4549"/>
                  <a:pt x="15172" y="4560"/>
                </a:cubicBezTo>
                <a:cubicBezTo>
                  <a:pt x="15166" y="4571"/>
                  <a:pt x="15160" y="4582"/>
                  <a:pt x="15152" y="4592"/>
                </a:cubicBezTo>
                <a:cubicBezTo>
                  <a:pt x="15144" y="4602"/>
                  <a:pt x="15136" y="4611"/>
                  <a:pt x="15126" y="4619"/>
                </a:cubicBezTo>
                <a:cubicBezTo>
                  <a:pt x="15116" y="4628"/>
                  <a:pt x="15105" y="4635"/>
                  <a:pt x="15094" y="4642"/>
                </a:cubicBezTo>
                <a:cubicBezTo>
                  <a:pt x="15082" y="4649"/>
                  <a:pt x="15070" y="4654"/>
                  <a:pt x="15057" y="4659"/>
                </a:cubicBezTo>
                <a:cubicBezTo>
                  <a:pt x="15044" y="4663"/>
                  <a:pt x="15031" y="4667"/>
                  <a:pt x="15017" y="4669"/>
                </a:cubicBezTo>
                <a:cubicBezTo>
                  <a:pt x="15004" y="4671"/>
                  <a:pt x="14990" y="4672"/>
                  <a:pt x="14976" y="4672"/>
                </a:cubicBezTo>
                <a:lnTo>
                  <a:pt x="0" y="4672"/>
                </a:lnTo>
                <a:close/>
              </a:path>
            </a:pathLst>
          </a:custGeom>
          <a:solidFill>
            <a:srgbClr val="F0F9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18" name="任意多边形 417">
            <a:extLst>
              <a:ext uri="{FF2B5EF4-FFF2-40B4-BE49-F238E27FC236}">
                <a16:creationId xmlns:a16="http://schemas.microsoft.com/office/drawing/2014/main" id="{2D65007C-D9ED-0E84-AC3A-ABBA952CF788}"/>
              </a:ext>
            </a:extLst>
          </p:cNvPr>
          <p:cNvSpPr/>
          <p:nvPr/>
        </p:nvSpPr>
        <p:spPr>
          <a:xfrm>
            <a:off x="6095880" y="4694400"/>
            <a:ext cx="38520" cy="1681920"/>
          </a:xfrm>
          <a:custGeom>
            <a:avLst/>
            <a:gdLst/>
            <a:ahLst/>
            <a:cxnLst/>
            <a:rect l="0" t="0" r="r" b="b"/>
            <a:pathLst>
              <a:path w="107" h="4672">
                <a:moveTo>
                  <a:pt x="0" y="0"/>
                </a:moveTo>
                <a:lnTo>
                  <a:pt x="107" y="0"/>
                </a:lnTo>
                <a:lnTo>
                  <a:pt x="107" y="4672"/>
                </a:lnTo>
                <a:lnTo>
                  <a:pt x="0" y="467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23" name="文本框 422">
            <a:extLst>
              <a:ext uri="{FF2B5EF4-FFF2-40B4-BE49-F238E27FC236}">
                <a16:creationId xmlns:a16="http://schemas.microsoft.com/office/drawing/2014/main" id="{DB38D73E-8BB1-BCD8-0E3F-BB67ADD929CE}"/>
              </a:ext>
            </a:extLst>
          </p:cNvPr>
          <p:cNvSpPr txBox="1"/>
          <p:nvPr/>
        </p:nvSpPr>
        <p:spPr>
          <a:xfrm>
            <a:off x="6095880" y="4253760"/>
            <a:ext cx="960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NotoSansCJKsc"/>
                <a:ea typeface="NotoSansCJKsc"/>
              </a:rPr>
              <a:t>决策路径⽣成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24" name="文本框 423">
            <a:extLst>
              <a:ext uri="{FF2B5EF4-FFF2-40B4-BE49-F238E27FC236}">
                <a16:creationId xmlns:a16="http://schemas.microsoft.com/office/drawing/2014/main" id="{5F8909CB-AAA9-3C56-EE2D-73E607214F70}"/>
              </a:ext>
            </a:extLst>
          </p:cNvPr>
          <p:cNvSpPr txBox="1"/>
          <p:nvPr/>
        </p:nvSpPr>
        <p:spPr>
          <a:xfrm>
            <a:off x="6286320" y="4853160"/>
            <a:ext cx="80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80" b="0" i="0" u="none" strike="noStrike" kern="1200" cap="none" spc="0" normalizeH="0" baseline="0" noProof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NotoSansCJKsc"/>
                <a:ea typeface="NotoSansCJKsc"/>
              </a:rPr>
              <a:t>预测⽰例：学⽣</a:t>
            </a:r>
            <a:endParaRPr kumimoji="0" lang="en-US" sz="12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25" name="文本框 424">
            <a:extLst>
              <a:ext uri="{FF2B5EF4-FFF2-40B4-BE49-F238E27FC236}">
                <a16:creationId xmlns:a16="http://schemas.microsoft.com/office/drawing/2014/main" id="{2ABD1769-D557-4527-7AB2-37F9A794421A}"/>
              </a:ext>
            </a:extLst>
          </p:cNvPr>
          <p:cNvSpPr txBox="1"/>
          <p:nvPr/>
        </p:nvSpPr>
        <p:spPr>
          <a:xfrm>
            <a:off x="7620120" y="4859280"/>
            <a:ext cx="1900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80" b="1" i="0" u="none" strike="noStrike" kern="1200" cap="none" spc="0" normalizeH="0" baseline="0" noProof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A</a:t>
            </a:r>
            <a:endParaRPr kumimoji="0" lang="en-US" sz="12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26" name="文本框 425">
            <a:extLst>
              <a:ext uri="{FF2B5EF4-FFF2-40B4-BE49-F238E27FC236}">
                <a16:creationId xmlns:a16="http://schemas.microsoft.com/office/drawing/2014/main" id="{D7F5ABC2-7A8A-CD63-A4A8-32FD56A5BF44}"/>
              </a:ext>
            </a:extLst>
          </p:cNvPr>
          <p:cNvSpPr txBox="1"/>
          <p:nvPr/>
        </p:nvSpPr>
        <p:spPr>
          <a:xfrm>
            <a:off x="7757640" y="4853160"/>
            <a:ext cx="572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80" b="0" i="0" u="none" strike="noStrike" kern="1200" cap="none" spc="0" normalizeH="0" baseline="0" noProof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NotoSansCJKsc"/>
                <a:ea typeface="NotoSansCJKsc"/>
              </a:rPr>
              <a:t>的成绩预测</a:t>
            </a:r>
            <a:endParaRPr kumimoji="0" lang="en-US" sz="12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27" name="文本框 426">
            <a:extLst>
              <a:ext uri="{FF2B5EF4-FFF2-40B4-BE49-F238E27FC236}">
                <a16:creationId xmlns:a16="http://schemas.microsoft.com/office/drawing/2014/main" id="{F6FCE0D0-3CB1-70E4-FA31-40B3DAD13552}"/>
              </a:ext>
            </a:extLst>
          </p:cNvPr>
          <p:cNvSpPr txBox="1"/>
          <p:nvPr/>
        </p:nvSpPr>
        <p:spPr>
          <a:xfrm>
            <a:off x="6286320" y="5192280"/>
            <a:ext cx="1713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1. 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28" name="文本框 427">
            <a:extLst>
              <a:ext uri="{FF2B5EF4-FFF2-40B4-BE49-F238E27FC236}">
                <a16:creationId xmlns:a16="http://schemas.microsoft.com/office/drawing/2014/main" id="{3523B937-874E-69B5-3608-39636DB33F36}"/>
              </a:ext>
            </a:extLst>
          </p:cNvPr>
          <p:cNvSpPr txBox="1"/>
          <p:nvPr/>
        </p:nvSpPr>
        <p:spPr>
          <a:xfrm>
            <a:off x="6458040" y="5186880"/>
            <a:ext cx="4104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学习时⻓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29" name="文本框 428">
            <a:extLst>
              <a:ext uri="{FF2B5EF4-FFF2-40B4-BE49-F238E27FC236}">
                <a16:creationId xmlns:a16="http://schemas.microsoft.com/office/drawing/2014/main" id="{11997584-0476-0153-2480-BD4FB32D1B02}"/>
              </a:ext>
            </a:extLst>
          </p:cNvPr>
          <p:cNvSpPr txBox="1"/>
          <p:nvPr/>
        </p:nvSpPr>
        <p:spPr>
          <a:xfrm>
            <a:off x="7143840" y="5192280"/>
            <a:ext cx="2678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 &gt; 3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30" name="文本框 429">
            <a:extLst>
              <a:ext uri="{FF2B5EF4-FFF2-40B4-BE49-F238E27FC236}">
                <a16:creationId xmlns:a16="http://schemas.microsoft.com/office/drawing/2014/main" id="{7F225B8A-AA6D-845E-A3A9-B24DE9A10C11}"/>
              </a:ext>
            </a:extLst>
          </p:cNvPr>
          <p:cNvSpPr txBox="1"/>
          <p:nvPr/>
        </p:nvSpPr>
        <p:spPr>
          <a:xfrm>
            <a:off x="7412040" y="5186880"/>
            <a:ext cx="2055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⼩时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31" name="文本框 430">
            <a:extLst>
              <a:ext uri="{FF2B5EF4-FFF2-40B4-BE49-F238E27FC236}">
                <a16:creationId xmlns:a16="http://schemas.microsoft.com/office/drawing/2014/main" id="{EB20D7CE-65D0-1216-8198-9C88A09A1033}"/>
              </a:ext>
            </a:extLst>
          </p:cNvPr>
          <p:cNvSpPr txBox="1"/>
          <p:nvPr/>
        </p:nvSpPr>
        <p:spPr>
          <a:xfrm>
            <a:off x="7754760" y="5192280"/>
            <a:ext cx="1710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/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32" name="文本框 431">
            <a:extLst>
              <a:ext uri="{FF2B5EF4-FFF2-40B4-BE49-F238E27FC236}">
                <a16:creationId xmlns:a16="http://schemas.microsoft.com/office/drawing/2014/main" id="{AECB41DB-AB97-3B0F-5EA7-5825B0A9A953}"/>
              </a:ext>
            </a:extLst>
          </p:cNvPr>
          <p:cNvSpPr txBox="1"/>
          <p:nvPr/>
        </p:nvSpPr>
        <p:spPr>
          <a:xfrm>
            <a:off x="7802280" y="5186880"/>
            <a:ext cx="2055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天？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33" name="文本框 432">
            <a:extLst>
              <a:ext uri="{FF2B5EF4-FFF2-40B4-BE49-F238E27FC236}">
                <a16:creationId xmlns:a16="http://schemas.microsoft.com/office/drawing/2014/main" id="{C507C3AE-225F-69B0-7B68-40070D08097F}"/>
              </a:ext>
            </a:extLst>
          </p:cNvPr>
          <p:cNvSpPr txBox="1"/>
          <p:nvPr/>
        </p:nvSpPr>
        <p:spPr>
          <a:xfrm>
            <a:off x="8145360" y="5192280"/>
            <a:ext cx="256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 → 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34" name="文本框 433">
            <a:extLst>
              <a:ext uri="{FF2B5EF4-FFF2-40B4-BE49-F238E27FC236}">
                <a16:creationId xmlns:a16="http://schemas.microsoft.com/office/drawing/2014/main" id="{DE5807BD-DE57-441D-011A-C1292832EE64}"/>
              </a:ext>
            </a:extLst>
          </p:cNvPr>
          <p:cNvSpPr txBox="1"/>
          <p:nvPr/>
        </p:nvSpPr>
        <p:spPr>
          <a:xfrm>
            <a:off x="8402400" y="518688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" b="0" i="0" u="none" strike="noStrike" kern="1200" cap="none" spc="0" normalizeH="0" baseline="0" noProof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NotoSansCJKsc"/>
                <a:ea typeface="NotoSansCJKsc"/>
              </a:rPr>
              <a:t>是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35" name="文本框 434">
            <a:extLst>
              <a:ext uri="{FF2B5EF4-FFF2-40B4-BE49-F238E27FC236}">
                <a16:creationId xmlns:a16="http://schemas.microsoft.com/office/drawing/2014/main" id="{E704371B-B914-A7EC-5771-85DA8C6C8515}"/>
              </a:ext>
            </a:extLst>
          </p:cNvPr>
          <p:cNvSpPr txBox="1"/>
          <p:nvPr/>
        </p:nvSpPr>
        <p:spPr>
          <a:xfrm>
            <a:off x="6286320" y="5477760"/>
            <a:ext cx="1713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2. 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36" name="文本框 435">
            <a:extLst>
              <a:ext uri="{FF2B5EF4-FFF2-40B4-BE49-F238E27FC236}">
                <a16:creationId xmlns:a16="http://schemas.microsoft.com/office/drawing/2014/main" id="{750D7671-AA1D-5671-D2CA-6547E4E417D1}"/>
              </a:ext>
            </a:extLst>
          </p:cNvPr>
          <p:cNvSpPr txBox="1"/>
          <p:nvPr/>
        </p:nvSpPr>
        <p:spPr>
          <a:xfrm>
            <a:off x="6458040" y="5472360"/>
            <a:ext cx="513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作业完成率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37" name="文本框 436">
            <a:extLst>
              <a:ext uri="{FF2B5EF4-FFF2-40B4-BE49-F238E27FC236}">
                <a16:creationId xmlns:a16="http://schemas.microsoft.com/office/drawing/2014/main" id="{35E32DBA-7F11-4A7B-2026-D71CEB0434DE}"/>
              </a:ext>
            </a:extLst>
          </p:cNvPr>
          <p:cNvSpPr txBox="1"/>
          <p:nvPr/>
        </p:nvSpPr>
        <p:spPr>
          <a:xfrm>
            <a:off x="7315200" y="5477760"/>
            <a:ext cx="4953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 &gt; 85%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38" name="文本框 437">
            <a:extLst>
              <a:ext uri="{FF2B5EF4-FFF2-40B4-BE49-F238E27FC236}">
                <a16:creationId xmlns:a16="http://schemas.microsoft.com/office/drawing/2014/main" id="{1339CD72-4411-CA06-EA4F-85BE465935F3}"/>
              </a:ext>
            </a:extLst>
          </p:cNvPr>
          <p:cNvSpPr txBox="1"/>
          <p:nvPr/>
        </p:nvSpPr>
        <p:spPr>
          <a:xfrm>
            <a:off x="7812000" y="547236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？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39" name="文本框 438">
            <a:extLst>
              <a:ext uri="{FF2B5EF4-FFF2-40B4-BE49-F238E27FC236}">
                <a16:creationId xmlns:a16="http://schemas.microsoft.com/office/drawing/2014/main" id="{3B7921D3-4A0B-D686-7D5E-1F7ADFF49594}"/>
              </a:ext>
            </a:extLst>
          </p:cNvPr>
          <p:cNvSpPr txBox="1"/>
          <p:nvPr/>
        </p:nvSpPr>
        <p:spPr>
          <a:xfrm>
            <a:off x="7983360" y="5477760"/>
            <a:ext cx="256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 → 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40" name="文本框 439">
            <a:extLst>
              <a:ext uri="{FF2B5EF4-FFF2-40B4-BE49-F238E27FC236}">
                <a16:creationId xmlns:a16="http://schemas.microsoft.com/office/drawing/2014/main" id="{FDCE6F61-FCDA-816E-A1AB-D098FF442F63}"/>
              </a:ext>
            </a:extLst>
          </p:cNvPr>
          <p:cNvSpPr txBox="1"/>
          <p:nvPr/>
        </p:nvSpPr>
        <p:spPr>
          <a:xfrm>
            <a:off x="8240760" y="547236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" b="0" i="0" u="none" strike="noStrike" kern="1200" cap="none" spc="0" normalizeH="0" baseline="0" noProof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NotoSansCJKsc"/>
                <a:ea typeface="NotoSansCJKsc"/>
              </a:rPr>
              <a:t>是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41" name="文本框 440">
            <a:extLst>
              <a:ext uri="{FF2B5EF4-FFF2-40B4-BE49-F238E27FC236}">
                <a16:creationId xmlns:a16="http://schemas.microsoft.com/office/drawing/2014/main" id="{808C5071-EB8D-2235-8767-B6C7F70E6BB8}"/>
              </a:ext>
            </a:extLst>
          </p:cNvPr>
          <p:cNvSpPr txBox="1"/>
          <p:nvPr/>
        </p:nvSpPr>
        <p:spPr>
          <a:xfrm>
            <a:off x="6286320" y="5763600"/>
            <a:ext cx="1713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3. 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42" name="文本框 441">
            <a:extLst>
              <a:ext uri="{FF2B5EF4-FFF2-40B4-BE49-F238E27FC236}">
                <a16:creationId xmlns:a16="http://schemas.microsoft.com/office/drawing/2014/main" id="{636D3EE5-7CE5-6077-50FE-F28FAD21F935}"/>
              </a:ext>
            </a:extLst>
          </p:cNvPr>
          <p:cNvSpPr txBox="1"/>
          <p:nvPr/>
        </p:nvSpPr>
        <p:spPr>
          <a:xfrm>
            <a:off x="6458040" y="5758200"/>
            <a:ext cx="513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课前预习？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43" name="文本框 442">
            <a:extLst>
              <a:ext uri="{FF2B5EF4-FFF2-40B4-BE49-F238E27FC236}">
                <a16:creationId xmlns:a16="http://schemas.microsoft.com/office/drawing/2014/main" id="{1D1799A6-7DC6-F8DF-7D46-1B441D23CCE2}"/>
              </a:ext>
            </a:extLst>
          </p:cNvPr>
          <p:cNvSpPr txBox="1"/>
          <p:nvPr/>
        </p:nvSpPr>
        <p:spPr>
          <a:xfrm>
            <a:off x="7315200" y="5763600"/>
            <a:ext cx="256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 → 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44" name="文本框 443">
            <a:extLst>
              <a:ext uri="{FF2B5EF4-FFF2-40B4-BE49-F238E27FC236}">
                <a16:creationId xmlns:a16="http://schemas.microsoft.com/office/drawing/2014/main" id="{2BE1B3F4-9F74-3BDC-97F8-FAF1E316D6A1}"/>
              </a:ext>
            </a:extLst>
          </p:cNvPr>
          <p:cNvSpPr txBox="1"/>
          <p:nvPr/>
        </p:nvSpPr>
        <p:spPr>
          <a:xfrm>
            <a:off x="7572240" y="575820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" b="0" i="0" u="none" strike="noStrike" kern="1200" cap="none" spc="0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NotoSansCJKsc"/>
                <a:ea typeface="NotoSansCJKsc"/>
              </a:rPr>
              <a:t>否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45" name="文本框 444">
            <a:extLst>
              <a:ext uri="{FF2B5EF4-FFF2-40B4-BE49-F238E27FC236}">
                <a16:creationId xmlns:a16="http://schemas.microsoft.com/office/drawing/2014/main" id="{496FCC4B-04DD-8609-B37A-0632B32DA7A0}"/>
              </a:ext>
            </a:extLst>
          </p:cNvPr>
          <p:cNvSpPr txBox="1"/>
          <p:nvPr/>
        </p:nvSpPr>
        <p:spPr>
          <a:xfrm>
            <a:off x="6286320" y="6044040"/>
            <a:ext cx="11275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预测结果：良好（准确率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46" name="文本框 445">
            <a:extLst>
              <a:ext uri="{FF2B5EF4-FFF2-40B4-BE49-F238E27FC236}">
                <a16:creationId xmlns:a16="http://schemas.microsoft.com/office/drawing/2014/main" id="{0AB2EDEF-C3EC-ED69-3F25-A3AD21CD4951}"/>
              </a:ext>
            </a:extLst>
          </p:cNvPr>
          <p:cNvSpPr txBox="1"/>
          <p:nvPr/>
        </p:nvSpPr>
        <p:spPr>
          <a:xfrm>
            <a:off x="8172360" y="6049440"/>
            <a:ext cx="3420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85%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48" name="文本框 447">
            <a:extLst>
              <a:ext uri="{FF2B5EF4-FFF2-40B4-BE49-F238E27FC236}">
                <a16:creationId xmlns:a16="http://schemas.microsoft.com/office/drawing/2014/main" id="{0BFD38C9-98AA-297D-7F1E-75347B2E858A}"/>
              </a:ext>
            </a:extLst>
          </p:cNvPr>
          <p:cNvSpPr txBox="1"/>
          <p:nvPr/>
        </p:nvSpPr>
        <p:spPr>
          <a:xfrm>
            <a:off x="8515440" y="604404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）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5BB549-2688-F0DD-4ED6-0E64A6FD52B8}"/>
              </a:ext>
            </a:extLst>
          </p:cNvPr>
          <p:cNvSpPr txBox="1"/>
          <p:nvPr/>
        </p:nvSpPr>
        <p:spPr>
          <a:xfrm>
            <a:off x="583320" y="1835733"/>
            <a:ext cx="5006640" cy="5524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​分裂标准​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PingFang SC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​ID3​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​：基于信息增益 → ​</a:t>
            </a: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​倾向选择取值多的特征​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​（可能过拟合）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PingFang SC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​C4.5​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​：用信息增益率 → ​</a:t>
            </a: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​克服取值偏好​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​，更公平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PingFang SC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​CART​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​：分类用基尼系数（计算更快），回归用MSE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PingFang S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​连续值处理​​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​ID3​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​：仅支持离散特征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PingFang SC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​C4.5/CART​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​：自动离散化连续特征（如：</a:t>
            </a:r>
            <a:r>
              <a:rPr kumimoji="0" lang="zh-CN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/>
                <a:ea typeface="Algerian" panose="04020705040A02060702" charset="0"/>
              </a:rPr>
              <a:t>Age≥30?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lgerian" panose="04020705040A02060702" charset="0"/>
              </a:rPr>
              <a:t>）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PingFang S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缺失值处理​​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​C4.5​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​：通过权重分配（如：按样本比例分配缺失值）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PingFang SC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​CART​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​：用代理分裂点（相似特征替补）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PingFang SC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​ID3​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​：需提前人工处理缺失值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PingFang S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树结构​​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​CART 的二叉树​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​：计算效率高，避免过拟合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PingFang SC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​ID3/C4.5的多叉树​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​：可能生成更宽泛的规则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PingFang S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rPr>
              <a:t>​​剪枝策略​​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​C4.5​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​：悲观剪枝（基于统计修正）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PingFang SC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​CART​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​：代价复杂度剪枝（通过超参数α控制复杂度）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PingFang SC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​ID3​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lgerian" panose="04020705040A02060702" charset="0"/>
              </a:rPr>
              <a:t>​：需手动限制深度防过拟合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PingFang S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CA4D04D-752E-BA5B-74AC-42FCAFAC4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4544AD-E8E8-7D2A-33ED-00E37687DFAD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</a:rPr>
              <a:t>智码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</a:rPr>
              <a:t>AI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</a:rPr>
              <a:t>盗版必究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pic>
        <p:nvPicPr>
          <p:cNvPr id="2" name="图片 1" descr="图示&#10;&#10;AI 生成的内容可能不正确。">
            <a:extLst>
              <a:ext uri="{FF2B5EF4-FFF2-40B4-BE49-F238E27FC236}">
                <a16:creationId xmlns:a16="http://schemas.microsoft.com/office/drawing/2014/main" id="{C4D217E7-7D7C-B17A-36D7-C7213AFF2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200" y="1235151"/>
            <a:ext cx="4569312" cy="289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031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任意多边形 336"/>
          <p:cNvSpPr/>
          <p:nvPr/>
        </p:nvSpPr>
        <p:spPr>
          <a:xfrm>
            <a:off x="0" y="0"/>
            <a:ext cx="12192119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8" name="任意多边形 337"/>
          <p:cNvSpPr/>
          <p:nvPr/>
        </p:nvSpPr>
        <p:spPr>
          <a:xfrm>
            <a:off x="152280" y="130320"/>
            <a:ext cx="11887560" cy="6727680"/>
          </a:xfrm>
          <a:custGeom>
            <a:avLst/>
            <a:gdLst/>
            <a:ahLst/>
            <a:cxnLst/>
            <a:rect l="0" t="0" r="r" b="b"/>
            <a:pathLst>
              <a:path w="33021" h="18688">
                <a:moveTo>
                  <a:pt x="0" y="0"/>
                </a:moveTo>
                <a:lnTo>
                  <a:pt x="33021" y="0"/>
                </a:lnTo>
                <a:lnTo>
                  <a:pt x="33021" y="18688"/>
                </a:lnTo>
                <a:lnTo>
                  <a:pt x="0" y="186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9" name="任意多边形 338"/>
          <p:cNvSpPr/>
          <p:nvPr/>
        </p:nvSpPr>
        <p:spPr>
          <a:xfrm>
            <a:off x="152280" y="130320"/>
            <a:ext cx="11887560" cy="825120"/>
          </a:xfrm>
          <a:custGeom>
            <a:avLst/>
            <a:gdLst/>
            <a:ahLst/>
            <a:cxnLst/>
            <a:rect l="0" t="0" r="r" b="b"/>
            <a:pathLst>
              <a:path w="33021" h="2292">
                <a:moveTo>
                  <a:pt x="0" y="0"/>
                </a:moveTo>
                <a:lnTo>
                  <a:pt x="33021" y="0"/>
                </a:lnTo>
                <a:lnTo>
                  <a:pt x="33021" y="2292"/>
                </a:lnTo>
                <a:lnTo>
                  <a:pt x="0" y="229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0" name="任意多边形 339"/>
          <p:cNvSpPr/>
          <p:nvPr/>
        </p:nvSpPr>
        <p:spPr>
          <a:xfrm>
            <a:off x="152280" y="955080"/>
            <a:ext cx="11887560" cy="5902920"/>
          </a:xfrm>
          <a:custGeom>
            <a:avLst/>
            <a:gdLst/>
            <a:ahLst/>
            <a:cxnLst/>
            <a:rect l="0" t="0" r="r" b="b"/>
            <a:pathLst>
              <a:path w="33021" h="15785">
                <a:moveTo>
                  <a:pt x="0" y="0"/>
                </a:moveTo>
                <a:lnTo>
                  <a:pt x="33021" y="0"/>
                </a:lnTo>
                <a:lnTo>
                  <a:pt x="33021" y="15785"/>
                </a:lnTo>
                <a:lnTo>
                  <a:pt x="0" y="1578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0" name="文本框 379"/>
          <p:cNvSpPr txBox="1"/>
          <p:nvPr/>
        </p:nvSpPr>
        <p:spPr>
          <a:xfrm>
            <a:off x="609480" y="334800"/>
            <a:ext cx="2423740" cy="4154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700" b="0" u="none" strike="noStrike" dirty="0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算法对比与差异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523280-4D54-EEC3-3995-C8DD99BB8A40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3" name="Image 1" descr="preencoded.png">
            <a:extLst>
              <a:ext uri="{FF2B5EF4-FFF2-40B4-BE49-F238E27FC236}">
                <a16:creationId xmlns:a16="http://schemas.microsoft.com/office/drawing/2014/main" id="{AD0EA98D-01D3-9F55-F6A7-47ECC26B0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788536" y="1856437"/>
            <a:ext cx="4178264" cy="1773705"/>
          </a:xfrm>
          <a:prstGeom prst="rect">
            <a:avLst/>
          </a:prstGeom>
        </p:spPr>
      </p:pic>
      <p:pic>
        <p:nvPicPr>
          <p:cNvPr id="54" name="Image 2" descr="preencoded.png">
            <a:extLst>
              <a:ext uri="{FF2B5EF4-FFF2-40B4-BE49-F238E27FC236}">
                <a16:creationId xmlns:a16="http://schemas.microsoft.com/office/drawing/2014/main" id="{40ED99ED-5FDB-C629-2361-5CA208826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127958" y="1710152"/>
            <a:ext cx="1499421" cy="297141"/>
          </a:xfrm>
          <a:prstGeom prst="rect">
            <a:avLst/>
          </a:prstGeom>
        </p:spPr>
      </p:pic>
      <p:sp>
        <p:nvSpPr>
          <p:cNvPr id="55" name="Text 1">
            <a:extLst>
              <a:ext uri="{FF2B5EF4-FFF2-40B4-BE49-F238E27FC236}">
                <a16:creationId xmlns:a16="http://schemas.microsoft.com/office/drawing/2014/main" id="{3C74715B-DDE6-196E-4F75-EAF5FE24919B}"/>
              </a:ext>
            </a:extLst>
          </p:cNvPr>
          <p:cNvSpPr/>
          <p:nvPr/>
        </p:nvSpPr>
        <p:spPr>
          <a:xfrm rot="21600000">
            <a:off x="8292528" y="1755866"/>
            <a:ext cx="1170280" cy="214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algn="ctr" defTabSz="457109">
              <a:lnSpc>
                <a:spcPts val="1680"/>
              </a:lnSpc>
            </a:pPr>
            <a:r>
              <a:rPr lang="en-US" sz="1400" dirty="0">
                <a:solidFill>
                  <a:srgbClr val="FCFCF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ID3/C4.5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6" name="Image 3" descr="preencoded.png">
            <a:extLst>
              <a:ext uri="{FF2B5EF4-FFF2-40B4-BE49-F238E27FC236}">
                <a16:creationId xmlns:a16="http://schemas.microsoft.com/office/drawing/2014/main" id="{05300D01-5961-94B4-7900-5FD81CAA8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788536" y="3689570"/>
            <a:ext cx="4178264" cy="1773705"/>
          </a:xfrm>
          <a:prstGeom prst="rect">
            <a:avLst/>
          </a:prstGeom>
        </p:spPr>
      </p:pic>
      <p:pic>
        <p:nvPicPr>
          <p:cNvPr id="57" name="Image 4" descr="preencoded.png">
            <a:extLst>
              <a:ext uri="{FF2B5EF4-FFF2-40B4-BE49-F238E27FC236}">
                <a16:creationId xmlns:a16="http://schemas.microsoft.com/office/drawing/2014/main" id="{87885CDA-983A-23F9-41ED-91F6767F4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127958" y="5316990"/>
            <a:ext cx="1499421" cy="297141"/>
          </a:xfrm>
          <a:prstGeom prst="rect">
            <a:avLst/>
          </a:prstGeom>
        </p:spPr>
      </p:pic>
      <p:sp>
        <p:nvSpPr>
          <p:cNvPr id="58" name="Text 2">
            <a:extLst>
              <a:ext uri="{FF2B5EF4-FFF2-40B4-BE49-F238E27FC236}">
                <a16:creationId xmlns:a16="http://schemas.microsoft.com/office/drawing/2014/main" id="{CCE66357-2A15-8744-C1B4-3942E1F657F6}"/>
              </a:ext>
            </a:extLst>
          </p:cNvPr>
          <p:cNvSpPr/>
          <p:nvPr/>
        </p:nvSpPr>
        <p:spPr>
          <a:xfrm rot="21600000">
            <a:off x="8425099" y="5362704"/>
            <a:ext cx="895995" cy="214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algn="ctr" defTabSz="457109">
              <a:lnSpc>
                <a:spcPts val="1680"/>
              </a:lnSpc>
            </a:pPr>
            <a:r>
              <a:rPr lang="en-US" sz="1400" dirty="0">
                <a:solidFill>
                  <a:srgbClr val="FCFCF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CART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9" name="Text 3">
            <a:extLst>
              <a:ext uri="{FF2B5EF4-FFF2-40B4-BE49-F238E27FC236}">
                <a16:creationId xmlns:a16="http://schemas.microsoft.com/office/drawing/2014/main" id="{880F26C5-4915-C4F5-13F4-A0851303990D}"/>
              </a:ext>
            </a:extLst>
          </p:cNvPr>
          <p:cNvSpPr/>
          <p:nvPr/>
        </p:nvSpPr>
        <p:spPr>
          <a:xfrm rot="21600000">
            <a:off x="7954245" y="5842702"/>
            <a:ext cx="1833133" cy="26057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algn="ctr" defTabSz="457109">
              <a:lnSpc>
                <a:spcPts val="2040"/>
              </a:lnSpc>
            </a:pPr>
            <a:r>
              <a:rPr lang="en-US" sz="1700" dirty="0">
                <a:solidFill>
                  <a:srgbClr val="000000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算法特性对比</a:t>
            </a:r>
            <a:endParaRPr lang="en-US" sz="17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0" name="Text 4">
            <a:extLst>
              <a:ext uri="{FF2B5EF4-FFF2-40B4-BE49-F238E27FC236}">
                <a16:creationId xmlns:a16="http://schemas.microsoft.com/office/drawing/2014/main" id="{29FCFFBC-8A82-5F91-5AAE-9C5F937B2E6F}"/>
              </a:ext>
            </a:extLst>
          </p:cNvPr>
          <p:cNvSpPr/>
          <p:nvPr/>
        </p:nvSpPr>
        <p:spPr>
          <a:xfrm rot="21600000">
            <a:off x="7561104" y="2432434"/>
            <a:ext cx="1403421" cy="214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defTabSz="457109">
              <a:lnSpc>
                <a:spcPts val="1680"/>
              </a:lnSpc>
            </a:pPr>
            <a:r>
              <a:rPr lang="en-US" sz="1400" dirty="0">
                <a:solidFill>
                  <a:srgbClr val="7B66F4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信息增益/率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61" name="Image 5" descr="preencoded.png">
            <a:extLst>
              <a:ext uri="{FF2B5EF4-FFF2-40B4-BE49-F238E27FC236}">
                <a16:creationId xmlns:a16="http://schemas.microsoft.com/office/drawing/2014/main" id="{A6DEC068-18B8-69AD-5913-699BC17674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227391" y="2437005"/>
            <a:ext cx="191999" cy="191999"/>
          </a:xfrm>
          <a:prstGeom prst="rect">
            <a:avLst/>
          </a:prstGeom>
        </p:spPr>
      </p:pic>
      <p:sp>
        <p:nvSpPr>
          <p:cNvPr id="62" name="Text 5">
            <a:extLst>
              <a:ext uri="{FF2B5EF4-FFF2-40B4-BE49-F238E27FC236}">
                <a16:creationId xmlns:a16="http://schemas.microsoft.com/office/drawing/2014/main" id="{C37C92BA-7C36-ADDF-CA28-D10690B643C9}"/>
              </a:ext>
            </a:extLst>
          </p:cNvPr>
          <p:cNvSpPr/>
          <p:nvPr/>
        </p:nvSpPr>
        <p:spPr>
          <a:xfrm rot="21600000">
            <a:off x="7561104" y="2898717"/>
            <a:ext cx="1334850" cy="214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defTabSz="457109">
              <a:lnSpc>
                <a:spcPts val="1680"/>
              </a:lnSpc>
            </a:pPr>
            <a:r>
              <a:rPr lang="en-US" sz="1400" dirty="0">
                <a:solidFill>
                  <a:srgbClr val="7B66F4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多叉树结构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63" name="Image 6" descr="preencoded.png">
            <a:extLst>
              <a:ext uri="{FF2B5EF4-FFF2-40B4-BE49-F238E27FC236}">
                <a16:creationId xmlns:a16="http://schemas.microsoft.com/office/drawing/2014/main" id="{C619732F-B9B2-A93C-449F-ABD6EA15D3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245677" y="2907860"/>
            <a:ext cx="159999" cy="178285"/>
          </a:xfrm>
          <a:prstGeom prst="rect">
            <a:avLst/>
          </a:prstGeom>
        </p:spPr>
      </p:pic>
      <p:sp>
        <p:nvSpPr>
          <p:cNvPr id="449" name="Text 6">
            <a:extLst>
              <a:ext uri="{FF2B5EF4-FFF2-40B4-BE49-F238E27FC236}">
                <a16:creationId xmlns:a16="http://schemas.microsoft.com/office/drawing/2014/main" id="{20E0BF29-A33D-61A5-CC4C-08AA69028788}"/>
              </a:ext>
            </a:extLst>
          </p:cNvPr>
          <p:cNvSpPr/>
          <p:nvPr/>
        </p:nvSpPr>
        <p:spPr>
          <a:xfrm rot="21600000">
            <a:off x="9385094" y="2432434"/>
            <a:ext cx="1334850" cy="214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defTabSz="457109">
              <a:lnSpc>
                <a:spcPts val="1680"/>
              </a:lnSpc>
            </a:pPr>
            <a:r>
              <a:rPr lang="en-US" sz="1400" dirty="0">
                <a:solidFill>
                  <a:srgbClr val="7B66F4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仅分类任务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450" name="Image 7" descr="preencoded.png">
            <a:extLst>
              <a:ext uri="{FF2B5EF4-FFF2-40B4-BE49-F238E27FC236}">
                <a16:creationId xmlns:a16="http://schemas.microsoft.com/office/drawing/2014/main" id="{F49E67E5-E22E-F536-4E45-69EC506B4D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092524" y="2446148"/>
            <a:ext cx="141714" cy="178285"/>
          </a:xfrm>
          <a:prstGeom prst="rect">
            <a:avLst/>
          </a:prstGeom>
        </p:spPr>
      </p:pic>
      <p:sp>
        <p:nvSpPr>
          <p:cNvPr id="451" name="Text 7">
            <a:extLst>
              <a:ext uri="{FF2B5EF4-FFF2-40B4-BE49-F238E27FC236}">
                <a16:creationId xmlns:a16="http://schemas.microsoft.com/office/drawing/2014/main" id="{810F1D97-0D1A-E6FA-6158-32EBB84DCC97}"/>
              </a:ext>
            </a:extLst>
          </p:cNvPr>
          <p:cNvSpPr/>
          <p:nvPr/>
        </p:nvSpPr>
        <p:spPr>
          <a:xfrm rot="21600000">
            <a:off x="9385094" y="2898717"/>
            <a:ext cx="1513135" cy="214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defTabSz="457109">
              <a:lnSpc>
                <a:spcPts val="1680"/>
              </a:lnSpc>
            </a:pPr>
            <a:r>
              <a:rPr lang="en-US" sz="1400" dirty="0">
                <a:solidFill>
                  <a:srgbClr val="7B66F4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缺失值处理弱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452" name="Image 8" descr="preencoded.png">
            <a:extLst>
              <a:ext uri="{FF2B5EF4-FFF2-40B4-BE49-F238E27FC236}">
                <a16:creationId xmlns:a16="http://schemas.microsoft.com/office/drawing/2014/main" id="{2EAA7185-7EDD-34F4-FFFB-9957E8C642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078810" y="2907860"/>
            <a:ext cx="164571" cy="178285"/>
          </a:xfrm>
          <a:prstGeom prst="rect">
            <a:avLst/>
          </a:prstGeom>
        </p:spPr>
      </p:pic>
      <p:pic>
        <p:nvPicPr>
          <p:cNvPr id="453" name="Image 9" descr="preencoded.png">
            <a:extLst>
              <a:ext uri="{FF2B5EF4-FFF2-40B4-BE49-F238E27FC236}">
                <a16:creationId xmlns:a16="http://schemas.microsoft.com/office/drawing/2014/main" id="{2A055737-0F00-067F-CBDD-F29828A78E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218248" y="4215282"/>
            <a:ext cx="201142" cy="201142"/>
          </a:xfrm>
          <a:prstGeom prst="rect">
            <a:avLst/>
          </a:prstGeom>
        </p:spPr>
      </p:pic>
      <p:sp>
        <p:nvSpPr>
          <p:cNvPr id="454" name="Text 8">
            <a:extLst>
              <a:ext uri="{FF2B5EF4-FFF2-40B4-BE49-F238E27FC236}">
                <a16:creationId xmlns:a16="http://schemas.microsoft.com/office/drawing/2014/main" id="{58DFEC49-B482-2227-2968-139531385F3D}"/>
              </a:ext>
            </a:extLst>
          </p:cNvPr>
          <p:cNvSpPr/>
          <p:nvPr/>
        </p:nvSpPr>
        <p:spPr>
          <a:xfrm rot="21600000">
            <a:off x="7561104" y="4219853"/>
            <a:ext cx="1156565" cy="214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defTabSz="457109">
              <a:lnSpc>
                <a:spcPts val="1680"/>
              </a:lnSpc>
            </a:pPr>
            <a:r>
              <a:rPr lang="en-US" sz="1400" dirty="0">
                <a:solidFill>
                  <a:srgbClr val="2B81F5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基尼系数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55" name="Text 9">
            <a:extLst>
              <a:ext uri="{FF2B5EF4-FFF2-40B4-BE49-F238E27FC236}">
                <a16:creationId xmlns:a16="http://schemas.microsoft.com/office/drawing/2014/main" id="{2DD92F43-43C6-6AA7-D0DA-F8ED82126A80}"/>
              </a:ext>
            </a:extLst>
          </p:cNvPr>
          <p:cNvSpPr/>
          <p:nvPr/>
        </p:nvSpPr>
        <p:spPr>
          <a:xfrm rot="21600000">
            <a:off x="7561104" y="4695279"/>
            <a:ext cx="1334850" cy="214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defTabSz="457109">
              <a:lnSpc>
                <a:spcPts val="1680"/>
              </a:lnSpc>
            </a:pPr>
            <a:r>
              <a:rPr lang="en-US" sz="1400" dirty="0">
                <a:solidFill>
                  <a:srgbClr val="2B81F5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二叉树结构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456" name="Image 10" descr="preencoded.png">
            <a:extLst>
              <a:ext uri="{FF2B5EF4-FFF2-40B4-BE49-F238E27FC236}">
                <a16:creationId xmlns:a16="http://schemas.microsoft.com/office/drawing/2014/main" id="{898DF14E-9EBB-AFCD-E890-624AC8049F0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231962" y="4704422"/>
            <a:ext cx="178285" cy="178285"/>
          </a:xfrm>
          <a:prstGeom prst="rect">
            <a:avLst/>
          </a:prstGeom>
        </p:spPr>
      </p:pic>
      <p:sp>
        <p:nvSpPr>
          <p:cNvPr id="457" name="Text 10">
            <a:extLst>
              <a:ext uri="{FF2B5EF4-FFF2-40B4-BE49-F238E27FC236}">
                <a16:creationId xmlns:a16="http://schemas.microsoft.com/office/drawing/2014/main" id="{EB2E1604-D87C-08C0-397E-DF49A5C23162}"/>
              </a:ext>
            </a:extLst>
          </p:cNvPr>
          <p:cNvSpPr/>
          <p:nvPr/>
        </p:nvSpPr>
        <p:spPr>
          <a:xfrm rot="21600000">
            <a:off x="9403380" y="4219853"/>
            <a:ext cx="1257136" cy="214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defTabSz="457109">
              <a:lnSpc>
                <a:spcPts val="1680"/>
              </a:lnSpc>
            </a:pPr>
            <a:r>
              <a:rPr lang="en-US" sz="1400" dirty="0">
                <a:solidFill>
                  <a:srgbClr val="2B81F5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分类+回归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58" name="Text 11">
            <a:extLst>
              <a:ext uri="{FF2B5EF4-FFF2-40B4-BE49-F238E27FC236}">
                <a16:creationId xmlns:a16="http://schemas.microsoft.com/office/drawing/2014/main" id="{A3694BD0-9328-CBF0-A743-23047D42881B}"/>
              </a:ext>
            </a:extLst>
          </p:cNvPr>
          <p:cNvSpPr/>
          <p:nvPr/>
        </p:nvSpPr>
        <p:spPr>
          <a:xfrm rot="21600000">
            <a:off x="9403380" y="4695279"/>
            <a:ext cx="1513135" cy="214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defTabSz="457109">
              <a:lnSpc>
                <a:spcPts val="1680"/>
              </a:lnSpc>
            </a:pPr>
            <a:r>
              <a:rPr lang="en-US" sz="1400" dirty="0">
                <a:solidFill>
                  <a:srgbClr val="2B81F5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自动缺失处理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459" name="Image 11" descr="preencoded.png">
            <a:extLst>
              <a:ext uri="{FF2B5EF4-FFF2-40B4-BE49-F238E27FC236}">
                <a16:creationId xmlns:a16="http://schemas.microsoft.com/office/drawing/2014/main" id="{9274BBCC-FC7F-0816-ED65-166E99275F2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087953" y="4690708"/>
            <a:ext cx="196570" cy="210285"/>
          </a:xfrm>
          <a:prstGeom prst="rect">
            <a:avLst/>
          </a:prstGeom>
        </p:spPr>
      </p:pic>
      <p:pic>
        <p:nvPicPr>
          <p:cNvPr id="460" name="Image 12" descr="preencoded.png">
            <a:extLst>
              <a:ext uri="{FF2B5EF4-FFF2-40B4-BE49-F238E27FC236}">
                <a16:creationId xmlns:a16="http://schemas.microsoft.com/office/drawing/2014/main" id="{250001C4-C708-F3E8-A293-1918D0E196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9087953" y="4215282"/>
            <a:ext cx="191999" cy="201142"/>
          </a:xfrm>
          <a:prstGeom prst="rect">
            <a:avLst/>
          </a:prstGeom>
        </p:spPr>
      </p:pic>
      <p:sp>
        <p:nvSpPr>
          <p:cNvPr id="461" name="Text 12">
            <a:extLst>
              <a:ext uri="{FF2B5EF4-FFF2-40B4-BE49-F238E27FC236}">
                <a16:creationId xmlns:a16="http://schemas.microsoft.com/office/drawing/2014/main" id="{EA89DDD7-F2B7-3166-B3A4-30400A5B5E4F}"/>
              </a:ext>
            </a:extLst>
          </p:cNvPr>
          <p:cNvSpPr/>
          <p:nvPr/>
        </p:nvSpPr>
        <p:spPr>
          <a:xfrm rot="21600000">
            <a:off x="1202280" y="3854140"/>
            <a:ext cx="4571405" cy="57142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defTabSz="457109">
              <a:lnSpc>
                <a:spcPts val="2235"/>
              </a:lnSpc>
            </a:pPr>
            <a:r>
              <a:rPr lang="en-US" sz="1300" dirty="0">
                <a:solidFill>
                  <a:srgbClr val="000000"/>
                </a:solidFill>
                <a:latin typeface="SourceHanSansCN-Regular" panose="020B0500000000000000" pitchFamily="34" charset="-122"/>
                <a:ea typeface="SourceHanSansCN-Regular" panose="020B0500000000000000" pitchFamily="34" charset="-122"/>
                <a:cs typeface="SourceHanSansCN-Regular" panose="020B0500000000000000" pitchFamily="34" charset="-120"/>
              </a:rPr>
              <a:t>ID3/C4.5生成多叉树可能冗余，CART强制二叉树结构降低模型复杂度并提高泛化能力。</a:t>
            </a:r>
            <a:endParaRPr lang="en-US" sz="13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62" name="Text 13">
            <a:extLst>
              <a:ext uri="{FF2B5EF4-FFF2-40B4-BE49-F238E27FC236}">
                <a16:creationId xmlns:a16="http://schemas.microsoft.com/office/drawing/2014/main" id="{D8AEB7FA-9808-A67B-3299-B87A4B92440B}"/>
              </a:ext>
            </a:extLst>
          </p:cNvPr>
          <p:cNvSpPr/>
          <p:nvPr/>
        </p:nvSpPr>
        <p:spPr>
          <a:xfrm rot="21600000">
            <a:off x="1202280" y="3419857"/>
            <a:ext cx="1613706" cy="297141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defTabSz="457109">
              <a:lnSpc>
                <a:spcPts val="2340"/>
              </a:lnSpc>
            </a:pPr>
            <a:r>
              <a:rPr lang="en-US" sz="1950" dirty="0">
                <a:solidFill>
                  <a:srgbClr val="000000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结构差异</a:t>
            </a:r>
            <a:endParaRPr lang="en-US" sz="195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463" name="Image 13" descr="preencoded.png">
            <a:extLst>
              <a:ext uri="{FF2B5EF4-FFF2-40B4-BE49-F238E27FC236}">
                <a16:creationId xmlns:a16="http://schemas.microsoft.com/office/drawing/2014/main" id="{A7A85271-312B-9305-4321-22DC3944140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850281" y="3479286"/>
            <a:ext cx="141714" cy="150856"/>
          </a:xfrm>
          <a:prstGeom prst="rect">
            <a:avLst/>
          </a:prstGeom>
        </p:spPr>
      </p:pic>
      <p:sp>
        <p:nvSpPr>
          <p:cNvPr id="464" name="Text 14">
            <a:extLst>
              <a:ext uri="{FF2B5EF4-FFF2-40B4-BE49-F238E27FC236}">
                <a16:creationId xmlns:a16="http://schemas.microsoft.com/office/drawing/2014/main" id="{5288A4C5-7381-DFAF-99B5-84CDE25D1E45}"/>
              </a:ext>
            </a:extLst>
          </p:cNvPr>
          <p:cNvSpPr/>
          <p:nvPr/>
        </p:nvSpPr>
        <p:spPr>
          <a:xfrm rot="21600000">
            <a:off x="1202280" y="2382148"/>
            <a:ext cx="4571405" cy="57142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defTabSz="457109">
              <a:lnSpc>
                <a:spcPts val="2235"/>
              </a:lnSpc>
            </a:pPr>
            <a:r>
              <a:rPr lang="en-US" sz="1300" dirty="0">
                <a:solidFill>
                  <a:srgbClr val="000000"/>
                </a:solidFill>
                <a:latin typeface="SourceHanSansCN-Regular" panose="020B0500000000000000" pitchFamily="34" charset="-122"/>
                <a:ea typeface="SourceHanSansCN-Regular" panose="020B0500000000000000" pitchFamily="34" charset="-122"/>
                <a:cs typeface="SourceHanSansCN-Regular" panose="020B0500000000000000" pitchFamily="34" charset="-120"/>
              </a:rPr>
              <a:t>ID3依赖信息增益易多值偏好，C4.5通过增益率校正偏差，CART采用基尼系数提升计算效率。</a:t>
            </a:r>
            <a:endParaRPr lang="en-US" sz="13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65" name="Text 15">
            <a:extLst>
              <a:ext uri="{FF2B5EF4-FFF2-40B4-BE49-F238E27FC236}">
                <a16:creationId xmlns:a16="http://schemas.microsoft.com/office/drawing/2014/main" id="{6388C7BA-E4C3-BB45-F67D-0549320E01F9}"/>
              </a:ext>
            </a:extLst>
          </p:cNvPr>
          <p:cNvSpPr/>
          <p:nvPr/>
        </p:nvSpPr>
        <p:spPr>
          <a:xfrm rot="21600000">
            <a:off x="1202280" y="1947865"/>
            <a:ext cx="1613706" cy="297141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defTabSz="457109">
              <a:lnSpc>
                <a:spcPts val="2340"/>
              </a:lnSpc>
            </a:pPr>
            <a:r>
              <a:rPr lang="en-US" sz="1950" dirty="0">
                <a:solidFill>
                  <a:srgbClr val="000000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划分准则</a:t>
            </a:r>
            <a:endParaRPr lang="en-US" sz="195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466" name="Image 14" descr="preencoded.png">
            <a:extLst>
              <a:ext uri="{FF2B5EF4-FFF2-40B4-BE49-F238E27FC236}">
                <a16:creationId xmlns:a16="http://schemas.microsoft.com/office/drawing/2014/main" id="{5C9DE35B-2BFB-5E1D-DA60-481851B7C24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850281" y="2007293"/>
            <a:ext cx="141714" cy="150856"/>
          </a:xfrm>
          <a:prstGeom prst="rect">
            <a:avLst/>
          </a:prstGeom>
        </p:spPr>
      </p:pic>
      <p:sp>
        <p:nvSpPr>
          <p:cNvPr id="467" name="Text 16">
            <a:extLst>
              <a:ext uri="{FF2B5EF4-FFF2-40B4-BE49-F238E27FC236}">
                <a16:creationId xmlns:a16="http://schemas.microsoft.com/office/drawing/2014/main" id="{11306968-37DF-4E42-BF95-347F368124BE}"/>
              </a:ext>
            </a:extLst>
          </p:cNvPr>
          <p:cNvSpPr/>
          <p:nvPr/>
        </p:nvSpPr>
        <p:spPr>
          <a:xfrm rot="21600000">
            <a:off x="1202280" y="5326133"/>
            <a:ext cx="4571405" cy="57142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defTabSz="457109">
              <a:lnSpc>
                <a:spcPts val="2235"/>
              </a:lnSpc>
            </a:pPr>
            <a:r>
              <a:rPr lang="en-US" sz="1300" dirty="0">
                <a:solidFill>
                  <a:srgbClr val="000000"/>
                </a:solidFill>
                <a:latin typeface="SourceHanSansCN-Regular" panose="020B0500000000000000" pitchFamily="34" charset="-122"/>
                <a:ea typeface="SourceHanSansCN-Regular" panose="020B0500000000000000" pitchFamily="34" charset="-122"/>
                <a:cs typeface="SourceHanSansCN-Regular" panose="020B0500000000000000" pitchFamily="34" charset="-120"/>
              </a:rPr>
              <a:t>CART唯一同时支持分类与回归任务，ID3/C4.5仅适用于分类场景且缺失值处理能力较弱。</a:t>
            </a:r>
            <a:endParaRPr lang="en-US" sz="13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68" name="Text 17">
            <a:extLst>
              <a:ext uri="{FF2B5EF4-FFF2-40B4-BE49-F238E27FC236}">
                <a16:creationId xmlns:a16="http://schemas.microsoft.com/office/drawing/2014/main" id="{1A0990D1-58E9-7B21-6AEE-A25A56CF83D6}"/>
              </a:ext>
            </a:extLst>
          </p:cNvPr>
          <p:cNvSpPr/>
          <p:nvPr/>
        </p:nvSpPr>
        <p:spPr>
          <a:xfrm rot="21600000">
            <a:off x="1202280" y="4896421"/>
            <a:ext cx="1613706" cy="297141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defTabSz="457109">
              <a:lnSpc>
                <a:spcPts val="2340"/>
              </a:lnSpc>
            </a:pPr>
            <a:r>
              <a:rPr lang="en-US" sz="1950" dirty="0">
                <a:solidFill>
                  <a:srgbClr val="000000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应用范围</a:t>
            </a:r>
            <a:endParaRPr lang="en-US" sz="195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469" name="Image 15" descr="preencoded.png">
            <a:extLst>
              <a:ext uri="{FF2B5EF4-FFF2-40B4-BE49-F238E27FC236}">
                <a16:creationId xmlns:a16="http://schemas.microsoft.com/office/drawing/2014/main" id="{B83C5F1C-84CE-3F41-263A-3AFB4F64BE3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850281" y="4951278"/>
            <a:ext cx="141714" cy="1508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任意多边形 459"/>
          <p:cNvSpPr/>
          <p:nvPr/>
        </p:nvSpPr>
        <p:spPr>
          <a:xfrm>
            <a:off x="184506" y="117180"/>
            <a:ext cx="11887560" cy="717480"/>
          </a:xfrm>
          <a:custGeom>
            <a:avLst/>
            <a:gdLst/>
            <a:ahLst/>
            <a:cxnLst/>
            <a:rect l="0" t="0" r="r" b="b"/>
            <a:pathLst>
              <a:path w="33021" h="1993">
                <a:moveTo>
                  <a:pt x="0" y="0"/>
                </a:moveTo>
                <a:lnTo>
                  <a:pt x="33021" y="0"/>
                </a:lnTo>
                <a:lnTo>
                  <a:pt x="33021" y="1993"/>
                </a:lnTo>
                <a:lnTo>
                  <a:pt x="0" y="1993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2" name="任意多边形 461"/>
          <p:cNvSpPr/>
          <p:nvPr/>
        </p:nvSpPr>
        <p:spPr>
          <a:xfrm>
            <a:off x="609480" y="1071720"/>
            <a:ext cx="5334120" cy="2478240"/>
          </a:xfrm>
          <a:custGeom>
            <a:avLst/>
            <a:gdLst/>
            <a:ahLst/>
            <a:cxnLst/>
            <a:rect l="0" t="0" r="r" b="b"/>
            <a:pathLst>
              <a:path w="14817" h="6884">
                <a:moveTo>
                  <a:pt x="0" y="6726"/>
                </a:moveTo>
                <a:lnTo>
                  <a:pt x="0" y="119"/>
                </a:lnTo>
                <a:cubicBezTo>
                  <a:pt x="0" y="111"/>
                  <a:pt x="1" y="103"/>
                  <a:pt x="4" y="96"/>
                </a:cubicBezTo>
                <a:cubicBezTo>
                  <a:pt x="7" y="88"/>
                  <a:pt x="11" y="81"/>
                  <a:pt x="16" y="73"/>
                </a:cubicBezTo>
                <a:cubicBezTo>
                  <a:pt x="21" y="66"/>
                  <a:pt x="28" y="59"/>
                  <a:pt x="36" y="53"/>
                </a:cubicBezTo>
                <a:cubicBezTo>
                  <a:pt x="43" y="46"/>
                  <a:pt x="52" y="40"/>
                  <a:pt x="62" y="35"/>
                </a:cubicBezTo>
                <a:cubicBezTo>
                  <a:pt x="72" y="29"/>
                  <a:pt x="82" y="25"/>
                  <a:pt x="94" y="20"/>
                </a:cubicBezTo>
                <a:cubicBezTo>
                  <a:pt x="105" y="16"/>
                  <a:pt x="118" y="12"/>
                  <a:pt x="130" y="9"/>
                </a:cubicBezTo>
                <a:cubicBezTo>
                  <a:pt x="143" y="6"/>
                  <a:pt x="157" y="4"/>
                  <a:pt x="170" y="3"/>
                </a:cubicBezTo>
                <a:cubicBezTo>
                  <a:pt x="184" y="1"/>
                  <a:pt x="198" y="0"/>
                  <a:pt x="211" y="0"/>
                </a:cubicBezTo>
                <a:lnTo>
                  <a:pt x="14606" y="0"/>
                </a:lnTo>
                <a:cubicBezTo>
                  <a:pt x="14620" y="0"/>
                  <a:pt x="14633" y="1"/>
                  <a:pt x="14647" y="3"/>
                </a:cubicBezTo>
                <a:cubicBezTo>
                  <a:pt x="14661" y="4"/>
                  <a:pt x="14674" y="6"/>
                  <a:pt x="14687" y="9"/>
                </a:cubicBezTo>
                <a:cubicBezTo>
                  <a:pt x="14700" y="12"/>
                  <a:pt x="14712" y="16"/>
                  <a:pt x="14723" y="20"/>
                </a:cubicBezTo>
                <a:cubicBezTo>
                  <a:pt x="14735" y="25"/>
                  <a:pt x="14746" y="29"/>
                  <a:pt x="14756" y="35"/>
                </a:cubicBezTo>
                <a:cubicBezTo>
                  <a:pt x="14765" y="40"/>
                  <a:pt x="14774" y="46"/>
                  <a:pt x="14782" y="53"/>
                </a:cubicBezTo>
                <a:cubicBezTo>
                  <a:pt x="14790" y="59"/>
                  <a:pt x="14796" y="66"/>
                  <a:pt x="14801" y="73"/>
                </a:cubicBezTo>
                <a:cubicBezTo>
                  <a:pt x="14807" y="81"/>
                  <a:pt x="14811" y="88"/>
                  <a:pt x="14813" y="96"/>
                </a:cubicBezTo>
                <a:cubicBezTo>
                  <a:pt x="14816" y="103"/>
                  <a:pt x="14817" y="111"/>
                  <a:pt x="14817" y="119"/>
                </a:cubicBezTo>
                <a:lnTo>
                  <a:pt x="14817" y="6726"/>
                </a:lnTo>
                <a:cubicBezTo>
                  <a:pt x="14817" y="6736"/>
                  <a:pt x="14816" y="6747"/>
                  <a:pt x="14813" y="6757"/>
                </a:cubicBezTo>
                <a:cubicBezTo>
                  <a:pt x="14811" y="6767"/>
                  <a:pt x="14807" y="6777"/>
                  <a:pt x="14801" y="6786"/>
                </a:cubicBezTo>
                <a:cubicBezTo>
                  <a:pt x="14796" y="6796"/>
                  <a:pt x="14790" y="6805"/>
                  <a:pt x="14782" y="6814"/>
                </a:cubicBezTo>
                <a:cubicBezTo>
                  <a:pt x="14774" y="6822"/>
                  <a:pt x="14765" y="6830"/>
                  <a:pt x="14756" y="6838"/>
                </a:cubicBezTo>
                <a:cubicBezTo>
                  <a:pt x="14746" y="6845"/>
                  <a:pt x="14735" y="6851"/>
                  <a:pt x="14723" y="6857"/>
                </a:cubicBezTo>
                <a:cubicBezTo>
                  <a:pt x="14712" y="6863"/>
                  <a:pt x="14700" y="6868"/>
                  <a:pt x="14687" y="6872"/>
                </a:cubicBezTo>
                <a:cubicBezTo>
                  <a:pt x="14674" y="6876"/>
                  <a:pt x="14661" y="6879"/>
                  <a:pt x="14647" y="6881"/>
                </a:cubicBezTo>
                <a:cubicBezTo>
                  <a:pt x="14633" y="6883"/>
                  <a:pt x="14620" y="6884"/>
                  <a:pt x="14606" y="6884"/>
                </a:cubicBezTo>
                <a:lnTo>
                  <a:pt x="211" y="6884"/>
                </a:lnTo>
                <a:cubicBezTo>
                  <a:pt x="198" y="6884"/>
                  <a:pt x="184" y="6883"/>
                  <a:pt x="170" y="6881"/>
                </a:cubicBezTo>
                <a:cubicBezTo>
                  <a:pt x="157" y="6879"/>
                  <a:pt x="143" y="6876"/>
                  <a:pt x="130" y="6872"/>
                </a:cubicBezTo>
                <a:cubicBezTo>
                  <a:pt x="118" y="6868"/>
                  <a:pt x="105" y="6863"/>
                  <a:pt x="94" y="6857"/>
                </a:cubicBezTo>
                <a:cubicBezTo>
                  <a:pt x="82" y="6851"/>
                  <a:pt x="72" y="6845"/>
                  <a:pt x="62" y="6838"/>
                </a:cubicBezTo>
                <a:cubicBezTo>
                  <a:pt x="52" y="6830"/>
                  <a:pt x="43" y="6822"/>
                  <a:pt x="36" y="6814"/>
                </a:cubicBezTo>
                <a:cubicBezTo>
                  <a:pt x="28" y="6805"/>
                  <a:pt x="21" y="6796"/>
                  <a:pt x="16" y="6786"/>
                </a:cubicBezTo>
                <a:cubicBezTo>
                  <a:pt x="11" y="6777"/>
                  <a:pt x="7" y="6767"/>
                  <a:pt x="4" y="6757"/>
                </a:cubicBezTo>
                <a:cubicBezTo>
                  <a:pt x="1" y="6747"/>
                  <a:pt x="0" y="6736"/>
                  <a:pt x="0" y="67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3" name="任意多边形 462"/>
          <p:cNvSpPr/>
          <p:nvPr/>
        </p:nvSpPr>
        <p:spPr>
          <a:xfrm>
            <a:off x="609480" y="1057680"/>
            <a:ext cx="5334120" cy="57240"/>
          </a:xfrm>
          <a:custGeom>
            <a:avLst/>
            <a:gdLst/>
            <a:ahLst/>
            <a:cxnLst/>
            <a:rect l="0" t="0" r="r" b="b"/>
            <a:pathLst>
              <a:path w="14817" h="159">
                <a:moveTo>
                  <a:pt x="14801" y="128"/>
                </a:moveTo>
                <a:cubicBezTo>
                  <a:pt x="14791" y="118"/>
                  <a:pt x="14775" y="109"/>
                  <a:pt x="14756" y="102"/>
                </a:cubicBezTo>
                <a:cubicBezTo>
                  <a:pt x="14736" y="94"/>
                  <a:pt x="14713" y="89"/>
                  <a:pt x="14687" y="85"/>
                </a:cubicBezTo>
                <a:cubicBezTo>
                  <a:pt x="14661" y="81"/>
                  <a:pt x="14634" y="79"/>
                  <a:pt x="14606" y="79"/>
                </a:cubicBezTo>
                <a:lnTo>
                  <a:pt x="211" y="79"/>
                </a:lnTo>
                <a:cubicBezTo>
                  <a:pt x="183" y="79"/>
                  <a:pt x="156" y="81"/>
                  <a:pt x="130" y="85"/>
                </a:cubicBezTo>
                <a:cubicBezTo>
                  <a:pt x="105" y="89"/>
                  <a:pt x="82" y="94"/>
                  <a:pt x="62" y="102"/>
                </a:cubicBezTo>
                <a:cubicBezTo>
                  <a:pt x="42" y="109"/>
                  <a:pt x="27" y="118"/>
                  <a:pt x="16" y="128"/>
                </a:cubicBezTo>
                <a:cubicBezTo>
                  <a:pt x="5" y="138"/>
                  <a:pt x="0" y="148"/>
                  <a:pt x="0" y="159"/>
                </a:cubicBezTo>
                <a:cubicBezTo>
                  <a:pt x="0" y="138"/>
                  <a:pt x="5" y="117"/>
                  <a:pt x="16" y="97"/>
                </a:cubicBezTo>
                <a:cubicBezTo>
                  <a:pt x="27" y="78"/>
                  <a:pt x="42" y="61"/>
                  <a:pt x="62" y="46"/>
                </a:cubicBezTo>
                <a:cubicBezTo>
                  <a:pt x="82" y="31"/>
                  <a:pt x="105" y="20"/>
                  <a:pt x="130" y="12"/>
                </a:cubicBezTo>
                <a:cubicBezTo>
                  <a:pt x="156" y="4"/>
                  <a:pt x="183" y="0"/>
                  <a:pt x="211" y="0"/>
                </a:cubicBezTo>
                <a:lnTo>
                  <a:pt x="14606" y="0"/>
                </a:lnTo>
                <a:cubicBezTo>
                  <a:pt x="14634" y="0"/>
                  <a:pt x="14661" y="4"/>
                  <a:pt x="14687" y="12"/>
                </a:cubicBezTo>
                <a:cubicBezTo>
                  <a:pt x="14713" y="20"/>
                  <a:pt x="14736" y="31"/>
                  <a:pt x="14756" y="46"/>
                </a:cubicBezTo>
                <a:cubicBezTo>
                  <a:pt x="14775" y="61"/>
                  <a:pt x="14791" y="78"/>
                  <a:pt x="14801" y="97"/>
                </a:cubicBezTo>
                <a:cubicBezTo>
                  <a:pt x="14812" y="117"/>
                  <a:pt x="14817" y="138"/>
                  <a:pt x="14817" y="159"/>
                </a:cubicBezTo>
                <a:cubicBezTo>
                  <a:pt x="14817" y="148"/>
                  <a:pt x="14812" y="138"/>
                  <a:pt x="14801" y="128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4" name="任意多边形 463"/>
          <p:cNvSpPr/>
          <p:nvPr/>
        </p:nvSpPr>
        <p:spPr>
          <a:xfrm>
            <a:off x="838080" y="1263600"/>
            <a:ext cx="381240" cy="284400"/>
          </a:xfrm>
          <a:custGeom>
            <a:avLst/>
            <a:gdLst/>
            <a:ahLst/>
            <a:cxnLst/>
            <a:rect l="0" t="0" r="r" b="b"/>
            <a:pathLst>
              <a:path w="1059" h="790">
                <a:moveTo>
                  <a:pt x="1059" y="395"/>
                </a:moveTo>
                <a:cubicBezTo>
                  <a:pt x="1059" y="421"/>
                  <a:pt x="1056" y="447"/>
                  <a:pt x="1049" y="472"/>
                </a:cubicBezTo>
                <a:cubicBezTo>
                  <a:pt x="1042" y="498"/>
                  <a:pt x="1032" y="522"/>
                  <a:pt x="1019" y="546"/>
                </a:cubicBezTo>
                <a:cubicBezTo>
                  <a:pt x="1006" y="570"/>
                  <a:pt x="989" y="593"/>
                  <a:pt x="970" y="614"/>
                </a:cubicBezTo>
                <a:cubicBezTo>
                  <a:pt x="951" y="636"/>
                  <a:pt x="929" y="656"/>
                  <a:pt x="904" y="674"/>
                </a:cubicBezTo>
                <a:cubicBezTo>
                  <a:pt x="880" y="692"/>
                  <a:pt x="853" y="709"/>
                  <a:pt x="824" y="723"/>
                </a:cubicBezTo>
                <a:cubicBezTo>
                  <a:pt x="795" y="737"/>
                  <a:pt x="765" y="750"/>
                  <a:pt x="733" y="760"/>
                </a:cubicBezTo>
                <a:cubicBezTo>
                  <a:pt x="700" y="769"/>
                  <a:pt x="667" y="777"/>
                  <a:pt x="633" y="782"/>
                </a:cubicBezTo>
                <a:cubicBezTo>
                  <a:pt x="599" y="787"/>
                  <a:pt x="565" y="790"/>
                  <a:pt x="530" y="790"/>
                </a:cubicBezTo>
                <a:cubicBezTo>
                  <a:pt x="495" y="790"/>
                  <a:pt x="461" y="787"/>
                  <a:pt x="427" y="782"/>
                </a:cubicBezTo>
                <a:cubicBezTo>
                  <a:pt x="393" y="777"/>
                  <a:pt x="360" y="769"/>
                  <a:pt x="327" y="760"/>
                </a:cubicBezTo>
                <a:cubicBezTo>
                  <a:pt x="294" y="750"/>
                  <a:pt x="264" y="737"/>
                  <a:pt x="235" y="723"/>
                </a:cubicBezTo>
                <a:cubicBezTo>
                  <a:pt x="206" y="709"/>
                  <a:pt x="179" y="692"/>
                  <a:pt x="155" y="674"/>
                </a:cubicBezTo>
                <a:cubicBezTo>
                  <a:pt x="130" y="656"/>
                  <a:pt x="108" y="636"/>
                  <a:pt x="89" y="614"/>
                </a:cubicBezTo>
                <a:cubicBezTo>
                  <a:pt x="70" y="593"/>
                  <a:pt x="53" y="570"/>
                  <a:pt x="40" y="546"/>
                </a:cubicBezTo>
                <a:cubicBezTo>
                  <a:pt x="27" y="522"/>
                  <a:pt x="17" y="498"/>
                  <a:pt x="10" y="472"/>
                </a:cubicBezTo>
                <a:cubicBezTo>
                  <a:pt x="3" y="447"/>
                  <a:pt x="0" y="421"/>
                  <a:pt x="0" y="395"/>
                </a:cubicBezTo>
                <a:cubicBezTo>
                  <a:pt x="0" y="369"/>
                  <a:pt x="3" y="344"/>
                  <a:pt x="10" y="318"/>
                </a:cubicBezTo>
                <a:cubicBezTo>
                  <a:pt x="17" y="293"/>
                  <a:pt x="27" y="268"/>
                  <a:pt x="40" y="244"/>
                </a:cubicBezTo>
                <a:cubicBezTo>
                  <a:pt x="53" y="220"/>
                  <a:pt x="70" y="198"/>
                  <a:pt x="89" y="176"/>
                </a:cubicBezTo>
                <a:cubicBezTo>
                  <a:pt x="108" y="155"/>
                  <a:pt x="130" y="135"/>
                  <a:pt x="155" y="116"/>
                </a:cubicBezTo>
                <a:cubicBezTo>
                  <a:pt x="179" y="98"/>
                  <a:pt x="206" y="82"/>
                  <a:pt x="235" y="67"/>
                </a:cubicBezTo>
                <a:cubicBezTo>
                  <a:pt x="264" y="53"/>
                  <a:pt x="294" y="41"/>
                  <a:pt x="327" y="30"/>
                </a:cubicBezTo>
                <a:cubicBezTo>
                  <a:pt x="360" y="20"/>
                  <a:pt x="393" y="12"/>
                  <a:pt x="427" y="7"/>
                </a:cubicBezTo>
                <a:cubicBezTo>
                  <a:pt x="461" y="2"/>
                  <a:pt x="495" y="0"/>
                  <a:pt x="530" y="0"/>
                </a:cubicBezTo>
                <a:cubicBezTo>
                  <a:pt x="565" y="0"/>
                  <a:pt x="599" y="2"/>
                  <a:pt x="633" y="7"/>
                </a:cubicBezTo>
                <a:cubicBezTo>
                  <a:pt x="667" y="12"/>
                  <a:pt x="700" y="20"/>
                  <a:pt x="733" y="30"/>
                </a:cubicBezTo>
                <a:cubicBezTo>
                  <a:pt x="765" y="41"/>
                  <a:pt x="795" y="53"/>
                  <a:pt x="824" y="67"/>
                </a:cubicBezTo>
                <a:cubicBezTo>
                  <a:pt x="853" y="82"/>
                  <a:pt x="880" y="98"/>
                  <a:pt x="904" y="116"/>
                </a:cubicBezTo>
                <a:cubicBezTo>
                  <a:pt x="929" y="135"/>
                  <a:pt x="951" y="155"/>
                  <a:pt x="970" y="176"/>
                </a:cubicBezTo>
                <a:cubicBezTo>
                  <a:pt x="989" y="198"/>
                  <a:pt x="1006" y="220"/>
                  <a:pt x="1019" y="244"/>
                </a:cubicBezTo>
                <a:cubicBezTo>
                  <a:pt x="1032" y="268"/>
                  <a:pt x="1042" y="293"/>
                  <a:pt x="1049" y="318"/>
                </a:cubicBezTo>
                <a:cubicBezTo>
                  <a:pt x="1056" y="344"/>
                  <a:pt x="1059" y="369"/>
                  <a:pt x="1059" y="395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5" name="文本框 464"/>
          <p:cNvSpPr txBox="1"/>
          <p:nvPr/>
        </p:nvSpPr>
        <p:spPr>
          <a:xfrm>
            <a:off x="609480" y="291240"/>
            <a:ext cx="3368160" cy="347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3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集成学习：随机森林与梯度提升</a:t>
            </a:r>
            <a:endParaRPr lang="en-US" sz="2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6" name="文本框 465"/>
          <p:cNvSpPr txBox="1"/>
          <p:nvPr/>
        </p:nvSpPr>
        <p:spPr>
          <a:xfrm>
            <a:off x="981000" y="1328760"/>
            <a:ext cx="190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2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7" name="文本框 466"/>
          <p:cNvSpPr txBox="1"/>
          <p:nvPr/>
        </p:nvSpPr>
        <p:spPr>
          <a:xfrm>
            <a:off x="1333440" y="1292400"/>
            <a:ext cx="266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6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"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8" name="文本框 467"/>
          <p:cNvSpPr txBox="1"/>
          <p:nvPr/>
        </p:nvSpPr>
        <p:spPr>
          <a:xfrm>
            <a:off x="1481400" y="1285200"/>
            <a:ext cx="796320" cy="23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6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三个臭⽪匠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9" name="文本框 468"/>
          <p:cNvSpPr txBox="1"/>
          <p:nvPr/>
        </p:nvSpPr>
        <p:spPr>
          <a:xfrm>
            <a:off x="2566800" y="1292400"/>
            <a:ext cx="266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6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"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0" name="任意多边形 469"/>
          <p:cNvSpPr/>
          <p:nvPr/>
        </p:nvSpPr>
        <p:spPr>
          <a:xfrm>
            <a:off x="838080" y="1696680"/>
            <a:ext cx="228960" cy="170640"/>
          </a:xfrm>
          <a:custGeom>
            <a:avLst/>
            <a:gdLst/>
            <a:ahLst/>
            <a:cxnLst/>
            <a:rect l="0" t="0" r="r" b="b"/>
            <a:pathLst>
              <a:path w="636" h="474">
                <a:moveTo>
                  <a:pt x="636" y="236"/>
                </a:moveTo>
                <a:cubicBezTo>
                  <a:pt x="636" y="252"/>
                  <a:pt x="634" y="268"/>
                  <a:pt x="630" y="284"/>
                </a:cubicBezTo>
                <a:cubicBezTo>
                  <a:pt x="626" y="299"/>
                  <a:pt x="620" y="314"/>
                  <a:pt x="612" y="328"/>
                </a:cubicBezTo>
                <a:cubicBezTo>
                  <a:pt x="604" y="342"/>
                  <a:pt x="594" y="356"/>
                  <a:pt x="582" y="369"/>
                </a:cubicBezTo>
                <a:cubicBezTo>
                  <a:pt x="571" y="382"/>
                  <a:pt x="558" y="394"/>
                  <a:pt x="543" y="405"/>
                </a:cubicBezTo>
                <a:cubicBezTo>
                  <a:pt x="528" y="416"/>
                  <a:pt x="511" y="425"/>
                  <a:pt x="494" y="434"/>
                </a:cubicBezTo>
                <a:cubicBezTo>
                  <a:pt x="476" y="443"/>
                  <a:pt x="458" y="450"/>
                  <a:pt x="439" y="456"/>
                </a:cubicBezTo>
                <a:cubicBezTo>
                  <a:pt x="420" y="462"/>
                  <a:pt x="400" y="466"/>
                  <a:pt x="379" y="469"/>
                </a:cubicBezTo>
                <a:cubicBezTo>
                  <a:pt x="359" y="472"/>
                  <a:pt x="338" y="474"/>
                  <a:pt x="317" y="474"/>
                </a:cubicBezTo>
                <a:cubicBezTo>
                  <a:pt x="296" y="474"/>
                  <a:pt x="276" y="472"/>
                  <a:pt x="255" y="469"/>
                </a:cubicBezTo>
                <a:cubicBezTo>
                  <a:pt x="235" y="466"/>
                  <a:pt x="215" y="462"/>
                  <a:pt x="196" y="456"/>
                </a:cubicBezTo>
                <a:cubicBezTo>
                  <a:pt x="177" y="450"/>
                  <a:pt x="158" y="443"/>
                  <a:pt x="141" y="434"/>
                </a:cubicBezTo>
                <a:cubicBezTo>
                  <a:pt x="124" y="425"/>
                  <a:pt x="108" y="416"/>
                  <a:pt x="93" y="405"/>
                </a:cubicBezTo>
                <a:cubicBezTo>
                  <a:pt x="78" y="394"/>
                  <a:pt x="65" y="382"/>
                  <a:pt x="53" y="369"/>
                </a:cubicBezTo>
                <a:cubicBezTo>
                  <a:pt x="42" y="356"/>
                  <a:pt x="32" y="342"/>
                  <a:pt x="24" y="328"/>
                </a:cubicBezTo>
                <a:cubicBezTo>
                  <a:pt x="16" y="314"/>
                  <a:pt x="10" y="299"/>
                  <a:pt x="6" y="284"/>
                </a:cubicBezTo>
                <a:cubicBezTo>
                  <a:pt x="2" y="268"/>
                  <a:pt x="0" y="252"/>
                  <a:pt x="0" y="236"/>
                </a:cubicBezTo>
                <a:cubicBezTo>
                  <a:pt x="0" y="221"/>
                  <a:pt x="2" y="205"/>
                  <a:pt x="6" y="190"/>
                </a:cubicBezTo>
                <a:cubicBezTo>
                  <a:pt x="10" y="175"/>
                  <a:pt x="16" y="160"/>
                  <a:pt x="24" y="146"/>
                </a:cubicBezTo>
                <a:cubicBezTo>
                  <a:pt x="32" y="131"/>
                  <a:pt x="42" y="118"/>
                  <a:pt x="53" y="105"/>
                </a:cubicBezTo>
                <a:cubicBezTo>
                  <a:pt x="65" y="92"/>
                  <a:pt x="78" y="80"/>
                  <a:pt x="93" y="69"/>
                </a:cubicBezTo>
                <a:cubicBezTo>
                  <a:pt x="108" y="58"/>
                  <a:pt x="124" y="48"/>
                  <a:pt x="141" y="40"/>
                </a:cubicBezTo>
                <a:cubicBezTo>
                  <a:pt x="158" y="31"/>
                  <a:pt x="177" y="24"/>
                  <a:pt x="196" y="18"/>
                </a:cubicBezTo>
                <a:cubicBezTo>
                  <a:pt x="215" y="12"/>
                  <a:pt x="235" y="7"/>
                  <a:pt x="255" y="4"/>
                </a:cubicBezTo>
                <a:cubicBezTo>
                  <a:pt x="276" y="1"/>
                  <a:pt x="296" y="0"/>
                  <a:pt x="317" y="0"/>
                </a:cubicBezTo>
                <a:cubicBezTo>
                  <a:pt x="338" y="0"/>
                  <a:pt x="359" y="1"/>
                  <a:pt x="379" y="4"/>
                </a:cubicBezTo>
                <a:cubicBezTo>
                  <a:pt x="400" y="7"/>
                  <a:pt x="420" y="12"/>
                  <a:pt x="439" y="18"/>
                </a:cubicBezTo>
                <a:cubicBezTo>
                  <a:pt x="458" y="24"/>
                  <a:pt x="476" y="31"/>
                  <a:pt x="494" y="40"/>
                </a:cubicBezTo>
                <a:cubicBezTo>
                  <a:pt x="511" y="48"/>
                  <a:pt x="528" y="58"/>
                  <a:pt x="543" y="69"/>
                </a:cubicBezTo>
                <a:cubicBezTo>
                  <a:pt x="558" y="80"/>
                  <a:pt x="571" y="92"/>
                  <a:pt x="582" y="105"/>
                </a:cubicBezTo>
                <a:cubicBezTo>
                  <a:pt x="594" y="118"/>
                  <a:pt x="604" y="131"/>
                  <a:pt x="612" y="146"/>
                </a:cubicBezTo>
                <a:cubicBezTo>
                  <a:pt x="620" y="160"/>
                  <a:pt x="626" y="175"/>
                  <a:pt x="630" y="190"/>
                </a:cubicBezTo>
                <a:cubicBezTo>
                  <a:pt x="634" y="205"/>
                  <a:pt x="636" y="221"/>
                  <a:pt x="636" y="236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1" name="文本框 470"/>
          <p:cNvSpPr txBox="1"/>
          <p:nvPr/>
        </p:nvSpPr>
        <p:spPr>
          <a:xfrm>
            <a:off x="2714760" y="1285200"/>
            <a:ext cx="637200" cy="23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60" b="0" u="none" strike="noStrike" dirty="0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集成思想</a:t>
            </a:r>
            <a:endParaRPr lang="en-US" sz="156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2" name="文本框 471"/>
          <p:cNvSpPr txBox="1"/>
          <p:nvPr/>
        </p:nvSpPr>
        <p:spPr>
          <a:xfrm>
            <a:off x="893880" y="1698840"/>
            <a:ext cx="17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3" name="任意多边形 472"/>
          <p:cNvSpPr/>
          <p:nvPr/>
        </p:nvSpPr>
        <p:spPr>
          <a:xfrm>
            <a:off x="838080" y="2008800"/>
            <a:ext cx="228960" cy="171000"/>
          </a:xfrm>
          <a:custGeom>
            <a:avLst/>
            <a:gdLst/>
            <a:ahLst/>
            <a:cxnLst/>
            <a:rect l="0" t="0" r="r" b="b"/>
            <a:pathLst>
              <a:path w="636" h="475">
                <a:moveTo>
                  <a:pt x="636" y="237"/>
                </a:moveTo>
                <a:cubicBezTo>
                  <a:pt x="636" y="253"/>
                  <a:pt x="634" y="268"/>
                  <a:pt x="630" y="283"/>
                </a:cubicBezTo>
                <a:cubicBezTo>
                  <a:pt x="626" y="298"/>
                  <a:pt x="620" y="313"/>
                  <a:pt x="612" y="328"/>
                </a:cubicBezTo>
                <a:cubicBezTo>
                  <a:pt x="604" y="343"/>
                  <a:pt x="594" y="357"/>
                  <a:pt x="582" y="370"/>
                </a:cubicBezTo>
                <a:cubicBezTo>
                  <a:pt x="571" y="382"/>
                  <a:pt x="558" y="394"/>
                  <a:pt x="543" y="405"/>
                </a:cubicBezTo>
                <a:cubicBezTo>
                  <a:pt x="528" y="416"/>
                  <a:pt x="511" y="426"/>
                  <a:pt x="494" y="435"/>
                </a:cubicBezTo>
                <a:cubicBezTo>
                  <a:pt x="476" y="443"/>
                  <a:pt x="458" y="451"/>
                  <a:pt x="439" y="457"/>
                </a:cubicBezTo>
                <a:cubicBezTo>
                  <a:pt x="420" y="463"/>
                  <a:pt x="400" y="467"/>
                  <a:pt x="379" y="470"/>
                </a:cubicBezTo>
                <a:cubicBezTo>
                  <a:pt x="359" y="473"/>
                  <a:pt x="338" y="475"/>
                  <a:pt x="317" y="475"/>
                </a:cubicBezTo>
                <a:cubicBezTo>
                  <a:pt x="296" y="475"/>
                  <a:pt x="276" y="473"/>
                  <a:pt x="255" y="470"/>
                </a:cubicBezTo>
                <a:cubicBezTo>
                  <a:pt x="235" y="467"/>
                  <a:pt x="215" y="463"/>
                  <a:pt x="196" y="457"/>
                </a:cubicBezTo>
                <a:cubicBezTo>
                  <a:pt x="177" y="451"/>
                  <a:pt x="158" y="443"/>
                  <a:pt x="141" y="435"/>
                </a:cubicBezTo>
                <a:cubicBezTo>
                  <a:pt x="124" y="426"/>
                  <a:pt x="108" y="416"/>
                  <a:pt x="93" y="405"/>
                </a:cubicBezTo>
                <a:cubicBezTo>
                  <a:pt x="78" y="394"/>
                  <a:pt x="65" y="382"/>
                  <a:pt x="53" y="370"/>
                </a:cubicBezTo>
                <a:cubicBezTo>
                  <a:pt x="42" y="357"/>
                  <a:pt x="32" y="343"/>
                  <a:pt x="24" y="328"/>
                </a:cubicBezTo>
                <a:cubicBezTo>
                  <a:pt x="16" y="313"/>
                  <a:pt x="10" y="298"/>
                  <a:pt x="6" y="283"/>
                </a:cubicBezTo>
                <a:cubicBezTo>
                  <a:pt x="2" y="268"/>
                  <a:pt x="0" y="253"/>
                  <a:pt x="0" y="237"/>
                </a:cubicBezTo>
                <a:cubicBezTo>
                  <a:pt x="0" y="222"/>
                  <a:pt x="2" y="206"/>
                  <a:pt x="6" y="191"/>
                </a:cubicBezTo>
                <a:cubicBezTo>
                  <a:pt x="10" y="176"/>
                  <a:pt x="16" y="161"/>
                  <a:pt x="24" y="146"/>
                </a:cubicBezTo>
                <a:cubicBezTo>
                  <a:pt x="32" y="132"/>
                  <a:pt x="42" y="118"/>
                  <a:pt x="53" y="106"/>
                </a:cubicBezTo>
                <a:cubicBezTo>
                  <a:pt x="65" y="93"/>
                  <a:pt x="78" y="81"/>
                  <a:pt x="93" y="70"/>
                </a:cubicBezTo>
                <a:cubicBezTo>
                  <a:pt x="108" y="59"/>
                  <a:pt x="124" y="49"/>
                  <a:pt x="141" y="40"/>
                </a:cubicBezTo>
                <a:cubicBezTo>
                  <a:pt x="158" y="32"/>
                  <a:pt x="177" y="24"/>
                  <a:pt x="196" y="18"/>
                </a:cubicBezTo>
                <a:cubicBezTo>
                  <a:pt x="215" y="12"/>
                  <a:pt x="235" y="8"/>
                  <a:pt x="255" y="5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5"/>
                </a:cubicBezTo>
                <a:cubicBezTo>
                  <a:pt x="400" y="8"/>
                  <a:pt x="420" y="12"/>
                  <a:pt x="439" y="18"/>
                </a:cubicBezTo>
                <a:cubicBezTo>
                  <a:pt x="458" y="24"/>
                  <a:pt x="476" y="32"/>
                  <a:pt x="494" y="40"/>
                </a:cubicBezTo>
                <a:cubicBezTo>
                  <a:pt x="511" y="49"/>
                  <a:pt x="528" y="59"/>
                  <a:pt x="543" y="70"/>
                </a:cubicBezTo>
                <a:cubicBezTo>
                  <a:pt x="558" y="81"/>
                  <a:pt x="571" y="93"/>
                  <a:pt x="582" y="106"/>
                </a:cubicBezTo>
                <a:cubicBezTo>
                  <a:pt x="594" y="118"/>
                  <a:pt x="604" y="132"/>
                  <a:pt x="612" y="146"/>
                </a:cubicBezTo>
                <a:cubicBezTo>
                  <a:pt x="620" y="161"/>
                  <a:pt x="626" y="176"/>
                  <a:pt x="630" y="191"/>
                </a:cubicBezTo>
                <a:cubicBezTo>
                  <a:pt x="634" y="206"/>
                  <a:pt x="636" y="222"/>
                  <a:pt x="636" y="237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4" name="文本框 473"/>
          <p:cNvSpPr txBox="1"/>
          <p:nvPr/>
        </p:nvSpPr>
        <p:spPr>
          <a:xfrm>
            <a:off x="1181160" y="1684800"/>
            <a:ext cx="17575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核⼼原理：组合多个弱模型形成强模型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5" name="文本框 474"/>
          <p:cNvSpPr txBox="1"/>
          <p:nvPr/>
        </p:nvSpPr>
        <p:spPr>
          <a:xfrm>
            <a:off x="893880" y="2011320"/>
            <a:ext cx="17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6" name="任意多边形 475"/>
          <p:cNvSpPr/>
          <p:nvPr/>
        </p:nvSpPr>
        <p:spPr>
          <a:xfrm>
            <a:off x="838080" y="2321280"/>
            <a:ext cx="228960" cy="170640"/>
          </a:xfrm>
          <a:custGeom>
            <a:avLst/>
            <a:gdLst/>
            <a:ahLst/>
            <a:cxnLst/>
            <a:rect l="0" t="0" r="r" b="b"/>
            <a:pathLst>
              <a:path w="636" h="474">
                <a:moveTo>
                  <a:pt x="636" y="237"/>
                </a:moveTo>
                <a:cubicBezTo>
                  <a:pt x="636" y="252"/>
                  <a:pt x="634" y="268"/>
                  <a:pt x="630" y="283"/>
                </a:cubicBezTo>
                <a:cubicBezTo>
                  <a:pt x="626" y="298"/>
                  <a:pt x="620" y="313"/>
                  <a:pt x="612" y="327"/>
                </a:cubicBezTo>
                <a:cubicBezTo>
                  <a:pt x="604" y="342"/>
                  <a:pt x="594" y="355"/>
                  <a:pt x="582" y="368"/>
                </a:cubicBezTo>
                <a:cubicBezTo>
                  <a:pt x="571" y="381"/>
                  <a:pt x="558" y="393"/>
                  <a:pt x="543" y="404"/>
                </a:cubicBezTo>
                <a:cubicBezTo>
                  <a:pt x="528" y="416"/>
                  <a:pt x="511" y="426"/>
                  <a:pt x="494" y="435"/>
                </a:cubicBezTo>
                <a:cubicBezTo>
                  <a:pt x="476" y="443"/>
                  <a:pt x="458" y="450"/>
                  <a:pt x="439" y="456"/>
                </a:cubicBezTo>
                <a:cubicBezTo>
                  <a:pt x="420" y="462"/>
                  <a:pt x="400" y="467"/>
                  <a:pt x="379" y="470"/>
                </a:cubicBezTo>
                <a:cubicBezTo>
                  <a:pt x="359" y="473"/>
                  <a:pt x="338" y="474"/>
                  <a:pt x="317" y="474"/>
                </a:cubicBezTo>
                <a:cubicBezTo>
                  <a:pt x="296" y="474"/>
                  <a:pt x="276" y="473"/>
                  <a:pt x="255" y="470"/>
                </a:cubicBezTo>
                <a:cubicBezTo>
                  <a:pt x="235" y="467"/>
                  <a:pt x="215" y="462"/>
                  <a:pt x="196" y="456"/>
                </a:cubicBezTo>
                <a:cubicBezTo>
                  <a:pt x="177" y="450"/>
                  <a:pt x="158" y="443"/>
                  <a:pt x="141" y="435"/>
                </a:cubicBezTo>
                <a:cubicBezTo>
                  <a:pt x="124" y="426"/>
                  <a:pt x="108" y="416"/>
                  <a:pt x="93" y="404"/>
                </a:cubicBezTo>
                <a:cubicBezTo>
                  <a:pt x="78" y="393"/>
                  <a:pt x="65" y="381"/>
                  <a:pt x="53" y="368"/>
                </a:cubicBezTo>
                <a:cubicBezTo>
                  <a:pt x="42" y="355"/>
                  <a:pt x="32" y="342"/>
                  <a:pt x="24" y="327"/>
                </a:cubicBezTo>
                <a:cubicBezTo>
                  <a:pt x="16" y="313"/>
                  <a:pt x="10" y="298"/>
                  <a:pt x="6" y="283"/>
                </a:cubicBezTo>
                <a:cubicBezTo>
                  <a:pt x="2" y="268"/>
                  <a:pt x="0" y="252"/>
                  <a:pt x="0" y="237"/>
                </a:cubicBezTo>
                <a:cubicBezTo>
                  <a:pt x="0" y="221"/>
                  <a:pt x="2" y="206"/>
                  <a:pt x="6" y="191"/>
                </a:cubicBezTo>
                <a:cubicBezTo>
                  <a:pt x="10" y="175"/>
                  <a:pt x="16" y="161"/>
                  <a:pt x="24" y="146"/>
                </a:cubicBezTo>
                <a:cubicBezTo>
                  <a:pt x="32" y="132"/>
                  <a:pt x="42" y="118"/>
                  <a:pt x="53" y="105"/>
                </a:cubicBezTo>
                <a:cubicBezTo>
                  <a:pt x="65" y="92"/>
                  <a:pt x="78" y="80"/>
                  <a:pt x="93" y="69"/>
                </a:cubicBezTo>
                <a:cubicBezTo>
                  <a:pt x="108" y="58"/>
                  <a:pt x="124" y="49"/>
                  <a:pt x="141" y="40"/>
                </a:cubicBezTo>
                <a:cubicBezTo>
                  <a:pt x="158" y="31"/>
                  <a:pt x="177" y="24"/>
                  <a:pt x="196" y="18"/>
                </a:cubicBezTo>
                <a:cubicBezTo>
                  <a:pt x="215" y="12"/>
                  <a:pt x="235" y="8"/>
                  <a:pt x="255" y="5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5"/>
                </a:cubicBezTo>
                <a:cubicBezTo>
                  <a:pt x="400" y="8"/>
                  <a:pt x="420" y="12"/>
                  <a:pt x="439" y="18"/>
                </a:cubicBezTo>
                <a:cubicBezTo>
                  <a:pt x="458" y="24"/>
                  <a:pt x="476" y="31"/>
                  <a:pt x="494" y="40"/>
                </a:cubicBezTo>
                <a:cubicBezTo>
                  <a:pt x="511" y="49"/>
                  <a:pt x="528" y="58"/>
                  <a:pt x="543" y="69"/>
                </a:cubicBezTo>
                <a:cubicBezTo>
                  <a:pt x="558" y="80"/>
                  <a:pt x="571" y="92"/>
                  <a:pt x="582" y="105"/>
                </a:cubicBezTo>
                <a:cubicBezTo>
                  <a:pt x="594" y="118"/>
                  <a:pt x="604" y="132"/>
                  <a:pt x="612" y="146"/>
                </a:cubicBezTo>
                <a:cubicBezTo>
                  <a:pt x="620" y="161"/>
                  <a:pt x="626" y="175"/>
                  <a:pt x="630" y="191"/>
                </a:cubicBezTo>
                <a:cubicBezTo>
                  <a:pt x="634" y="206"/>
                  <a:pt x="636" y="221"/>
                  <a:pt x="636" y="237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7" name="文本框 476"/>
          <p:cNvSpPr txBox="1"/>
          <p:nvPr/>
        </p:nvSpPr>
        <p:spPr>
          <a:xfrm>
            <a:off x="1181160" y="1996920"/>
            <a:ext cx="21708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数学基础：误差相互独⽴时，组合模型⽅差减⼩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8" name="文本框 477"/>
          <p:cNvSpPr txBox="1"/>
          <p:nvPr/>
        </p:nvSpPr>
        <p:spPr>
          <a:xfrm>
            <a:off x="893880" y="2323440"/>
            <a:ext cx="17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9" name="文本框 478"/>
          <p:cNvSpPr txBox="1"/>
          <p:nvPr/>
        </p:nvSpPr>
        <p:spPr>
          <a:xfrm>
            <a:off x="1181160" y="2309400"/>
            <a:ext cx="517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实践价值：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0" name="文本框 479"/>
          <p:cNvSpPr txBox="1"/>
          <p:nvPr/>
        </p:nvSpPr>
        <p:spPr>
          <a:xfrm>
            <a:off x="1866350" y="2314080"/>
            <a:ext cx="4978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Kaggle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1" name="文本框 480"/>
          <p:cNvSpPr txBox="1"/>
          <p:nvPr/>
        </p:nvSpPr>
        <p:spPr>
          <a:xfrm>
            <a:off x="2361350" y="2309400"/>
            <a:ext cx="310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竞赛中</a:t>
            </a:r>
            <a:endParaRPr lang="en-US" sz="10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2" name="文本框 481"/>
          <p:cNvSpPr txBox="1"/>
          <p:nvPr/>
        </p:nvSpPr>
        <p:spPr>
          <a:xfrm>
            <a:off x="2875790" y="2314080"/>
            <a:ext cx="31644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80%</a:t>
            </a:r>
            <a:endParaRPr lang="en-US" sz="10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3" name="任意多边形 482"/>
          <p:cNvSpPr/>
          <p:nvPr/>
        </p:nvSpPr>
        <p:spPr>
          <a:xfrm>
            <a:off x="838080" y="2633760"/>
            <a:ext cx="228960" cy="170640"/>
          </a:xfrm>
          <a:custGeom>
            <a:avLst/>
            <a:gdLst/>
            <a:ahLst/>
            <a:cxnLst/>
            <a:rect l="0" t="0" r="r" b="b"/>
            <a:pathLst>
              <a:path w="636" h="474">
                <a:moveTo>
                  <a:pt x="636" y="237"/>
                </a:moveTo>
                <a:cubicBezTo>
                  <a:pt x="636" y="253"/>
                  <a:pt x="634" y="268"/>
                  <a:pt x="630" y="284"/>
                </a:cubicBezTo>
                <a:cubicBezTo>
                  <a:pt x="626" y="299"/>
                  <a:pt x="620" y="314"/>
                  <a:pt x="612" y="328"/>
                </a:cubicBezTo>
                <a:cubicBezTo>
                  <a:pt x="604" y="342"/>
                  <a:pt x="594" y="356"/>
                  <a:pt x="582" y="369"/>
                </a:cubicBezTo>
                <a:cubicBezTo>
                  <a:pt x="571" y="382"/>
                  <a:pt x="558" y="394"/>
                  <a:pt x="543" y="405"/>
                </a:cubicBezTo>
                <a:cubicBezTo>
                  <a:pt x="528" y="416"/>
                  <a:pt x="511" y="426"/>
                  <a:pt x="494" y="434"/>
                </a:cubicBezTo>
                <a:cubicBezTo>
                  <a:pt x="476" y="443"/>
                  <a:pt x="458" y="450"/>
                  <a:pt x="439" y="456"/>
                </a:cubicBezTo>
                <a:cubicBezTo>
                  <a:pt x="420" y="462"/>
                  <a:pt x="400" y="467"/>
                  <a:pt x="379" y="470"/>
                </a:cubicBezTo>
                <a:cubicBezTo>
                  <a:pt x="359" y="473"/>
                  <a:pt x="338" y="474"/>
                  <a:pt x="317" y="474"/>
                </a:cubicBezTo>
                <a:cubicBezTo>
                  <a:pt x="296" y="474"/>
                  <a:pt x="276" y="473"/>
                  <a:pt x="255" y="470"/>
                </a:cubicBezTo>
                <a:cubicBezTo>
                  <a:pt x="235" y="467"/>
                  <a:pt x="215" y="462"/>
                  <a:pt x="196" y="456"/>
                </a:cubicBezTo>
                <a:cubicBezTo>
                  <a:pt x="177" y="450"/>
                  <a:pt x="158" y="443"/>
                  <a:pt x="141" y="434"/>
                </a:cubicBezTo>
                <a:cubicBezTo>
                  <a:pt x="124" y="426"/>
                  <a:pt x="108" y="416"/>
                  <a:pt x="93" y="405"/>
                </a:cubicBezTo>
                <a:cubicBezTo>
                  <a:pt x="78" y="394"/>
                  <a:pt x="65" y="382"/>
                  <a:pt x="53" y="369"/>
                </a:cubicBezTo>
                <a:cubicBezTo>
                  <a:pt x="42" y="356"/>
                  <a:pt x="32" y="342"/>
                  <a:pt x="24" y="328"/>
                </a:cubicBezTo>
                <a:cubicBezTo>
                  <a:pt x="16" y="314"/>
                  <a:pt x="10" y="299"/>
                  <a:pt x="6" y="284"/>
                </a:cubicBezTo>
                <a:cubicBezTo>
                  <a:pt x="2" y="268"/>
                  <a:pt x="0" y="253"/>
                  <a:pt x="0" y="237"/>
                </a:cubicBezTo>
                <a:cubicBezTo>
                  <a:pt x="0" y="222"/>
                  <a:pt x="2" y="207"/>
                  <a:pt x="6" y="191"/>
                </a:cubicBezTo>
                <a:cubicBezTo>
                  <a:pt x="10" y="176"/>
                  <a:pt x="16" y="161"/>
                  <a:pt x="24" y="147"/>
                </a:cubicBezTo>
                <a:cubicBezTo>
                  <a:pt x="32" y="133"/>
                  <a:pt x="42" y="119"/>
                  <a:pt x="53" y="106"/>
                </a:cubicBezTo>
                <a:cubicBezTo>
                  <a:pt x="65" y="93"/>
                  <a:pt x="78" y="81"/>
                  <a:pt x="93" y="70"/>
                </a:cubicBezTo>
                <a:cubicBezTo>
                  <a:pt x="108" y="59"/>
                  <a:pt x="124" y="49"/>
                  <a:pt x="141" y="41"/>
                </a:cubicBezTo>
                <a:cubicBezTo>
                  <a:pt x="158" y="32"/>
                  <a:pt x="177" y="25"/>
                  <a:pt x="196" y="19"/>
                </a:cubicBezTo>
                <a:cubicBezTo>
                  <a:pt x="215" y="12"/>
                  <a:pt x="235" y="7"/>
                  <a:pt x="255" y="4"/>
                </a:cubicBezTo>
                <a:cubicBezTo>
                  <a:pt x="276" y="1"/>
                  <a:pt x="296" y="0"/>
                  <a:pt x="317" y="0"/>
                </a:cubicBezTo>
                <a:cubicBezTo>
                  <a:pt x="338" y="0"/>
                  <a:pt x="359" y="1"/>
                  <a:pt x="379" y="4"/>
                </a:cubicBezTo>
                <a:cubicBezTo>
                  <a:pt x="400" y="7"/>
                  <a:pt x="420" y="12"/>
                  <a:pt x="439" y="19"/>
                </a:cubicBezTo>
                <a:cubicBezTo>
                  <a:pt x="458" y="25"/>
                  <a:pt x="476" y="32"/>
                  <a:pt x="494" y="41"/>
                </a:cubicBezTo>
                <a:cubicBezTo>
                  <a:pt x="511" y="49"/>
                  <a:pt x="528" y="59"/>
                  <a:pt x="543" y="70"/>
                </a:cubicBezTo>
                <a:cubicBezTo>
                  <a:pt x="558" y="81"/>
                  <a:pt x="571" y="93"/>
                  <a:pt x="582" y="106"/>
                </a:cubicBezTo>
                <a:cubicBezTo>
                  <a:pt x="594" y="119"/>
                  <a:pt x="604" y="133"/>
                  <a:pt x="612" y="147"/>
                </a:cubicBezTo>
                <a:cubicBezTo>
                  <a:pt x="620" y="161"/>
                  <a:pt x="626" y="176"/>
                  <a:pt x="630" y="191"/>
                </a:cubicBezTo>
                <a:cubicBezTo>
                  <a:pt x="634" y="207"/>
                  <a:pt x="636" y="222"/>
                  <a:pt x="636" y="237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4" name="文本框 483"/>
          <p:cNvSpPr txBox="1"/>
          <p:nvPr/>
        </p:nvSpPr>
        <p:spPr>
          <a:xfrm>
            <a:off x="3190070" y="2309400"/>
            <a:ext cx="10342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冠军⽅案使⽤集成⽅法</a:t>
            </a:r>
            <a:endParaRPr lang="en-US" sz="10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5" name="文本框 484"/>
          <p:cNvSpPr txBox="1"/>
          <p:nvPr/>
        </p:nvSpPr>
        <p:spPr>
          <a:xfrm>
            <a:off x="893880" y="2635920"/>
            <a:ext cx="17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6" name="文本框 485"/>
          <p:cNvSpPr txBox="1"/>
          <p:nvPr/>
        </p:nvSpPr>
        <p:spPr>
          <a:xfrm>
            <a:off x="1181160" y="2621880"/>
            <a:ext cx="10342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典型代表：随机森林、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7" name="文本框 486"/>
          <p:cNvSpPr txBox="1"/>
          <p:nvPr/>
        </p:nvSpPr>
        <p:spPr>
          <a:xfrm>
            <a:off x="2467710" y="2621786"/>
            <a:ext cx="46944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GBDT</a:t>
            </a:r>
            <a:endParaRPr lang="en-US" sz="10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8" name="文本框 487"/>
          <p:cNvSpPr txBox="1"/>
          <p:nvPr/>
        </p:nvSpPr>
        <p:spPr>
          <a:xfrm>
            <a:off x="2859073" y="2621880"/>
            <a:ext cx="17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、</a:t>
            </a:r>
            <a:endParaRPr lang="en-US" sz="10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9" name="文本框 488"/>
          <p:cNvSpPr txBox="1"/>
          <p:nvPr/>
        </p:nvSpPr>
        <p:spPr>
          <a:xfrm>
            <a:off x="3030433" y="2626560"/>
            <a:ext cx="65124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 dirty="0" err="1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XGBoost</a:t>
            </a:r>
            <a:endParaRPr lang="en-US" sz="10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0" name="文本框 489"/>
          <p:cNvSpPr txBox="1"/>
          <p:nvPr/>
        </p:nvSpPr>
        <p:spPr>
          <a:xfrm>
            <a:off x="3678073" y="2621880"/>
            <a:ext cx="17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、</a:t>
            </a:r>
            <a:endParaRPr lang="en-US" sz="10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1" name="任意多边形 490"/>
          <p:cNvSpPr/>
          <p:nvPr/>
        </p:nvSpPr>
        <p:spPr>
          <a:xfrm>
            <a:off x="6248160" y="1071720"/>
            <a:ext cx="5334480" cy="2478240"/>
          </a:xfrm>
          <a:custGeom>
            <a:avLst/>
            <a:gdLst/>
            <a:ahLst/>
            <a:cxnLst/>
            <a:rect l="0" t="0" r="r" b="b"/>
            <a:pathLst>
              <a:path w="14818" h="6884">
                <a:moveTo>
                  <a:pt x="0" y="6726"/>
                </a:moveTo>
                <a:lnTo>
                  <a:pt x="0" y="119"/>
                </a:lnTo>
                <a:cubicBezTo>
                  <a:pt x="0" y="111"/>
                  <a:pt x="2" y="103"/>
                  <a:pt x="4" y="96"/>
                </a:cubicBezTo>
                <a:cubicBezTo>
                  <a:pt x="7" y="88"/>
                  <a:pt x="11" y="81"/>
                  <a:pt x="16" y="73"/>
                </a:cubicBezTo>
                <a:cubicBezTo>
                  <a:pt x="22" y="66"/>
                  <a:pt x="28" y="59"/>
                  <a:pt x="36" y="53"/>
                </a:cubicBezTo>
                <a:cubicBezTo>
                  <a:pt x="44" y="46"/>
                  <a:pt x="52" y="40"/>
                  <a:pt x="62" y="35"/>
                </a:cubicBezTo>
                <a:cubicBezTo>
                  <a:pt x="72" y="29"/>
                  <a:pt x="83" y="25"/>
                  <a:pt x="94" y="20"/>
                </a:cubicBezTo>
                <a:cubicBezTo>
                  <a:pt x="106" y="16"/>
                  <a:pt x="118" y="12"/>
                  <a:pt x="131" y="9"/>
                </a:cubicBezTo>
                <a:cubicBezTo>
                  <a:pt x="144" y="6"/>
                  <a:pt x="157" y="4"/>
                  <a:pt x="171" y="3"/>
                </a:cubicBezTo>
                <a:cubicBezTo>
                  <a:pt x="184" y="1"/>
                  <a:pt x="198" y="0"/>
                  <a:pt x="212" y="0"/>
                </a:cubicBezTo>
                <a:lnTo>
                  <a:pt x="14606" y="0"/>
                </a:lnTo>
                <a:cubicBezTo>
                  <a:pt x="14620" y="0"/>
                  <a:pt x="14634" y="1"/>
                  <a:pt x="14647" y="3"/>
                </a:cubicBezTo>
                <a:cubicBezTo>
                  <a:pt x="14661" y="4"/>
                  <a:pt x="14674" y="6"/>
                  <a:pt x="14687" y="9"/>
                </a:cubicBezTo>
                <a:cubicBezTo>
                  <a:pt x="14700" y="12"/>
                  <a:pt x="14712" y="16"/>
                  <a:pt x="14724" y="20"/>
                </a:cubicBezTo>
                <a:cubicBezTo>
                  <a:pt x="14735" y="25"/>
                  <a:pt x="14746" y="29"/>
                  <a:pt x="14756" y="35"/>
                </a:cubicBezTo>
                <a:cubicBezTo>
                  <a:pt x="14766" y="40"/>
                  <a:pt x="14774" y="46"/>
                  <a:pt x="14782" y="53"/>
                </a:cubicBezTo>
                <a:cubicBezTo>
                  <a:pt x="14790" y="59"/>
                  <a:pt x="14796" y="66"/>
                  <a:pt x="14802" y="73"/>
                </a:cubicBezTo>
                <a:cubicBezTo>
                  <a:pt x="14807" y="81"/>
                  <a:pt x="14811" y="88"/>
                  <a:pt x="14814" y="96"/>
                </a:cubicBezTo>
                <a:cubicBezTo>
                  <a:pt x="14816" y="103"/>
                  <a:pt x="14818" y="111"/>
                  <a:pt x="14818" y="119"/>
                </a:cubicBezTo>
                <a:lnTo>
                  <a:pt x="14818" y="6726"/>
                </a:lnTo>
                <a:cubicBezTo>
                  <a:pt x="14818" y="6736"/>
                  <a:pt x="14816" y="6747"/>
                  <a:pt x="14814" y="6757"/>
                </a:cubicBezTo>
                <a:cubicBezTo>
                  <a:pt x="14811" y="6767"/>
                  <a:pt x="14807" y="6777"/>
                  <a:pt x="14802" y="6786"/>
                </a:cubicBezTo>
                <a:cubicBezTo>
                  <a:pt x="14796" y="6796"/>
                  <a:pt x="14790" y="6805"/>
                  <a:pt x="14782" y="6814"/>
                </a:cubicBezTo>
                <a:cubicBezTo>
                  <a:pt x="14774" y="6822"/>
                  <a:pt x="14766" y="6830"/>
                  <a:pt x="14756" y="6838"/>
                </a:cubicBezTo>
                <a:cubicBezTo>
                  <a:pt x="14746" y="6845"/>
                  <a:pt x="14735" y="6851"/>
                  <a:pt x="14724" y="6857"/>
                </a:cubicBezTo>
                <a:cubicBezTo>
                  <a:pt x="14712" y="6863"/>
                  <a:pt x="14700" y="6868"/>
                  <a:pt x="14687" y="6872"/>
                </a:cubicBezTo>
                <a:cubicBezTo>
                  <a:pt x="14674" y="6876"/>
                  <a:pt x="14661" y="6879"/>
                  <a:pt x="14647" y="6881"/>
                </a:cubicBezTo>
                <a:cubicBezTo>
                  <a:pt x="14634" y="6883"/>
                  <a:pt x="14620" y="6884"/>
                  <a:pt x="14606" y="6884"/>
                </a:cubicBezTo>
                <a:lnTo>
                  <a:pt x="212" y="6884"/>
                </a:lnTo>
                <a:cubicBezTo>
                  <a:pt x="198" y="6884"/>
                  <a:pt x="184" y="6883"/>
                  <a:pt x="171" y="6881"/>
                </a:cubicBezTo>
                <a:cubicBezTo>
                  <a:pt x="157" y="6879"/>
                  <a:pt x="144" y="6876"/>
                  <a:pt x="131" y="6872"/>
                </a:cubicBezTo>
                <a:cubicBezTo>
                  <a:pt x="118" y="6868"/>
                  <a:pt x="106" y="6863"/>
                  <a:pt x="94" y="6857"/>
                </a:cubicBezTo>
                <a:cubicBezTo>
                  <a:pt x="83" y="6851"/>
                  <a:pt x="72" y="6845"/>
                  <a:pt x="62" y="6838"/>
                </a:cubicBezTo>
                <a:cubicBezTo>
                  <a:pt x="52" y="6830"/>
                  <a:pt x="44" y="6822"/>
                  <a:pt x="36" y="6814"/>
                </a:cubicBezTo>
                <a:cubicBezTo>
                  <a:pt x="28" y="6805"/>
                  <a:pt x="22" y="6796"/>
                  <a:pt x="16" y="6786"/>
                </a:cubicBezTo>
                <a:cubicBezTo>
                  <a:pt x="11" y="6777"/>
                  <a:pt x="7" y="6767"/>
                  <a:pt x="4" y="6757"/>
                </a:cubicBezTo>
                <a:cubicBezTo>
                  <a:pt x="2" y="6747"/>
                  <a:pt x="0" y="6736"/>
                  <a:pt x="0" y="67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2" name="任意多边形 491"/>
          <p:cNvSpPr/>
          <p:nvPr/>
        </p:nvSpPr>
        <p:spPr>
          <a:xfrm>
            <a:off x="6248160" y="1057680"/>
            <a:ext cx="5334480" cy="57240"/>
          </a:xfrm>
          <a:custGeom>
            <a:avLst/>
            <a:gdLst/>
            <a:ahLst/>
            <a:cxnLst/>
            <a:rect l="0" t="0" r="r" b="b"/>
            <a:pathLst>
              <a:path w="14818" h="159">
                <a:moveTo>
                  <a:pt x="14802" y="128"/>
                </a:moveTo>
                <a:cubicBezTo>
                  <a:pt x="14791" y="118"/>
                  <a:pt x="14776" y="109"/>
                  <a:pt x="14756" y="102"/>
                </a:cubicBezTo>
                <a:cubicBezTo>
                  <a:pt x="14736" y="94"/>
                  <a:pt x="14713" y="89"/>
                  <a:pt x="14687" y="85"/>
                </a:cubicBezTo>
                <a:cubicBezTo>
                  <a:pt x="14661" y="81"/>
                  <a:pt x="14634" y="79"/>
                  <a:pt x="14606" y="79"/>
                </a:cubicBezTo>
                <a:lnTo>
                  <a:pt x="212" y="79"/>
                </a:lnTo>
                <a:cubicBezTo>
                  <a:pt x="184" y="79"/>
                  <a:pt x="157" y="81"/>
                  <a:pt x="131" y="85"/>
                </a:cubicBezTo>
                <a:cubicBezTo>
                  <a:pt x="105" y="89"/>
                  <a:pt x="82" y="94"/>
                  <a:pt x="62" y="102"/>
                </a:cubicBezTo>
                <a:cubicBezTo>
                  <a:pt x="42" y="109"/>
                  <a:pt x="27" y="118"/>
                  <a:pt x="16" y="128"/>
                </a:cubicBezTo>
                <a:cubicBezTo>
                  <a:pt x="6" y="138"/>
                  <a:pt x="0" y="148"/>
                  <a:pt x="0" y="159"/>
                </a:cubicBezTo>
                <a:cubicBezTo>
                  <a:pt x="0" y="138"/>
                  <a:pt x="6" y="117"/>
                  <a:pt x="16" y="97"/>
                </a:cubicBezTo>
                <a:cubicBezTo>
                  <a:pt x="27" y="78"/>
                  <a:pt x="42" y="61"/>
                  <a:pt x="62" y="46"/>
                </a:cubicBezTo>
                <a:cubicBezTo>
                  <a:pt x="82" y="31"/>
                  <a:pt x="105" y="20"/>
                  <a:pt x="131" y="12"/>
                </a:cubicBezTo>
                <a:cubicBezTo>
                  <a:pt x="157" y="4"/>
                  <a:pt x="184" y="0"/>
                  <a:pt x="212" y="0"/>
                </a:cubicBezTo>
                <a:lnTo>
                  <a:pt x="14606" y="0"/>
                </a:lnTo>
                <a:cubicBezTo>
                  <a:pt x="14634" y="0"/>
                  <a:pt x="14661" y="4"/>
                  <a:pt x="14687" y="12"/>
                </a:cubicBezTo>
                <a:cubicBezTo>
                  <a:pt x="14713" y="20"/>
                  <a:pt x="14736" y="31"/>
                  <a:pt x="14756" y="46"/>
                </a:cubicBezTo>
                <a:cubicBezTo>
                  <a:pt x="14776" y="61"/>
                  <a:pt x="14791" y="78"/>
                  <a:pt x="14802" y="97"/>
                </a:cubicBezTo>
                <a:cubicBezTo>
                  <a:pt x="14812" y="117"/>
                  <a:pt x="14818" y="138"/>
                  <a:pt x="14818" y="159"/>
                </a:cubicBezTo>
                <a:cubicBezTo>
                  <a:pt x="14818" y="148"/>
                  <a:pt x="14812" y="138"/>
                  <a:pt x="14802" y="128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3" name="任意多边形 492"/>
          <p:cNvSpPr/>
          <p:nvPr/>
        </p:nvSpPr>
        <p:spPr>
          <a:xfrm>
            <a:off x="6476760" y="1263600"/>
            <a:ext cx="381240" cy="284400"/>
          </a:xfrm>
          <a:custGeom>
            <a:avLst/>
            <a:gdLst/>
            <a:ahLst/>
            <a:cxnLst/>
            <a:rect l="0" t="0" r="r" b="b"/>
            <a:pathLst>
              <a:path w="1059" h="790">
                <a:moveTo>
                  <a:pt x="1059" y="395"/>
                </a:moveTo>
                <a:cubicBezTo>
                  <a:pt x="1059" y="421"/>
                  <a:pt x="1056" y="447"/>
                  <a:pt x="1049" y="472"/>
                </a:cubicBezTo>
                <a:cubicBezTo>
                  <a:pt x="1043" y="498"/>
                  <a:pt x="1033" y="522"/>
                  <a:pt x="1019" y="546"/>
                </a:cubicBezTo>
                <a:cubicBezTo>
                  <a:pt x="1006" y="570"/>
                  <a:pt x="990" y="593"/>
                  <a:pt x="970" y="614"/>
                </a:cubicBezTo>
                <a:cubicBezTo>
                  <a:pt x="951" y="636"/>
                  <a:pt x="929" y="656"/>
                  <a:pt x="905" y="674"/>
                </a:cubicBezTo>
                <a:cubicBezTo>
                  <a:pt x="880" y="692"/>
                  <a:pt x="853" y="709"/>
                  <a:pt x="824" y="723"/>
                </a:cubicBezTo>
                <a:cubicBezTo>
                  <a:pt x="795" y="737"/>
                  <a:pt x="765" y="750"/>
                  <a:pt x="733" y="760"/>
                </a:cubicBezTo>
                <a:cubicBezTo>
                  <a:pt x="701" y="769"/>
                  <a:pt x="668" y="777"/>
                  <a:pt x="634" y="782"/>
                </a:cubicBezTo>
                <a:cubicBezTo>
                  <a:pt x="599" y="787"/>
                  <a:pt x="565" y="790"/>
                  <a:pt x="530" y="790"/>
                </a:cubicBezTo>
                <a:cubicBezTo>
                  <a:pt x="495" y="790"/>
                  <a:pt x="460" y="787"/>
                  <a:pt x="426" y="782"/>
                </a:cubicBezTo>
                <a:cubicBezTo>
                  <a:pt x="392" y="777"/>
                  <a:pt x="359" y="769"/>
                  <a:pt x="327" y="760"/>
                </a:cubicBezTo>
                <a:cubicBezTo>
                  <a:pt x="295" y="750"/>
                  <a:pt x="264" y="737"/>
                  <a:pt x="235" y="723"/>
                </a:cubicBezTo>
                <a:cubicBezTo>
                  <a:pt x="206" y="709"/>
                  <a:pt x="180" y="692"/>
                  <a:pt x="155" y="674"/>
                </a:cubicBezTo>
                <a:cubicBezTo>
                  <a:pt x="131" y="656"/>
                  <a:pt x="109" y="636"/>
                  <a:pt x="89" y="614"/>
                </a:cubicBezTo>
                <a:cubicBezTo>
                  <a:pt x="70" y="593"/>
                  <a:pt x="54" y="570"/>
                  <a:pt x="40" y="546"/>
                </a:cubicBezTo>
                <a:cubicBezTo>
                  <a:pt x="27" y="522"/>
                  <a:pt x="17" y="498"/>
                  <a:pt x="10" y="472"/>
                </a:cubicBezTo>
                <a:cubicBezTo>
                  <a:pt x="4" y="447"/>
                  <a:pt x="0" y="421"/>
                  <a:pt x="0" y="395"/>
                </a:cubicBezTo>
                <a:cubicBezTo>
                  <a:pt x="0" y="369"/>
                  <a:pt x="4" y="344"/>
                  <a:pt x="10" y="318"/>
                </a:cubicBezTo>
                <a:cubicBezTo>
                  <a:pt x="17" y="293"/>
                  <a:pt x="27" y="268"/>
                  <a:pt x="40" y="244"/>
                </a:cubicBezTo>
                <a:cubicBezTo>
                  <a:pt x="54" y="220"/>
                  <a:pt x="70" y="198"/>
                  <a:pt x="89" y="176"/>
                </a:cubicBezTo>
                <a:cubicBezTo>
                  <a:pt x="109" y="155"/>
                  <a:pt x="131" y="135"/>
                  <a:pt x="155" y="116"/>
                </a:cubicBezTo>
                <a:cubicBezTo>
                  <a:pt x="180" y="98"/>
                  <a:pt x="206" y="82"/>
                  <a:pt x="235" y="67"/>
                </a:cubicBezTo>
                <a:cubicBezTo>
                  <a:pt x="264" y="53"/>
                  <a:pt x="295" y="41"/>
                  <a:pt x="327" y="30"/>
                </a:cubicBezTo>
                <a:cubicBezTo>
                  <a:pt x="359" y="20"/>
                  <a:pt x="392" y="12"/>
                  <a:pt x="426" y="7"/>
                </a:cubicBezTo>
                <a:cubicBezTo>
                  <a:pt x="460" y="2"/>
                  <a:pt x="495" y="0"/>
                  <a:pt x="530" y="0"/>
                </a:cubicBezTo>
                <a:cubicBezTo>
                  <a:pt x="565" y="0"/>
                  <a:pt x="599" y="2"/>
                  <a:pt x="634" y="7"/>
                </a:cubicBezTo>
                <a:cubicBezTo>
                  <a:pt x="668" y="12"/>
                  <a:pt x="701" y="20"/>
                  <a:pt x="733" y="30"/>
                </a:cubicBezTo>
                <a:cubicBezTo>
                  <a:pt x="765" y="41"/>
                  <a:pt x="795" y="53"/>
                  <a:pt x="824" y="67"/>
                </a:cubicBezTo>
                <a:cubicBezTo>
                  <a:pt x="853" y="82"/>
                  <a:pt x="880" y="98"/>
                  <a:pt x="905" y="116"/>
                </a:cubicBezTo>
                <a:cubicBezTo>
                  <a:pt x="929" y="135"/>
                  <a:pt x="951" y="155"/>
                  <a:pt x="970" y="176"/>
                </a:cubicBezTo>
                <a:cubicBezTo>
                  <a:pt x="990" y="198"/>
                  <a:pt x="1006" y="220"/>
                  <a:pt x="1019" y="244"/>
                </a:cubicBezTo>
                <a:cubicBezTo>
                  <a:pt x="1033" y="268"/>
                  <a:pt x="1043" y="293"/>
                  <a:pt x="1049" y="318"/>
                </a:cubicBezTo>
                <a:cubicBezTo>
                  <a:pt x="1056" y="344"/>
                  <a:pt x="1059" y="369"/>
                  <a:pt x="1059" y="395"/>
                </a:cubicBezTo>
                <a:close/>
              </a:path>
            </a:pathLst>
          </a:custGeom>
          <a:solidFill>
            <a:srgbClr val="DCFC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4" name="文本框 493"/>
          <p:cNvSpPr txBox="1"/>
          <p:nvPr/>
        </p:nvSpPr>
        <p:spPr>
          <a:xfrm>
            <a:off x="3849793" y="2626560"/>
            <a:ext cx="7660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LightGBM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5" name="文本框 494"/>
          <p:cNvSpPr txBox="1"/>
          <p:nvPr/>
        </p:nvSpPr>
        <p:spPr>
          <a:xfrm>
            <a:off x="6620040" y="1328760"/>
            <a:ext cx="190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2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6" name="文本框 495"/>
          <p:cNvSpPr txBox="1"/>
          <p:nvPr/>
        </p:nvSpPr>
        <p:spPr>
          <a:xfrm>
            <a:off x="6972120" y="1285200"/>
            <a:ext cx="637200" cy="23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6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随机森林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7" name="文本框 496"/>
          <p:cNvSpPr txBox="1"/>
          <p:nvPr/>
        </p:nvSpPr>
        <p:spPr>
          <a:xfrm>
            <a:off x="8039160" y="1292400"/>
            <a:ext cx="11721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60" b="1" u="none" strike="noStrike" dirty="0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(Bagging)</a:t>
            </a:r>
            <a:endParaRPr lang="en-US" sz="156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8" name="文本框 497"/>
          <p:cNvSpPr txBox="1"/>
          <p:nvPr/>
        </p:nvSpPr>
        <p:spPr>
          <a:xfrm>
            <a:off x="6477120" y="1684800"/>
            <a:ext cx="2073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偏差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9" name="文本框 498"/>
          <p:cNvSpPr txBox="1"/>
          <p:nvPr/>
        </p:nvSpPr>
        <p:spPr>
          <a:xfrm>
            <a:off x="6819840" y="1689480"/>
            <a:ext cx="1710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-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0" name="文本框 499"/>
          <p:cNvSpPr txBox="1"/>
          <p:nvPr/>
        </p:nvSpPr>
        <p:spPr>
          <a:xfrm>
            <a:off x="6877080" y="1684800"/>
            <a:ext cx="9309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⽅差控制：降低⽅差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1" name="文本框 500"/>
          <p:cNvSpPr txBox="1"/>
          <p:nvPr/>
        </p:nvSpPr>
        <p:spPr>
          <a:xfrm>
            <a:off x="6477120" y="1961640"/>
            <a:ext cx="517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核⼼策略：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2" name="文本框 501"/>
          <p:cNvSpPr txBox="1"/>
          <p:nvPr/>
        </p:nvSpPr>
        <p:spPr>
          <a:xfrm>
            <a:off x="6705720" y="2214720"/>
            <a:ext cx="1710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3" name="文本框 502"/>
          <p:cNvSpPr txBox="1"/>
          <p:nvPr/>
        </p:nvSpPr>
        <p:spPr>
          <a:xfrm>
            <a:off x="6808320" y="2210040"/>
            <a:ext cx="414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⾏采样：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4" name="文本框 503"/>
          <p:cNvSpPr txBox="1"/>
          <p:nvPr/>
        </p:nvSpPr>
        <p:spPr>
          <a:xfrm>
            <a:off x="7334460" y="2204280"/>
            <a:ext cx="6703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Bootstrap</a:t>
            </a:r>
            <a:endParaRPr lang="en-US" sz="10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5" name="文本框 504"/>
          <p:cNvSpPr txBox="1"/>
          <p:nvPr/>
        </p:nvSpPr>
        <p:spPr>
          <a:xfrm>
            <a:off x="7909560" y="2210040"/>
            <a:ext cx="2073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抽样</a:t>
            </a:r>
            <a:endParaRPr lang="en-US" sz="10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6" name="文本框 505"/>
          <p:cNvSpPr txBox="1"/>
          <p:nvPr/>
        </p:nvSpPr>
        <p:spPr>
          <a:xfrm>
            <a:off x="6705720" y="2463120"/>
            <a:ext cx="1710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7" name="文本框 506"/>
          <p:cNvSpPr txBox="1"/>
          <p:nvPr/>
        </p:nvSpPr>
        <p:spPr>
          <a:xfrm>
            <a:off x="6808320" y="2458440"/>
            <a:ext cx="2096594" cy="15542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101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列采样：随机选择特征</a:t>
            </a:r>
            <a:r>
              <a:rPr lang="zh-CN" altLang="en-US" sz="1010" dirty="0">
                <a:solidFill>
                  <a:srgbClr val="374151"/>
                </a:solidFill>
                <a:latin typeface="NotoSansCJKsc"/>
                <a:ea typeface="NotoSansCJKsc"/>
              </a:rPr>
              <a:t>子集</a:t>
            </a:r>
            <a:endParaRPr lang="en-US" sz="10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9" name="文本框 508"/>
          <p:cNvSpPr txBox="1"/>
          <p:nvPr/>
        </p:nvSpPr>
        <p:spPr>
          <a:xfrm>
            <a:off x="6477120" y="2927160"/>
            <a:ext cx="12409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优势：抗过拟合、并⾏训练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10" name="图片 509"/>
          <p:cNvPicPr/>
          <p:nvPr/>
        </p:nvPicPr>
        <p:blipFill>
          <a:blip r:embed="rId2"/>
          <a:stretch>
            <a:fillRect/>
          </a:stretch>
        </p:blipFill>
        <p:spPr>
          <a:xfrm>
            <a:off x="9325080" y="1668240"/>
            <a:ext cx="1618920" cy="11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1" name="任意多边形 510"/>
          <p:cNvSpPr/>
          <p:nvPr/>
        </p:nvSpPr>
        <p:spPr>
          <a:xfrm>
            <a:off x="609480" y="3790800"/>
            <a:ext cx="5334120" cy="2648520"/>
          </a:xfrm>
          <a:custGeom>
            <a:avLst/>
            <a:gdLst/>
            <a:ahLst/>
            <a:cxnLst/>
            <a:rect l="0" t="0" r="r" b="b"/>
            <a:pathLst>
              <a:path w="14817" h="7357">
                <a:moveTo>
                  <a:pt x="0" y="7199"/>
                </a:moveTo>
                <a:lnTo>
                  <a:pt x="0" y="119"/>
                </a:lnTo>
                <a:cubicBezTo>
                  <a:pt x="0" y="111"/>
                  <a:pt x="1" y="103"/>
                  <a:pt x="4" y="95"/>
                </a:cubicBezTo>
                <a:cubicBezTo>
                  <a:pt x="7" y="88"/>
                  <a:pt x="11" y="80"/>
                  <a:pt x="16" y="73"/>
                </a:cubicBezTo>
                <a:cubicBezTo>
                  <a:pt x="21" y="66"/>
                  <a:pt x="28" y="59"/>
                  <a:pt x="36" y="53"/>
                </a:cubicBezTo>
                <a:cubicBezTo>
                  <a:pt x="43" y="46"/>
                  <a:pt x="52" y="40"/>
                  <a:pt x="62" y="35"/>
                </a:cubicBezTo>
                <a:cubicBezTo>
                  <a:pt x="72" y="29"/>
                  <a:pt x="82" y="25"/>
                  <a:pt x="94" y="20"/>
                </a:cubicBezTo>
                <a:cubicBezTo>
                  <a:pt x="105" y="16"/>
                  <a:pt x="118" y="12"/>
                  <a:pt x="130" y="9"/>
                </a:cubicBezTo>
                <a:cubicBezTo>
                  <a:pt x="143" y="6"/>
                  <a:pt x="157" y="4"/>
                  <a:pt x="170" y="3"/>
                </a:cubicBezTo>
                <a:cubicBezTo>
                  <a:pt x="184" y="1"/>
                  <a:pt x="198" y="0"/>
                  <a:pt x="211" y="0"/>
                </a:cubicBezTo>
                <a:lnTo>
                  <a:pt x="14606" y="0"/>
                </a:lnTo>
                <a:cubicBezTo>
                  <a:pt x="14620" y="0"/>
                  <a:pt x="14633" y="1"/>
                  <a:pt x="14647" y="3"/>
                </a:cubicBezTo>
                <a:cubicBezTo>
                  <a:pt x="14661" y="4"/>
                  <a:pt x="14674" y="6"/>
                  <a:pt x="14687" y="9"/>
                </a:cubicBezTo>
                <a:cubicBezTo>
                  <a:pt x="14700" y="12"/>
                  <a:pt x="14712" y="16"/>
                  <a:pt x="14723" y="20"/>
                </a:cubicBezTo>
                <a:cubicBezTo>
                  <a:pt x="14735" y="25"/>
                  <a:pt x="14746" y="29"/>
                  <a:pt x="14756" y="35"/>
                </a:cubicBezTo>
                <a:cubicBezTo>
                  <a:pt x="14765" y="40"/>
                  <a:pt x="14774" y="46"/>
                  <a:pt x="14782" y="53"/>
                </a:cubicBezTo>
                <a:cubicBezTo>
                  <a:pt x="14790" y="59"/>
                  <a:pt x="14796" y="66"/>
                  <a:pt x="14801" y="73"/>
                </a:cubicBezTo>
                <a:cubicBezTo>
                  <a:pt x="14807" y="80"/>
                  <a:pt x="14811" y="88"/>
                  <a:pt x="14813" y="95"/>
                </a:cubicBezTo>
                <a:cubicBezTo>
                  <a:pt x="14816" y="103"/>
                  <a:pt x="14817" y="111"/>
                  <a:pt x="14817" y="119"/>
                </a:cubicBezTo>
                <a:lnTo>
                  <a:pt x="14817" y="7199"/>
                </a:lnTo>
                <a:cubicBezTo>
                  <a:pt x="14817" y="7210"/>
                  <a:pt x="14816" y="7220"/>
                  <a:pt x="14813" y="7230"/>
                </a:cubicBezTo>
                <a:cubicBezTo>
                  <a:pt x="14811" y="7240"/>
                  <a:pt x="14807" y="7250"/>
                  <a:pt x="14801" y="7260"/>
                </a:cubicBezTo>
                <a:cubicBezTo>
                  <a:pt x="14796" y="7269"/>
                  <a:pt x="14790" y="7278"/>
                  <a:pt x="14782" y="7287"/>
                </a:cubicBezTo>
                <a:cubicBezTo>
                  <a:pt x="14774" y="7295"/>
                  <a:pt x="14765" y="7303"/>
                  <a:pt x="14756" y="7311"/>
                </a:cubicBezTo>
                <a:cubicBezTo>
                  <a:pt x="14746" y="7318"/>
                  <a:pt x="14735" y="7325"/>
                  <a:pt x="14723" y="7330"/>
                </a:cubicBezTo>
                <a:cubicBezTo>
                  <a:pt x="14712" y="7336"/>
                  <a:pt x="14700" y="7341"/>
                  <a:pt x="14687" y="7345"/>
                </a:cubicBezTo>
                <a:cubicBezTo>
                  <a:pt x="14674" y="7349"/>
                  <a:pt x="14661" y="7352"/>
                  <a:pt x="14647" y="7354"/>
                </a:cubicBezTo>
                <a:cubicBezTo>
                  <a:pt x="14633" y="7356"/>
                  <a:pt x="14620" y="7357"/>
                  <a:pt x="14606" y="7357"/>
                </a:cubicBezTo>
                <a:lnTo>
                  <a:pt x="211" y="7357"/>
                </a:lnTo>
                <a:cubicBezTo>
                  <a:pt x="198" y="7357"/>
                  <a:pt x="184" y="7356"/>
                  <a:pt x="170" y="7354"/>
                </a:cubicBezTo>
                <a:cubicBezTo>
                  <a:pt x="157" y="7352"/>
                  <a:pt x="143" y="7349"/>
                  <a:pt x="130" y="7345"/>
                </a:cubicBezTo>
                <a:cubicBezTo>
                  <a:pt x="118" y="7341"/>
                  <a:pt x="105" y="7336"/>
                  <a:pt x="94" y="7330"/>
                </a:cubicBezTo>
                <a:cubicBezTo>
                  <a:pt x="82" y="7325"/>
                  <a:pt x="72" y="7318"/>
                  <a:pt x="62" y="7311"/>
                </a:cubicBezTo>
                <a:cubicBezTo>
                  <a:pt x="52" y="7303"/>
                  <a:pt x="43" y="7295"/>
                  <a:pt x="36" y="7287"/>
                </a:cubicBezTo>
                <a:cubicBezTo>
                  <a:pt x="28" y="7278"/>
                  <a:pt x="21" y="7269"/>
                  <a:pt x="16" y="7260"/>
                </a:cubicBezTo>
                <a:cubicBezTo>
                  <a:pt x="11" y="7250"/>
                  <a:pt x="7" y="7240"/>
                  <a:pt x="4" y="7230"/>
                </a:cubicBezTo>
                <a:cubicBezTo>
                  <a:pt x="1" y="7220"/>
                  <a:pt x="0" y="7210"/>
                  <a:pt x="0" y="719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2" name="任意多边形 511"/>
          <p:cNvSpPr/>
          <p:nvPr/>
        </p:nvSpPr>
        <p:spPr>
          <a:xfrm>
            <a:off x="609480" y="3776760"/>
            <a:ext cx="5334120" cy="57240"/>
          </a:xfrm>
          <a:custGeom>
            <a:avLst/>
            <a:gdLst/>
            <a:ahLst/>
            <a:cxnLst/>
            <a:rect l="0" t="0" r="r" b="b"/>
            <a:pathLst>
              <a:path w="14817" h="159">
                <a:moveTo>
                  <a:pt x="0" y="0"/>
                </a:moveTo>
                <a:lnTo>
                  <a:pt x="14817" y="0"/>
                </a:lnTo>
                <a:lnTo>
                  <a:pt x="14817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3" name="任意多边形 512"/>
          <p:cNvSpPr/>
          <p:nvPr/>
        </p:nvSpPr>
        <p:spPr>
          <a:xfrm>
            <a:off x="838080" y="3982680"/>
            <a:ext cx="381240" cy="284400"/>
          </a:xfrm>
          <a:custGeom>
            <a:avLst/>
            <a:gdLst/>
            <a:ahLst/>
            <a:cxnLst/>
            <a:rect l="0" t="0" r="r" b="b"/>
            <a:pathLst>
              <a:path w="1059" h="790">
                <a:moveTo>
                  <a:pt x="1059" y="395"/>
                </a:moveTo>
                <a:cubicBezTo>
                  <a:pt x="1059" y="421"/>
                  <a:pt x="1056" y="447"/>
                  <a:pt x="1049" y="472"/>
                </a:cubicBezTo>
                <a:cubicBezTo>
                  <a:pt x="1042" y="497"/>
                  <a:pt x="1032" y="522"/>
                  <a:pt x="1019" y="546"/>
                </a:cubicBezTo>
                <a:cubicBezTo>
                  <a:pt x="1006" y="570"/>
                  <a:pt x="989" y="593"/>
                  <a:pt x="970" y="614"/>
                </a:cubicBezTo>
                <a:cubicBezTo>
                  <a:pt x="951" y="636"/>
                  <a:pt x="929" y="656"/>
                  <a:pt x="904" y="674"/>
                </a:cubicBezTo>
                <a:cubicBezTo>
                  <a:pt x="880" y="692"/>
                  <a:pt x="853" y="709"/>
                  <a:pt x="824" y="723"/>
                </a:cubicBezTo>
                <a:cubicBezTo>
                  <a:pt x="795" y="737"/>
                  <a:pt x="765" y="750"/>
                  <a:pt x="733" y="759"/>
                </a:cubicBezTo>
                <a:cubicBezTo>
                  <a:pt x="700" y="769"/>
                  <a:pt x="667" y="777"/>
                  <a:pt x="633" y="782"/>
                </a:cubicBezTo>
                <a:cubicBezTo>
                  <a:pt x="599" y="787"/>
                  <a:pt x="565" y="790"/>
                  <a:pt x="530" y="790"/>
                </a:cubicBezTo>
                <a:cubicBezTo>
                  <a:pt x="495" y="790"/>
                  <a:pt x="461" y="787"/>
                  <a:pt x="427" y="782"/>
                </a:cubicBezTo>
                <a:cubicBezTo>
                  <a:pt x="393" y="777"/>
                  <a:pt x="360" y="769"/>
                  <a:pt x="327" y="759"/>
                </a:cubicBezTo>
                <a:cubicBezTo>
                  <a:pt x="294" y="750"/>
                  <a:pt x="264" y="737"/>
                  <a:pt x="235" y="723"/>
                </a:cubicBezTo>
                <a:cubicBezTo>
                  <a:pt x="206" y="709"/>
                  <a:pt x="179" y="692"/>
                  <a:pt x="155" y="674"/>
                </a:cubicBezTo>
                <a:cubicBezTo>
                  <a:pt x="130" y="656"/>
                  <a:pt x="108" y="636"/>
                  <a:pt x="89" y="614"/>
                </a:cubicBezTo>
                <a:cubicBezTo>
                  <a:pt x="70" y="593"/>
                  <a:pt x="53" y="570"/>
                  <a:pt x="40" y="546"/>
                </a:cubicBezTo>
                <a:cubicBezTo>
                  <a:pt x="27" y="522"/>
                  <a:pt x="17" y="497"/>
                  <a:pt x="10" y="472"/>
                </a:cubicBezTo>
                <a:cubicBezTo>
                  <a:pt x="3" y="447"/>
                  <a:pt x="0" y="421"/>
                  <a:pt x="0" y="395"/>
                </a:cubicBezTo>
                <a:cubicBezTo>
                  <a:pt x="0" y="369"/>
                  <a:pt x="3" y="343"/>
                  <a:pt x="10" y="317"/>
                </a:cubicBezTo>
                <a:cubicBezTo>
                  <a:pt x="17" y="292"/>
                  <a:pt x="27" y="267"/>
                  <a:pt x="40" y="243"/>
                </a:cubicBezTo>
                <a:cubicBezTo>
                  <a:pt x="53" y="219"/>
                  <a:pt x="70" y="197"/>
                  <a:pt x="89" y="175"/>
                </a:cubicBezTo>
                <a:cubicBezTo>
                  <a:pt x="108" y="153"/>
                  <a:pt x="130" y="134"/>
                  <a:pt x="155" y="115"/>
                </a:cubicBezTo>
                <a:cubicBezTo>
                  <a:pt x="179" y="97"/>
                  <a:pt x="206" y="81"/>
                  <a:pt x="235" y="66"/>
                </a:cubicBezTo>
                <a:cubicBezTo>
                  <a:pt x="264" y="52"/>
                  <a:pt x="294" y="40"/>
                  <a:pt x="327" y="30"/>
                </a:cubicBezTo>
                <a:cubicBezTo>
                  <a:pt x="360" y="20"/>
                  <a:pt x="393" y="12"/>
                  <a:pt x="427" y="7"/>
                </a:cubicBezTo>
                <a:cubicBezTo>
                  <a:pt x="461" y="2"/>
                  <a:pt x="495" y="0"/>
                  <a:pt x="530" y="0"/>
                </a:cubicBezTo>
                <a:cubicBezTo>
                  <a:pt x="565" y="0"/>
                  <a:pt x="599" y="2"/>
                  <a:pt x="633" y="7"/>
                </a:cubicBezTo>
                <a:cubicBezTo>
                  <a:pt x="667" y="12"/>
                  <a:pt x="700" y="20"/>
                  <a:pt x="733" y="30"/>
                </a:cubicBezTo>
                <a:cubicBezTo>
                  <a:pt x="765" y="40"/>
                  <a:pt x="795" y="52"/>
                  <a:pt x="824" y="66"/>
                </a:cubicBezTo>
                <a:cubicBezTo>
                  <a:pt x="853" y="81"/>
                  <a:pt x="880" y="97"/>
                  <a:pt x="904" y="115"/>
                </a:cubicBezTo>
                <a:cubicBezTo>
                  <a:pt x="929" y="134"/>
                  <a:pt x="951" y="153"/>
                  <a:pt x="970" y="175"/>
                </a:cubicBezTo>
                <a:cubicBezTo>
                  <a:pt x="989" y="197"/>
                  <a:pt x="1006" y="219"/>
                  <a:pt x="1019" y="243"/>
                </a:cubicBezTo>
                <a:cubicBezTo>
                  <a:pt x="1032" y="267"/>
                  <a:pt x="1042" y="292"/>
                  <a:pt x="1049" y="317"/>
                </a:cubicBezTo>
                <a:cubicBezTo>
                  <a:pt x="1056" y="343"/>
                  <a:pt x="1059" y="369"/>
                  <a:pt x="1059" y="395"/>
                </a:cubicBezTo>
                <a:close/>
              </a:path>
            </a:pathLst>
          </a:custGeom>
          <a:solidFill>
            <a:srgbClr val="F3E8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4" name="文本框 513"/>
          <p:cNvSpPr txBox="1"/>
          <p:nvPr/>
        </p:nvSpPr>
        <p:spPr>
          <a:xfrm>
            <a:off x="6477120" y="3204000"/>
            <a:ext cx="10342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局限：可能忽略弱特征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5" name="文本框 514"/>
          <p:cNvSpPr txBox="1"/>
          <p:nvPr/>
        </p:nvSpPr>
        <p:spPr>
          <a:xfrm>
            <a:off x="981000" y="4047840"/>
            <a:ext cx="190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2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6" name="文本框 515"/>
          <p:cNvSpPr txBox="1"/>
          <p:nvPr/>
        </p:nvSpPr>
        <p:spPr>
          <a:xfrm>
            <a:off x="1333440" y="4004280"/>
            <a:ext cx="637200" cy="23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6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梯度提升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7" name="文本框 516"/>
          <p:cNvSpPr txBox="1"/>
          <p:nvPr/>
        </p:nvSpPr>
        <p:spPr>
          <a:xfrm>
            <a:off x="2165980" y="3997362"/>
            <a:ext cx="12308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60" b="1" u="none" strike="noStrike" dirty="0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(Boosting)</a:t>
            </a:r>
            <a:endParaRPr lang="en-US" sz="156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8" name="文本框 517"/>
          <p:cNvSpPr txBox="1"/>
          <p:nvPr/>
        </p:nvSpPr>
        <p:spPr>
          <a:xfrm>
            <a:off x="838080" y="4403880"/>
            <a:ext cx="2073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偏差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9" name="文本框 518"/>
          <p:cNvSpPr txBox="1"/>
          <p:nvPr/>
        </p:nvSpPr>
        <p:spPr>
          <a:xfrm>
            <a:off x="1181160" y="4408560"/>
            <a:ext cx="1710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-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0" name="文本框 519"/>
          <p:cNvSpPr txBox="1"/>
          <p:nvPr/>
        </p:nvSpPr>
        <p:spPr>
          <a:xfrm>
            <a:off x="1238040" y="4403880"/>
            <a:ext cx="9309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⽅差控制：降低偏差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1" name="文本框 520"/>
          <p:cNvSpPr txBox="1"/>
          <p:nvPr/>
        </p:nvSpPr>
        <p:spPr>
          <a:xfrm>
            <a:off x="838080" y="4680720"/>
            <a:ext cx="517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核⼼策略：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2" name="文本框 521"/>
          <p:cNvSpPr txBox="1"/>
          <p:nvPr/>
        </p:nvSpPr>
        <p:spPr>
          <a:xfrm>
            <a:off x="1066680" y="4933800"/>
            <a:ext cx="1710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3" name="文本框 522"/>
          <p:cNvSpPr txBox="1"/>
          <p:nvPr/>
        </p:nvSpPr>
        <p:spPr>
          <a:xfrm>
            <a:off x="1169640" y="4929120"/>
            <a:ext cx="17575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顺序训练：新模型修正前序模型的错误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4" name="文本框 523"/>
          <p:cNvSpPr txBox="1"/>
          <p:nvPr/>
        </p:nvSpPr>
        <p:spPr>
          <a:xfrm>
            <a:off x="1066680" y="5182200"/>
            <a:ext cx="1710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5" name="文本框 524"/>
          <p:cNvSpPr txBox="1"/>
          <p:nvPr/>
        </p:nvSpPr>
        <p:spPr>
          <a:xfrm>
            <a:off x="1169640" y="5177520"/>
            <a:ext cx="17575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梯度下降：优化损失函数的负梯度⽅向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6" name="文本框 525"/>
          <p:cNvSpPr txBox="1"/>
          <p:nvPr/>
        </p:nvSpPr>
        <p:spPr>
          <a:xfrm>
            <a:off x="838080" y="5454360"/>
            <a:ext cx="16542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优势：⾼预测精度、特征组合能⼒强</a:t>
            </a:r>
            <a:endParaRPr lang="en-US" sz="10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7" name="任意多边形 526"/>
          <p:cNvSpPr/>
          <p:nvPr/>
        </p:nvSpPr>
        <p:spPr>
          <a:xfrm>
            <a:off x="6248160" y="3790800"/>
            <a:ext cx="5334480" cy="2648520"/>
          </a:xfrm>
          <a:custGeom>
            <a:avLst/>
            <a:gdLst/>
            <a:ahLst/>
            <a:cxnLst/>
            <a:rect l="0" t="0" r="r" b="b"/>
            <a:pathLst>
              <a:path w="14818" h="7357">
                <a:moveTo>
                  <a:pt x="0" y="7199"/>
                </a:moveTo>
                <a:lnTo>
                  <a:pt x="0" y="119"/>
                </a:lnTo>
                <a:cubicBezTo>
                  <a:pt x="0" y="111"/>
                  <a:pt x="2" y="103"/>
                  <a:pt x="4" y="95"/>
                </a:cubicBezTo>
                <a:cubicBezTo>
                  <a:pt x="7" y="88"/>
                  <a:pt x="11" y="80"/>
                  <a:pt x="16" y="73"/>
                </a:cubicBezTo>
                <a:cubicBezTo>
                  <a:pt x="22" y="66"/>
                  <a:pt x="28" y="59"/>
                  <a:pt x="36" y="53"/>
                </a:cubicBezTo>
                <a:cubicBezTo>
                  <a:pt x="44" y="46"/>
                  <a:pt x="52" y="40"/>
                  <a:pt x="62" y="35"/>
                </a:cubicBezTo>
                <a:cubicBezTo>
                  <a:pt x="72" y="29"/>
                  <a:pt x="83" y="25"/>
                  <a:pt x="94" y="20"/>
                </a:cubicBezTo>
                <a:cubicBezTo>
                  <a:pt x="106" y="16"/>
                  <a:pt x="118" y="12"/>
                  <a:pt x="131" y="9"/>
                </a:cubicBezTo>
                <a:cubicBezTo>
                  <a:pt x="144" y="6"/>
                  <a:pt x="157" y="4"/>
                  <a:pt x="171" y="3"/>
                </a:cubicBezTo>
                <a:cubicBezTo>
                  <a:pt x="184" y="1"/>
                  <a:pt x="198" y="0"/>
                  <a:pt x="212" y="0"/>
                </a:cubicBezTo>
                <a:lnTo>
                  <a:pt x="14606" y="0"/>
                </a:lnTo>
                <a:cubicBezTo>
                  <a:pt x="14620" y="0"/>
                  <a:pt x="14634" y="1"/>
                  <a:pt x="14647" y="3"/>
                </a:cubicBezTo>
                <a:cubicBezTo>
                  <a:pt x="14661" y="4"/>
                  <a:pt x="14674" y="6"/>
                  <a:pt x="14687" y="9"/>
                </a:cubicBezTo>
                <a:cubicBezTo>
                  <a:pt x="14700" y="12"/>
                  <a:pt x="14712" y="16"/>
                  <a:pt x="14724" y="20"/>
                </a:cubicBezTo>
                <a:cubicBezTo>
                  <a:pt x="14735" y="25"/>
                  <a:pt x="14746" y="29"/>
                  <a:pt x="14756" y="35"/>
                </a:cubicBezTo>
                <a:cubicBezTo>
                  <a:pt x="14766" y="40"/>
                  <a:pt x="14774" y="46"/>
                  <a:pt x="14782" y="53"/>
                </a:cubicBezTo>
                <a:cubicBezTo>
                  <a:pt x="14790" y="59"/>
                  <a:pt x="14796" y="66"/>
                  <a:pt x="14802" y="73"/>
                </a:cubicBezTo>
                <a:cubicBezTo>
                  <a:pt x="14807" y="80"/>
                  <a:pt x="14811" y="88"/>
                  <a:pt x="14814" y="95"/>
                </a:cubicBezTo>
                <a:cubicBezTo>
                  <a:pt x="14816" y="103"/>
                  <a:pt x="14818" y="111"/>
                  <a:pt x="14818" y="119"/>
                </a:cubicBezTo>
                <a:lnTo>
                  <a:pt x="14818" y="7199"/>
                </a:lnTo>
                <a:cubicBezTo>
                  <a:pt x="14818" y="7210"/>
                  <a:pt x="14816" y="7220"/>
                  <a:pt x="14814" y="7230"/>
                </a:cubicBezTo>
                <a:cubicBezTo>
                  <a:pt x="14811" y="7240"/>
                  <a:pt x="14807" y="7250"/>
                  <a:pt x="14802" y="7260"/>
                </a:cubicBezTo>
                <a:cubicBezTo>
                  <a:pt x="14796" y="7269"/>
                  <a:pt x="14790" y="7278"/>
                  <a:pt x="14782" y="7287"/>
                </a:cubicBezTo>
                <a:cubicBezTo>
                  <a:pt x="14774" y="7295"/>
                  <a:pt x="14766" y="7303"/>
                  <a:pt x="14756" y="7311"/>
                </a:cubicBezTo>
                <a:cubicBezTo>
                  <a:pt x="14746" y="7318"/>
                  <a:pt x="14735" y="7325"/>
                  <a:pt x="14724" y="7330"/>
                </a:cubicBezTo>
                <a:cubicBezTo>
                  <a:pt x="14712" y="7336"/>
                  <a:pt x="14700" y="7341"/>
                  <a:pt x="14687" y="7345"/>
                </a:cubicBezTo>
                <a:cubicBezTo>
                  <a:pt x="14674" y="7349"/>
                  <a:pt x="14661" y="7352"/>
                  <a:pt x="14647" y="7354"/>
                </a:cubicBezTo>
                <a:cubicBezTo>
                  <a:pt x="14634" y="7356"/>
                  <a:pt x="14620" y="7357"/>
                  <a:pt x="14606" y="7357"/>
                </a:cubicBezTo>
                <a:lnTo>
                  <a:pt x="212" y="7357"/>
                </a:lnTo>
                <a:cubicBezTo>
                  <a:pt x="198" y="7357"/>
                  <a:pt x="184" y="7356"/>
                  <a:pt x="171" y="7354"/>
                </a:cubicBezTo>
                <a:cubicBezTo>
                  <a:pt x="157" y="7352"/>
                  <a:pt x="144" y="7349"/>
                  <a:pt x="131" y="7345"/>
                </a:cubicBezTo>
                <a:cubicBezTo>
                  <a:pt x="118" y="7341"/>
                  <a:pt x="106" y="7336"/>
                  <a:pt x="94" y="7330"/>
                </a:cubicBezTo>
                <a:cubicBezTo>
                  <a:pt x="83" y="7325"/>
                  <a:pt x="72" y="7318"/>
                  <a:pt x="62" y="7311"/>
                </a:cubicBezTo>
                <a:cubicBezTo>
                  <a:pt x="52" y="7303"/>
                  <a:pt x="44" y="7295"/>
                  <a:pt x="36" y="7287"/>
                </a:cubicBezTo>
                <a:cubicBezTo>
                  <a:pt x="28" y="7278"/>
                  <a:pt x="22" y="7269"/>
                  <a:pt x="16" y="7260"/>
                </a:cubicBezTo>
                <a:cubicBezTo>
                  <a:pt x="11" y="7250"/>
                  <a:pt x="7" y="7240"/>
                  <a:pt x="4" y="7230"/>
                </a:cubicBezTo>
                <a:cubicBezTo>
                  <a:pt x="2" y="7220"/>
                  <a:pt x="0" y="7210"/>
                  <a:pt x="0" y="719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8" name="任意多边形 527"/>
          <p:cNvSpPr/>
          <p:nvPr/>
        </p:nvSpPr>
        <p:spPr>
          <a:xfrm>
            <a:off x="6248160" y="3776760"/>
            <a:ext cx="5334480" cy="57240"/>
          </a:xfrm>
          <a:custGeom>
            <a:avLst/>
            <a:gdLst/>
            <a:ahLst/>
            <a:cxnLst/>
            <a:rect l="0" t="0" r="r" b="b"/>
            <a:pathLst>
              <a:path w="14818" h="159">
                <a:moveTo>
                  <a:pt x="0" y="0"/>
                </a:moveTo>
                <a:lnTo>
                  <a:pt x="14818" y="0"/>
                </a:lnTo>
                <a:lnTo>
                  <a:pt x="14818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9" name="任意多边形 528"/>
          <p:cNvSpPr/>
          <p:nvPr/>
        </p:nvSpPr>
        <p:spPr>
          <a:xfrm>
            <a:off x="6486480" y="4387320"/>
            <a:ext cx="1209960" cy="312480"/>
          </a:xfrm>
          <a:custGeom>
            <a:avLst/>
            <a:gdLst/>
            <a:ahLst/>
            <a:cxnLst/>
            <a:rect l="0" t="0" r="r" b="b"/>
            <a:pathLst>
              <a:path w="3361" h="868">
                <a:moveTo>
                  <a:pt x="0" y="0"/>
                </a:moveTo>
                <a:lnTo>
                  <a:pt x="3361" y="0"/>
                </a:lnTo>
                <a:lnTo>
                  <a:pt x="3361" y="868"/>
                </a:lnTo>
                <a:lnTo>
                  <a:pt x="0" y="86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0" name="任意多边形 529"/>
          <p:cNvSpPr/>
          <p:nvPr/>
        </p:nvSpPr>
        <p:spPr>
          <a:xfrm>
            <a:off x="7696080" y="4387320"/>
            <a:ext cx="1457640" cy="312480"/>
          </a:xfrm>
          <a:custGeom>
            <a:avLst/>
            <a:gdLst/>
            <a:ahLst/>
            <a:cxnLst/>
            <a:rect l="0" t="0" r="r" b="b"/>
            <a:pathLst>
              <a:path w="4049" h="868">
                <a:moveTo>
                  <a:pt x="0" y="0"/>
                </a:moveTo>
                <a:lnTo>
                  <a:pt x="4049" y="0"/>
                </a:lnTo>
                <a:lnTo>
                  <a:pt x="4049" y="868"/>
                </a:lnTo>
                <a:lnTo>
                  <a:pt x="0" y="86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1" name="任意多边形 530"/>
          <p:cNvSpPr/>
          <p:nvPr/>
        </p:nvSpPr>
        <p:spPr>
          <a:xfrm>
            <a:off x="9153360" y="4387320"/>
            <a:ext cx="2200680" cy="312480"/>
          </a:xfrm>
          <a:custGeom>
            <a:avLst/>
            <a:gdLst/>
            <a:ahLst/>
            <a:cxnLst/>
            <a:rect l="0" t="0" r="r" b="b"/>
            <a:pathLst>
              <a:path w="6113" h="868">
                <a:moveTo>
                  <a:pt x="0" y="0"/>
                </a:moveTo>
                <a:lnTo>
                  <a:pt x="6113" y="0"/>
                </a:lnTo>
                <a:lnTo>
                  <a:pt x="6113" y="868"/>
                </a:lnTo>
                <a:lnTo>
                  <a:pt x="0" y="86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2" name="任意多边形 531"/>
          <p:cNvSpPr/>
          <p:nvPr/>
        </p:nvSpPr>
        <p:spPr>
          <a:xfrm>
            <a:off x="6486480" y="5011920"/>
            <a:ext cx="1209960" cy="312840"/>
          </a:xfrm>
          <a:custGeom>
            <a:avLst/>
            <a:gdLst/>
            <a:ahLst/>
            <a:cxnLst/>
            <a:rect l="0" t="0" r="r" b="b"/>
            <a:pathLst>
              <a:path w="3361" h="869">
                <a:moveTo>
                  <a:pt x="0" y="0"/>
                </a:moveTo>
                <a:lnTo>
                  <a:pt x="3361" y="0"/>
                </a:lnTo>
                <a:lnTo>
                  <a:pt x="3361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3" name="任意多边形 532"/>
          <p:cNvSpPr/>
          <p:nvPr/>
        </p:nvSpPr>
        <p:spPr>
          <a:xfrm>
            <a:off x="7696080" y="5011920"/>
            <a:ext cx="1457640" cy="312840"/>
          </a:xfrm>
          <a:custGeom>
            <a:avLst/>
            <a:gdLst/>
            <a:ahLst/>
            <a:cxnLst/>
            <a:rect l="0" t="0" r="r" b="b"/>
            <a:pathLst>
              <a:path w="4049" h="869">
                <a:moveTo>
                  <a:pt x="0" y="0"/>
                </a:moveTo>
                <a:lnTo>
                  <a:pt x="4049" y="0"/>
                </a:lnTo>
                <a:lnTo>
                  <a:pt x="4049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4" name="任意多边形 533"/>
          <p:cNvSpPr/>
          <p:nvPr/>
        </p:nvSpPr>
        <p:spPr>
          <a:xfrm>
            <a:off x="9153360" y="5011920"/>
            <a:ext cx="2200680" cy="312840"/>
          </a:xfrm>
          <a:custGeom>
            <a:avLst/>
            <a:gdLst/>
            <a:ahLst/>
            <a:cxnLst/>
            <a:rect l="0" t="0" r="r" b="b"/>
            <a:pathLst>
              <a:path w="6113" h="869">
                <a:moveTo>
                  <a:pt x="0" y="0"/>
                </a:moveTo>
                <a:lnTo>
                  <a:pt x="6113" y="0"/>
                </a:lnTo>
                <a:lnTo>
                  <a:pt x="6113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5" name="任意多边形 534"/>
          <p:cNvSpPr/>
          <p:nvPr/>
        </p:nvSpPr>
        <p:spPr>
          <a:xfrm>
            <a:off x="6486480" y="5636880"/>
            <a:ext cx="1209960" cy="312480"/>
          </a:xfrm>
          <a:custGeom>
            <a:avLst/>
            <a:gdLst/>
            <a:ahLst/>
            <a:cxnLst/>
            <a:rect l="0" t="0" r="r" b="b"/>
            <a:pathLst>
              <a:path w="3361" h="868">
                <a:moveTo>
                  <a:pt x="0" y="0"/>
                </a:moveTo>
                <a:lnTo>
                  <a:pt x="3361" y="0"/>
                </a:lnTo>
                <a:lnTo>
                  <a:pt x="3361" y="868"/>
                </a:lnTo>
                <a:lnTo>
                  <a:pt x="0" y="86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6" name="任意多边形 535"/>
          <p:cNvSpPr/>
          <p:nvPr/>
        </p:nvSpPr>
        <p:spPr>
          <a:xfrm>
            <a:off x="7696080" y="5636880"/>
            <a:ext cx="1457640" cy="312480"/>
          </a:xfrm>
          <a:custGeom>
            <a:avLst/>
            <a:gdLst/>
            <a:ahLst/>
            <a:cxnLst/>
            <a:rect l="0" t="0" r="r" b="b"/>
            <a:pathLst>
              <a:path w="4049" h="868">
                <a:moveTo>
                  <a:pt x="0" y="0"/>
                </a:moveTo>
                <a:lnTo>
                  <a:pt x="4049" y="0"/>
                </a:lnTo>
                <a:lnTo>
                  <a:pt x="4049" y="868"/>
                </a:lnTo>
                <a:lnTo>
                  <a:pt x="0" y="86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7" name="任意多边形 536"/>
          <p:cNvSpPr/>
          <p:nvPr/>
        </p:nvSpPr>
        <p:spPr>
          <a:xfrm>
            <a:off x="9153360" y="5636880"/>
            <a:ext cx="2200680" cy="312480"/>
          </a:xfrm>
          <a:custGeom>
            <a:avLst/>
            <a:gdLst/>
            <a:ahLst/>
            <a:cxnLst/>
            <a:rect l="0" t="0" r="r" b="b"/>
            <a:pathLst>
              <a:path w="6113" h="868">
                <a:moveTo>
                  <a:pt x="0" y="0"/>
                </a:moveTo>
                <a:lnTo>
                  <a:pt x="6113" y="0"/>
                </a:lnTo>
                <a:lnTo>
                  <a:pt x="6113" y="868"/>
                </a:lnTo>
                <a:lnTo>
                  <a:pt x="0" y="86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8" name="任意多边形 537"/>
          <p:cNvSpPr/>
          <p:nvPr/>
        </p:nvSpPr>
        <p:spPr>
          <a:xfrm>
            <a:off x="6476760" y="4387320"/>
            <a:ext cx="10080" cy="319680"/>
          </a:xfrm>
          <a:custGeom>
            <a:avLst/>
            <a:gdLst/>
            <a:ahLst/>
            <a:cxnLst/>
            <a:rect l="0" t="0" r="r" b="b"/>
            <a:pathLst>
              <a:path w="28" h="888">
                <a:moveTo>
                  <a:pt x="0" y="0"/>
                </a:moveTo>
                <a:lnTo>
                  <a:pt x="28" y="0"/>
                </a:lnTo>
                <a:lnTo>
                  <a:pt x="28" y="888"/>
                </a:lnTo>
                <a:lnTo>
                  <a:pt x="0" y="88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9" name="任意多边形 538"/>
          <p:cNvSpPr/>
          <p:nvPr/>
        </p:nvSpPr>
        <p:spPr>
          <a:xfrm>
            <a:off x="6476760" y="4387320"/>
            <a:ext cx="1219680" cy="7200"/>
          </a:xfrm>
          <a:custGeom>
            <a:avLst/>
            <a:gdLst/>
            <a:ahLst/>
            <a:cxnLst/>
            <a:rect l="0" t="0" r="r" b="b"/>
            <a:pathLst>
              <a:path w="3388" h="20">
                <a:moveTo>
                  <a:pt x="0" y="0"/>
                </a:moveTo>
                <a:lnTo>
                  <a:pt x="3388" y="0"/>
                </a:lnTo>
                <a:lnTo>
                  <a:pt x="3388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0" name="任意多边形 539"/>
          <p:cNvSpPr/>
          <p:nvPr/>
        </p:nvSpPr>
        <p:spPr>
          <a:xfrm>
            <a:off x="7686360" y="4387320"/>
            <a:ext cx="10080" cy="319680"/>
          </a:xfrm>
          <a:custGeom>
            <a:avLst/>
            <a:gdLst/>
            <a:ahLst/>
            <a:cxnLst/>
            <a:rect l="0" t="0" r="r" b="b"/>
            <a:pathLst>
              <a:path w="28" h="888">
                <a:moveTo>
                  <a:pt x="0" y="0"/>
                </a:moveTo>
                <a:lnTo>
                  <a:pt x="28" y="0"/>
                </a:lnTo>
                <a:lnTo>
                  <a:pt x="28" y="888"/>
                </a:lnTo>
                <a:lnTo>
                  <a:pt x="0" y="88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1" name="任意多边形 540"/>
          <p:cNvSpPr/>
          <p:nvPr/>
        </p:nvSpPr>
        <p:spPr>
          <a:xfrm>
            <a:off x="7696080" y="4387320"/>
            <a:ext cx="1467000" cy="7200"/>
          </a:xfrm>
          <a:custGeom>
            <a:avLst/>
            <a:gdLst/>
            <a:ahLst/>
            <a:cxnLst/>
            <a:rect l="0" t="0" r="r" b="b"/>
            <a:pathLst>
              <a:path w="4075" h="20">
                <a:moveTo>
                  <a:pt x="0" y="0"/>
                </a:moveTo>
                <a:lnTo>
                  <a:pt x="4075" y="0"/>
                </a:lnTo>
                <a:lnTo>
                  <a:pt x="4075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2" name="任意多边形 541"/>
          <p:cNvSpPr/>
          <p:nvPr/>
        </p:nvSpPr>
        <p:spPr>
          <a:xfrm>
            <a:off x="9153360" y="4387320"/>
            <a:ext cx="9720" cy="319680"/>
          </a:xfrm>
          <a:custGeom>
            <a:avLst/>
            <a:gdLst/>
            <a:ahLst/>
            <a:cxnLst/>
            <a:rect l="0" t="0" r="r" b="b"/>
            <a:pathLst>
              <a:path w="27" h="888">
                <a:moveTo>
                  <a:pt x="0" y="0"/>
                </a:moveTo>
                <a:lnTo>
                  <a:pt x="27" y="0"/>
                </a:lnTo>
                <a:lnTo>
                  <a:pt x="27" y="888"/>
                </a:lnTo>
                <a:lnTo>
                  <a:pt x="0" y="88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3" name="任意多边形 542"/>
          <p:cNvSpPr/>
          <p:nvPr/>
        </p:nvSpPr>
        <p:spPr>
          <a:xfrm>
            <a:off x="9162720" y="4387320"/>
            <a:ext cx="2191320" cy="7200"/>
          </a:xfrm>
          <a:custGeom>
            <a:avLst/>
            <a:gdLst/>
            <a:ahLst/>
            <a:cxnLst/>
            <a:rect l="0" t="0" r="r" b="b"/>
            <a:pathLst>
              <a:path w="6087" h="20">
                <a:moveTo>
                  <a:pt x="0" y="0"/>
                </a:moveTo>
                <a:lnTo>
                  <a:pt x="6087" y="0"/>
                </a:lnTo>
                <a:lnTo>
                  <a:pt x="6087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4" name="任意多边形 543"/>
          <p:cNvSpPr/>
          <p:nvPr/>
        </p:nvSpPr>
        <p:spPr>
          <a:xfrm>
            <a:off x="11343960" y="4387320"/>
            <a:ext cx="10080" cy="319680"/>
          </a:xfrm>
          <a:custGeom>
            <a:avLst/>
            <a:gdLst/>
            <a:ahLst/>
            <a:cxnLst/>
            <a:rect l="0" t="0" r="r" b="b"/>
            <a:pathLst>
              <a:path w="28" h="888">
                <a:moveTo>
                  <a:pt x="0" y="0"/>
                </a:moveTo>
                <a:lnTo>
                  <a:pt x="28" y="0"/>
                </a:lnTo>
                <a:lnTo>
                  <a:pt x="28" y="888"/>
                </a:lnTo>
                <a:lnTo>
                  <a:pt x="0" y="88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5" name="任意多边形 544"/>
          <p:cNvSpPr/>
          <p:nvPr/>
        </p:nvSpPr>
        <p:spPr>
          <a:xfrm>
            <a:off x="6476760" y="4699440"/>
            <a:ext cx="1219680" cy="7560"/>
          </a:xfrm>
          <a:custGeom>
            <a:avLst/>
            <a:gdLst/>
            <a:ahLst/>
            <a:cxnLst/>
            <a:rect l="0" t="0" r="r" b="b"/>
            <a:pathLst>
              <a:path w="3388" h="21">
                <a:moveTo>
                  <a:pt x="0" y="0"/>
                </a:moveTo>
                <a:lnTo>
                  <a:pt x="3388" y="0"/>
                </a:lnTo>
                <a:lnTo>
                  <a:pt x="3388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6" name="任意多边形 545"/>
          <p:cNvSpPr/>
          <p:nvPr/>
        </p:nvSpPr>
        <p:spPr>
          <a:xfrm>
            <a:off x="7696080" y="4699440"/>
            <a:ext cx="1467000" cy="7560"/>
          </a:xfrm>
          <a:custGeom>
            <a:avLst/>
            <a:gdLst/>
            <a:ahLst/>
            <a:cxnLst/>
            <a:rect l="0" t="0" r="r" b="b"/>
            <a:pathLst>
              <a:path w="4075" h="21">
                <a:moveTo>
                  <a:pt x="0" y="0"/>
                </a:moveTo>
                <a:lnTo>
                  <a:pt x="4075" y="0"/>
                </a:lnTo>
                <a:lnTo>
                  <a:pt x="4075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7" name="任意多边形 546"/>
          <p:cNvSpPr/>
          <p:nvPr/>
        </p:nvSpPr>
        <p:spPr>
          <a:xfrm>
            <a:off x="9162720" y="4699440"/>
            <a:ext cx="2191320" cy="7560"/>
          </a:xfrm>
          <a:custGeom>
            <a:avLst/>
            <a:gdLst/>
            <a:ahLst/>
            <a:cxnLst/>
            <a:rect l="0" t="0" r="r" b="b"/>
            <a:pathLst>
              <a:path w="6087" h="21">
                <a:moveTo>
                  <a:pt x="0" y="0"/>
                </a:moveTo>
                <a:lnTo>
                  <a:pt x="6087" y="0"/>
                </a:lnTo>
                <a:lnTo>
                  <a:pt x="6087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8" name="任意多边形 547"/>
          <p:cNvSpPr/>
          <p:nvPr/>
        </p:nvSpPr>
        <p:spPr>
          <a:xfrm>
            <a:off x="6476760" y="470664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9" name="任意多边形 548"/>
          <p:cNvSpPr/>
          <p:nvPr/>
        </p:nvSpPr>
        <p:spPr>
          <a:xfrm>
            <a:off x="7686360" y="470664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0" name="任意多边形 549"/>
          <p:cNvSpPr/>
          <p:nvPr/>
        </p:nvSpPr>
        <p:spPr>
          <a:xfrm>
            <a:off x="9153360" y="4706640"/>
            <a:ext cx="9720" cy="312840"/>
          </a:xfrm>
          <a:custGeom>
            <a:avLst/>
            <a:gdLst/>
            <a:ahLst/>
            <a:cxnLst/>
            <a:rect l="0" t="0" r="r" b="b"/>
            <a:pathLst>
              <a:path w="27" h="869">
                <a:moveTo>
                  <a:pt x="0" y="0"/>
                </a:moveTo>
                <a:lnTo>
                  <a:pt x="27" y="0"/>
                </a:lnTo>
                <a:lnTo>
                  <a:pt x="27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1" name="任意多边形 550"/>
          <p:cNvSpPr/>
          <p:nvPr/>
        </p:nvSpPr>
        <p:spPr>
          <a:xfrm>
            <a:off x="11343960" y="470664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2" name="任意多边形 551"/>
          <p:cNvSpPr/>
          <p:nvPr/>
        </p:nvSpPr>
        <p:spPr>
          <a:xfrm>
            <a:off x="6476760" y="501912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3" name="任意多边形 552"/>
          <p:cNvSpPr/>
          <p:nvPr/>
        </p:nvSpPr>
        <p:spPr>
          <a:xfrm>
            <a:off x="6476760" y="5011920"/>
            <a:ext cx="1219680" cy="7560"/>
          </a:xfrm>
          <a:custGeom>
            <a:avLst/>
            <a:gdLst/>
            <a:ahLst/>
            <a:cxnLst/>
            <a:rect l="0" t="0" r="r" b="b"/>
            <a:pathLst>
              <a:path w="3388" h="21">
                <a:moveTo>
                  <a:pt x="0" y="0"/>
                </a:moveTo>
                <a:lnTo>
                  <a:pt x="3388" y="0"/>
                </a:lnTo>
                <a:lnTo>
                  <a:pt x="3388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4" name="任意多边形 553"/>
          <p:cNvSpPr/>
          <p:nvPr/>
        </p:nvSpPr>
        <p:spPr>
          <a:xfrm>
            <a:off x="7686360" y="501912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5" name="任意多边形 554"/>
          <p:cNvSpPr/>
          <p:nvPr/>
        </p:nvSpPr>
        <p:spPr>
          <a:xfrm>
            <a:off x="7696080" y="5011920"/>
            <a:ext cx="1467000" cy="7560"/>
          </a:xfrm>
          <a:custGeom>
            <a:avLst/>
            <a:gdLst/>
            <a:ahLst/>
            <a:cxnLst/>
            <a:rect l="0" t="0" r="r" b="b"/>
            <a:pathLst>
              <a:path w="4075" h="21">
                <a:moveTo>
                  <a:pt x="0" y="0"/>
                </a:moveTo>
                <a:lnTo>
                  <a:pt x="4075" y="0"/>
                </a:lnTo>
                <a:lnTo>
                  <a:pt x="4075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6" name="任意多边形 555"/>
          <p:cNvSpPr/>
          <p:nvPr/>
        </p:nvSpPr>
        <p:spPr>
          <a:xfrm>
            <a:off x="9153360" y="5019120"/>
            <a:ext cx="9720" cy="312840"/>
          </a:xfrm>
          <a:custGeom>
            <a:avLst/>
            <a:gdLst/>
            <a:ahLst/>
            <a:cxnLst/>
            <a:rect l="0" t="0" r="r" b="b"/>
            <a:pathLst>
              <a:path w="27" h="869">
                <a:moveTo>
                  <a:pt x="0" y="0"/>
                </a:moveTo>
                <a:lnTo>
                  <a:pt x="27" y="0"/>
                </a:lnTo>
                <a:lnTo>
                  <a:pt x="27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7" name="任意多边形 556"/>
          <p:cNvSpPr/>
          <p:nvPr/>
        </p:nvSpPr>
        <p:spPr>
          <a:xfrm>
            <a:off x="9162720" y="5011920"/>
            <a:ext cx="2191320" cy="7560"/>
          </a:xfrm>
          <a:custGeom>
            <a:avLst/>
            <a:gdLst/>
            <a:ahLst/>
            <a:cxnLst/>
            <a:rect l="0" t="0" r="r" b="b"/>
            <a:pathLst>
              <a:path w="6087" h="21">
                <a:moveTo>
                  <a:pt x="0" y="0"/>
                </a:moveTo>
                <a:lnTo>
                  <a:pt x="6087" y="0"/>
                </a:lnTo>
                <a:lnTo>
                  <a:pt x="6087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8" name="任意多边形 557"/>
          <p:cNvSpPr/>
          <p:nvPr/>
        </p:nvSpPr>
        <p:spPr>
          <a:xfrm>
            <a:off x="11343960" y="501912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9" name="任意多边形 558"/>
          <p:cNvSpPr/>
          <p:nvPr/>
        </p:nvSpPr>
        <p:spPr>
          <a:xfrm>
            <a:off x="6476760" y="5331600"/>
            <a:ext cx="10080" cy="312480"/>
          </a:xfrm>
          <a:custGeom>
            <a:avLst/>
            <a:gdLst/>
            <a:ahLst/>
            <a:cxnLst/>
            <a:rect l="0" t="0" r="r" b="b"/>
            <a:pathLst>
              <a:path w="28" h="868">
                <a:moveTo>
                  <a:pt x="0" y="0"/>
                </a:moveTo>
                <a:lnTo>
                  <a:pt x="28" y="0"/>
                </a:lnTo>
                <a:lnTo>
                  <a:pt x="28" y="868"/>
                </a:lnTo>
                <a:lnTo>
                  <a:pt x="0" y="86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0" name="任意多边形 559"/>
          <p:cNvSpPr/>
          <p:nvPr/>
        </p:nvSpPr>
        <p:spPr>
          <a:xfrm>
            <a:off x="6476760" y="5324400"/>
            <a:ext cx="1219680" cy="7560"/>
          </a:xfrm>
          <a:custGeom>
            <a:avLst/>
            <a:gdLst/>
            <a:ahLst/>
            <a:cxnLst/>
            <a:rect l="0" t="0" r="r" b="b"/>
            <a:pathLst>
              <a:path w="3388" h="21">
                <a:moveTo>
                  <a:pt x="0" y="0"/>
                </a:moveTo>
                <a:lnTo>
                  <a:pt x="3388" y="0"/>
                </a:lnTo>
                <a:lnTo>
                  <a:pt x="3388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1" name="任意多边形 560"/>
          <p:cNvSpPr/>
          <p:nvPr/>
        </p:nvSpPr>
        <p:spPr>
          <a:xfrm>
            <a:off x="7686360" y="5331600"/>
            <a:ext cx="10080" cy="312480"/>
          </a:xfrm>
          <a:custGeom>
            <a:avLst/>
            <a:gdLst/>
            <a:ahLst/>
            <a:cxnLst/>
            <a:rect l="0" t="0" r="r" b="b"/>
            <a:pathLst>
              <a:path w="28" h="868">
                <a:moveTo>
                  <a:pt x="0" y="0"/>
                </a:moveTo>
                <a:lnTo>
                  <a:pt x="28" y="0"/>
                </a:lnTo>
                <a:lnTo>
                  <a:pt x="28" y="868"/>
                </a:lnTo>
                <a:lnTo>
                  <a:pt x="0" y="86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2" name="任意多边形 561"/>
          <p:cNvSpPr/>
          <p:nvPr/>
        </p:nvSpPr>
        <p:spPr>
          <a:xfrm>
            <a:off x="7696080" y="5324400"/>
            <a:ext cx="1467000" cy="7560"/>
          </a:xfrm>
          <a:custGeom>
            <a:avLst/>
            <a:gdLst/>
            <a:ahLst/>
            <a:cxnLst/>
            <a:rect l="0" t="0" r="r" b="b"/>
            <a:pathLst>
              <a:path w="4075" h="21">
                <a:moveTo>
                  <a:pt x="0" y="0"/>
                </a:moveTo>
                <a:lnTo>
                  <a:pt x="4075" y="0"/>
                </a:lnTo>
                <a:lnTo>
                  <a:pt x="4075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3" name="任意多边形 562"/>
          <p:cNvSpPr/>
          <p:nvPr/>
        </p:nvSpPr>
        <p:spPr>
          <a:xfrm>
            <a:off x="9153360" y="5331600"/>
            <a:ext cx="9720" cy="312480"/>
          </a:xfrm>
          <a:custGeom>
            <a:avLst/>
            <a:gdLst/>
            <a:ahLst/>
            <a:cxnLst/>
            <a:rect l="0" t="0" r="r" b="b"/>
            <a:pathLst>
              <a:path w="27" h="868">
                <a:moveTo>
                  <a:pt x="0" y="0"/>
                </a:moveTo>
                <a:lnTo>
                  <a:pt x="27" y="0"/>
                </a:lnTo>
                <a:lnTo>
                  <a:pt x="27" y="868"/>
                </a:lnTo>
                <a:lnTo>
                  <a:pt x="0" y="86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4" name="任意多边形 563"/>
          <p:cNvSpPr/>
          <p:nvPr/>
        </p:nvSpPr>
        <p:spPr>
          <a:xfrm>
            <a:off x="9162720" y="5324400"/>
            <a:ext cx="2191320" cy="7560"/>
          </a:xfrm>
          <a:custGeom>
            <a:avLst/>
            <a:gdLst/>
            <a:ahLst/>
            <a:cxnLst/>
            <a:rect l="0" t="0" r="r" b="b"/>
            <a:pathLst>
              <a:path w="6087" h="21">
                <a:moveTo>
                  <a:pt x="0" y="0"/>
                </a:moveTo>
                <a:lnTo>
                  <a:pt x="6087" y="0"/>
                </a:lnTo>
                <a:lnTo>
                  <a:pt x="6087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5" name="任意多边形 564"/>
          <p:cNvSpPr/>
          <p:nvPr/>
        </p:nvSpPr>
        <p:spPr>
          <a:xfrm>
            <a:off x="11343960" y="5331600"/>
            <a:ext cx="10080" cy="312480"/>
          </a:xfrm>
          <a:custGeom>
            <a:avLst/>
            <a:gdLst/>
            <a:ahLst/>
            <a:cxnLst/>
            <a:rect l="0" t="0" r="r" b="b"/>
            <a:pathLst>
              <a:path w="28" h="868">
                <a:moveTo>
                  <a:pt x="0" y="0"/>
                </a:moveTo>
                <a:lnTo>
                  <a:pt x="28" y="0"/>
                </a:lnTo>
                <a:lnTo>
                  <a:pt x="28" y="868"/>
                </a:lnTo>
                <a:lnTo>
                  <a:pt x="0" y="86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6" name="任意多边形 565"/>
          <p:cNvSpPr/>
          <p:nvPr/>
        </p:nvSpPr>
        <p:spPr>
          <a:xfrm>
            <a:off x="6476760" y="564372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7" name="任意多边形 566"/>
          <p:cNvSpPr/>
          <p:nvPr/>
        </p:nvSpPr>
        <p:spPr>
          <a:xfrm>
            <a:off x="6476760" y="5636880"/>
            <a:ext cx="1219680" cy="7200"/>
          </a:xfrm>
          <a:custGeom>
            <a:avLst/>
            <a:gdLst/>
            <a:ahLst/>
            <a:cxnLst/>
            <a:rect l="0" t="0" r="r" b="b"/>
            <a:pathLst>
              <a:path w="3388" h="20">
                <a:moveTo>
                  <a:pt x="0" y="0"/>
                </a:moveTo>
                <a:lnTo>
                  <a:pt x="3388" y="0"/>
                </a:lnTo>
                <a:lnTo>
                  <a:pt x="3388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8" name="任意多边形 567"/>
          <p:cNvSpPr/>
          <p:nvPr/>
        </p:nvSpPr>
        <p:spPr>
          <a:xfrm>
            <a:off x="7686360" y="564372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9" name="任意多边形 568"/>
          <p:cNvSpPr/>
          <p:nvPr/>
        </p:nvSpPr>
        <p:spPr>
          <a:xfrm>
            <a:off x="7696080" y="5636880"/>
            <a:ext cx="1467000" cy="7200"/>
          </a:xfrm>
          <a:custGeom>
            <a:avLst/>
            <a:gdLst/>
            <a:ahLst/>
            <a:cxnLst/>
            <a:rect l="0" t="0" r="r" b="b"/>
            <a:pathLst>
              <a:path w="4075" h="20">
                <a:moveTo>
                  <a:pt x="0" y="0"/>
                </a:moveTo>
                <a:lnTo>
                  <a:pt x="4075" y="0"/>
                </a:lnTo>
                <a:lnTo>
                  <a:pt x="4075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0" name="任意多边形 569"/>
          <p:cNvSpPr/>
          <p:nvPr/>
        </p:nvSpPr>
        <p:spPr>
          <a:xfrm>
            <a:off x="9153360" y="5643720"/>
            <a:ext cx="9720" cy="312840"/>
          </a:xfrm>
          <a:custGeom>
            <a:avLst/>
            <a:gdLst/>
            <a:ahLst/>
            <a:cxnLst/>
            <a:rect l="0" t="0" r="r" b="b"/>
            <a:pathLst>
              <a:path w="27" h="869">
                <a:moveTo>
                  <a:pt x="0" y="0"/>
                </a:moveTo>
                <a:lnTo>
                  <a:pt x="27" y="0"/>
                </a:lnTo>
                <a:lnTo>
                  <a:pt x="27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1" name="任意多边形 570"/>
          <p:cNvSpPr/>
          <p:nvPr/>
        </p:nvSpPr>
        <p:spPr>
          <a:xfrm>
            <a:off x="9162720" y="5636880"/>
            <a:ext cx="2191320" cy="7200"/>
          </a:xfrm>
          <a:custGeom>
            <a:avLst/>
            <a:gdLst/>
            <a:ahLst/>
            <a:cxnLst/>
            <a:rect l="0" t="0" r="r" b="b"/>
            <a:pathLst>
              <a:path w="6087" h="20">
                <a:moveTo>
                  <a:pt x="0" y="0"/>
                </a:moveTo>
                <a:lnTo>
                  <a:pt x="6087" y="0"/>
                </a:lnTo>
                <a:lnTo>
                  <a:pt x="6087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2" name="任意多边形 571"/>
          <p:cNvSpPr/>
          <p:nvPr/>
        </p:nvSpPr>
        <p:spPr>
          <a:xfrm>
            <a:off x="11343960" y="564372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3" name="任意多边形 572"/>
          <p:cNvSpPr/>
          <p:nvPr/>
        </p:nvSpPr>
        <p:spPr>
          <a:xfrm>
            <a:off x="6476760" y="595620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4" name="任意多边形 573"/>
          <p:cNvSpPr/>
          <p:nvPr/>
        </p:nvSpPr>
        <p:spPr>
          <a:xfrm>
            <a:off x="6476760" y="5949000"/>
            <a:ext cx="1219680" cy="7560"/>
          </a:xfrm>
          <a:custGeom>
            <a:avLst/>
            <a:gdLst/>
            <a:ahLst/>
            <a:cxnLst/>
            <a:rect l="0" t="0" r="r" b="b"/>
            <a:pathLst>
              <a:path w="3388" h="21">
                <a:moveTo>
                  <a:pt x="0" y="0"/>
                </a:moveTo>
                <a:lnTo>
                  <a:pt x="3388" y="0"/>
                </a:lnTo>
                <a:lnTo>
                  <a:pt x="3388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5" name="任意多边形 574"/>
          <p:cNvSpPr/>
          <p:nvPr/>
        </p:nvSpPr>
        <p:spPr>
          <a:xfrm>
            <a:off x="7686360" y="595620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6" name="任意多边形 575"/>
          <p:cNvSpPr/>
          <p:nvPr/>
        </p:nvSpPr>
        <p:spPr>
          <a:xfrm>
            <a:off x="7696080" y="5949000"/>
            <a:ext cx="1467000" cy="7560"/>
          </a:xfrm>
          <a:custGeom>
            <a:avLst/>
            <a:gdLst/>
            <a:ahLst/>
            <a:cxnLst/>
            <a:rect l="0" t="0" r="r" b="b"/>
            <a:pathLst>
              <a:path w="4075" h="21">
                <a:moveTo>
                  <a:pt x="0" y="0"/>
                </a:moveTo>
                <a:lnTo>
                  <a:pt x="4075" y="0"/>
                </a:lnTo>
                <a:lnTo>
                  <a:pt x="4075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7" name="任意多边形 576"/>
          <p:cNvSpPr/>
          <p:nvPr/>
        </p:nvSpPr>
        <p:spPr>
          <a:xfrm>
            <a:off x="9153360" y="5956200"/>
            <a:ext cx="9720" cy="312840"/>
          </a:xfrm>
          <a:custGeom>
            <a:avLst/>
            <a:gdLst/>
            <a:ahLst/>
            <a:cxnLst/>
            <a:rect l="0" t="0" r="r" b="b"/>
            <a:pathLst>
              <a:path w="27" h="869">
                <a:moveTo>
                  <a:pt x="0" y="0"/>
                </a:moveTo>
                <a:lnTo>
                  <a:pt x="27" y="0"/>
                </a:lnTo>
                <a:lnTo>
                  <a:pt x="27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8" name="任意多边形 577"/>
          <p:cNvSpPr/>
          <p:nvPr/>
        </p:nvSpPr>
        <p:spPr>
          <a:xfrm>
            <a:off x="9162720" y="5949000"/>
            <a:ext cx="2191320" cy="7560"/>
          </a:xfrm>
          <a:custGeom>
            <a:avLst/>
            <a:gdLst/>
            <a:ahLst/>
            <a:cxnLst/>
            <a:rect l="0" t="0" r="r" b="b"/>
            <a:pathLst>
              <a:path w="6087" h="21">
                <a:moveTo>
                  <a:pt x="0" y="0"/>
                </a:moveTo>
                <a:lnTo>
                  <a:pt x="6087" y="0"/>
                </a:lnTo>
                <a:lnTo>
                  <a:pt x="6087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9" name="任意多边形 578"/>
          <p:cNvSpPr/>
          <p:nvPr/>
        </p:nvSpPr>
        <p:spPr>
          <a:xfrm>
            <a:off x="11343960" y="595620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3" name="任意多边形 582"/>
          <p:cNvSpPr/>
          <p:nvPr/>
        </p:nvSpPr>
        <p:spPr>
          <a:xfrm>
            <a:off x="6476760" y="3982680"/>
            <a:ext cx="381240" cy="284400"/>
          </a:xfrm>
          <a:custGeom>
            <a:avLst/>
            <a:gdLst/>
            <a:ahLst/>
            <a:cxnLst/>
            <a:rect l="0" t="0" r="r" b="b"/>
            <a:pathLst>
              <a:path w="1059" h="790">
                <a:moveTo>
                  <a:pt x="1059" y="395"/>
                </a:moveTo>
                <a:cubicBezTo>
                  <a:pt x="1059" y="421"/>
                  <a:pt x="1056" y="447"/>
                  <a:pt x="1049" y="472"/>
                </a:cubicBezTo>
                <a:cubicBezTo>
                  <a:pt x="1043" y="497"/>
                  <a:pt x="1033" y="522"/>
                  <a:pt x="1019" y="546"/>
                </a:cubicBezTo>
                <a:cubicBezTo>
                  <a:pt x="1006" y="570"/>
                  <a:pt x="990" y="593"/>
                  <a:pt x="970" y="614"/>
                </a:cubicBezTo>
                <a:cubicBezTo>
                  <a:pt x="951" y="636"/>
                  <a:pt x="929" y="656"/>
                  <a:pt x="905" y="674"/>
                </a:cubicBezTo>
                <a:cubicBezTo>
                  <a:pt x="880" y="692"/>
                  <a:pt x="853" y="709"/>
                  <a:pt x="824" y="723"/>
                </a:cubicBezTo>
                <a:cubicBezTo>
                  <a:pt x="795" y="737"/>
                  <a:pt x="765" y="750"/>
                  <a:pt x="733" y="759"/>
                </a:cubicBezTo>
                <a:cubicBezTo>
                  <a:pt x="701" y="769"/>
                  <a:pt x="668" y="777"/>
                  <a:pt x="634" y="782"/>
                </a:cubicBezTo>
                <a:cubicBezTo>
                  <a:pt x="599" y="787"/>
                  <a:pt x="565" y="790"/>
                  <a:pt x="530" y="790"/>
                </a:cubicBezTo>
                <a:cubicBezTo>
                  <a:pt x="495" y="790"/>
                  <a:pt x="460" y="787"/>
                  <a:pt x="426" y="782"/>
                </a:cubicBezTo>
                <a:cubicBezTo>
                  <a:pt x="392" y="777"/>
                  <a:pt x="359" y="769"/>
                  <a:pt x="327" y="759"/>
                </a:cubicBezTo>
                <a:cubicBezTo>
                  <a:pt x="295" y="750"/>
                  <a:pt x="264" y="737"/>
                  <a:pt x="235" y="723"/>
                </a:cubicBezTo>
                <a:cubicBezTo>
                  <a:pt x="206" y="709"/>
                  <a:pt x="180" y="692"/>
                  <a:pt x="155" y="674"/>
                </a:cubicBezTo>
                <a:cubicBezTo>
                  <a:pt x="131" y="656"/>
                  <a:pt x="109" y="636"/>
                  <a:pt x="89" y="614"/>
                </a:cubicBezTo>
                <a:cubicBezTo>
                  <a:pt x="70" y="593"/>
                  <a:pt x="54" y="570"/>
                  <a:pt x="40" y="546"/>
                </a:cubicBezTo>
                <a:cubicBezTo>
                  <a:pt x="27" y="522"/>
                  <a:pt x="17" y="497"/>
                  <a:pt x="10" y="472"/>
                </a:cubicBezTo>
                <a:cubicBezTo>
                  <a:pt x="4" y="447"/>
                  <a:pt x="0" y="421"/>
                  <a:pt x="0" y="395"/>
                </a:cubicBezTo>
                <a:cubicBezTo>
                  <a:pt x="0" y="369"/>
                  <a:pt x="4" y="343"/>
                  <a:pt x="10" y="317"/>
                </a:cubicBezTo>
                <a:cubicBezTo>
                  <a:pt x="17" y="292"/>
                  <a:pt x="27" y="267"/>
                  <a:pt x="40" y="243"/>
                </a:cubicBezTo>
                <a:cubicBezTo>
                  <a:pt x="54" y="219"/>
                  <a:pt x="70" y="197"/>
                  <a:pt x="89" y="175"/>
                </a:cubicBezTo>
                <a:cubicBezTo>
                  <a:pt x="109" y="153"/>
                  <a:pt x="131" y="134"/>
                  <a:pt x="155" y="115"/>
                </a:cubicBezTo>
                <a:cubicBezTo>
                  <a:pt x="180" y="97"/>
                  <a:pt x="206" y="81"/>
                  <a:pt x="235" y="66"/>
                </a:cubicBezTo>
                <a:cubicBezTo>
                  <a:pt x="264" y="52"/>
                  <a:pt x="295" y="40"/>
                  <a:pt x="327" y="30"/>
                </a:cubicBezTo>
                <a:cubicBezTo>
                  <a:pt x="359" y="20"/>
                  <a:pt x="392" y="12"/>
                  <a:pt x="426" y="7"/>
                </a:cubicBezTo>
                <a:cubicBezTo>
                  <a:pt x="460" y="2"/>
                  <a:pt x="495" y="0"/>
                  <a:pt x="530" y="0"/>
                </a:cubicBezTo>
                <a:cubicBezTo>
                  <a:pt x="565" y="0"/>
                  <a:pt x="599" y="2"/>
                  <a:pt x="634" y="7"/>
                </a:cubicBezTo>
                <a:cubicBezTo>
                  <a:pt x="668" y="12"/>
                  <a:pt x="701" y="20"/>
                  <a:pt x="733" y="30"/>
                </a:cubicBezTo>
                <a:cubicBezTo>
                  <a:pt x="765" y="40"/>
                  <a:pt x="795" y="52"/>
                  <a:pt x="824" y="66"/>
                </a:cubicBezTo>
                <a:cubicBezTo>
                  <a:pt x="853" y="81"/>
                  <a:pt x="880" y="97"/>
                  <a:pt x="905" y="115"/>
                </a:cubicBezTo>
                <a:cubicBezTo>
                  <a:pt x="929" y="134"/>
                  <a:pt x="951" y="153"/>
                  <a:pt x="970" y="175"/>
                </a:cubicBezTo>
                <a:cubicBezTo>
                  <a:pt x="990" y="197"/>
                  <a:pt x="1006" y="219"/>
                  <a:pt x="1019" y="243"/>
                </a:cubicBezTo>
                <a:cubicBezTo>
                  <a:pt x="1033" y="267"/>
                  <a:pt x="1043" y="292"/>
                  <a:pt x="1049" y="317"/>
                </a:cubicBezTo>
                <a:cubicBezTo>
                  <a:pt x="1056" y="343"/>
                  <a:pt x="1059" y="369"/>
                  <a:pt x="1059" y="395"/>
                </a:cubicBezTo>
                <a:close/>
              </a:path>
            </a:pathLst>
          </a:custGeom>
          <a:solidFill>
            <a:srgbClr val="FEF9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4" name="文本框 583"/>
          <p:cNvSpPr txBox="1"/>
          <p:nvPr/>
        </p:nvSpPr>
        <p:spPr>
          <a:xfrm>
            <a:off x="838080" y="5731200"/>
            <a:ext cx="13442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局限：训练时间⻓、易过拟合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5" name="文本框 584"/>
          <p:cNvSpPr txBox="1"/>
          <p:nvPr/>
        </p:nvSpPr>
        <p:spPr>
          <a:xfrm>
            <a:off x="6620040" y="4047840"/>
            <a:ext cx="190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2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4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6" name="文本框 585"/>
          <p:cNvSpPr txBox="1"/>
          <p:nvPr/>
        </p:nvSpPr>
        <p:spPr>
          <a:xfrm>
            <a:off x="6972120" y="4011480"/>
            <a:ext cx="22849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6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Bagging vs Boosting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7" name="文本框 586"/>
          <p:cNvSpPr txBox="1"/>
          <p:nvPr/>
        </p:nvSpPr>
        <p:spPr>
          <a:xfrm>
            <a:off x="9269640" y="4004280"/>
            <a:ext cx="318960" cy="23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6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对⽐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8" name="文本框 587"/>
          <p:cNvSpPr txBox="1"/>
          <p:nvPr/>
        </p:nvSpPr>
        <p:spPr>
          <a:xfrm>
            <a:off x="6745320" y="4467600"/>
            <a:ext cx="414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对⽐维度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9" name="文本框 588"/>
          <p:cNvSpPr txBox="1"/>
          <p:nvPr/>
        </p:nvSpPr>
        <p:spPr>
          <a:xfrm>
            <a:off x="8124480" y="4472280"/>
            <a:ext cx="6037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Bagging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0" name="文本框 589"/>
          <p:cNvSpPr txBox="1"/>
          <p:nvPr/>
        </p:nvSpPr>
        <p:spPr>
          <a:xfrm>
            <a:off x="9932040" y="4472280"/>
            <a:ext cx="6418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Boosting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1" name="文本框 590"/>
          <p:cNvSpPr txBox="1"/>
          <p:nvPr/>
        </p:nvSpPr>
        <p:spPr>
          <a:xfrm>
            <a:off x="6562800" y="4780080"/>
            <a:ext cx="414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训练⽅式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2" name="文本框 591"/>
          <p:cNvSpPr txBox="1"/>
          <p:nvPr/>
        </p:nvSpPr>
        <p:spPr>
          <a:xfrm>
            <a:off x="7776000" y="4780080"/>
            <a:ext cx="414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并⾏独⽴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3" name="文本框 592"/>
          <p:cNvSpPr txBox="1"/>
          <p:nvPr/>
        </p:nvSpPr>
        <p:spPr>
          <a:xfrm>
            <a:off x="9235080" y="4780080"/>
            <a:ext cx="414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顺序依赖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4" name="文本框 593"/>
          <p:cNvSpPr txBox="1"/>
          <p:nvPr/>
        </p:nvSpPr>
        <p:spPr>
          <a:xfrm>
            <a:off x="6562800" y="5092200"/>
            <a:ext cx="414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样本权重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5" name="文本框 594"/>
          <p:cNvSpPr txBox="1"/>
          <p:nvPr/>
        </p:nvSpPr>
        <p:spPr>
          <a:xfrm>
            <a:off x="7776000" y="5092200"/>
            <a:ext cx="414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均匀抽样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6" name="文本框 595"/>
          <p:cNvSpPr txBox="1"/>
          <p:nvPr/>
        </p:nvSpPr>
        <p:spPr>
          <a:xfrm>
            <a:off x="9235080" y="5092200"/>
            <a:ext cx="8276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错误样本权重增加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7" name="文本框 596"/>
          <p:cNvSpPr txBox="1"/>
          <p:nvPr/>
        </p:nvSpPr>
        <p:spPr>
          <a:xfrm>
            <a:off x="6562800" y="5404680"/>
            <a:ext cx="414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模型权重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8" name="文本框 597"/>
          <p:cNvSpPr txBox="1"/>
          <p:nvPr/>
        </p:nvSpPr>
        <p:spPr>
          <a:xfrm>
            <a:off x="7776000" y="5404680"/>
            <a:ext cx="517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等权重投票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9" name="文本框 598"/>
          <p:cNvSpPr txBox="1"/>
          <p:nvPr/>
        </p:nvSpPr>
        <p:spPr>
          <a:xfrm>
            <a:off x="9235080" y="5404680"/>
            <a:ext cx="517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按性能加权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0" name="文本框 599"/>
          <p:cNvSpPr txBox="1"/>
          <p:nvPr/>
        </p:nvSpPr>
        <p:spPr>
          <a:xfrm>
            <a:off x="6562800" y="5717160"/>
            <a:ext cx="414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偏差控制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1" name="文本框 600"/>
          <p:cNvSpPr txBox="1"/>
          <p:nvPr/>
        </p:nvSpPr>
        <p:spPr>
          <a:xfrm>
            <a:off x="7776000" y="5717160"/>
            <a:ext cx="17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弱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2" name="文本框 601"/>
          <p:cNvSpPr txBox="1"/>
          <p:nvPr/>
        </p:nvSpPr>
        <p:spPr>
          <a:xfrm>
            <a:off x="9235080" y="5717160"/>
            <a:ext cx="17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强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3" name="文本框 602"/>
          <p:cNvSpPr txBox="1"/>
          <p:nvPr/>
        </p:nvSpPr>
        <p:spPr>
          <a:xfrm>
            <a:off x="6562800" y="6029640"/>
            <a:ext cx="414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⽅差控制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4" name="文本框 603"/>
          <p:cNvSpPr txBox="1"/>
          <p:nvPr/>
        </p:nvSpPr>
        <p:spPr>
          <a:xfrm>
            <a:off x="7776000" y="6029640"/>
            <a:ext cx="17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强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6" name="文本框 605"/>
          <p:cNvSpPr txBox="1"/>
          <p:nvPr/>
        </p:nvSpPr>
        <p:spPr>
          <a:xfrm>
            <a:off x="9235080" y="6029640"/>
            <a:ext cx="17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弱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DF601C-C3DE-2D27-7EF9-E8D750E23BD6}"/>
              </a:ext>
            </a:extLst>
          </p:cNvPr>
          <p:cNvSpPr txBox="1"/>
          <p:nvPr/>
        </p:nvSpPr>
        <p:spPr>
          <a:xfrm>
            <a:off x="10944000" y="205602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04E7B-B4A4-67FF-E00C-27CFCB611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任意多边形 459">
            <a:extLst>
              <a:ext uri="{FF2B5EF4-FFF2-40B4-BE49-F238E27FC236}">
                <a16:creationId xmlns:a16="http://schemas.microsoft.com/office/drawing/2014/main" id="{39B128A8-1DD7-0E01-53A2-C7D780469106}"/>
              </a:ext>
            </a:extLst>
          </p:cNvPr>
          <p:cNvSpPr/>
          <p:nvPr/>
        </p:nvSpPr>
        <p:spPr>
          <a:xfrm>
            <a:off x="152220" y="135426"/>
            <a:ext cx="11887560" cy="717480"/>
          </a:xfrm>
          <a:custGeom>
            <a:avLst/>
            <a:gdLst/>
            <a:ahLst/>
            <a:cxnLst/>
            <a:rect l="0" t="0" r="r" b="b"/>
            <a:pathLst>
              <a:path w="33021" h="1993">
                <a:moveTo>
                  <a:pt x="0" y="0"/>
                </a:moveTo>
                <a:lnTo>
                  <a:pt x="33021" y="0"/>
                </a:lnTo>
                <a:lnTo>
                  <a:pt x="33021" y="1993"/>
                </a:lnTo>
                <a:lnTo>
                  <a:pt x="0" y="1993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65" name="文本框 464">
            <a:extLst>
              <a:ext uri="{FF2B5EF4-FFF2-40B4-BE49-F238E27FC236}">
                <a16:creationId xmlns:a16="http://schemas.microsoft.com/office/drawing/2014/main" id="{82335E9C-FE7E-C21B-A1B2-A33C6B77FAAD}"/>
              </a:ext>
            </a:extLst>
          </p:cNvPr>
          <p:cNvSpPr txBox="1"/>
          <p:nvPr/>
        </p:nvSpPr>
        <p:spPr>
          <a:xfrm>
            <a:off x="609480" y="291240"/>
            <a:ext cx="3697935" cy="36163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集成学习：随机森林与</a:t>
            </a:r>
            <a:r>
              <a:rPr kumimoji="0" lang="en-US" altLang="zh-CN" sz="2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GBDT</a:t>
            </a:r>
            <a:endParaRPr kumimoji="0" lang="en-US" sz="2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5C0548E-F7B8-70DF-FDEF-FA8516082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04" y="1008720"/>
            <a:ext cx="5816490" cy="263595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AB154C6-7350-F862-654D-5AAA356BA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59271"/>
            <a:ext cx="5420710" cy="258346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7F2966D-9179-0236-1E9D-7961EA19E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0664" y="4075454"/>
            <a:ext cx="7892260" cy="237264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E2C0FC8-2DA0-CCAA-01DA-731A20D195CE}"/>
              </a:ext>
            </a:extLst>
          </p:cNvPr>
          <p:cNvSpPr txBox="1"/>
          <p:nvPr/>
        </p:nvSpPr>
        <p:spPr>
          <a:xfrm>
            <a:off x="10903406" y="217167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181691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D1BAB-E750-7E16-2063-0F2BDF8B5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任意多边形 459">
            <a:extLst>
              <a:ext uri="{FF2B5EF4-FFF2-40B4-BE49-F238E27FC236}">
                <a16:creationId xmlns:a16="http://schemas.microsoft.com/office/drawing/2014/main" id="{4B1922C8-4AEB-2851-8566-311A58FF4278}"/>
              </a:ext>
            </a:extLst>
          </p:cNvPr>
          <p:cNvSpPr/>
          <p:nvPr/>
        </p:nvSpPr>
        <p:spPr>
          <a:xfrm>
            <a:off x="152280" y="113400"/>
            <a:ext cx="11887560" cy="717480"/>
          </a:xfrm>
          <a:custGeom>
            <a:avLst/>
            <a:gdLst/>
            <a:ahLst/>
            <a:cxnLst/>
            <a:rect l="0" t="0" r="r" b="b"/>
            <a:pathLst>
              <a:path w="33021" h="1993">
                <a:moveTo>
                  <a:pt x="0" y="0"/>
                </a:moveTo>
                <a:lnTo>
                  <a:pt x="33021" y="0"/>
                </a:lnTo>
                <a:lnTo>
                  <a:pt x="33021" y="1993"/>
                </a:lnTo>
                <a:lnTo>
                  <a:pt x="0" y="1993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65" name="文本框 464">
            <a:extLst>
              <a:ext uri="{FF2B5EF4-FFF2-40B4-BE49-F238E27FC236}">
                <a16:creationId xmlns:a16="http://schemas.microsoft.com/office/drawing/2014/main" id="{F9951B38-65C2-3223-CDE9-B66CD8925DA9}"/>
              </a:ext>
            </a:extLst>
          </p:cNvPr>
          <p:cNvSpPr txBox="1"/>
          <p:nvPr/>
        </p:nvSpPr>
        <p:spPr>
          <a:xfrm>
            <a:off x="609480" y="291240"/>
            <a:ext cx="2109552" cy="36163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无监督学习总览</a:t>
            </a:r>
            <a:endParaRPr kumimoji="0" lang="en-US" sz="2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67786E-DD86-B4E1-174D-72FC5AA74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38" y="1075680"/>
            <a:ext cx="11175124" cy="527783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7F23810-20BE-8B23-0610-C67AB4538061}"/>
              </a:ext>
            </a:extLst>
          </p:cNvPr>
          <p:cNvSpPr txBox="1"/>
          <p:nvPr/>
        </p:nvSpPr>
        <p:spPr>
          <a:xfrm>
            <a:off x="10915490" y="22749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271015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任意多边形 6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7" name="任意多边形 616"/>
          <p:cNvSpPr/>
          <p:nvPr/>
        </p:nvSpPr>
        <p:spPr>
          <a:xfrm>
            <a:off x="152280" y="109440"/>
            <a:ext cx="11887560" cy="6748560"/>
          </a:xfrm>
          <a:custGeom>
            <a:avLst/>
            <a:gdLst/>
            <a:ahLst/>
            <a:cxnLst/>
            <a:rect l="0" t="0" r="r" b="b"/>
            <a:pathLst>
              <a:path w="33021" h="18746">
                <a:moveTo>
                  <a:pt x="0" y="0"/>
                </a:moveTo>
                <a:lnTo>
                  <a:pt x="33021" y="0"/>
                </a:lnTo>
                <a:lnTo>
                  <a:pt x="33021" y="18746"/>
                </a:lnTo>
                <a:lnTo>
                  <a:pt x="0" y="187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8" name="任意多边形 617"/>
          <p:cNvSpPr/>
          <p:nvPr/>
        </p:nvSpPr>
        <p:spPr>
          <a:xfrm>
            <a:off x="152280" y="109440"/>
            <a:ext cx="11887560" cy="693000"/>
          </a:xfrm>
          <a:custGeom>
            <a:avLst/>
            <a:gdLst/>
            <a:ahLst/>
            <a:cxnLst/>
            <a:rect l="0" t="0" r="r" b="b"/>
            <a:pathLst>
              <a:path w="33021" h="1925">
                <a:moveTo>
                  <a:pt x="0" y="0"/>
                </a:moveTo>
                <a:lnTo>
                  <a:pt x="33021" y="0"/>
                </a:lnTo>
                <a:lnTo>
                  <a:pt x="33021" y="1925"/>
                </a:lnTo>
                <a:lnTo>
                  <a:pt x="0" y="1925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9" name="文本框 618"/>
          <p:cNvSpPr txBox="1"/>
          <p:nvPr/>
        </p:nvSpPr>
        <p:spPr>
          <a:xfrm>
            <a:off x="609480" y="281520"/>
            <a:ext cx="1203480" cy="33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27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聚类算法：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0" name="文本框 619"/>
          <p:cNvSpPr txBox="1"/>
          <p:nvPr/>
        </p:nvSpPr>
        <p:spPr>
          <a:xfrm>
            <a:off x="2092116" y="291960"/>
            <a:ext cx="149220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7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K-Means</a:t>
            </a:r>
            <a:endParaRPr lang="en-US" sz="227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1" name="任意多边形 620"/>
          <p:cNvSpPr/>
          <p:nvPr/>
        </p:nvSpPr>
        <p:spPr>
          <a:xfrm>
            <a:off x="60002" y="812880"/>
            <a:ext cx="11887560" cy="5870880"/>
          </a:xfrm>
          <a:custGeom>
            <a:avLst/>
            <a:gdLst/>
            <a:ahLst/>
            <a:cxnLst/>
            <a:rect l="0" t="0" r="r" b="b"/>
            <a:pathLst>
              <a:path w="33021" h="16308">
                <a:moveTo>
                  <a:pt x="0" y="0"/>
                </a:moveTo>
                <a:lnTo>
                  <a:pt x="33021" y="0"/>
                </a:lnTo>
                <a:lnTo>
                  <a:pt x="33021" y="16308"/>
                </a:lnTo>
                <a:lnTo>
                  <a:pt x="0" y="1630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2" name="任意多边形 621"/>
          <p:cNvSpPr/>
          <p:nvPr/>
        </p:nvSpPr>
        <p:spPr>
          <a:xfrm>
            <a:off x="628560" y="1419480"/>
            <a:ext cx="5162760" cy="686160"/>
          </a:xfrm>
          <a:custGeom>
            <a:avLst/>
            <a:gdLst/>
            <a:ahLst/>
            <a:cxnLst/>
            <a:rect l="0" t="0" r="r" b="b"/>
            <a:pathLst>
              <a:path w="14341" h="1906">
                <a:moveTo>
                  <a:pt x="0" y="1906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3"/>
                </a:cubicBezTo>
                <a:cubicBezTo>
                  <a:pt x="14184" y="5"/>
                  <a:pt x="14198" y="8"/>
                  <a:pt x="14210" y="11"/>
                </a:cubicBezTo>
                <a:cubicBezTo>
                  <a:pt x="14223" y="15"/>
                  <a:pt x="14236" y="20"/>
                  <a:pt x="14247" y="26"/>
                </a:cubicBezTo>
                <a:cubicBezTo>
                  <a:pt x="14259" y="31"/>
                  <a:pt x="14269" y="37"/>
                  <a:pt x="14279" y="44"/>
                </a:cubicBezTo>
                <a:cubicBezTo>
                  <a:pt x="14289" y="52"/>
                  <a:pt x="14298" y="59"/>
                  <a:pt x="14305" y="68"/>
                </a:cubicBezTo>
                <a:cubicBezTo>
                  <a:pt x="14313" y="76"/>
                  <a:pt x="14320" y="85"/>
                  <a:pt x="14325" y="94"/>
                </a:cubicBezTo>
                <a:cubicBezTo>
                  <a:pt x="14330" y="103"/>
                  <a:pt x="14334" y="113"/>
                  <a:pt x="14337" y="123"/>
                </a:cubicBezTo>
                <a:cubicBezTo>
                  <a:pt x="14340" y="132"/>
                  <a:pt x="14341" y="142"/>
                  <a:pt x="14341" y="152"/>
                </a:cubicBezTo>
                <a:lnTo>
                  <a:pt x="14341" y="1753"/>
                </a:lnTo>
                <a:cubicBezTo>
                  <a:pt x="14341" y="1763"/>
                  <a:pt x="14340" y="1773"/>
                  <a:pt x="14337" y="1783"/>
                </a:cubicBezTo>
                <a:cubicBezTo>
                  <a:pt x="14334" y="1793"/>
                  <a:pt x="14330" y="1803"/>
                  <a:pt x="14325" y="1812"/>
                </a:cubicBezTo>
                <a:cubicBezTo>
                  <a:pt x="14320" y="1821"/>
                  <a:pt x="14313" y="1830"/>
                  <a:pt x="14305" y="1838"/>
                </a:cubicBezTo>
                <a:cubicBezTo>
                  <a:pt x="14298" y="1846"/>
                  <a:pt x="14289" y="1854"/>
                  <a:pt x="14279" y="1861"/>
                </a:cubicBezTo>
                <a:cubicBezTo>
                  <a:pt x="14269" y="1868"/>
                  <a:pt x="14259" y="1875"/>
                  <a:pt x="14247" y="1880"/>
                </a:cubicBezTo>
                <a:cubicBezTo>
                  <a:pt x="14236" y="1886"/>
                  <a:pt x="14223" y="1890"/>
                  <a:pt x="14210" y="1894"/>
                </a:cubicBezTo>
                <a:cubicBezTo>
                  <a:pt x="14198" y="1898"/>
                  <a:pt x="14184" y="1901"/>
                  <a:pt x="14171" y="1903"/>
                </a:cubicBezTo>
                <a:cubicBezTo>
                  <a:pt x="14157" y="1905"/>
                  <a:pt x="14143" y="1906"/>
                  <a:pt x="14129" y="1906"/>
                </a:cubicBezTo>
                <a:lnTo>
                  <a:pt x="0" y="1906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4" name="任意多边形 623"/>
          <p:cNvSpPr/>
          <p:nvPr/>
        </p:nvSpPr>
        <p:spPr>
          <a:xfrm>
            <a:off x="628560" y="2215080"/>
            <a:ext cx="5162760" cy="686160"/>
          </a:xfrm>
          <a:custGeom>
            <a:avLst/>
            <a:gdLst/>
            <a:ahLst/>
            <a:cxnLst/>
            <a:rect l="0" t="0" r="r" b="b"/>
            <a:pathLst>
              <a:path w="14341" h="1906">
                <a:moveTo>
                  <a:pt x="0" y="1906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3"/>
                </a:cubicBezTo>
                <a:cubicBezTo>
                  <a:pt x="14184" y="5"/>
                  <a:pt x="14198" y="7"/>
                  <a:pt x="14210" y="11"/>
                </a:cubicBezTo>
                <a:cubicBezTo>
                  <a:pt x="14223" y="15"/>
                  <a:pt x="14236" y="20"/>
                  <a:pt x="14247" y="25"/>
                </a:cubicBezTo>
                <a:cubicBezTo>
                  <a:pt x="14259" y="31"/>
                  <a:pt x="14269" y="37"/>
                  <a:pt x="14279" y="44"/>
                </a:cubicBezTo>
                <a:cubicBezTo>
                  <a:pt x="14289" y="51"/>
                  <a:pt x="14298" y="59"/>
                  <a:pt x="14305" y="67"/>
                </a:cubicBezTo>
                <a:cubicBezTo>
                  <a:pt x="14313" y="76"/>
                  <a:pt x="14320" y="84"/>
                  <a:pt x="14325" y="94"/>
                </a:cubicBezTo>
                <a:cubicBezTo>
                  <a:pt x="14330" y="103"/>
                  <a:pt x="14334" y="113"/>
                  <a:pt x="14337" y="122"/>
                </a:cubicBezTo>
                <a:cubicBezTo>
                  <a:pt x="14340" y="132"/>
                  <a:pt x="14341" y="142"/>
                  <a:pt x="14341" y="152"/>
                </a:cubicBezTo>
                <a:lnTo>
                  <a:pt x="14341" y="1753"/>
                </a:lnTo>
                <a:cubicBezTo>
                  <a:pt x="14341" y="1763"/>
                  <a:pt x="14340" y="1773"/>
                  <a:pt x="14337" y="1783"/>
                </a:cubicBezTo>
                <a:cubicBezTo>
                  <a:pt x="14334" y="1793"/>
                  <a:pt x="14330" y="1802"/>
                  <a:pt x="14325" y="1812"/>
                </a:cubicBezTo>
                <a:cubicBezTo>
                  <a:pt x="14320" y="1821"/>
                  <a:pt x="14313" y="1830"/>
                  <a:pt x="14305" y="1838"/>
                </a:cubicBezTo>
                <a:cubicBezTo>
                  <a:pt x="14298" y="1846"/>
                  <a:pt x="14289" y="1854"/>
                  <a:pt x="14279" y="1861"/>
                </a:cubicBezTo>
                <a:cubicBezTo>
                  <a:pt x="14269" y="1868"/>
                  <a:pt x="14259" y="1874"/>
                  <a:pt x="14247" y="1880"/>
                </a:cubicBezTo>
                <a:cubicBezTo>
                  <a:pt x="14236" y="1886"/>
                  <a:pt x="14223" y="1890"/>
                  <a:pt x="14210" y="1894"/>
                </a:cubicBezTo>
                <a:cubicBezTo>
                  <a:pt x="14198" y="1898"/>
                  <a:pt x="14184" y="1901"/>
                  <a:pt x="14171" y="1903"/>
                </a:cubicBezTo>
                <a:cubicBezTo>
                  <a:pt x="14157" y="1905"/>
                  <a:pt x="14143" y="1906"/>
                  <a:pt x="14129" y="1906"/>
                </a:cubicBezTo>
                <a:lnTo>
                  <a:pt x="0" y="1906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6" name="任意多边形 625"/>
          <p:cNvSpPr/>
          <p:nvPr/>
        </p:nvSpPr>
        <p:spPr>
          <a:xfrm>
            <a:off x="628560" y="3010320"/>
            <a:ext cx="5162760" cy="686160"/>
          </a:xfrm>
          <a:custGeom>
            <a:avLst/>
            <a:gdLst/>
            <a:ahLst/>
            <a:cxnLst/>
            <a:rect l="0" t="0" r="r" b="b"/>
            <a:pathLst>
              <a:path w="14341" h="1906">
                <a:moveTo>
                  <a:pt x="0" y="1906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3"/>
                </a:cubicBezTo>
                <a:cubicBezTo>
                  <a:pt x="14184" y="5"/>
                  <a:pt x="14198" y="8"/>
                  <a:pt x="14210" y="12"/>
                </a:cubicBezTo>
                <a:cubicBezTo>
                  <a:pt x="14223" y="16"/>
                  <a:pt x="14236" y="21"/>
                  <a:pt x="14247" y="26"/>
                </a:cubicBezTo>
                <a:cubicBezTo>
                  <a:pt x="14259" y="32"/>
                  <a:pt x="14269" y="38"/>
                  <a:pt x="14279" y="45"/>
                </a:cubicBezTo>
                <a:cubicBezTo>
                  <a:pt x="14289" y="52"/>
                  <a:pt x="14298" y="60"/>
                  <a:pt x="14305" y="68"/>
                </a:cubicBezTo>
                <a:cubicBezTo>
                  <a:pt x="14313" y="77"/>
                  <a:pt x="14320" y="85"/>
                  <a:pt x="14325" y="95"/>
                </a:cubicBezTo>
                <a:cubicBezTo>
                  <a:pt x="14330" y="104"/>
                  <a:pt x="14334" y="113"/>
                  <a:pt x="14337" y="123"/>
                </a:cubicBezTo>
                <a:cubicBezTo>
                  <a:pt x="14340" y="133"/>
                  <a:pt x="14341" y="143"/>
                  <a:pt x="14341" y="153"/>
                </a:cubicBezTo>
                <a:lnTo>
                  <a:pt x="14341" y="1754"/>
                </a:lnTo>
                <a:cubicBezTo>
                  <a:pt x="14341" y="1764"/>
                  <a:pt x="14340" y="1774"/>
                  <a:pt x="14337" y="1784"/>
                </a:cubicBezTo>
                <a:cubicBezTo>
                  <a:pt x="14334" y="1794"/>
                  <a:pt x="14330" y="1803"/>
                  <a:pt x="14325" y="1812"/>
                </a:cubicBezTo>
                <a:cubicBezTo>
                  <a:pt x="14320" y="1822"/>
                  <a:pt x="14313" y="1830"/>
                  <a:pt x="14305" y="1839"/>
                </a:cubicBezTo>
                <a:cubicBezTo>
                  <a:pt x="14298" y="1847"/>
                  <a:pt x="14289" y="1855"/>
                  <a:pt x="14279" y="1862"/>
                </a:cubicBezTo>
                <a:cubicBezTo>
                  <a:pt x="14269" y="1869"/>
                  <a:pt x="14259" y="1875"/>
                  <a:pt x="14247" y="1881"/>
                </a:cubicBezTo>
                <a:cubicBezTo>
                  <a:pt x="14236" y="1886"/>
                  <a:pt x="14223" y="1891"/>
                  <a:pt x="14210" y="1895"/>
                </a:cubicBezTo>
                <a:cubicBezTo>
                  <a:pt x="14198" y="1899"/>
                  <a:pt x="14184" y="1902"/>
                  <a:pt x="14171" y="1904"/>
                </a:cubicBezTo>
                <a:cubicBezTo>
                  <a:pt x="14157" y="1905"/>
                  <a:pt x="14143" y="1906"/>
                  <a:pt x="14129" y="1906"/>
                </a:cubicBezTo>
                <a:lnTo>
                  <a:pt x="0" y="1906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8" name="任意多边形 627"/>
          <p:cNvSpPr/>
          <p:nvPr/>
        </p:nvSpPr>
        <p:spPr>
          <a:xfrm>
            <a:off x="628560" y="3805920"/>
            <a:ext cx="5162760" cy="686160"/>
          </a:xfrm>
          <a:custGeom>
            <a:avLst/>
            <a:gdLst/>
            <a:ahLst/>
            <a:cxnLst/>
            <a:rect l="0" t="0" r="r" b="b"/>
            <a:pathLst>
              <a:path w="14341" h="1906">
                <a:moveTo>
                  <a:pt x="0" y="1906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3"/>
                </a:cubicBezTo>
                <a:cubicBezTo>
                  <a:pt x="14184" y="5"/>
                  <a:pt x="14198" y="8"/>
                  <a:pt x="14210" y="12"/>
                </a:cubicBezTo>
                <a:cubicBezTo>
                  <a:pt x="14223" y="16"/>
                  <a:pt x="14236" y="20"/>
                  <a:pt x="14247" y="26"/>
                </a:cubicBezTo>
                <a:cubicBezTo>
                  <a:pt x="14259" y="31"/>
                  <a:pt x="14269" y="38"/>
                  <a:pt x="14279" y="45"/>
                </a:cubicBezTo>
                <a:cubicBezTo>
                  <a:pt x="14289" y="52"/>
                  <a:pt x="14298" y="60"/>
                  <a:pt x="14305" y="68"/>
                </a:cubicBezTo>
                <a:cubicBezTo>
                  <a:pt x="14313" y="76"/>
                  <a:pt x="14320" y="85"/>
                  <a:pt x="14325" y="94"/>
                </a:cubicBezTo>
                <a:cubicBezTo>
                  <a:pt x="14330" y="104"/>
                  <a:pt x="14334" y="113"/>
                  <a:pt x="14337" y="123"/>
                </a:cubicBezTo>
                <a:cubicBezTo>
                  <a:pt x="14340" y="133"/>
                  <a:pt x="14341" y="143"/>
                  <a:pt x="14341" y="153"/>
                </a:cubicBezTo>
                <a:lnTo>
                  <a:pt x="14341" y="1753"/>
                </a:lnTo>
                <a:cubicBezTo>
                  <a:pt x="14341" y="1763"/>
                  <a:pt x="14340" y="1773"/>
                  <a:pt x="14337" y="1783"/>
                </a:cubicBezTo>
                <a:cubicBezTo>
                  <a:pt x="14334" y="1792"/>
                  <a:pt x="14330" y="1802"/>
                  <a:pt x="14325" y="1812"/>
                </a:cubicBezTo>
                <a:cubicBezTo>
                  <a:pt x="14320" y="1821"/>
                  <a:pt x="14313" y="1830"/>
                  <a:pt x="14305" y="1839"/>
                </a:cubicBezTo>
                <a:cubicBezTo>
                  <a:pt x="14298" y="1847"/>
                  <a:pt x="14289" y="1855"/>
                  <a:pt x="14279" y="1862"/>
                </a:cubicBezTo>
                <a:cubicBezTo>
                  <a:pt x="14269" y="1869"/>
                  <a:pt x="14259" y="1875"/>
                  <a:pt x="14247" y="1881"/>
                </a:cubicBezTo>
                <a:cubicBezTo>
                  <a:pt x="14236" y="1886"/>
                  <a:pt x="14223" y="1891"/>
                  <a:pt x="14210" y="1895"/>
                </a:cubicBezTo>
                <a:cubicBezTo>
                  <a:pt x="14198" y="1898"/>
                  <a:pt x="14184" y="1901"/>
                  <a:pt x="14171" y="1903"/>
                </a:cubicBezTo>
                <a:cubicBezTo>
                  <a:pt x="14157" y="1905"/>
                  <a:pt x="14143" y="1906"/>
                  <a:pt x="14129" y="1906"/>
                </a:cubicBezTo>
                <a:lnTo>
                  <a:pt x="0" y="1906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0" name="文本框 629"/>
          <p:cNvSpPr txBox="1"/>
          <p:nvPr/>
        </p:nvSpPr>
        <p:spPr>
          <a:xfrm>
            <a:off x="3359253" y="281520"/>
            <a:ext cx="963000" cy="33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270" b="0" u="none" strike="noStrike" dirty="0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实践指南</a:t>
            </a:r>
            <a:endParaRPr lang="en-US" sz="227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1" name="文本框 630"/>
          <p:cNvSpPr txBox="1"/>
          <p:nvPr/>
        </p:nvSpPr>
        <p:spPr>
          <a:xfrm>
            <a:off x="935572" y="1506233"/>
            <a:ext cx="10526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1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K-Means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2" name="任意多边形 631"/>
          <p:cNvSpPr/>
          <p:nvPr/>
        </p:nvSpPr>
        <p:spPr>
          <a:xfrm>
            <a:off x="1126012" y="1978913"/>
            <a:ext cx="305280" cy="219600"/>
          </a:xfrm>
          <a:custGeom>
            <a:avLst/>
            <a:gdLst/>
            <a:ahLst/>
            <a:cxnLst/>
            <a:rect l="0" t="0" r="r" b="b"/>
            <a:pathLst>
              <a:path w="848" h="610">
                <a:moveTo>
                  <a:pt x="848" y="304"/>
                </a:moveTo>
                <a:cubicBezTo>
                  <a:pt x="848" y="325"/>
                  <a:pt x="845" y="345"/>
                  <a:pt x="840" y="365"/>
                </a:cubicBezTo>
                <a:cubicBezTo>
                  <a:pt x="834" y="385"/>
                  <a:pt x="826" y="404"/>
                  <a:pt x="815" y="422"/>
                </a:cubicBezTo>
                <a:cubicBezTo>
                  <a:pt x="805" y="441"/>
                  <a:pt x="792" y="458"/>
                  <a:pt x="776" y="475"/>
                </a:cubicBezTo>
                <a:cubicBezTo>
                  <a:pt x="761" y="491"/>
                  <a:pt x="743" y="507"/>
                  <a:pt x="723" y="521"/>
                </a:cubicBezTo>
                <a:cubicBezTo>
                  <a:pt x="703" y="535"/>
                  <a:pt x="682" y="548"/>
                  <a:pt x="659" y="559"/>
                </a:cubicBezTo>
                <a:cubicBezTo>
                  <a:pt x="635" y="570"/>
                  <a:pt x="611" y="579"/>
                  <a:pt x="585" y="587"/>
                </a:cubicBezTo>
                <a:cubicBezTo>
                  <a:pt x="560" y="595"/>
                  <a:pt x="533" y="600"/>
                  <a:pt x="506" y="604"/>
                </a:cubicBezTo>
                <a:cubicBezTo>
                  <a:pt x="479" y="608"/>
                  <a:pt x="451" y="610"/>
                  <a:pt x="423" y="610"/>
                </a:cubicBezTo>
                <a:cubicBezTo>
                  <a:pt x="396" y="610"/>
                  <a:pt x="368" y="608"/>
                  <a:pt x="341" y="604"/>
                </a:cubicBezTo>
                <a:cubicBezTo>
                  <a:pt x="313" y="600"/>
                  <a:pt x="287" y="595"/>
                  <a:pt x="261" y="587"/>
                </a:cubicBezTo>
                <a:cubicBezTo>
                  <a:pt x="236" y="579"/>
                  <a:pt x="211" y="570"/>
                  <a:pt x="188" y="559"/>
                </a:cubicBezTo>
                <a:cubicBezTo>
                  <a:pt x="165" y="548"/>
                  <a:pt x="144" y="535"/>
                  <a:pt x="124" y="521"/>
                </a:cubicBezTo>
                <a:cubicBezTo>
                  <a:pt x="104" y="507"/>
                  <a:pt x="87" y="491"/>
                  <a:pt x="71" y="475"/>
                </a:cubicBezTo>
                <a:cubicBezTo>
                  <a:pt x="56" y="458"/>
                  <a:pt x="43" y="441"/>
                  <a:pt x="32" y="422"/>
                </a:cubicBezTo>
                <a:cubicBezTo>
                  <a:pt x="22" y="404"/>
                  <a:pt x="14" y="385"/>
                  <a:pt x="8" y="365"/>
                </a:cubicBezTo>
                <a:cubicBezTo>
                  <a:pt x="3" y="345"/>
                  <a:pt x="0" y="325"/>
                  <a:pt x="0" y="304"/>
                </a:cubicBezTo>
                <a:cubicBezTo>
                  <a:pt x="0" y="284"/>
                  <a:pt x="3" y="265"/>
                  <a:pt x="8" y="245"/>
                </a:cubicBezTo>
                <a:cubicBezTo>
                  <a:pt x="14" y="225"/>
                  <a:pt x="22" y="206"/>
                  <a:pt x="32" y="188"/>
                </a:cubicBezTo>
                <a:cubicBezTo>
                  <a:pt x="43" y="169"/>
                  <a:pt x="56" y="152"/>
                  <a:pt x="71" y="135"/>
                </a:cubicBezTo>
                <a:cubicBezTo>
                  <a:pt x="87" y="118"/>
                  <a:pt x="104" y="103"/>
                  <a:pt x="124" y="89"/>
                </a:cubicBezTo>
                <a:cubicBezTo>
                  <a:pt x="144" y="75"/>
                  <a:pt x="165" y="62"/>
                  <a:pt x="188" y="51"/>
                </a:cubicBezTo>
                <a:cubicBezTo>
                  <a:pt x="211" y="40"/>
                  <a:pt x="236" y="31"/>
                  <a:pt x="261" y="23"/>
                </a:cubicBezTo>
                <a:cubicBezTo>
                  <a:pt x="287" y="15"/>
                  <a:pt x="313" y="9"/>
                  <a:pt x="341" y="6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6"/>
                </a:cubicBezTo>
                <a:cubicBezTo>
                  <a:pt x="533" y="9"/>
                  <a:pt x="560" y="15"/>
                  <a:pt x="585" y="23"/>
                </a:cubicBezTo>
                <a:cubicBezTo>
                  <a:pt x="611" y="31"/>
                  <a:pt x="635" y="40"/>
                  <a:pt x="659" y="51"/>
                </a:cubicBezTo>
                <a:cubicBezTo>
                  <a:pt x="682" y="62"/>
                  <a:pt x="703" y="75"/>
                  <a:pt x="723" y="89"/>
                </a:cubicBezTo>
                <a:cubicBezTo>
                  <a:pt x="743" y="103"/>
                  <a:pt x="761" y="118"/>
                  <a:pt x="776" y="135"/>
                </a:cubicBezTo>
                <a:cubicBezTo>
                  <a:pt x="792" y="152"/>
                  <a:pt x="805" y="169"/>
                  <a:pt x="815" y="188"/>
                </a:cubicBezTo>
                <a:cubicBezTo>
                  <a:pt x="826" y="206"/>
                  <a:pt x="834" y="225"/>
                  <a:pt x="840" y="245"/>
                </a:cubicBezTo>
                <a:cubicBezTo>
                  <a:pt x="845" y="265"/>
                  <a:pt x="848" y="284"/>
                  <a:pt x="848" y="304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3" name="文本框 632"/>
          <p:cNvSpPr txBox="1"/>
          <p:nvPr/>
        </p:nvSpPr>
        <p:spPr>
          <a:xfrm>
            <a:off x="1731631" y="1499033"/>
            <a:ext cx="64080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10" b="0" u="none" strike="noStrike" dirty="0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算法步骤</a:t>
            </a:r>
            <a:endParaRPr lang="en-US" sz="15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4" name="文本框 633"/>
          <p:cNvSpPr txBox="1"/>
          <p:nvPr/>
        </p:nvSpPr>
        <p:spPr>
          <a:xfrm>
            <a:off x="1240492" y="2025353"/>
            <a:ext cx="64120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5" name="文本框 634"/>
          <p:cNvSpPr txBox="1"/>
          <p:nvPr/>
        </p:nvSpPr>
        <p:spPr>
          <a:xfrm>
            <a:off x="1545412" y="2003393"/>
            <a:ext cx="1077218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初始化中⼼点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6" name="文本框 635"/>
          <p:cNvSpPr txBox="1"/>
          <p:nvPr/>
        </p:nvSpPr>
        <p:spPr>
          <a:xfrm>
            <a:off x="1545412" y="2275913"/>
            <a:ext cx="53860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随机选择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7" name="文本框 636"/>
          <p:cNvSpPr txBox="1"/>
          <p:nvPr/>
        </p:nvSpPr>
        <p:spPr>
          <a:xfrm>
            <a:off x="2231212" y="2280593"/>
            <a:ext cx="9778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8" name="任意多边形 637"/>
          <p:cNvSpPr/>
          <p:nvPr/>
        </p:nvSpPr>
        <p:spPr>
          <a:xfrm>
            <a:off x="1126012" y="2774153"/>
            <a:ext cx="305280" cy="219960"/>
          </a:xfrm>
          <a:custGeom>
            <a:avLst/>
            <a:gdLst/>
            <a:ahLst/>
            <a:cxnLst/>
            <a:rect l="0" t="0" r="r" b="b"/>
            <a:pathLst>
              <a:path w="848" h="611">
                <a:moveTo>
                  <a:pt x="848" y="305"/>
                </a:moveTo>
                <a:cubicBezTo>
                  <a:pt x="848" y="325"/>
                  <a:pt x="845" y="345"/>
                  <a:pt x="840" y="365"/>
                </a:cubicBezTo>
                <a:cubicBezTo>
                  <a:pt x="834" y="384"/>
                  <a:pt x="826" y="403"/>
                  <a:pt x="815" y="422"/>
                </a:cubicBezTo>
                <a:cubicBezTo>
                  <a:pt x="805" y="440"/>
                  <a:pt x="792" y="458"/>
                  <a:pt x="776" y="475"/>
                </a:cubicBezTo>
                <a:cubicBezTo>
                  <a:pt x="761" y="491"/>
                  <a:pt x="743" y="507"/>
                  <a:pt x="723" y="521"/>
                </a:cubicBezTo>
                <a:cubicBezTo>
                  <a:pt x="703" y="535"/>
                  <a:pt x="682" y="549"/>
                  <a:pt x="659" y="560"/>
                </a:cubicBezTo>
                <a:cubicBezTo>
                  <a:pt x="635" y="571"/>
                  <a:pt x="611" y="580"/>
                  <a:pt x="585" y="588"/>
                </a:cubicBezTo>
                <a:cubicBezTo>
                  <a:pt x="560" y="596"/>
                  <a:pt x="533" y="601"/>
                  <a:pt x="506" y="605"/>
                </a:cubicBezTo>
                <a:cubicBezTo>
                  <a:pt x="479" y="609"/>
                  <a:pt x="451" y="611"/>
                  <a:pt x="423" y="611"/>
                </a:cubicBezTo>
                <a:cubicBezTo>
                  <a:pt x="396" y="611"/>
                  <a:pt x="368" y="609"/>
                  <a:pt x="341" y="605"/>
                </a:cubicBezTo>
                <a:cubicBezTo>
                  <a:pt x="313" y="601"/>
                  <a:pt x="287" y="596"/>
                  <a:pt x="261" y="588"/>
                </a:cubicBezTo>
                <a:cubicBezTo>
                  <a:pt x="236" y="580"/>
                  <a:pt x="211" y="571"/>
                  <a:pt x="188" y="560"/>
                </a:cubicBezTo>
                <a:cubicBezTo>
                  <a:pt x="165" y="549"/>
                  <a:pt x="144" y="535"/>
                  <a:pt x="124" y="521"/>
                </a:cubicBezTo>
                <a:cubicBezTo>
                  <a:pt x="104" y="507"/>
                  <a:pt x="87" y="491"/>
                  <a:pt x="71" y="475"/>
                </a:cubicBezTo>
                <a:cubicBezTo>
                  <a:pt x="56" y="458"/>
                  <a:pt x="43" y="440"/>
                  <a:pt x="32" y="422"/>
                </a:cubicBezTo>
                <a:cubicBezTo>
                  <a:pt x="22" y="403"/>
                  <a:pt x="14" y="384"/>
                  <a:pt x="8" y="365"/>
                </a:cubicBezTo>
                <a:cubicBezTo>
                  <a:pt x="3" y="345"/>
                  <a:pt x="0" y="325"/>
                  <a:pt x="0" y="305"/>
                </a:cubicBezTo>
                <a:cubicBezTo>
                  <a:pt x="0" y="285"/>
                  <a:pt x="3" y="265"/>
                  <a:pt x="8" y="246"/>
                </a:cubicBezTo>
                <a:cubicBezTo>
                  <a:pt x="14" y="226"/>
                  <a:pt x="22" y="207"/>
                  <a:pt x="32" y="189"/>
                </a:cubicBezTo>
                <a:cubicBezTo>
                  <a:pt x="43" y="170"/>
                  <a:pt x="56" y="153"/>
                  <a:pt x="71" y="136"/>
                </a:cubicBezTo>
                <a:cubicBezTo>
                  <a:pt x="87" y="119"/>
                  <a:pt x="104" y="104"/>
                  <a:pt x="124" y="90"/>
                </a:cubicBezTo>
                <a:cubicBezTo>
                  <a:pt x="144" y="76"/>
                  <a:pt x="165" y="63"/>
                  <a:pt x="188" y="52"/>
                </a:cubicBezTo>
                <a:cubicBezTo>
                  <a:pt x="211" y="41"/>
                  <a:pt x="236" y="31"/>
                  <a:pt x="261" y="24"/>
                </a:cubicBezTo>
                <a:cubicBezTo>
                  <a:pt x="287" y="16"/>
                  <a:pt x="313" y="10"/>
                  <a:pt x="341" y="6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6"/>
                </a:cubicBezTo>
                <a:cubicBezTo>
                  <a:pt x="533" y="10"/>
                  <a:pt x="560" y="16"/>
                  <a:pt x="585" y="24"/>
                </a:cubicBezTo>
                <a:cubicBezTo>
                  <a:pt x="611" y="31"/>
                  <a:pt x="635" y="41"/>
                  <a:pt x="659" y="52"/>
                </a:cubicBezTo>
                <a:cubicBezTo>
                  <a:pt x="682" y="63"/>
                  <a:pt x="703" y="76"/>
                  <a:pt x="723" y="90"/>
                </a:cubicBezTo>
                <a:cubicBezTo>
                  <a:pt x="743" y="104"/>
                  <a:pt x="761" y="119"/>
                  <a:pt x="776" y="136"/>
                </a:cubicBezTo>
                <a:cubicBezTo>
                  <a:pt x="792" y="153"/>
                  <a:pt x="805" y="170"/>
                  <a:pt x="815" y="189"/>
                </a:cubicBezTo>
                <a:cubicBezTo>
                  <a:pt x="826" y="207"/>
                  <a:pt x="834" y="226"/>
                  <a:pt x="840" y="246"/>
                </a:cubicBezTo>
                <a:cubicBezTo>
                  <a:pt x="845" y="265"/>
                  <a:pt x="848" y="285"/>
                  <a:pt x="848" y="305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9" name="文本框 638"/>
          <p:cNvSpPr txBox="1"/>
          <p:nvPr/>
        </p:nvSpPr>
        <p:spPr>
          <a:xfrm>
            <a:off x="2355052" y="2275913"/>
            <a:ext cx="1481175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个样本作为初始聚类中⼼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0" name="文本框 639"/>
          <p:cNvSpPr txBox="1"/>
          <p:nvPr/>
        </p:nvSpPr>
        <p:spPr>
          <a:xfrm>
            <a:off x="1240492" y="2820593"/>
            <a:ext cx="64120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1" name="文本框 640"/>
          <p:cNvSpPr txBox="1"/>
          <p:nvPr/>
        </p:nvSpPr>
        <p:spPr>
          <a:xfrm>
            <a:off x="1545412" y="2798993"/>
            <a:ext cx="718145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样本分配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2" name="任意多边形 641"/>
          <p:cNvSpPr/>
          <p:nvPr/>
        </p:nvSpPr>
        <p:spPr>
          <a:xfrm>
            <a:off x="1126012" y="3569753"/>
            <a:ext cx="305280" cy="219960"/>
          </a:xfrm>
          <a:custGeom>
            <a:avLst/>
            <a:gdLst/>
            <a:ahLst/>
            <a:cxnLst/>
            <a:rect l="0" t="0" r="r" b="b"/>
            <a:pathLst>
              <a:path w="848" h="611">
                <a:moveTo>
                  <a:pt x="848" y="306"/>
                </a:moveTo>
                <a:cubicBezTo>
                  <a:pt x="848" y="326"/>
                  <a:pt x="845" y="346"/>
                  <a:pt x="840" y="366"/>
                </a:cubicBezTo>
                <a:cubicBezTo>
                  <a:pt x="834" y="385"/>
                  <a:pt x="826" y="404"/>
                  <a:pt x="815" y="423"/>
                </a:cubicBezTo>
                <a:cubicBezTo>
                  <a:pt x="805" y="441"/>
                  <a:pt x="792" y="459"/>
                  <a:pt x="776" y="475"/>
                </a:cubicBezTo>
                <a:cubicBezTo>
                  <a:pt x="761" y="492"/>
                  <a:pt x="743" y="507"/>
                  <a:pt x="723" y="522"/>
                </a:cubicBezTo>
                <a:cubicBezTo>
                  <a:pt x="703" y="536"/>
                  <a:pt x="682" y="548"/>
                  <a:pt x="659" y="559"/>
                </a:cubicBezTo>
                <a:cubicBezTo>
                  <a:pt x="635" y="571"/>
                  <a:pt x="611" y="580"/>
                  <a:pt x="585" y="588"/>
                </a:cubicBezTo>
                <a:cubicBezTo>
                  <a:pt x="560" y="595"/>
                  <a:pt x="533" y="601"/>
                  <a:pt x="506" y="605"/>
                </a:cubicBezTo>
                <a:cubicBezTo>
                  <a:pt x="479" y="609"/>
                  <a:pt x="451" y="611"/>
                  <a:pt x="423" y="611"/>
                </a:cubicBezTo>
                <a:cubicBezTo>
                  <a:pt x="396" y="611"/>
                  <a:pt x="368" y="609"/>
                  <a:pt x="341" y="605"/>
                </a:cubicBezTo>
                <a:cubicBezTo>
                  <a:pt x="313" y="601"/>
                  <a:pt x="287" y="595"/>
                  <a:pt x="261" y="588"/>
                </a:cubicBezTo>
                <a:cubicBezTo>
                  <a:pt x="236" y="580"/>
                  <a:pt x="211" y="571"/>
                  <a:pt x="188" y="559"/>
                </a:cubicBezTo>
                <a:cubicBezTo>
                  <a:pt x="165" y="548"/>
                  <a:pt x="144" y="536"/>
                  <a:pt x="124" y="522"/>
                </a:cubicBezTo>
                <a:cubicBezTo>
                  <a:pt x="104" y="507"/>
                  <a:pt x="87" y="492"/>
                  <a:pt x="71" y="475"/>
                </a:cubicBezTo>
                <a:cubicBezTo>
                  <a:pt x="56" y="459"/>
                  <a:pt x="43" y="441"/>
                  <a:pt x="32" y="423"/>
                </a:cubicBezTo>
                <a:cubicBezTo>
                  <a:pt x="22" y="404"/>
                  <a:pt x="14" y="385"/>
                  <a:pt x="8" y="366"/>
                </a:cubicBezTo>
                <a:cubicBezTo>
                  <a:pt x="3" y="346"/>
                  <a:pt x="0" y="326"/>
                  <a:pt x="0" y="306"/>
                </a:cubicBezTo>
                <a:cubicBezTo>
                  <a:pt x="0" y="286"/>
                  <a:pt x="3" y="266"/>
                  <a:pt x="8" y="247"/>
                </a:cubicBezTo>
                <a:cubicBezTo>
                  <a:pt x="14" y="227"/>
                  <a:pt x="22" y="208"/>
                  <a:pt x="32" y="189"/>
                </a:cubicBezTo>
                <a:cubicBezTo>
                  <a:pt x="43" y="171"/>
                  <a:pt x="56" y="152"/>
                  <a:pt x="71" y="136"/>
                </a:cubicBezTo>
                <a:cubicBezTo>
                  <a:pt x="87" y="119"/>
                  <a:pt x="104" y="104"/>
                  <a:pt x="124" y="90"/>
                </a:cubicBezTo>
                <a:cubicBezTo>
                  <a:pt x="144" y="75"/>
                  <a:pt x="165" y="63"/>
                  <a:pt x="188" y="52"/>
                </a:cubicBezTo>
                <a:cubicBezTo>
                  <a:pt x="211" y="40"/>
                  <a:pt x="236" y="31"/>
                  <a:pt x="261" y="23"/>
                </a:cubicBezTo>
                <a:cubicBezTo>
                  <a:pt x="287" y="16"/>
                  <a:pt x="313" y="10"/>
                  <a:pt x="341" y="6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6"/>
                </a:cubicBezTo>
                <a:cubicBezTo>
                  <a:pt x="533" y="10"/>
                  <a:pt x="560" y="16"/>
                  <a:pt x="585" y="23"/>
                </a:cubicBezTo>
                <a:cubicBezTo>
                  <a:pt x="611" y="31"/>
                  <a:pt x="635" y="40"/>
                  <a:pt x="659" y="52"/>
                </a:cubicBezTo>
                <a:cubicBezTo>
                  <a:pt x="682" y="63"/>
                  <a:pt x="703" y="75"/>
                  <a:pt x="723" y="90"/>
                </a:cubicBezTo>
                <a:cubicBezTo>
                  <a:pt x="743" y="104"/>
                  <a:pt x="761" y="119"/>
                  <a:pt x="776" y="136"/>
                </a:cubicBezTo>
                <a:cubicBezTo>
                  <a:pt x="792" y="152"/>
                  <a:pt x="805" y="171"/>
                  <a:pt x="815" y="189"/>
                </a:cubicBezTo>
                <a:cubicBezTo>
                  <a:pt x="826" y="208"/>
                  <a:pt x="834" y="227"/>
                  <a:pt x="840" y="247"/>
                </a:cubicBezTo>
                <a:cubicBezTo>
                  <a:pt x="845" y="266"/>
                  <a:pt x="848" y="286"/>
                  <a:pt x="848" y="306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3" name="文本框 642"/>
          <p:cNvSpPr txBox="1"/>
          <p:nvPr/>
        </p:nvSpPr>
        <p:spPr>
          <a:xfrm>
            <a:off x="1545412" y="3071513"/>
            <a:ext cx="296234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计算每个样本到各中⼼的距离，分配到最近的中⼼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4" name="文本框 643"/>
          <p:cNvSpPr txBox="1"/>
          <p:nvPr/>
        </p:nvSpPr>
        <p:spPr>
          <a:xfrm>
            <a:off x="1240492" y="3616193"/>
            <a:ext cx="64120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5" name="文本框 644"/>
          <p:cNvSpPr txBox="1"/>
          <p:nvPr/>
        </p:nvSpPr>
        <p:spPr>
          <a:xfrm>
            <a:off x="1545412" y="3594593"/>
            <a:ext cx="897682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中⼼点更新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6" name="任意多边形 645"/>
          <p:cNvSpPr/>
          <p:nvPr/>
        </p:nvSpPr>
        <p:spPr>
          <a:xfrm>
            <a:off x="1126012" y="4365353"/>
            <a:ext cx="305280" cy="219960"/>
          </a:xfrm>
          <a:custGeom>
            <a:avLst/>
            <a:gdLst/>
            <a:ahLst/>
            <a:cxnLst/>
            <a:rect l="0" t="0" r="r" b="b"/>
            <a:pathLst>
              <a:path w="848" h="611">
                <a:moveTo>
                  <a:pt x="848" y="305"/>
                </a:moveTo>
                <a:cubicBezTo>
                  <a:pt x="848" y="325"/>
                  <a:pt x="845" y="345"/>
                  <a:pt x="840" y="364"/>
                </a:cubicBezTo>
                <a:cubicBezTo>
                  <a:pt x="834" y="384"/>
                  <a:pt x="826" y="404"/>
                  <a:pt x="815" y="422"/>
                </a:cubicBezTo>
                <a:cubicBezTo>
                  <a:pt x="805" y="441"/>
                  <a:pt x="792" y="459"/>
                  <a:pt x="776" y="475"/>
                </a:cubicBezTo>
                <a:cubicBezTo>
                  <a:pt x="761" y="492"/>
                  <a:pt x="743" y="507"/>
                  <a:pt x="723" y="521"/>
                </a:cubicBezTo>
                <a:cubicBezTo>
                  <a:pt x="703" y="536"/>
                  <a:pt x="682" y="548"/>
                  <a:pt x="659" y="559"/>
                </a:cubicBezTo>
                <a:cubicBezTo>
                  <a:pt x="635" y="570"/>
                  <a:pt x="611" y="580"/>
                  <a:pt x="585" y="587"/>
                </a:cubicBezTo>
                <a:cubicBezTo>
                  <a:pt x="560" y="595"/>
                  <a:pt x="533" y="601"/>
                  <a:pt x="506" y="605"/>
                </a:cubicBezTo>
                <a:cubicBezTo>
                  <a:pt x="479" y="609"/>
                  <a:pt x="451" y="611"/>
                  <a:pt x="423" y="611"/>
                </a:cubicBezTo>
                <a:cubicBezTo>
                  <a:pt x="396" y="611"/>
                  <a:pt x="368" y="609"/>
                  <a:pt x="341" y="605"/>
                </a:cubicBezTo>
                <a:cubicBezTo>
                  <a:pt x="313" y="601"/>
                  <a:pt x="287" y="595"/>
                  <a:pt x="261" y="587"/>
                </a:cubicBezTo>
                <a:cubicBezTo>
                  <a:pt x="236" y="580"/>
                  <a:pt x="211" y="570"/>
                  <a:pt x="188" y="559"/>
                </a:cubicBezTo>
                <a:cubicBezTo>
                  <a:pt x="165" y="548"/>
                  <a:pt x="144" y="536"/>
                  <a:pt x="124" y="521"/>
                </a:cubicBezTo>
                <a:cubicBezTo>
                  <a:pt x="104" y="507"/>
                  <a:pt x="87" y="492"/>
                  <a:pt x="71" y="475"/>
                </a:cubicBezTo>
                <a:cubicBezTo>
                  <a:pt x="56" y="459"/>
                  <a:pt x="43" y="441"/>
                  <a:pt x="32" y="422"/>
                </a:cubicBezTo>
                <a:cubicBezTo>
                  <a:pt x="22" y="404"/>
                  <a:pt x="14" y="384"/>
                  <a:pt x="8" y="364"/>
                </a:cubicBezTo>
                <a:cubicBezTo>
                  <a:pt x="3" y="345"/>
                  <a:pt x="0" y="325"/>
                  <a:pt x="0" y="305"/>
                </a:cubicBezTo>
                <a:cubicBezTo>
                  <a:pt x="0" y="285"/>
                  <a:pt x="3" y="265"/>
                  <a:pt x="8" y="245"/>
                </a:cubicBezTo>
                <a:cubicBezTo>
                  <a:pt x="14" y="226"/>
                  <a:pt x="22" y="207"/>
                  <a:pt x="32" y="188"/>
                </a:cubicBezTo>
                <a:cubicBezTo>
                  <a:pt x="43" y="170"/>
                  <a:pt x="56" y="152"/>
                  <a:pt x="71" y="136"/>
                </a:cubicBezTo>
                <a:cubicBezTo>
                  <a:pt x="87" y="119"/>
                  <a:pt x="104" y="103"/>
                  <a:pt x="124" y="89"/>
                </a:cubicBezTo>
                <a:cubicBezTo>
                  <a:pt x="144" y="75"/>
                  <a:pt x="165" y="63"/>
                  <a:pt x="188" y="51"/>
                </a:cubicBezTo>
                <a:cubicBezTo>
                  <a:pt x="211" y="40"/>
                  <a:pt x="236" y="31"/>
                  <a:pt x="261" y="23"/>
                </a:cubicBezTo>
                <a:cubicBezTo>
                  <a:pt x="287" y="16"/>
                  <a:pt x="313" y="10"/>
                  <a:pt x="341" y="6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6"/>
                </a:cubicBezTo>
                <a:cubicBezTo>
                  <a:pt x="533" y="10"/>
                  <a:pt x="560" y="16"/>
                  <a:pt x="585" y="23"/>
                </a:cubicBezTo>
                <a:cubicBezTo>
                  <a:pt x="611" y="31"/>
                  <a:pt x="635" y="40"/>
                  <a:pt x="659" y="51"/>
                </a:cubicBezTo>
                <a:cubicBezTo>
                  <a:pt x="682" y="63"/>
                  <a:pt x="703" y="75"/>
                  <a:pt x="723" y="89"/>
                </a:cubicBezTo>
                <a:cubicBezTo>
                  <a:pt x="743" y="103"/>
                  <a:pt x="761" y="119"/>
                  <a:pt x="776" y="136"/>
                </a:cubicBezTo>
                <a:cubicBezTo>
                  <a:pt x="792" y="152"/>
                  <a:pt x="805" y="170"/>
                  <a:pt x="815" y="188"/>
                </a:cubicBezTo>
                <a:cubicBezTo>
                  <a:pt x="826" y="207"/>
                  <a:pt x="834" y="226"/>
                  <a:pt x="840" y="245"/>
                </a:cubicBezTo>
                <a:cubicBezTo>
                  <a:pt x="845" y="265"/>
                  <a:pt x="848" y="285"/>
                  <a:pt x="848" y="305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7" name="文本框 646"/>
          <p:cNvSpPr txBox="1"/>
          <p:nvPr/>
        </p:nvSpPr>
        <p:spPr>
          <a:xfrm>
            <a:off x="1545412" y="3867113"/>
            <a:ext cx="215443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重新计算每个簇的质⼼作为新中⼼点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8" name="文本框 647"/>
          <p:cNvSpPr txBox="1"/>
          <p:nvPr/>
        </p:nvSpPr>
        <p:spPr>
          <a:xfrm>
            <a:off x="1240492" y="4411793"/>
            <a:ext cx="64120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9" name="文本框 648"/>
          <p:cNvSpPr txBox="1"/>
          <p:nvPr/>
        </p:nvSpPr>
        <p:spPr>
          <a:xfrm>
            <a:off x="1545412" y="4390193"/>
            <a:ext cx="718145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迭代收敛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0" name="文本框 649"/>
          <p:cNvSpPr txBox="1"/>
          <p:nvPr/>
        </p:nvSpPr>
        <p:spPr>
          <a:xfrm>
            <a:off x="1545412" y="4662353"/>
            <a:ext cx="26930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重复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1" name="文本框 650"/>
          <p:cNvSpPr txBox="1"/>
          <p:nvPr/>
        </p:nvSpPr>
        <p:spPr>
          <a:xfrm>
            <a:off x="1888132" y="4667033"/>
            <a:ext cx="17953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2-3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2" name="文本框 651"/>
          <p:cNvSpPr txBox="1"/>
          <p:nvPr/>
        </p:nvSpPr>
        <p:spPr>
          <a:xfrm>
            <a:off x="2116732" y="4662353"/>
            <a:ext cx="2289088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步直到中⼼点不再变化或达到最⼤迭代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0" name="任意多边形 689"/>
          <p:cNvSpPr/>
          <p:nvPr/>
        </p:nvSpPr>
        <p:spPr>
          <a:xfrm>
            <a:off x="6100560" y="1422720"/>
            <a:ext cx="5477400" cy="1749240"/>
          </a:xfrm>
          <a:custGeom>
            <a:avLst/>
            <a:gdLst/>
            <a:ahLst/>
            <a:cxnLst/>
            <a:rect l="0" t="0" r="r" b="b"/>
            <a:pathLst>
              <a:path w="15215" h="4859" fill="none">
                <a:moveTo>
                  <a:pt x="0" y="4716"/>
                </a:moveTo>
                <a:lnTo>
                  <a:pt x="0" y="143"/>
                </a:lnTo>
                <a:cubicBezTo>
                  <a:pt x="0" y="134"/>
                  <a:pt x="1" y="125"/>
                  <a:pt x="4" y="115"/>
                </a:cubicBezTo>
                <a:cubicBezTo>
                  <a:pt x="6" y="106"/>
                  <a:pt x="10" y="97"/>
                  <a:pt x="15" y="89"/>
                </a:cubicBezTo>
                <a:cubicBezTo>
                  <a:pt x="20" y="80"/>
                  <a:pt x="26" y="72"/>
                  <a:pt x="34" y="64"/>
                </a:cubicBezTo>
                <a:cubicBezTo>
                  <a:pt x="41" y="56"/>
                  <a:pt x="49" y="49"/>
                  <a:pt x="58" y="42"/>
                </a:cubicBezTo>
                <a:cubicBezTo>
                  <a:pt x="67" y="36"/>
                  <a:pt x="77" y="30"/>
                  <a:pt x="88" y="24"/>
                </a:cubicBezTo>
                <a:cubicBezTo>
                  <a:pt x="99" y="19"/>
                  <a:pt x="111" y="15"/>
                  <a:pt x="123" y="11"/>
                </a:cubicBezTo>
                <a:cubicBezTo>
                  <a:pt x="135" y="8"/>
                  <a:pt x="147" y="5"/>
                  <a:pt x="160" y="3"/>
                </a:cubicBezTo>
                <a:cubicBezTo>
                  <a:pt x="173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3"/>
                </a:cubicBezTo>
                <a:cubicBezTo>
                  <a:pt x="15068" y="5"/>
                  <a:pt x="15080" y="8"/>
                  <a:pt x="15092" y="11"/>
                </a:cubicBezTo>
                <a:cubicBezTo>
                  <a:pt x="15104" y="15"/>
                  <a:pt x="15116" y="19"/>
                  <a:pt x="15126" y="24"/>
                </a:cubicBezTo>
                <a:cubicBezTo>
                  <a:pt x="15137" y="30"/>
                  <a:pt x="15147" y="36"/>
                  <a:pt x="15156" y="42"/>
                </a:cubicBezTo>
                <a:cubicBezTo>
                  <a:pt x="15166" y="49"/>
                  <a:pt x="15174" y="56"/>
                  <a:pt x="15181" y="64"/>
                </a:cubicBezTo>
                <a:cubicBezTo>
                  <a:pt x="15188" y="72"/>
                  <a:pt x="15195" y="80"/>
                  <a:pt x="15199" y="89"/>
                </a:cubicBezTo>
                <a:cubicBezTo>
                  <a:pt x="15204" y="97"/>
                  <a:pt x="15208" y="106"/>
                  <a:pt x="15211" y="115"/>
                </a:cubicBezTo>
                <a:cubicBezTo>
                  <a:pt x="15213" y="125"/>
                  <a:pt x="15215" y="134"/>
                  <a:pt x="15215" y="143"/>
                </a:cubicBezTo>
                <a:lnTo>
                  <a:pt x="15215" y="4716"/>
                </a:lnTo>
                <a:cubicBezTo>
                  <a:pt x="15215" y="4726"/>
                  <a:pt x="15213" y="4735"/>
                  <a:pt x="15211" y="4744"/>
                </a:cubicBezTo>
                <a:cubicBezTo>
                  <a:pt x="15208" y="4753"/>
                  <a:pt x="15204" y="4762"/>
                  <a:pt x="15199" y="4771"/>
                </a:cubicBezTo>
                <a:cubicBezTo>
                  <a:pt x="15195" y="4780"/>
                  <a:pt x="15188" y="4788"/>
                  <a:pt x="15181" y="4796"/>
                </a:cubicBezTo>
                <a:cubicBezTo>
                  <a:pt x="15174" y="4803"/>
                  <a:pt x="15166" y="4811"/>
                  <a:pt x="15156" y="4817"/>
                </a:cubicBezTo>
                <a:cubicBezTo>
                  <a:pt x="15147" y="4824"/>
                  <a:pt x="15137" y="4830"/>
                  <a:pt x="15126" y="4835"/>
                </a:cubicBezTo>
                <a:cubicBezTo>
                  <a:pt x="15116" y="4840"/>
                  <a:pt x="15104" y="4845"/>
                  <a:pt x="15092" y="4848"/>
                </a:cubicBezTo>
                <a:cubicBezTo>
                  <a:pt x="15080" y="4852"/>
                  <a:pt x="15068" y="4855"/>
                  <a:pt x="15055" y="4856"/>
                </a:cubicBezTo>
                <a:cubicBezTo>
                  <a:pt x="15042" y="4858"/>
                  <a:pt x="15029" y="4859"/>
                  <a:pt x="15016" y="4859"/>
                </a:cubicBezTo>
                <a:lnTo>
                  <a:pt x="198" y="4859"/>
                </a:lnTo>
                <a:cubicBezTo>
                  <a:pt x="185" y="4859"/>
                  <a:pt x="173" y="4858"/>
                  <a:pt x="160" y="4856"/>
                </a:cubicBezTo>
                <a:cubicBezTo>
                  <a:pt x="147" y="4855"/>
                  <a:pt x="135" y="4852"/>
                  <a:pt x="123" y="4848"/>
                </a:cubicBezTo>
                <a:cubicBezTo>
                  <a:pt x="111" y="4845"/>
                  <a:pt x="99" y="4840"/>
                  <a:pt x="88" y="4835"/>
                </a:cubicBezTo>
                <a:cubicBezTo>
                  <a:pt x="77" y="4830"/>
                  <a:pt x="67" y="4824"/>
                  <a:pt x="58" y="4817"/>
                </a:cubicBezTo>
                <a:cubicBezTo>
                  <a:pt x="49" y="4811"/>
                  <a:pt x="41" y="4803"/>
                  <a:pt x="34" y="4796"/>
                </a:cubicBezTo>
                <a:cubicBezTo>
                  <a:pt x="26" y="4788"/>
                  <a:pt x="20" y="4780"/>
                  <a:pt x="15" y="4771"/>
                </a:cubicBezTo>
                <a:cubicBezTo>
                  <a:pt x="10" y="4762"/>
                  <a:pt x="6" y="4753"/>
                  <a:pt x="4" y="4744"/>
                </a:cubicBezTo>
                <a:cubicBezTo>
                  <a:pt x="1" y="4735"/>
                  <a:pt x="0" y="4726"/>
                  <a:pt x="0" y="4716"/>
                </a:cubicBezTo>
              </a:path>
            </a:pathLst>
          </a:custGeom>
          <a:ln w="7920">
            <a:solidFill>
              <a:srgbClr val="E5E7EB"/>
            </a:solidFill>
            <a:miter/>
          </a:ln>
        </p:spPr>
        <p:txBody>
          <a:bodyPr lIns="3960" tIns="3960" rIns="3960" bIns="39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93" name="图片 692"/>
          <p:cNvPicPr/>
          <p:nvPr/>
        </p:nvPicPr>
        <p:blipFill>
          <a:blip r:embed="rId3"/>
          <a:stretch>
            <a:fillRect/>
          </a:stretch>
        </p:blipFill>
        <p:spPr>
          <a:xfrm>
            <a:off x="6400682" y="1383120"/>
            <a:ext cx="4812800" cy="323082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4" name="文本框 693"/>
          <p:cNvSpPr txBox="1"/>
          <p:nvPr/>
        </p:nvSpPr>
        <p:spPr>
          <a:xfrm>
            <a:off x="6095880" y="1049400"/>
            <a:ext cx="96084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1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客⼾分群案例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5" name="文本框 694"/>
          <p:cNvSpPr txBox="1"/>
          <p:nvPr/>
        </p:nvSpPr>
        <p:spPr>
          <a:xfrm>
            <a:off x="8325495" y="4700096"/>
            <a:ext cx="100656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60" b="0" u="none" strike="noStrike" dirty="0">
                <a:solidFill>
                  <a:srgbClr val="6B7280"/>
                </a:solidFill>
                <a:effectLst/>
                <a:uFillTx/>
                <a:latin typeface="NotoSansCJKsc"/>
                <a:ea typeface="NotoSansCJKsc"/>
              </a:rPr>
              <a:t>客⼾消费⾏为聚类结果（</a:t>
            </a:r>
            <a:endParaRPr lang="en-US" sz="86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6" name="文本框 695"/>
          <p:cNvSpPr txBox="1"/>
          <p:nvPr/>
        </p:nvSpPr>
        <p:spPr>
          <a:xfrm>
            <a:off x="9595149" y="4700555"/>
            <a:ext cx="224420" cy="1323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60" b="0" u="none" strike="noStrike" dirty="0">
                <a:solidFill>
                  <a:srgbClr val="6B728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K= 6</a:t>
            </a:r>
            <a:endParaRPr lang="en-US" sz="86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7" name="文本框 696"/>
          <p:cNvSpPr txBox="1"/>
          <p:nvPr/>
        </p:nvSpPr>
        <p:spPr>
          <a:xfrm>
            <a:off x="9868029" y="4704056"/>
            <a:ext cx="558066" cy="1323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860" b="0" u="none" strike="noStrike" dirty="0">
                <a:solidFill>
                  <a:srgbClr val="6B7280"/>
                </a:solidFill>
                <a:effectLst/>
                <a:uFillTx/>
                <a:latin typeface="NotoSansCJKsc"/>
                <a:ea typeface="NotoSansCJKsc"/>
              </a:rPr>
              <a:t>）</a:t>
            </a:r>
            <a:endParaRPr lang="en-US" sz="86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4" name="任意多边形 703"/>
          <p:cNvSpPr/>
          <p:nvPr/>
        </p:nvSpPr>
        <p:spPr>
          <a:xfrm>
            <a:off x="6653748" y="4935648"/>
            <a:ext cx="228960" cy="164880"/>
          </a:xfrm>
          <a:custGeom>
            <a:avLst/>
            <a:gdLst/>
            <a:ahLst/>
            <a:cxnLst/>
            <a:rect l="0" t="0" r="r" b="b"/>
            <a:pathLst>
              <a:path w="636" h="458">
                <a:moveTo>
                  <a:pt x="636" y="230"/>
                </a:moveTo>
                <a:cubicBezTo>
                  <a:pt x="636" y="245"/>
                  <a:pt x="634" y="260"/>
                  <a:pt x="630" y="274"/>
                </a:cubicBezTo>
                <a:cubicBezTo>
                  <a:pt x="626" y="289"/>
                  <a:pt x="620" y="303"/>
                  <a:pt x="612" y="317"/>
                </a:cubicBezTo>
                <a:cubicBezTo>
                  <a:pt x="604" y="331"/>
                  <a:pt x="594" y="344"/>
                  <a:pt x="582" y="357"/>
                </a:cubicBezTo>
                <a:cubicBezTo>
                  <a:pt x="571" y="369"/>
                  <a:pt x="558" y="381"/>
                  <a:pt x="543" y="391"/>
                </a:cubicBezTo>
                <a:cubicBezTo>
                  <a:pt x="528" y="402"/>
                  <a:pt x="512" y="411"/>
                  <a:pt x="494" y="420"/>
                </a:cubicBezTo>
                <a:cubicBezTo>
                  <a:pt x="476" y="428"/>
                  <a:pt x="458" y="435"/>
                  <a:pt x="439" y="441"/>
                </a:cubicBezTo>
                <a:cubicBezTo>
                  <a:pt x="420" y="447"/>
                  <a:pt x="400" y="451"/>
                  <a:pt x="379" y="454"/>
                </a:cubicBezTo>
                <a:cubicBezTo>
                  <a:pt x="359" y="457"/>
                  <a:pt x="338" y="458"/>
                  <a:pt x="317" y="458"/>
                </a:cubicBezTo>
                <a:cubicBezTo>
                  <a:pt x="296" y="458"/>
                  <a:pt x="276" y="457"/>
                  <a:pt x="255" y="454"/>
                </a:cubicBezTo>
                <a:cubicBezTo>
                  <a:pt x="235" y="451"/>
                  <a:pt x="215" y="447"/>
                  <a:pt x="196" y="441"/>
                </a:cubicBezTo>
                <a:cubicBezTo>
                  <a:pt x="177" y="435"/>
                  <a:pt x="158" y="428"/>
                  <a:pt x="141" y="420"/>
                </a:cubicBezTo>
                <a:cubicBezTo>
                  <a:pt x="124" y="411"/>
                  <a:pt x="108" y="402"/>
                  <a:pt x="93" y="391"/>
                </a:cubicBezTo>
                <a:cubicBezTo>
                  <a:pt x="78" y="381"/>
                  <a:pt x="65" y="369"/>
                  <a:pt x="53" y="357"/>
                </a:cubicBezTo>
                <a:cubicBezTo>
                  <a:pt x="42" y="344"/>
                  <a:pt x="32" y="331"/>
                  <a:pt x="24" y="317"/>
                </a:cubicBezTo>
                <a:cubicBezTo>
                  <a:pt x="16" y="303"/>
                  <a:pt x="10" y="289"/>
                  <a:pt x="6" y="274"/>
                </a:cubicBezTo>
                <a:cubicBezTo>
                  <a:pt x="2" y="260"/>
                  <a:pt x="0" y="245"/>
                  <a:pt x="0" y="230"/>
                </a:cubicBezTo>
                <a:cubicBezTo>
                  <a:pt x="0" y="215"/>
                  <a:pt x="2" y="200"/>
                  <a:pt x="6" y="185"/>
                </a:cubicBezTo>
                <a:cubicBezTo>
                  <a:pt x="10" y="170"/>
                  <a:pt x="16" y="156"/>
                  <a:pt x="24" y="142"/>
                </a:cubicBezTo>
                <a:cubicBezTo>
                  <a:pt x="32" y="128"/>
                  <a:pt x="42" y="114"/>
                  <a:pt x="53" y="102"/>
                </a:cubicBezTo>
                <a:cubicBezTo>
                  <a:pt x="65" y="89"/>
                  <a:pt x="78" y="78"/>
                  <a:pt x="93" y="67"/>
                </a:cubicBezTo>
                <a:cubicBezTo>
                  <a:pt x="108" y="56"/>
                  <a:pt x="124" y="47"/>
                  <a:pt x="141" y="39"/>
                </a:cubicBezTo>
                <a:cubicBezTo>
                  <a:pt x="158" y="30"/>
                  <a:pt x="177" y="23"/>
                  <a:pt x="196" y="18"/>
                </a:cubicBezTo>
                <a:cubicBezTo>
                  <a:pt x="215" y="12"/>
                  <a:pt x="235" y="7"/>
                  <a:pt x="255" y="5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5"/>
                </a:cubicBezTo>
                <a:cubicBezTo>
                  <a:pt x="400" y="7"/>
                  <a:pt x="420" y="12"/>
                  <a:pt x="439" y="18"/>
                </a:cubicBezTo>
                <a:cubicBezTo>
                  <a:pt x="458" y="23"/>
                  <a:pt x="476" y="30"/>
                  <a:pt x="494" y="39"/>
                </a:cubicBezTo>
                <a:cubicBezTo>
                  <a:pt x="512" y="47"/>
                  <a:pt x="528" y="56"/>
                  <a:pt x="543" y="67"/>
                </a:cubicBezTo>
                <a:cubicBezTo>
                  <a:pt x="558" y="78"/>
                  <a:pt x="571" y="89"/>
                  <a:pt x="582" y="102"/>
                </a:cubicBezTo>
                <a:cubicBezTo>
                  <a:pt x="594" y="114"/>
                  <a:pt x="604" y="128"/>
                  <a:pt x="612" y="142"/>
                </a:cubicBezTo>
                <a:cubicBezTo>
                  <a:pt x="620" y="156"/>
                  <a:pt x="626" y="170"/>
                  <a:pt x="630" y="185"/>
                </a:cubicBezTo>
                <a:cubicBezTo>
                  <a:pt x="634" y="200"/>
                  <a:pt x="636" y="215"/>
                  <a:pt x="636" y="230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6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6" name="文本框 705"/>
          <p:cNvSpPr txBox="1"/>
          <p:nvPr/>
        </p:nvSpPr>
        <p:spPr>
          <a:xfrm>
            <a:off x="6709548" y="4937808"/>
            <a:ext cx="105798" cy="1692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8" name="文本框 707"/>
          <p:cNvSpPr txBox="1"/>
          <p:nvPr/>
        </p:nvSpPr>
        <p:spPr>
          <a:xfrm>
            <a:off x="6996828" y="4924128"/>
            <a:ext cx="3667671" cy="1692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业务解释：⾼价值客⼾、潜⼒客⼾、⼀般客⼾、低价值客⼾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964309-77BE-EF26-6FA3-2EB76CA6B2D0}"/>
              </a:ext>
            </a:extLst>
          </p:cNvPr>
          <p:cNvSpPr txBox="1"/>
          <p:nvPr/>
        </p:nvSpPr>
        <p:spPr>
          <a:xfrm>
            <a:off x="10911463" y="193362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5A556-D29C-07D7-0982-2C26528E4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任意多边形 615">
            <a:extLst>
              <a:ext uri="{FF2B5EF4-FFF2-40B4-BE49-F238E27FC236}">
                <a16:creationId xmlns:a16="http://schemas.microsoft.com/office/drawing/2014/main" id="{0A44CE14-806F-A7A5-3B7F-6B8A0C47BF19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617" name="任意多边形 616">
            <a:extLst>
              <a:ext uri="{FF2B5EF4-FFF2-40B4-BE49-F238E27FC236}">
                <a16:creationId xmlns:a16="http://schemas.microsoft.com/office/drawing/2014/main" id="{E0B5623C-F82E-A0A3-97C0-AD6C44643651}"/>
              </a:ext>
            </a:extLst>
          </p:cNvPr>
          <p:cNvSpPr/>
          <p:nvPr/>
        </p:nvSpPr>
        <p:spPr>
          <a:xfrm>
            <a:off x="152280" y="109440"/>
            <a:ext cx="11887560" cy="6748560"/>
          </a:xfrm>
          <a:custGeom>
            <a:avLst/>
            <a:gdLst/>
            <a:ahLst/>
            <a:cxnLst/>
            <a:rect l="0" t="0" r="r" b="b"/>
            <a:pathLst>
              <a:path w="33021" h="18746">
                <a:moveTo>
                  <a:pt x="0" y="0"/>
                </a:moveTo>
                <a:lnTo>
                  <a:pt x="33021" y="0"/>
                </a:lnTo>
                <a:lnTo>
                  <a:pt x="33021" y="18746"/>
                </a:lnTo>
                <a:lnTo>
                  <a:pt x="0" y="187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618" name="任意多边形 617">
            <a:extLst>
              <a:ext uri="{FF2B5EF4-FFF2-40B4-BE49-F238E27FC236}">
                <a16:creationId xmlns:a16="http://schemas.microsoft.com/office/drawing/2014/main" id="{C2A5548C-5660-4D3F-158A-F22A79874CAA}"/>
              </a:ext>
            </a:extLst>
          </p:cNvPr>
          <p:cNvSpPr/>
          <p:nvPr/>
        </p:nvSpPr>
        <p:spPr>
          <a:xfrm>
            <a:off x="152280" y="109440"/>
            <a:ext cx="11887560" cy="693000"/>
          </a:xfrm>
          <a:custGeom>
            <a:avLst/>
            <a:gdLst/>
            <a:ahLst/>
            <a:cxnLst/>
            <a:rect l="0" t="0" r="r" b="b"/>
            <a:pathLst>
              <a:path w="33021" h="1925">
                <a:moveTo>
                  <a:pt x="0" y="0"/>
                </a:moveTo>
                <a:lnTo>
                  <a:pt x="33021" y="0"/>
                </a:lnTo>
                <a:lnTo>
                  <a:pt x="33021" y="1925"/>
                </a:lnTo>
                <a:lnTo>
                  <a:pt x="0" y="1925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619" name="文本框 618">
            <a:extLst>
              <a:ext uri="{FF2B5EF4-FFF2-40B4-BE49-F238E27FC236}">
                <a16:creationId xmlns:a16="http://schemas.microsoft.com/office/drawing/2014/main" id="{D3A62B3D-32F3-B3A1-E6B5-CC8646487CFF}"/>
              </a:ext>
            </a:extLst>
          </p:cNvPr>
          <p:cNvSpPr txBox="1"/>
          <p:nvPr/>
        </p:nvSpPr>
        <p:spPr>
          <a:xfrm>
            <a:off x="609480" y="281520"/>
            <a:ext cx="1203480" cy="33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7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聚类算法：</a:t>
            </a:r>
            <a:endParaRPr kumimoji="0" lang="en-US" sz="227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620" name="文本框 619">
            <a:extLst>
              <a:ext uri="{FF2B5EF4-FFF2-40B4-BE49-F238E27FC236}">
                <a16:creationId xmlns:a16="http://schemas.microsoft.com/office/drawing/2014/main" id="{1391C60E-C07F-CEA9-8ACE-0B4349D6DB0D}"/>
              </a:ext>
            </a:extLst>
          </p:cNvPr>
          <p:cNvSpPr txBox="1"/>
          <p:nvPr/>
        </p:nvSpPr>
        <p:spPr>
          <a:xfrm>
            <a:off x="2092116" y="291960"/>
            <a:ext cx="149220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7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K-Means</a:t>
            </a:r>
            <a:endParaRPr kumimoji="0" lang="en-US" sz="22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621" name="任意多边形 620">
            <a:extLst>
              <a:ext uri="{FF2B5EF4-FFF2-40B4-BE49-F238E27FC236}">
                <a16:creationId xmlns:a16="http://schemas.microsoft.com/office/drawing/2014/main" id="{24423B04-1B41-B098-20CA-5824F5B1F770}"/>
              </a:ext>
            </a:extLst>
          </p:cNvPr>
          <p:cNvSpPr/>
          <p:nvPr/>
        </p:nvSpPr>
        <p:spPr>
          <a:xfrm>
            <a:off x="152280" y="802080"/>
            <a:ext cx="11887560" cy="5870880"/>
          </a:xfrm>
          <a:custGeom>
            <a:avLst/>
            <a:gdLst/>
            <a:ahLst/>
            <a:cxnLst/>
            <a:rect l="0" t="0" r="r" b="b"/>
            <a:pathLst>
              <a:path w="33021" h="16308">
                <a:moveTo>
                  <a:pt x="0" y="0"/>
                </a:moveTo>
                <a:lnTo>
                  <a:pt x="33021" y="0"/>
                </a:lnTo>
                <a:lnTo>
                  <a:pt x="33021" y="16308"/>
                </a:lnTo>
                <a:lnTo>
                  <a:pt x="0" y="1630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2412F66-4068-ADAF-1C70-E3FEB0C9F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106" y="1220598"/>
            <a:ext cx="9570969" cy="501892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0E366BD-2423-E3E4-743A-F70ED10BDD70}"/>
              </a:ext>
            </a:extLst>
          </p:cNvPr>
          <p:cNvSpPr txBox="1"/>
          <p:nvPr/>
        </p:nvSpPr>
        <p:spPr>
          <a:xfrm>
            <a:off x="10905272" y="17246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4015994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0053F-A8B5-4724-449B-338190571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任意多边形 615">
            <a:extLst>
              <a:ext uri="{FF2B5EF4-FFF2-40B4-BE49-F238E27FC236}">
                <a16:creationId xmlns:a16="http://schemas.microsoft.com/office/drawing/2014/main" id="{3CCD60DC-B9A9-57D3-55E9-3B87483F7237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7" name="任意多边形 616">
            <a:extLst>
              <a:ext uri="{FF2B5EF4-FFF2-40B4-BE49-F238E27FC236}">
                <a16:creationId xmlns:a16="http://schemas.microsoft.com/office/drawing/2014/main" id="{47B3FA50-65BA-3763-757D-6ACA1329387C}"/>
              </a:ext>
            </a:extLst>
          </p:cNvPr>
          <p:cNvSpPr/>
          <p:nvPr/>
        </p:nvSpPr>
        <p:spPr>
          <a:xfrm>
            <a:off x="152280" y="109440"/>
            <a:ext cx="11887560" cy="6748560"/>
          </a:xfrm>
          <a:custGeom>
            <a:avLst/>
            <a:gdLst/>
            <a:ahLst/>
            <a:cxnLst/>
            <a:rect l="0" t="0" r="r" b="b"/>
            <a:pathLst>
              <a:path w="33021" h="18746">
                <a:moveTo>
                  <a:pt x="0" y="0"/>
                </a:moveTo>
                <a:lnTo>
                  <a:pt x="33021" y="0"/>
                </a:lnTo>
                <a:lnTo>
                  <a:pt x="33021" y="18746"/>
                </a:lnTo>
                <a:lnTo>
                  <a:pt x="0" y="187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8" name="任意多边形 617">
            <a:extLst>
              <a:ext uri="{FF2B5EF4-FFF2-40B4-BE49-F238E27FC236}">
                <a16:creationId xmlns:a16="http://schemas.microsoft.com/office/drawing/2014/main" id="{A9802BC5-4B42-FC91-463D-965F801EDF66}"/>
              </a:ext>
            </a:extLst>
          </p:cNvPr>
          <p:cNvSpPr/>
          <p:nvPr/>
        </p:nvSpPr>
        <p:spPr>
          <a:xfrm>
            <a:off x="152280" y="109440"/>
            <a:ext cx="11887560" cy="693000"/>
          </a:xfrm>
          <a:custGeom>
            <a:avLst/>
            <a:gdLst/>
            <a:ahLst/>
            <a:cxnLst/>
            <a:rect l="0" t="0" r="r" b="b"/>
            <a:pathLst>
              <a:path w="33021" h="1925">
                <a:moveTo>
                  <a:pt x="0" y="0"/>
                </a:moveTo>
                <a:lnTo>
                  <a:pt x="33021" y="0"/>
                </a:lnTo>
                <a:lnTo>
                  <a:pt x="33021" y="1925"/>
                </a:lnTo>
                <a:lnTo>
                  <a:pt x="0" y="1925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9" name="文本框 618">
            <a:extLst>
              <a:ext uri="{FF2B5EF4-FFF2-40B4-BE49-F238E27FC236}">
                <a16:creationId xmlns:a16="http://schemas.microsoft.com/office/drawing/2014/main" id="{F841D372-8948-263E-07BA-15B653EEB58B}"/>
              </a:ext>
            </a:extLst>
          </p:cNvPr>
          <p:cNvSpPr txBox="1"/>
          <p:nvPr/>
        </p:nvSpPr>
        <p:spPr>
          <a:xfrm>
            <a:off x="609480" y="281520"/>
            <a:ext cx="1203480" cy="33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27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聚类算法：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0" name="文本框 619">
            <a:extLst>
              <a:ext uri="{FF2B5EF4-FFF2-40B4-BE49-F238E27FC236}">
                <a16:creationId xmlns:a16="http://schemas.microsoft.com/office/drawing/2014/main" id="{213C9E8F-A698-64E7-050B-BFAD2E797FB9}"/>
              </a:ext>
            </a:extLst>
          </p:cNvPr>
          <p:cNvSpPr txBox="1"/>
          <p:nvPr/>
        </p:nvSpPr>
        <p:spPr>
          <a:xfrm>
            <a:off x="2092116" y="291960"/>
            <a:ext cx="1166986" cy="349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270" b="0" u="none" strike="noStrike" dirty="0">
                <a:solidFill>
                  <a:schemeClr val="bg1"/>
                </a:solidFill>
                <a:effectLst/>
                <a:uFillTx/>
                <a:latin typeface="Times New Roman" panose="02020603050405020304"/>
              </a:rPr>
              <a:t>层次聚类</a:t>
            </a:r>
            <a:endParaRPr lang="en-US" sz="2270" b="0" u="none" strike="noStrike" dirty="0">
              <a:solidFill>
                <a:schemeClr val="bg1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1" name="任意多边形 620">
            <a:extLst>
              <a:ext uri="{FF2B5EF4-FFF2-40B4-BE49-F238E27FC236}">
                <a16:creationId xmlns:a16="http://schemas.microsoft.com/office/drawing/2014/main" id="{A89E5C99-03C5-62B8-14AF-C200AE5839B7}"/>
              </a:ext>
            </a:extLst>
          </p:cNvPr>
          <p:cNvSpPr/>
          <p:nvPr/>
        </p:nvSpPr>
        <p:spPr>
          <a:xfrm>
            <a:off x="152280" y="802080"/>
            <a:ext cx="11887560" cy="5870880"/>
          </a:xfrm>
          <a:custGeom>
            <a:avLst/>
            <a:gdLst/>
            <a:ahLst/>
            <a:cxnLst/>
            <a:rect l="0" t="0" r="r" b="b"/>
            <a:pathLst>
              <a:path w="33021" h="16308">
                <a:moveTo>
                  <a:pt x="0" y="0"/>
                </a:moveTo>
                <a:lnTo>
                  <a:pt x="33021" y="0"/>
                </a:lnTo>
                <a:lnTo>
                  <a:pt x="33021" y="16308"/>
                </a:lnTo>
                <a:lnTo>
                  <a:pt x="0" y="1630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6466710-E3E2-E5EF-273D-AF353E238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073" y="1068516"/>
            <a:ext cx="9152896" cy="472096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881B3C7-AB50-4327-FBBF-C0A48A35B3B8}"/>
              </a:ext>
            </a:extLst>
          </p:cNvPr>
          <p:cNvSpPr txBox="1"/>
          <p:nvPr/>
        </p:nvSpPr>
        <p:spPr>
          <a:xfrm>
            <a:off x="10905272" y="17246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454288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任意多边形 7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9" name="任意多边形 718"/>
          <p:cNvSpPr/>
          <p:nvPr/>
        </p:nvSpPr>
        <p:spPr>
          <a:xfrm>
            <a:off x="152280" y="105480"/>
            <a:ext cx="11887560" cy="6752520"/>
          </a:xfrm>
          <a:custGeom>
            <a:avLst/>
            <a:gdLst/>
            <a:ahLst/>
            <a:cxnLst/>
            <a:rect l="0" t="0" r="r" b="b"/>
            <a:pathLst>
              <a:path w="33021" h="18757">
                <a:moveTo>
                  <a:pt x="0" y="0"/>
                </a:moveTo>
                <a:lnTo>
                  <a:pt x="33021" y="0"/>
                </a:lnTo>
                <a:lnTo>
                  <a:pt x="33021" y="18757"/>
                </a:lnTo>
                <a:lnTo>
                  <a:pt x="0" y="187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0" name="任意多边形 719"/>
          <p:cNvSpPr/>
          <p:nvPr/>
        </p:nvSpPr>
        <p:spPr>
          <a:xfrm>
            <a:off x="152280" y="105480"/>
            <a:ext cx="11887560" cy="666360"/>
          </a:xfrm>
          <a:custGeom>
            <a:avLst/>
            <a:gdLst/>
            <a:ahLst/>
            <a:cxnLst/>
            <a:rect l="0" t="0" r="r" b="b"/>
            <a:pathLst>
              <a:path w="33021" h="1851">
                <a:moveTo>
                  <a:pt x="0" y="0"/>
                </a:moveTo>
                <a:lnTo>
                  <a:pt x="33021" y="0"/>
                </a:lnTo>
                <a:lnTo>
                  <a:pt x="33021" y="1851"/>
                </a:lnTo>
                <a:lnTo>
                  <a:pt x="0" y="1851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1" name="任意多边形 720"/>
          <p:cNvSpPr/>
          <p:nvPr/>
        </p:nvSpPr>
        <p:spPr>
          <a:xfrm>
            <a:off x="152280" y="771480"/>
            <a:ext cx="11887560" cy="5908680"/>
          </a:xfrm>
          <a:custGeom>
            <a:avLst/>
            <a:gdLst/>
            <a:ahLst/>
            <a:cxnLst/>
            <a:rect l="0" t="0" r="r" b="b"/>
            <a:pathLst>
              <a:path w="33021" h="16413">
                <a:moveTo>
                  <a:pt x="0" y="0"/>
                </a:moveTo>
                <a:lnTo>
                  <a:pt x="33021" y="0"/>
                </a:lnTo>
                <a:lnTo>
                  <a:pt x="33021" y="16413"/>
                </a:lnTo>
                <a:lnTo>
                  <a:pt x="0" y="164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6" name="文本框 725"/>
          <p:cNvSpPr txBox="1"/>
          <p:nvPr/>
        </p:nvSpPr>
        <p:spPr>
          <a:xfrm>
            <a:off x="609480" y="270360"/>
            <a:ext cx="3115800" cy="323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18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模型评估：分类任务核⼼指标</a:t>
            </a:r>
            <a:endParaRPr lang="en-US" sz="21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9" name="任意多边形 738"/>
          <p:cNvSpPr/>
          <p:nvPr/>
        </p:nvSpPr>
        <p:spPr>
          <a:xfrm>
            <a:off x="6172020" y="954239"/>
            <a:ext cx="5486760" cy="4833720"/>
          </a:xfrm>
          <a:custGeom>
            <a:avLst/>
            <a:gdLst/>
            <a:ahLst/>
            <a:cxnLst/>
            <a:rect l="0" t="0" r="r" b="b"/>
            <a:pathLst>
              <a:path w="15241" h="13427">
                <a:moveTo>
                  <a:pt x="0" y="13281"/>
                </a:moveTo>
                <a:lnTo>
                  <a:pt x="0" y="146"/>
                </a:lnTo>
                <a:cubicBezTo>
                  <a:pt x="0" y="137"/>
                  <a:pt x="1" y="127"/>
                  <a:pt x="4" y="118"/>
                </a:cubicBezTo>
                <a:cubicBezTo>
                  <a:pt x="7" y="108"/>
                  <a:pt x="11" y="99"/>
                  <a:pt x="16" y="90"/>
                </a:cubicBezTo>
                <a:cubicBezTo>
                  <a:pt x="21" y="81"/>
                  <a:pt x="28" y="73"/>
                  <a:pt x="36" y="65"/>
                </a:cubicBezTo>
                <a:cubicBezTo>
                  <a:pt x="43" y="57"/>
                  <a:pt x="52" y="50"/>
                  <a:pt x="62" y="43"/>
                </a:cubicBezTo>
                <a:cubicBezTo>
                  <a:pt x="72" y="36"/>
                  <a:pt x="82" y="30"/>
                  <a:pt x="94" y="24"/>
                </a:cubicBezTo>
                <a:cubicBezTo>
                  <a:pt x="105" y="19"/>
                  <a:pt x="118" y="15"/>
                  <a:pt x="130" y="11"/>
                </a:cubicBezTo>
                <a:cubicBezTo>
                  <a:pt x="143" y="7"/>
                  <a:pt x="157" y="4"/>
                  <a:pt x="170" y="3"/>
                </a:cubicBezTo>
                <a:cubicBezTo>
                  <a:pt x="184" y="1"/>
                  <a:pt x="198" y="0"/>
                  <a:pt x="211" y="0"/>
                </a:cubicBezTo>
                <a:lnTo>
                  <a:pt x="15029" y="0"/>
                </a:lnTo>
                <a:cubicBezTo>
                  <a:pt x="15043" y="0"/>
                  <a:pt x="15057" y="1"/>
                  <a:pt x="15070" y="3"/>
                </a:cubicBezTo>
                <a:cubicBezTo>
                  <a:pt x="15084" y="4"/>
                  <a:pt x="15097" y="7"/>
                  <a:pt x="15110" y="11"/>
                </a:cubicBezTo>
                <a:cubicBezTo>
                  <a:pt x="15123" y="15"/>
                  <a:pt x="15135" y="19"/>
                  <a:pt x="15147" y="24"/>
                </a:cubicBezTo>
                <a:cubicBezTo>
                  <a:pt x="15158" y="30"/>
                  <a:pt x="15169" y="36"/>
                  <a:pt x="15179" y="43"/>
                </a:cubicBezTo>
                <a:cubicBezTo>
                  <a:pt x="15189" y="50"/>
                  <a:pt x="15197" y="57"/>
                  <a:pt x="15205" y="65"/>
                </a:cubicBezTo>
                <a:cubicBezTo>
                  <a:pt x="15213" y="73"/>
                  <a:pt x="15219" y="81"/>
                  <a:pt x="15225" y="90"/>
                </a:cubicBezTo>
                <a:cubicBezTo>
                  <a:pt x="15230" y="99"/>
                  <a:pt x="15234" y="108"/>
                  <a:pt x="15237" y="118"/>
                </a:cubicBezTo>
                <a:cubicBezTo>
                  <a:pt x="15239" y="127"/>
                  <a:pt x="15241" y="137"/>
                  <a:pt x="15241" y="146"/>
                </a:cubicBezTo>
                <a:lnTo>
                  <a:pt x="15241" y="13281"/>
                </a:lnTo>
                <a:cubicBezTo>
                  <a:pt x="15241" y="13290"/>
                  <a:pt x="15239" y="13300"/>
                  <a:pt x="15237" y="13309"/>
                </a:cubicBezTo>
                <a:cubicBezTo>
                  <a:pt x="15234" y="13319"/>
                  <a:pt x="15230" y="13328"/>
                  <a:pt x="15225" y="13337"/>
                </a:cubicBezTo>
                <a:cubicBezTo>
                  <a:pt x="15219" y="13346"/>
                  <a:pt x="15213" y="13354"/>
                  <a:pt x="15205" y="13362"/>
                </a:cubicBezTo>
                <a:cubicBezTo>
                  <a:pt x="15197" y="13370"/>
                  <a:pt x="15189" y="13378"/>
                  <a:pt x="15179" y="13384"/>
                </a:cubicBezTo>
                <a:cubicBezTo>
                  <a:pt x="15169" y="13391"/>
                  <a:pt x="15158" y="13397"/>
                  <a:pt x="15147" y="13403"/>
                </a:cubicBezTo>
                <a:cubicBezTo>
                  <a:pt x="15135" y="13408"/>
                  <a:pt x="15123" y="13413"/>
                  <a:pt x="15110" y="13416"/>
                </a:cubicBezTo>
                <a:cubicBezTo>
                  <a:pt x="15097" y="13420"/>
                  <a:pt x="15084" y="13423"/>
                  <a:pt x="15070" y="13425"/>
                </a:cubicBezTo>
                <a:cubicBezTo>
                  <a:pt x="15057" y="13426"/>
                  <a:pt x="15043" y="13427"/>
                  <a:pt x="15029" y="13427"/>
                </a:cubicBezTo>
                <a:lnTo>
                  <a:pt x="211" y="13427"/>
                </a:lnTo>
                <a:cubicBezTo>
                  <a:pt x="198" y="13427"/>
                  <a:pt x="184" y="13426"/>
                  <a:pt x="170" y="13425"/>
                </a:cubicBezTo>
                <a:cubicBezTo>
                  <a:pt x="157" y="13423"/>
                  <a:pt x="143" y="13420"/>
                  <a:pt x="130" y="13416"/>
                </a:cubicBezTo>
                <a:cubicBezTo>
                  <a:pt x="118" y="13413"/>
                  <a:pt x="105" y="13408"/>
                  <a:pt x="94" y="13403"/>
                </a:cubicBezTo>
                <a:cubicBezTo>
                  <a:pt x="82" y="13397"/>
                  <a:pt x="72" y="13391"/>
                  <a:pt x="62" y="13384"/>
                </a:cubicBezTo>
                <a:cubicBezTo>
                  <a:pt x="52" y="13378"/>
                  <a:pt x="43" y="13370"/>
                  <a:pt x="36" y="13362"/>
                </a:cubicBezTo>
                <a:cubicBezTo>
                  <a:pt x="28" y="13354"/>
                  <a:pt x="21" y="13346"/>
                  <a:pt x="16" y="13337"/>
                </a:cubicBezTo>
                <a:cubicBezTo>
                  <a:pt x="11" y="13328"/>
                  <a:pt x="7" y="13319"/>
                  <a:pt x="4" y="13309"/>
                </a:cubicBezTo>
                <a:cubicBezTo>
                  <a:pt x="1" y="13300"/>
                  <a:pt x="0" y="13290"/>
                  <a:pt x="0" y="13281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0" name="任意多边形 739"/>
          <p:cNvSpPr/>
          <p:nvPr/>
        </p:nvSpPr>
        <p:spPr>
          <a:xfrm>
            <a:off x="6257880" y="4253040"/>
            <a:ext cx="1152720" cy="290520"/>
          </a:xfrm>
          <a:custGeom>
            <a:avLst/>
            <a:gdLst/>
            <a:ahLst/>
            <a:cxnLst/>
            <a:rect l="0" t="0" r="r" b="b"/>
            <a:pathLst>
              <a:path w="3202" h="807">
                <a:moveTo>
                  <a:pt x="0" y="0"/>
                </a:moveTo>
                <a:lnTo>
                  <a:pt x="3202" y="0"/>
                </a:lnTo>
                <a:lnTo>
                  <a:pt x="3202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1" name="任意多边形 740"/>
          <p:cNvSpPr/>
          <p:nvPr/>
        </p:nvSpPr>
        <p:spPr>
          <a:xfrm>
            <a:off x="7410240" y="4253040"/>
            <a:ext cx="3172320" cy="290520"/>
          </a:xfrm>
          <a:custGeom>
            <a:avLst/>
            <a:gdLst/>
            <a:ahLst/>
            <a:cxnLst/>
            <a:rect l="0" t="0" r="r" b="b"/>
            <a:pathLst>
              <a:path w="8812" h="807">
                <a:moveTo>
                  <a:pt x="0" y="0"/>
                </a:moveTo>
                <a:lnTo>
                  <a:pt x="8812" y="0"/>
                </a:lnTo>
                <a:lnTo>
                  <a:pt x="8812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2" name="任意多边形 741"/>
          <p:cNvSpPr/>
          <p:nvPr/>
        </p:nvSpPr>
        <p:spPr>
          <a:xfrm>
            <a:off x="10582200" y="4253040"/>
            <a:ext cx="847800" cy="290520"/>
          </a:xfrm>
          <a:custGeom>
            <a:avLst/>
            <a:gdLst/>
            <a:ahLst/>
            <a:cxnLst/>
            <a:rect l="0" t="0" r="r" b="b"/>
            <a:pathLst>
              <a:path w="2355" h="807">
                <a:moveTo>
                  <a:pt x="0" y="0"/>
                </a:moveTo>
                <a:lnTo>
                  <a:pt x="2355" y="0"/>
                </a:lnTo>
                <a:lnTo>
                  <a:pt x="2355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3" name="任意多边形 742"/>
          <p:cNvSpPr/>
          <p:nvPr/>
        </p:nvSpPr>
        <p:spPr>
          <a:xfrm>
            <a:off x="6257880" y="4833360"/>
            <a:ext cx="1152720" cy="290520"/>
          </a:xfrm>
          <a:custGeom>
            <a:avLst/>
            <a:gdLst/>
            <a:ahLst/>
            <a:cxnLst/>
            <a:rect l="0" t="0" r="r" b="b"/>
            <a:pathLst>
              <a:path w="3202" h="807">
                <a:moveTo>
                  <a:pt x="0" y="0"/>
                </a:moveTo>
                <a:lnTo>
                  <a:pt x="3202" y="0"/>
                </a:lnTo>
                <a:lnTo>
                  <a:pt x="3202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4" name="任意多边形 743"/>
          <p:cNvSpPr/>
          <p:nvPr/>
        </p:nvSpPr>
        <p:spPr>
          <a:xfrm>
            <a:off x="7410240" y="4833360"/>
            <a:ext cx="3172320" cy="290520"/>
          </a:xfrm>
          <a:custGeom>
            <a:avLst/>
            <a:gdLst/>
            <a:ahLst/>
            <a:cxnLst/>
            <a:rect l="0" t="0" r="r" b="b"/>
            <a:pathLst>
              <a:path w="8812" h="807">
                <a:moveTo>
                  <a:pt x="0" y="0"/>
                </a:moveTo>
                <a:lnTo>
                  <a:pt x="8812" y="0"/>
                </a:lnTo>
                <a:lnTo>
                  <a:pt x="8812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5" name="任意多边形 744"/>
          <p:cNvSpPr/>
          <p:nvPr/>
        </p:nvSpPr>
        <p:spPr>
          <a:xfrm>
            <a:off x="10582200" y="4833360"/>
            <a:ext cx="847800" cy="290520"/>
          </a:xfrm>
          <a:custGeom>
            <a:avLst/>
            <a:gdLst/>
            <a:ahLst/>
            <a:cxnLst/>
            <a:rect l="0" t="0" r="r" b="b"/>
            <a:pathLst>
              <a:path w="2355" h="807">
                <a:moveTo>
                  <a:pt x="0" y="0"/>
                </a:moveTo>
                <a:lnTo>
                  <a:pt x="2355" y="0"/>
                </a:lnTo>
                <a:lnTo>
                  <a:pt x="2355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6" name="任意多边形 745"/>
          <p:cNvSpPr/>
          <p:nvPr/>
        </p:nvSpPr>
        <p:spPr>
          <a:xfrm>
            <a:off x="6257880" y="5413680"/>
            <a:ext cx="1152720" cy="290520"/>
          </a:xfrm>
          <a:custGeom>
            <a:avLst/>
            <a:gdLst/>
            <a:ahLst/>
            <a:cxnLst/>
            <a:rect l="0" t="0" r="r" b="b"/>
            <a:pathLst>
              <a:path w="3202" h="807">
                <a:moveTo>
                  <a:pt x="0" y="0"/>
                </a:moveTo>
                <a:lnTo>
                  <a:pt x="3202" y="0"/>
                </a:lnTo>
                <a:lnTo>
                  <a:pt x="3202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7" name="任意多边形 746"/>
          <p:cNvSpPr/>
          <p:nvPr/>
        </p:nvSpPr>
        <p:spPr>
          <a:xfrm>
            <a:off x="7410240" y="5413680"/>
            <a:ext cx="3172320" cy="290520"/>
          </a:xfrm>
          <a:custGeom>
            <a:avLst/>
            <a:gdLst/>
            <a:ahLst/>
            <a:cxnLst/>
            <a:rect l="0" t="0" r="r" b="b"/>
            <a:pathLst>
              <a:path w="8812" h="807">
                <a:moveTo>
                  <a:pt x="0" y="0"/>
                </a:moveTo>
                <a:lnTo>
                  <a:pt x="8812" y="0"/>
                </a:lnTo>
                <a:lnTo>
                  <a:pt x="8812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8" name="任意多边形 747"/>
          <p:cNvSpPr/>
          <p:nvPr/>
        </p:nvSpPr>
        <p:spPr>
          <a:xfrm>
            <a:off x="10582200" y="5413680"/>
            <a:ext cx="847800" cy="290520"/>
          </a:xfrm>
          <a:custGeom>
            <a:avLst/>
            <a:gdLst/>
            <a:ahLst/>
            <a:cxnLst/>
            <a:rect l="0" t="0" r="r" b="b"/>
            <a:pathLst>
              <a:path w="2355" h="807">
                <a:moveTo>
                  <a:pt x="0" y="0"/>
                </a:moveTo>
                <a:lnTo>
                  <a:pt x="2355" y="0"/>
                </a:lnTo>
                <a:lnTo>
                  <a:pt x="2355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9" name="任意多边形 748"/>
          <p:cNvSpPr/>
          <p:nvPr/>
        </p:nvSpPr>
        <p:spPr>
          <a:xfrm>
            <a:off x="6248160" y="4253040"/>
            <a:ext cx="10080" cy="297000"/>
          </a:xfrm>
          <a:custGeom>
            <a:avLst/>
            <a:gdLst/>
            <a:ahLst/>
            <a:cxnLst/>
            <a:rect l="0" t="0" r="r" b="b"/>
            <a:pathLst>
              <a:path w="28" h="825">
                <a:moveTo>
                  <a:pt x="0" y="0"/>
                </a:moveTo>
                <a:lnTo>
                  <a:pt x="28" y="0"/>
                </a:lnTo>
                <a:lnTo>
                  <a:pt x="28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0" name="任意多边形 749"/>
          <p:cNvSpPr/>
          <p:nvPr/>
        </p:nvSpPr>
        <p:spPr>
          <a:xfrm>
            <a:off x="6248160" y="4253040"/>
            <a:ext cx="1172160" cy="6840"/>
          </a:xfrm>
          <a:custGeom>
            <a:avLst/>
            <a:gdLst/>
            <a:ahLst/>
            <a:cxnLst/>
            <a:rect l="0" t="0" r="r" b="b"/>
            <a:pathLst>
              <a:path w="3256" h="19">
                <a:moveTo>
                  <a:pt x="0" y="0"/>
                </a:moveTo>
                <a:lnTo>
                  <a:pt x="3256" y="0"/>
                </a:lnTo>
                <a:lnTo>
                  <a:pt x="325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1" name="任意多边形 750"/>
          <p:cNvSpPr/>
          <p:nvPr/>
        </p:nvSpPr>
        <p:spPr>
          <a:xfrm>
            <a:off x="7410240" y="4253040"/>
            <a:ext cx="10080" cy="297000"/>
          </a:xfrm>
          <a:custGeom>
            <a:avLst/>
            <a:gdLst/>
            <a:ahLst/>
            <a:cxnLst/>
            <a:rect l="0" t="0" r="r" b="b"/>
            <a:pathLst>
              <a:path w="28" h="825">
                <a:moveTo>
                  <a:pt x="0" y="0"/>
                </a:moveTo>
                <a:lnTo>
                  <a:pt x="28" y="0"/>
                </a:lnTo>
                <a:lnTo>
                  <a:pt x="28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2" name="任意多边形 751"/>
          <p:cNvSpPr/>
          <p:nvPr/>
        </p:nvSpPr>
        <p:spPr>
          <a:xfrm>
            <a:off x="7419960" y="4253040"/>
            <a:ext cx="3171960" cy="6840"/>
          </a:xfrm>
          <a:custGeom>
            <a:avLst/>
            <a:gdLst/>
            <a:ahLst/>
            <a:cxnLst/>
            <a:rect l="0" t="0" r="r" b="b"/>
            <a:pathLst>
              <a:path w="8811" h="19">
                <a:moveTo>
                  <a:pt x="0" y="0"/>
                </a:moveTo>
                <a:lnTo>
                  <a:pt x="8811" y="0"/>
                </a:lnTo>
                <a:lnTo>
                  <a:pt x="8811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3" name="任意多边形 752"/>
          <p:cNvSpPr/>
          <p:nvPr/>
        </p:nvSpPr>
        <p:spPr>
          <a:xfrm>
            <a:off x="10582200" y="4253040"/>
            <a:ext cx="9720" cy="297000"/>
          </a:xfrm>
          <a:custGeom>
            <a:avLst/>
            <a:gdLst/>
            <a:ahLst/>
            <a:cxnLst/>
            <a:rect l="0" t="0" r="r" b="b"/>
            <a:pathLst>
              <a:path w="27" h="825">
                <a:moveTo>
                  <a:pt x="0" y="0"/>
                </a:moveTo>
                <a:lnTo>
                  <a:pt x="27" y="0"/>
                </a:lnTo>
                <a:lnTo>
                  <a:pt x="27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4" name="任意多边形 753"/>
          <p:cNvSpPr/>
          <p:nvPr/>
        </p:nvSpPr>
        <p:spPr>
          <a:xfrm>
            <a:off x="10591560" y="4253040"/>
            <a:ext cx="838440" cy="6840"/>
          </a:xfrm>
          <a:custGeom>
            <a:avLst/>
            <a:gdLst/>
            <a:ahLst/>
            <a:cxnLst/>
            <a:rect l="0" t="0" r="r" b="b"/>
            <a:pathLst>
              <a:path w="2329" h="19">
                <a:moveTo>
                  <a:pt x="0" y="0"/>
                </a:moveTo>
                <a:lnTo>
                  <a:pt x="2329" y="0"/>
                </a:lnTo>
                <a:lnTo>
                  <a:pt x="2329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5" name="任意多边形 754"/>
          <p:cNvSpPr/>
          <p:nvPr/>
        </p:nvSpPr>
        <p:spPr>
          <a:xfrm>
            <a:off x="11420280" y="4253040"/>
            <a:ext cx="9720" cy="297000"/>
          </a:xfrm>
          <a:custGeom>
            <a:avLst/>
            <a:gdLst/>
            <a:ahLst/>
            <a:cxnLst/>
            <a:rect l="0" t="0" r="r" b="b"/>
            <a:pathLst>
              <a:path w="27" h="825">
                <a:moveTo>
                  <a:pt x="0" y="0"/>
                </a:moveTo>
                <a:lnTo>
                  <a:pt x="27" y="0"/>
                </a:lnTo>
                <a:lnTo>
                  <a:pt x="27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6" name="任意多边形 755"/>
          <p:cNvSpPr/>
          <p:nvPr/>
        </p:nvSpPr>
        <p:spPr>
          <a:xfrm>
            <a:off x="6248160" y="4543200"/>
            <a:ext cx="1172160" cy="6840"/>
          </a:xfrm>
          <a:custGeom>
            <a:avLst/>
            <a:gdLst/>
            <a:ahLst/>
            <a:cxnLst/>
            <a:rect l="0" t="0" r="r" b="b"/>
            <a:pathLst>
              <a:path w="3256" h="19">
                <a:moveTo>
                  <a:pt x="0" y="0"/>
                </a:moveTo>
                <a:lnTo>
                  <a:pt x="3256" y="0"/>
                </a:lnTo>
                <a:lnTo>
                  <a:pt x="325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7" name="任意多边形 756"/>
          <p:cNvSpPr/>
          <p:nvPr/>
        </p:nvSpPr>
        <p:spPr>
          <a:xfrm>
            <a:off x="7419960" y="4543200"/>
            <a:ext cx="3171960" cy="6840"/>
          </a:xfrm>
          <a:custGeom>
            <a:avLst/>
            <a:gdLst/>
            <a:ahLst/>
            <a:cxnLst/>
            <a:rect l="0" t="0" r="r" b="b"/>
            <a:pathLst>
              <a:path w="8811" h="19">
                <a:moveTo>
                  <a:pt x="0" y="0"/>
                </a:moveTo>
                <a:lnTo>
                  <a:pt x="8811" y="0"/>
                </a:lnTo>
                <a:lnTo>
                  <a:pt x="8811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8" name="任意多边形 757"/>
          <p:cNvSpPr/>
          <p:nvPr/>
        </p:nvSpPr>
        <p:spPr>
          <a:xfrm>
            <a:off x="10591560" y="4543200"/>
            <a:ext cx="838440" cy="6840"/>
          </a:xfrm>
          <a:custGeom>
            <a:avLst/>
            <a:gdLst/>
            <a:ahLst/>
            <a:cxnLst/>
            <a:rect l="0" t="0" r="r" b="b"/>
            <a:pathLst>
              <a:path w="2329" h="19">
                <a:moveTo>
                  <a:pt x="0" y="0"/>
                </a:moveTo>
                <a:lnTo>
                  <a:pt x="2329" y="0"/>
                </a:lnTo>
                <a:lnTo>
                  <a:pt x="2329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9" name="任意多边形 758"/>
          <p:cNvSpPr/>
          <p:nvPr/>
        </p:nvSpPr>
        <p:spPr>
          <a:xfrm>
            <a:off x="6248160" y="4549680"/>
            <a:ext cx="10080" cy="290520"/>
          </a:xfrm>
          <a:custGeom>
            <a:avLst/>
            <a:gdLst/>
            <a:ahLst/>
            <a:cxnLst/>
            <a:rect l="0" t="0" r="r" b="b"/>
            <a:pathLst>
              <a:path w="28" h="807">
                <a:moveTo>
                  <a:pt x="0" y="0"/>
                </a:moveTo>
                <a:lnTo>
                  <a:pt x="28" y="0"/>
                </a:lnTo>
                <a:lnTo>
                  <a:pt x="28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0" name="任意多边形 759"/>
          <p:cNvSpPr/>
          <p:nvPr/>
        </p:nvSpPr>
        <p:spPr>
          <a:xfrm>
            <a:off x="7410240" y="4549680"/>
            <a:ext cx="10080" cy="290520"/>
          </a:xfrm>
          <a:custGeom>
            <a:avLst/>
            <a:gdLst/>
            <a:ahLst/>
            <a:cxnLst/>
            <a:rect l="0" t="0" r="r" b="b"/>
            <a:pathLst>
              <a:path w="28" h="807">
                <a:moveTo>
                  <a:pt x="0" y="0"/>
                </a:moveTo>
                <a:lnTo>
                  <a:pt x="28" y="0"/>
                </a:lnTo>
                <a:lnTo>
                  <a:pt x="28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1" name="任意多边形 760"/>
          <p:cNvSpPr/>
          <p:nvPr/>
        </p:nvSpPr>
        <p:spPr>
          <a:xfrm>
            <a:off x="10582200" y="4549680"/>
            <a:ext cx="9720" cy="290520"/>
          </a:xfrm>
          <a:custGeom>
            <a:avLst/>
            <a:gdLst/>
            <a:ahLst/>
            <a:cxnLst/>
            <a:rect l="0" t="0" r="r" b="b"/>
            <a:pathLst>
              <a:path w="27" h="807">
                <a:moveTo>
                  <a:pt x="0" y="0"/>
                </a:moveTo>
                <a:lnTo>
                  <a:pt x="27" y="0"/>
                </a:lnTo>
                <a:lnTo>
                  <a:pt x="27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2" name="任意多边形 761"/>
          <p:cNvSpPr/>
          <p:nvPr/>
        </p:nvSpPr>
        <p:spPr>
          <a:xfrm>
            <a:off x="11420280" y="4549680"/>
            <a:ext cx="9720" cy="290520"/>
          </a:xfrm>
          <a:custGeom>
            <a:avLst/>
            <a:gdLst/>
            <a:ahLst/>
            <a:cxnLst/>
            <a:rect l="0" t="0" r="r" b="b"/>
            <a:pathLst>
              <a:path w="27" h="807">
                <a:moveTo>
                  <a:pt x="0" y="0"/>
                </a:moveTo>
                <a:lnTo>
                  <a:pt x="27" y="0"/>
                </a:lnTo>
                <a:lnTo>
                  <a:pt x="27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3" name="任意多边形 762"/>
          <p:cNvSpPr/>
          <p:nvPr/>
        </p:nvSpPr>
        <p:spPr>
          <a:xfrm>
            <a:off x="6248160" y="4839840"/>
            <a:ext cx="10080" cy="290520"/>
          </a:xfrm>
          <a:custGeom>
            <a:avLst/>
            <a:gdLst/>
            <a:ahLst/>
            <a:cxnLst/>
            <a:rect l="0" t="0" r="r" b="b"/>
            <a:pathLst>
              <a:path w="28" h="807">
                <a:moveTo>
                  <a:pt x="0" y="0"/>
                </a:moveTo>
                <a:lnTo>
                  <a:pt x="28" y="0"/>
                </a:lnTo>
                <a:lnTo>
                  <a:pt x="28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4" name="任意多边形 763"/>
          <p:cNvSpPr/>
          <p:nvPr/>
        </p:nvSpPr>
        <p:spPr>
          <a:xfrm>
            <a:off x="6248160" y="4833360"/>
            <a:ext cx="1172160" cy="6840"/>
          </a:xfrm>
          <a:custGeom>
            <a:avLst/>
            <a:gdLst/>
            <a:ahLst/>
            <a:cxnLst/>
            <a:rect l="0" t="0" r="r" b="b"/>
            <a:pathLst>
              <a:path w="3256" h="19">
                <a:moveTo>
                  <a:pt x="0" y="0"/>
                </a:moveTo>
                <a:lnTo>
                  <a:pt x="3256" y="0"/>
                </a:lnTo>
                <a:lnTo>
                  <a:pt x="325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5" name="任意多边形 764"/>
          <p:cNvSpPr/>
          <p:nvPr/>
        </p:nvSpPr>
        <p:spPr>
          <a:xfrm>
            <a:off x="7410240" y="4839840"/>
            <a:ext cx="10080" cy="290520"/>
          </a:xfrm>
          <a:custGeom>
            <a:avLst/>
            <a:gdLst/>
            <a:ahLst/>
            <a:cxnLst/>
            <a:rect l="0" t="0" r="r" b="b"/>
            <a:pathLst>
              <a:path w="28" h="807">
                <a:moveTo>
                  <a:pt x="0" y="0"/>
                </a:moveTo>
                <a:lnTo>
                  <a:pt x="28" y="0"/>
                </a:lnTo>
                <a:lnTo>
                  <a:pt x="28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6" name="任意多边形 765"/>
          <p:cNvSpPr/>
          <p:nvPr/>
        </p:nvSpPr>
        <p:spPr>
          <a:xfrm>
            <a:off x="7419960" y="4833360"/>
            <a:ext cx="3171960" cy="6840"/>
          </a:xfrm>
          <a:custGeom>
            <a:avLst/>
            <a:gdLst/>
            <a:ahLst/>
            <a:cxnLst/>
            <a:rect l="0" t="0" r="r" b="b"/>
            <a:pathLst>
              <a:path w="8811" h="19">
                <a:moveTo>
                  <a:pt x="0" y="0"/>
                </a:moveTo>
                <a:lnTo>
                  <a:pt x="8811" y="0"/>
                </a:lnTo>
                <a:lnTo>
                  <a:pt x="8811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7" name="任意多边形 766"/>
          <p:cNvSpPr/>
          <p:nvPr/>
        </p:nvSpPr>
        <p:spPr>
          <a:xfrm>
            <a:off x="10582200" y="4839840"/>
            <a:ext cx="9720" cy="290520"/>
          </a:xfrm>
          <a:custGeom>
            <a:avLst/>
            <a:gdLst/>
            <a:ahLst/>
            <a:cxnLst/>
            <a:rect l="0" t="0" r="r" b="b"/>
            <a:pathLst>
              <a:path w="27" h="807">
                <a:moveTo>
                  <a:pt x="0" y="0"/>
                </a:moveTo>
                <a:lnTo>
                  <a:pt x="27" y="0"/>
                </a:lnTo>
                <a:lnTo>
                  <a:pt x="27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8" name="任意多边形 767"/>
          <p:cNvSpPr/>
          <p:nvPr/>
        </p:nvSpPr>
        <p:spPr>
          <a:xfrm>
            <a:off x="10591560" y="4833360"/>
            <a:ext cx="838440" cy="6840"/>
          </a:xfrm>
          <a:custGeom>
            <a:avLst/>
            <a:gdLst/>
            <a:ahLst/>
            <a:cxnLst/>
            <a:rect l="0" t="0" r="r" b="b"/>
            <a:pathLst>
              <a:path w="2329" h="19">
                <a:moveTo>
                  <a:pt x="0" y="0"/>
                </a:moveTo>
                <a:lnTo>
                  <a:pt x="2329" y="0"/>
                </a:lnTo>
                <a:lnTo>
                  <a:pt x="2329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9" name="任意多边形 768"/>
          <p:cNvSpPr/>
          <p:nvPr/>
        </p:nvSpPr>
        <p:spPr>
          <a:xfrm>
            <a:off x="11420280" y="4839840"/>
            <a:ext cx="9720" cy="290520"/>
          </a:xfrm>
          <a:custGeom>
            <a:avLst/>
            <a:gdLst/>
            <a:ahLst/>
            <a:cxnLst/>
            <a:rect l="0" t="0" r="r" b="b"/>
            <a:pathLst>
              <a:path w="27" h="807">
                <a:moveTo>
                  <a:pt x="0" y="0"/>
                </a:moveTo>
                <a:lnTo>
                  <a:pt x="27" y="0"/>
                </a:lnTo>
                <a:lnTo>
                  <a:pt x="27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0" name="任意多边形 769"/>
          <p:cNvSpPr/>
          <p:nvPr/>
        </p:nvSpPr>
        <p:spPr>
          <a:xfrm>
            <a:off x="6248160" y="5130000"/>
            <a:ext cx="10080" cy="290520"/>
          </a:xfrm>
          <a:custGeom>
            <a:avLst/>
            <a:gdLst/>
            <a:ahLst/>
            <a:cxnLst/>
            <a:rect l="0" t="0" r="r" b="b"/>
            <a:pathLst>
              <a:path w="28" h="807">
                <a:moveTo>
                  <a:pt x="0" y="0"/>
                </a:moveTo>
                <a:lnTo>
                  <a:pt x="28" y="0"/>
                </a:lnTo>
                <a:lnTo>
                  <a:pt x="28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1" name="任意多边形 770"/>
          <p:cNvSpPr/>
          <p:nvPr/>
        </p:nvSpPr>
        <p:spPr>
          <a:xfrm>
            <a:off x="6248160" y="5123520"/>
            <a:ext cx="1172160" cy="6840"/>
          </a:xfrm>
          <a:custGeom>
            <a:avLst/>
            <a:gdLst/>
            <a:ahLst/>
            <a:cxnLst/>
            <a:rect l="0" t="0" r="r" b="b"/>
            <a:pathLst>
              <a:path w="3256" h="19">
                <a:moveTo>
                  <a:pt x="0" y="0"/>
                </a:moveTo>
                <a:lnTo>
                  <a:pt x="3256" y="0"/>
                </a:lnTo>
                <a:lnTo>
                  <a:pt x="325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2" name="任意多边形 771"/>
          <p:cNvSpPr/>
          <p:nvPr/>
        </p:nvSpPr>
        <p:spPr>
          <a:xfrm>
            <a:off x="7410240" y="5130000"/>
            <a:ext cx="10080" cy="290520"/>
          </a:xfrm>
          <a:custGeom>
            <a:avLst/>
            <a:gdLst/>
            <a:ahLst/>
            <a:cxnLst/>
            <a:rect l="0" t="0" r="r" b="b"/>
            <a:pathLst>
              <a:path w="28" h="807">
                <a:moveTo>
                  <a:pt x="0" y="0"/>
                </a:moveTo>
                <a:lnTo>
                  <a:pt x="28" y="0"/>
                </a:lnTo>
                <a:lnTo>
                  <a:pt x="28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3" name="任意多边形 772"/>
          <p:cNvSpPr/>
          <p:nvPr/>
        </p:nvSpPr>
        <p:spPr>
          <a:xfrm>
            <a:off x="7419960" y="5123520"/>
            <a:ext cx="3171960" cy="6840"/>
          </a:xfrm>
          <a:custGeom>
            <a:avLst/>
            <a:gdLst/>
            <a:ahLst/>
            <a:cxnLst/>
            <a:rect l="0" t="0" r="r" b="b"/>
            <a:pathLst>
              <a:path w="8811" h="19">
                <a:moveTo>
                  <a:pt x="0" y="0"/>
                </a:moveTo>
                <a:lnTo>
                  <a:pt x="8811" y="0"/>
                </a:lnTo>
                <a:lnTo>
                  <a:pt x="8811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4" name="任意多边形 773"/>
          <p:cNvSpPr/>
          <p:nvPr/>
        </p:nvSpPr>
        <p:spPr>
          <a:xfrm>
            <a:off x="10582200" y="5130000"/>
            <a:ext cx="9720" cy="290520"/>
          </a:xfrm>
          <a:custGeom>
            <a:avLst/>
            <a:gdLst/>
            <a:ahLst/>
            <a:cxnLst/>
            <a:rect l="0" t="0" r="r" b="b"/>
            <a:pathLst>
              <a:path w="27" h="807">
                <a:moveTo>
                  <a:pt x="0" y="0"/>
                </a:moveTo>
                <a:lnTo>
                  <a:pt x="27" y="0"/>
                </a:lnTo>
                <a:lnTo>
                  <a:pt x="27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5" name="任意多边形 774"/>
          <p:cNvSpPr/>
          <p:nvPr/>
        </p:nvSpPr>
        <p:spPr>
          <a:xfrm>
            <a:off x="10591560" y="5123520"/>
            <a:ext cx="838440" cy="6840"/>
          </a:xfrm>
          <a:custGeom>
            <a:avLst/>
            <a:gdLst/>
            <a:ahLst/>
            <a:cxnLst/>
            <a:rect l="0" t="0" r="r" b="b"/>
            <a:pathLst>
              <a:path w="2329" h="19">
                <a:moveTo>
                  <a:pt x="0" y="0"/>
                </a:moveTo>
                <a:lnTo>
                  <a:pt x="2329" y="0"/>
                </a:lnTo>
                <a:lnTo>
                  <a:pt x="2329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6" name="任意多边形 775"/>
          <p:cNvSpPr/>
          <p:nvPr/>
        </p:nvSpPr>
        <p:spPr>
          <a:xfrm>
            <a:off x="11420280" y="5130000"/>
            <a:ext cx="9720" cy="290520"/>
          </a:xfrm>
          <a:custGeom>
            <a:avLst/>
            <a:gdLst/>
            <a:ahLst/>
            <a:cxnLst/>
            <a:rect l="0" t="0" r="r" b="b"/>
            <a:pathLst>
              <a:path w="27" h="807">
                <a:moveTo>
                  <a:pt x="0" y="0"/>
                </a:moveTo>
                <a:lnTo>
                  <a:pt x="27" y="0"/>
                </a:lnTo>
                <a:lnTo>
                  <a:pt x="27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7" name="任意多边形 776"/>
          <p:cNvSpPr/>
          <p:nvPr/>
        </p:nvSpPr>
        <p:spPr>
          <a:xfrm>
            <a:off x="6248160" y="5420160"/>
            <a:ext cx="10080" cy="290520"/>
          </a:xfrm>
          <a:custGeom>
            <a:avLst/>
            <a:gdLst/>
            <a:ahLst/>
            <a:cxnLst/>
            <a:rect l="0" t="0" r="r" b="b"/>
            <a:pathLst>
              <a:path w="28" h="807">
                <a:moveTo>
                  <a:pt x="0" y="0"/>
                </a:moveTo>
                <a:lnTo>
                  <a:pt x="28" y="0"/>
                </a:lnTo>
                <a:lnTo>
                  <a:pt x="28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8" name="任意多边形 777"/>
          <p:cNvSpPr/>
          <p:nvPr/>
        </p:nvSpPr>
        <p:spPr>
          <a:xfrm>
            <a:off x="6248160" y="5413680"/>
            <a:ext cx="1172160" cy="6840"/>
          </a:xfrm>
          <a:custGeom>
            <a:avLst/>
            <a:gdLst/>
            <a:ahLst/>
            <a:cxnLst/>
            <a:rect l="0" t="0" r="r" b="b"/>
            <a:pathLst>
              <a:path w="3256" h="19">
                <a:moveTo>
                  <a:pt x="0" y="0"/>
                </a:moveTo>
                <a:lnTo>
                  <a:pt x="3256" y="0"/>
                </a:lnTo>
                <a:lnTo>
                  <a:pt x="325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9" name="任意多边形 778"/>
          <p:cNvSpPr/>
          <p:nvPr/>
        </p:nvSpPr>
        <p:spPr>
          <a:xfrm>
            <a:off x="7410240" y="5420160"/>
            <a:ext cx="10080" cy="290520"/>
          </a:xfrm>
          <a:custGeom>
            <a:avLst/>
            <a:gdLst/>
            <a:ahLst/>
            <a:cxnLst/>
            <a:rect l="0" t="0" r="r" b="b"/>
            <a:pathLst>
              <a:path w="28" h="807">
                <a:moveTo>
                  <a:pt x="0" y="0"/>
                </a:moveTo>
                <a:lnTo>
                  <a:pt x="28" y="0"/>
                </a:lnTo>
                <a:lnTo>
                  <a:pt x="28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0" name="任意多边形 779"/>
          <p:cNvSpPr/>
          <p:nvPr/>
        </p:nvSpPr>
        <p:spPr>
          <a:xfrm>
            <a:off x="7419960" y="5413680"/>
            <a:ext cx="3171960" cy="6840"/>
          </a:xfrm>
          <a:custGeom>
            <a:avLst/>
            <a:gdLst/>
            <a:ahLst/>
            <a:cxnLst/>
            <a:rect l="0" t="0" r="r" b="b"/>
            <a:pathLst>
              <a:path w="8811" h="19">
                <a:moveTo>
                  <a:pt x="0" y="0"/>
                </a:moveTo>
                <a:lnTo>
                  <a:pt x="8811" y="0"/>
                </a:lnTo>
                <a:lnTo>
                  <a:pt x="8811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1" name="任意多边形 780"/>
          <p:cNvSpPr/>
          <p:nvPr/>
        </p:nvSpPr>
        <p:spPr>
          <a:xfrm>
            <a:off x="10582200" y="5420160"/>
            <a:ext cx="9720" cy="290520"/>
          </a:xfrm>
          <a:custGeom>
            <a:avLst/>
            <a:gdLst/>
            <a:ahLst/>
            <a:cxnLst/>
            <a:rect l="0" t="0" r="r" b="b"/>
            <a:pathLst>
              <a:path w="27" h="807">
                <a:moveTo>
                  <a:pt x="0" y="0"/>
                </a:moveTo>
                <a:lnTo>
                  <a:pt x="27" y="0"/>
                </a:lnTo>
                <a:lnTo>
                  <a:pt x="27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2" name="任意多边形 781"/>
          <p:cNvSpPr/>
          <p:nvPr/>
        </p:nvSpPr>
        <p:spPr>
          <a:xfrm>
            <a:off x="10591560" y="5413680"/>
            <a:ext cx="838440" cy="6840"/>
          </a:xfrm>
          <a:custGeom>
            <a:avLst/>
            <a:gdLst/>
            <a:ahLst/>
            <a:cxnLst/>
            <a:rect l="0" t="0" r="r" b="b"/>
            <a:pathLst>
              <a:path w="2329" h="19">
                <a:moveTo>
                  <a:pt x="0" y="0"/>
                </a:moveTo>
                <a:lnTo>
                  <a:pt x="2329" y="0"/>
                </a:lnTo>
                <a:lnTo>
                  <a:pt x="2329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3" name="任意多边形 782"/>
          <p:cNvSpPr/>
          <p:nvPr/>
        </p:nvSpPr>
        <p:spPr>
          <a:xfrm>
            <a:off x="11420280" y="5420160"/>
            <a:ext cx="9720" cy="290520"/>
          </a:xfrm>
          <a:custGeom>
            <a:avLst/>
            <a:gdLst/>
            <a:ahLst/>
            <a:cxnLst/>
            <a:rect l="0" t="0" r="r" b="b"/>
            <a:pathLst>
              <a:path w="27" h="807">
                <a:moveTo>
                  <a:pt x="0" y="0"/>
                </a:moveTo>
                <a:lnTo>
                  <a:pt x="27" y="0"/>
                </a:lnTo>
                <a:lnTo>
                  <a:pt x="27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4" name="任意多边形 783"/>
          <p:cNvSpPr/>
          <p:nvPr/>
        </p:nvSpPr>
        <p:spPr>
          <a:xfrm>
            <a:off x="6248160" y="5703840"/>
            <a:ext cx="1172160" cy="6840"/>
          </a:xfrm>
          <a:custGeom>
            <a:avLst/>
            <a:gdLst/>
            <a:ahLst/>
            <a:cxnLst/>
            <a:rect l="0" t="0" r="r" b="b"/>
            <a:pathLst>
              <a:path w="3256" h="19">
                <a:moveTo>
                  <a:pt x="0" y="0"/>
                </a:moveTo>
                <a:lnTo>
                  <a:pt x="3256" y="0"/>
                </a:lnTo>
                <a:lnTo>
                  <a:pt x="325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5" name="任意多边形 784"/>
          <p:cNvSpPr/>
          <p:nvPr/>
        </p:nvSpPr>
        <p:spPr>
          <a:xfrm>
            <a:off x="7419960" y="5703840"/>
            <a:ext cx="3171960" cy="6840"/>
          </a:xfrm>
          <a:custGeom>
            <a:avLst/>
            <a:gdLst/>
            <a:ahLst/>
            <a:cxnLst/>
            <a:rect l="0" t="0" r="r" b="b"/>
            <a:pathLst>
              <a:path w="8811" h="19">
                <a:moveTo>
                  <a:pt x="0" y="0"/>
                </a:moveTo>
                <a:lnTo>
                  <a:pt x="8811" y="0"/>
                </a:lnTo>
                <a:lnTo>
                  <a:pt x="8811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6" name="任意多边形 785"/>
          <p:cNvSpPr/>
          <p:nvPr/>
        </p:nvSpPr>
        <p:spPr>
          <a:xfrm>
            <a:off x="10591560" y="5703840"/>
            <a:ext cx="838440" cy="6840"/>
          </a:xfrm>
          <a:custGeom>
            <a:avLst/>
            <a:gdLst/>
            <a:ahLst/>
            <a:cxnLst/>
            <a:rect l="0" t="0" r="r" b="b"/>
            <a:pathLst>
              <a:path w="2329" h="19">
                <a:moveTo>
                  <a:pt x="0" y="0"/>
                </a:moveTo>
                <a:lnTo>
                  <a:pt x="2329" y="0"/>
                </a:lnTo>
                <a:lnTo>
                  <a:pt x="2329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788" name="图片 787"/>
          <p:cNvPicPr/>
          <p:nvPr/>
        </p:nvPicPr>
        <p:blipFill>
          <a:blip r:embed="rId2"/>
          <a:stretch>
            <a:fillRect/>
          </a:stretch>
        </p:blipFill>
        <p:spPr>
          <a:xfrm>
            <a:off x="7572240" y="1470600"/>
            <a:ext cx="2533320" cy="168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9" name="文本框 788"/>
          <p:cNvSpPr txBox="1"/>
          <p:nvPr/>
        </p:nvSpPr>
        <p:spPr>
          <a:xfrm>
            <a:off x="6248520" y="1114560"/>
            <a:ext cx="1273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5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混淆矩阵案例推演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0" name="文本框 789"/>
          <p:cNvSpPr txBox="1"/>
          <p:nvPr/>
        </p:nvSpPr>
        <p:spPr>
          <a:xfrm>
            <a:off x="6248520" y="3279240"/>
            <a:ext cx="4104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实际数据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1" name="文本框 790"/>
          <p:cNvSpPr txBox="1"/>
          <p:nvPr/>
        </p:nvSpPr>
        <p:spPr>
          <a:xfrm>
            <a:off x="6248520" y="3457440"/>
            <a:ext cx="2055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正例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2" name="文本框 791"/>
          <p:cNvSpPr txBox="1"/>
          <p:nvPr/>
        </p:nvSpPr>
        <p:spPr>
          <a:xfrm>
            <a:off x="6591240" y="3461760"/>
            <a:ext cx="55548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(P): 120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3" name="文本框 792"/>
          <p:cNvSpPr txBox="1"/>
          <p:nvPr/>
        </p:nvSpPr>
        <p:spPr>
          <a:xfrm>
            <a:off x="6248520" y="3635280"/>
            <a:ext cx="2055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反例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4" name="文本框 793"/>
          <p:cNvSpPr txBox="1"/>
          <p:nvPr/>
        </p:nvSpPr>
        <p:spPr>
          <a:xfrm>
            <a:off x="6591240" y="3639600"/>
            <a:ext cx="4986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(N): 80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5" name="文本框 794"/>
          <p:cNvSpPr txBox="1"/>
          <p:nvPr/>
        </p:nvSpPr>
        <p:spPr>
          <a:xfrm>
            <a:off x="8915400" y="3279240"/>
            <a:ext cx="4104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预测结果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6" name="文本框 795"/>
          <p:cNvSpPr txBox="1"/>
          <p:nvPr/>
        </p:nvSpPr>
        <p:spPr>
          <a:xfrm>
            <a:off x="8915400" y="3457440"/>
            <a:ext cx="2055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正例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7" name="文本框 796"/>
          <p:cNvSpPr txBox="1"/>
          <p:nvPr/>
        </p:nvSpPr>
        <p:spPr>
          <a:xfrm>
            <a:off x="9258120" y="3461760"/>
            <a:ext cx="55548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(P): 100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8" name="文本框 797"/>
          <p:cNvSpPr txBox="1"/>
          <p:nvPr/>
        </p:nvSpPr>
        <p:spPr>
          <a:xfrm>
            <a:off x="8915400" y="3635280"/>
            <a:ext cx="2055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反例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9" name="文本框 798"/>
          <p:cNvSpPr txBox="1"/>
          <p:nvPr/>
        </p:nvSpPr>
        <p:spPr>
          <a:xfrm>
            <a:off x="9258120" y="3639600"/>
            <a:ext cx="58392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(N): 100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0" name="文本框 799"/>
          <p:cNvSpPr txBox="1"/>
          <p:nvPr/>
        </p:nvSpPr>
        <p:spPr>
          <a:xfrm>
            <a:off x="6248520" y="3980160"/>
            <a:ext cx="752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⼿动计算指标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1" name="文本框 800"/>
          <p:cNvSpPr txBox="1"/>
          <p:nvPr/>
        </p:nvSpPr>
        <p:spPr>
          <a:xfrm>
            <a:off x="6661800" y="4327920"/>
            <a:ext cx="2055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指标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2" name="文本框 801"/>
          <p:cNvSpPr txBox="1"/>
          <p:nvPr/>
        </p:nvSpPr>
        <p:spPr>
          <a:xfrm>
            <a:off x="8655120" y="4327920"/>
            <a:ext cx="4104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计算过程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3" name="文本框 802"/>
          <p:cNvSpPr txBox="1"/>
          <p:nvPr/>
        </p:nvSpPr>
        <p:spPr>
          <a:xfrm>
            <a:off x="10832400" y="4327920"/>
            <a:ext cx="2055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结果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4" name="文本框 803"/>
          <p:cNvSpPr txBox="1"/>
          <p:nvPr/>
        </p:nvSpPr>
        <p:spPr>
          <a:xfrm>
            <a:off x="6334200" y="4618080"/>
            <a:ext cx="3081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准确率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5" name="文本框 804"/>
          <p:cNvSpPr txBox="1"/>
          <p:nvPr/>
        </p:nvSpPr>
        <p:spPr>
          <a:xfrm>
            <a:off x="7494120" y="4622400"/>
            <a:ext cx="8553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(85+65)/200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6" name="文本框 805"/>
          <p:cNvSpPr txBox="1"/>
          <p:nvPr/>
        </p:nvSpPr>
        <p:spPr>
          <a:xfrm>
            <a:off x="10663560" y="4622400"/>
            <a:ext cx="29952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0.75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7" name="文本框 806"/>
          <p:cNvSpPr txBox="1"/>
          <p:nvPr/>
        </p:nvSpPr>
        <p:spPr>
          <a:xfrm>
            <a:off x="6334200" y="4907880"/>
            <a:ext cx="3081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精确率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8" name="文本框 807"/>
          <p:cNvSpPr txBox="1"/>
          <p:nvPr/>
        </p:nvSpPr>
        <p:spPr>
          <a:xfrm>
            <a:off x="7494120" y="4912560"/>
            <a:ext cx="770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85/(85+15)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9" name="文本框 808"/>
          <p:cNvSpPr txBox="1"/>
          <p:nvPr/>
        </p:nvSpPr>
        <p:spPr>
          <a:xfrm>
            <a:off x="10663560" y="4912560"/>
            <a:ext cx="29952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0.85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0" name="文本框 809"/>
          <p:cNvSpPr txBox="1"/>
          <p:nvPr/>
        </p:nvSpPr>
        <p:spPr>
          <a:xfrm>
            <a:off x="6334200" y="5198040"/>
            <a:ext cx="3081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召回率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1" name="文本框 810"/>
          <p:cNvSpPr txBox="1"/>
          <p:nvPr/>
        </p:nvSpPr>
        <p:spPr>
          <a:xfrm>
            <a:off x="7494120" y="5202720"/>
            <a:ext cx="770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85/(85+35)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2" name="文本框 811"/>
          <p:cNvSpPr txBox="1"/>
          <p:nvPr/>
        </p:nvSpPr>
        <p:spPr>
          <a:xfrm>
            <a:off x="10663560" y="5202720"/>
            <a:ext cx="29952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0.71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3" name="文本框 812"/>
          <p:cNvSpPr txBox="1"/>
          <p:nvPr/>
        </p:nvSpPr>
        <p:spPr>
          <a:xfrm>
            <a:off x="6334200" y="5492880"/>
            <a:ext cx="1904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1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F1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4" name="文本框 813"/>
          <p:cNvSpPr txBox="1"/>
          <p:nvPr/>
        </p:nvSpPr>
        <p:spPr>
          <a:xfrm>
            <a:off x="6524640" y="5488200"/>
            <a:ext cx="2055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分数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5" name="文本框 814"/>
          <p:cNvSpPr txBox="1"/>
          <p:nvPr/>
        </p:nvSpPr>
        <p:spPr>
          <a:xfrm>
            <a:off x="7494120" y="5492880"/>
            <a:ext cx="173088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2×0.85×0.71/(0.85+0.71)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7" name="文本框 816"/>
          <p:cNvSpPr txBox="1"/>
          <p:nvPr/>
        </p:nvSpPr>
        <p:spPr>
          <a:xfrm>
            <a:off x="10663560" y="5492880"/>
            <a:ext cx="29952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0.77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62" y="1139834"/>
            <a:ext cx="5835861" cy="480376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0E5ADC6-79AC-ACF0-4BDB-5CB4B535D4D6}"/>
              </a:ext>
            </a:extLst>
          </p:cNvPr>
          <p:cNvSpPr txBox="1"/>
          <p:nvPr/>
        </p:nvSpPr>
        <p:spPr>
          <a:xfrm>
            <a:off x="10905272" y="17246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任意多边形 83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2" name="任意多边形 831"/>
          <p:cNvSpPr/>
          <p:nvPr/>
        </p:nvSpPr>
        <p:spPr>
          <a:xfrm>
            <a:off x="152280" y="105120"/>
            <a:ext cx="11887560" cy="6752880"/>
          </a:xfrm>
          <a:custGeom>
            <a:avLst/>
            <a:gdLst/>
            <a:ahLst/>
            <a:cxnLst/>
            <a:rect l="0" t="0" r="r" b="b"/>
            <a:pathLst>
              <a:path w="33021" h="18758">
                <a:moveTo>
                  <a:pt x="0" y="0"/>
                </a:moveTo>
                <a:lnTo>
                  <a:pt x="33021" y="0"/>
                </a:lnTo>
                <a:lnTo>
                  <a:pt x="33021" y="18758"/>
                </a:lnTo>
                <a:lnTo>
                  <a:pt x="0" y="187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3" name="任意多边形 832"/>
          <p:cNvSpPr/>
          <p:nvPr/>
        </p:nvSpPr>
        <p:spPr>
          <a:xfrm>
            <a:off x="152280" y="105120"/>
            <a:ext cx="11887560" cy="664200"/>
          </a:xfrm>
          <a:custGeom>
            <a:avLst/>
            <a:gdLst/>
            <a:ahLst/>
            <a:cxnLst/>
            <a:rect l="0" t="0" r="r" b="b"/>
            <a:pathLst>
              <a:path w="33021" h="1845">
                <a:moveTo>
                  <a:pt x="0" y="0"/>
                </a:moveTo>
                <a:lnTo>
                  <a:pt x="33021" y="0"/>
                </a:lnTo>
                <a:lnTo>
                  <a:pt x="33021" y="1845"/>
                </a:lnTo>
                <a:lnTo>
                  <a:pt x="0" y="1845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4" name="文本框 833"/>
          <p:cNvSpPr txBox="1"/>
          <p:nvPr/>
        </p:nvSpPr>
        <p:spPr>
          <a:xfrm>
            <a:off x="386578" y="282491"/>
            <a:ext cx="3839193" cy="3339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170" b="0" u="none" strike="noStrike" dirty="0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回归评估：</a:t>
            </a:r>
            <a:r>
              <a:rPr lang="en-US" altLang="zh-CN" sz="2170" b="0" u="none" strike="noStrike" dirty="0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MSE</a:t>
            </a:r>
            <a:r>
              <a:rPr lang="zh-CN" altLang="en-US" sz="2170" b="0" u="none" strike="noStrike" dirty="0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与</a:t>
            </a:r>
            <a:r>
              <a:rPr lang="en-US" altLang="zh-CN" sz="2170" dirty="0">
                <a:solidFill>
                  <a:srgbClr val="FFFFFF"/>
                </a:solidFill>
                <a:latin typeface="NotoSansCJKsc"/>
              </a:rPr>
              <a:t>R²</a:t>
            </a:r>
            <a:r>
              <a:rPr lang="zh-CN" altLang="en-US" sz="2170" dirty="0">
                <a:solidFill>
                  <a:srgbClr val="FFFFFF"/>
                </a:solidFill>
                <a:latin typeface="NotoSansCJKsc"/>
              </a:rPr>
              <a:t>的应用场景</a:t>
            </a:r>
            <a:endParaRPr lang="en-US" altLang="zh-CN" sz="2170" dirty="0">
              <a:solidFill>
                <a:srgbClr val="FFFFFF"/>
              </a:solidFill>
              <a:latin typeface="NotoSansCJKsc"/>
            </a:endParaRPr>
          </a:p>
        </p:txBody>
      </p:sp>
      <p:sp>
        <p:nvSpPr>
          <p:cNvPr id="838" name="任意多边形 837"/>
          <p:cNvSpPr/>
          <p:nvPr/>
        </p:nvSpPr>
        <p:spPr>
          <a:xfrm>
            <a:off x="152160" y="739598"/>
            <a:ext cx="11887560" cy="5911560"/>
          </a:xfrm>
          <a:custGeom>
            <a:avLst/>
            <a:gdLst/>
            <a:ahLst/>
            <a:cxnLst/>
            <a:rect l="0" t="0" r="r" b="b"/>
            <a:pathLst>
              <a:path w="33021" h="16421">
                <a:moveTo>
                  <a:pt x="0" y="0"/>
                </a:moveTo>
                <a:lnTo>
                  <a:pt x="33021" y="0"/>
                </a:lnTo>
                <a:lnTo>
                  <a:pt x="33021" y="16421"/>
                </a:lnTo>
                <a:lnTo>
                  <a:pt x="0" y="1642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7" name="任意多边形 906"/>
          <p:cNvSpPr/>
          <p:nvPr/>
        </p:nvSpPr>
        <p:spPr>
          <a:xfrm>
            <a:off x="6100560" y="1364040"/>
            <a:ext cx="5477400" cy="1677240"/>
          </a:xfrm>
          <a:custGeom>
            <a:avLst/>
            <a:gdLst/>
            <a:ahLst/>
            <a:cxnLst/>
            <a:rect l="0" t="0" r="r" b="b"/>
            <a:pathLst>
              <a:path w="15215" h="4659" fill="none">
                <a:moveTo>
                  <a:pt x="0" y="4522"/>
                </a:moveTo>
                <a:lnTo>
                  <a:pt x="0" y="137"/>
                </a:lnTo>
                <a:cubicBezTo>
                  <a:pt x="0" y="128"/>
                  <a:pt x="1" y="119"/>
                  <a:pt x="4" y="111"/>
                </a:cubicBezTo>
                <a:cubicBezTo>
                  <a:pt x="6" y="102"/>
                  <a:pt x="10" y="93"/>
                  <a:pt x="15" y="85"/>
                </a:cubicBezTo>
                <a:cubicBezTo>
                  <a:pt x="20" y="77"/>
                  <a:pt x="26" y="69"/>
                  <a:pt x="34" y="61"/>
                </a:cubicBezTo>
                <a:cubicBezTo>
                  <a:pt x="41" y="54"/>
                  <a:pt x="49" y="47"/>
                  <a:pt x="58" y="41"/>
                </a:cubicBezTo>
                <a:cubicBezTo>
                  <a:pt x="67" y="34"/>
                  <a:pt x="77" y="28"/>
                  <a:pt x="88" y="23"/>
                </a:cubicBezTo>
                <a:cubicBezTo>
                  <a:pt x="99" y="18"/>
                  <a:pt x="111" y="14"/>
                  <a:pt x="123" y="11"/>
                </a:cubicBezTo>
                <a:cubicBezTo>
                  <a:pt x="135" y="7"/>
                  <a:pt x="147" y="5"/>
                  <a:pt x="160" y="3"/>
                </a:cubicBezTo>
                <a:cubicBezTo>
                  <a:pt x="173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3"/>
                </a:cubicBezTo>
                <a:cubicBezTo>
                  <a:pt x="15068" y="5"/>
                  <a:pt x="15080" y="7"/>
                  <a:pt x="15092" y="11"/>
                </a:cubicBezTo>
                <a:cubicBezTo>
                  <a:pt x="15104" y="14"/>
                  <a:pt x="15116" y="18"/>
                  <a:pt x="15126" y="23"/>
                </a:cubicBezTo>
                <a:cubicBezTo>
                  <a:pt x="15137" y="28"/>
                  <a:pt x="15147" y="34"/>
                  <a:pt x="15156" y="41"/>
                </a:cubicBezTo>
                <a:cubicBezTo>
                  <a:pt x="15166" y="47"/>
                  <a:pt x="15174" y="54"/>
                  <a:pt x="15181" y="61"/>
                </a:cubicBezTo>
                <a:cubicBezTo>
                  <a:pt x="15188" y="69"/>
                  <a:pt x="15195" y="77"/>
                  <a:pt x="15199" y="85"/>
                </a:cubicBezTo>
                <a:cubicBezTo>
                  <a:pt x="15204" y="93"/>
                  <a:pt x="15208" y="102"/>
                  <a:pt x="15211" y="111"/>
                </a:cubicBezTo>
                <a:cubicBezTo>
                  <a:pt x="15213" y="119"/>
                  <a:pt x="15215" y="128"/>
                  <a:pt x="15215" y="137"/>
                </a:cubicBezTo>
                <a:lnTo>
                  <a:pt x="15215" y="4522"/>
                </a:lnTo>
                <a:cubicBezTo>
                  <a:pt x="15215" y="4531"/>
                  <a:pt x="15213" y="4540"/>
                  <a:pt x="15211" y="4549"/>
                </a:cubicBezTo>
                <a:cubicBezTo>
                  <a:pt x="15208" y="4557"/>
                  <a:pt x="15204" y="4566"/>
                  <a:pt x="15199" y="4574"/>
                </a:cubicBezTo>
                <a:cubicBezTo>
                  <a:pt x="15195" y="4583"/>
                  <a:pt x="15188" y="4591"/>
                  <a:pt x="15181" y="4598"/>
                </a:cubicBezTo>
                <a:cubicBezTo>
                  <a:pt x="15174" y="4605"/>
                  <a:pt x="15166" y="4612"/>
                  <a:pt x="15156" y="4619"/>
                </a:cubicBezTo>
                <a:cubicBezTo>
                  <a:pt x="15147" y="4625"/>
                  <a:pt x="15137" y="4631"/>
                  <a:pt x="15126" y="4636"/>
                </a:cubicBezTo>
                <a:cubicBezTo>
                  <a:pt x="15116" y="4641"/>
                  <a:pt x="15104" y="4645"/>
                  <a:pt x="15092" y="4648"/>
                </a:cubicBezTo>
                <a:cubicBezTo>
                  <a:pt x="15080" y="4652"/>
                  <a:pt x="15068" y="4654"/>
                  <a:pt x="15055" y="4656"/>
                </a:cubicBezTo>
                <a:cubicBezTo>
                  <a:pt x="15042" y="4658"/>
                  <a:pt x="15029" y="4659"/>
                  <a:pt x="15016" y="4659"/>
                </a:cubicBezTo>
                <a:lnTo>
                  <a:pt x="198" y="4659"/>
                </a:lnTo>
                <a:cubicBezTo>
                  <a:pt x="185" y="4659"/>
                  <a:pt x="173" y="4658"/>
                  <a:pt x="160" y="4656"/>
                </a:cubicBezTo>
                <a:cubicBezTo>
                  <a:pt x="147" y="4654"/>
                  <a:pt x="135" y="4652"/>
                  <a:pt x="123" y="4648"/>
                </a:cubicBezTo>
                <a:cubicBezTo>
                  <a:pt x="111" y="4645"/>
                  <a:pt x="99" y="4641"/>
                  <a:pt x="88" y="4636"/>
                </a:cubicBezTo>
                <a:cubicBezTo>
                  <a:pt x="77" y="4631"/>
                  <a:pt x="67" y="4625"/>
                  <a:pt x="58" y="4619"/>
                </a:cubicBezTo>
                <a:cubicBezTo>
                  <a:pt x="49" y="4612"/>
                  <a:pt x="41" y="4605"/>
                  <a:pt x="34" y="4598"/>
                </a:cubicBezTo>
                <a:cubicBezTo>
                  <a:pt x="26" y="4591"/>
                  <a:pt x="20" y="4583"/>
                  <a:pt x="15" y="4574"/>
                </a:cubicBezTo>
                <a:cubicBezTo>
                  <a:pt x="10" y="4566"/>
                  <a:pt x="6" y="4557"/>
                  <a:pt x="4" y="4549"/>
                </a:cubicBezTo>
                <a:cubicBezTo>
                  <a:pt x="1" y="4540"/>
                  <a:pt x="0" y="4531"/>
                  <a:pt x="0" y="4522"/>
                </a:cubicBezTo>
              </a:path>
            </a:pathLst>
          </a:custGeom>
          <a:ln w="7920">
            <a:solidFill>
              <a:srgbClr val="E5E7EB"/>
            </a:solidFill>
            <a:miter/>
          </a:ln>
        </p:spPr>
        <p:txBody>
          <a:bodyPr lIns="3960" tIns="3960" rIns="3960" bIns="39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09" name="图片 908"/>
          <p:cNvPicPr/>
          <p:nvPr/>
        </p:nvPicPr>
        <p:blipFill>
          <a:blip r:embed="rId2"/>
          <a:stretch>
            <a:fillRect/>
          </a:stretch>
        </p:blipFill>
        <p:spPr>
          <a:xfrm>
            <a:off x="7077240" y="1367640"/>
            <a:ext cx="3524040" cy="166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0" name="文本框 909"/>
          <p:cNvSpPr txBox="1"/>
          <p:nvPr/>
        </p:nvSpPr>
        <p:spPr>
          <a:xfrm>
            <a:off x="6095880" y="1006200"/>
            <a:ext cx="11210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5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过拟合现象分析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1" name="文本框 910"/>
          <p:cNvSpPr txBox="1"/>
          <p:nvPr/>
        </p:nvSpPr>
        <p:spPr>
          <a:xfrm>
            <a:off x="7924680" y="3111120"/>
            <a:ext cx="1098000" cy="12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30" b="0" u="none" strike="noStrike">
                <a:solidFill>
                  <a:srgbClr val="6B7280"/>
                </a:solidFill>
                <a:effectLst/>
                <a:uFillTx/>
                <a:latin typeface="NotoSansCJKsc"/>
                <a:ea typeface="NotoSansCJKsc"/>
              </a:rPr>
              <a:t>过拟合模型与理想拟合对⽐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2" name="任意多边形 911"/>
          <p:cNvSpPr/>
          <p:nvPr/>
        </p:nvSpPr>
        <p:spPr>
          <a:xfrm>
            <a:off x="6095880" y="3819960"/>
            <a:ext cx="228960" cy="158400"/>
          </a:xfrm>
          <a:custGeom>
            <a:avLst/>
            <a:gdLst/>
            <a:ahLst/>
            <a:cxnLst/>
            <a:rect l="0" t="0" r="r" b="b"/>
            <a:pathLst>
              <a:path w="636" h="440">
                <a:moveTo>
                  <a:pt x="636" y="220"/>
                </a:moveTo>
                <a:cubicBezTo>
                  <a:pt x="636" y="235"/>
                  <a:pt x="634" y="249"/>
                  <a:pt x="630" y="263"/>
                </a:cubicBezTo>
                <a:cubicBezTo>
                  <a:pt x="626" y="277"/>
                  <a:pt x="620" y="291"/>
                  <a:pt x="612" y="304"/>
                </a:cubicBezTo>
                <a:cubicBezTo>
                  <a:pt x="604" y="318"/>
                  <a:pt x="594" y="330"/>
                  <a:pt x="582" y="342"/>
                </a:cubicBezTo>
                <a:cubicBezTo>
                  <a:pt x="571" y="354"/>
                  <a:pt x="558" y="365"/>
                  <a:pt x="543" y="375"/>
                </a:cubicBezTo>
                <a:cubicBezTo>
                  <a:pt x="528" y="386"/>
                  <a:pt x="512" y="395"/>
                  <a:pt x="494" y="403"/>
                </a:cubicBezTo>
                <a:cubicBezTo>
                  <a:pt x="476" y="411"/>
                  <a:pt x="458" y="417"/>
                  <a:pt x="439" y="423"/>
                </a:cubicBezTo>
                <a:cubicBezTo>
                  <a:pt x="420" y="428"/>
                  <a:pt x="400" y="433"/>
                  <a:pt x="379" y="435"/>
                </a:cubicBezTo>
                <a:cubicBezTo>
                  <a:pt x="359" y="438"/>
                  <a:pt x="338" y="440"/>
                  <a:pt x="317" y="440"/>
                </a:cubicBezTo>
                <a:cubicBezTo>
                  <a:pt x="296" y="440"/>
                  <a:pt x="276" y="438"/>
                  <a:pt x="255" y="435"/>
                </a:cubicBezTo>
                <a:cubicBezTo>
                  <a:pt x="235" y="433"/>
                  <a:pt x="215" y="428"/>
                  <a:pt x="196" y="423"/>
                </a:cubicBezTo>
                <a:cubicBezTo>
                  <a:pt x="177" y="417"/>
                  <a:pt x="158" y="411"/>
                  <a:pt x="141" y="403"/>
                </a:cubicBezTo>
                <a:cubicBezTo>
                  <a:pt x="124" y="395"/>
                  <a:pt x="108" y="386"/>
                  <a:pt x="93" y="375"/>
                </a:cubicBezTo>
                <a:cubicBezTo>
                  <a:pt x="78" y="365"/>
                  <a:pt x="65" y="354"/>
                  <a:pt x="53" y="342"/>
                </a:cubicBezTo>
                <a:cubicBezTo>
                  <a:pt x="42" y="330"/>
                  <a:pt x="32" y="318"/>
                  <a:pt x="24" y="304"/>
                </a:cubicBezTo>
                <a:cubicBezTo>
                  <a:pt x="16" y="291"/>
                  <a:pt x="10" y="277"/>
                  <a:pt x="6" y="263"/>
                </a:cubicBezTo>
                <a:cubicBezTo>
                  <a:pt x="2" y="249"/>
                  <a:pt x="0" y="235"/>
                  <a:pt x="0" y="220"/>
                </a:cubicBezTo>
                <a:cubicBezTo>
                  <a:pt x="0" y="206"/>
                  <a:pt x="2" y="192"/>
                  <a:pt x="6" y="178"/>
                </a:cubicBezTo>
                <a:cubicBezTo>
                  <a:pt x="10" y="164"/>
                  <a:pt x="16" y="150"/>
                  <a:pt x="24" y="137"/>
                </a:cubicBezTo>
                <a:cubicBezTo>
                  <a:pt x="32" y="123"/>
                  <a:pt x="42" y="110"/>
                  <a:pt x="53" y="98"/>
                </a:cubicBezTo>
                <a:cubicBezTo>
                  <a:pt x="65" y="86"/>
                  <a:pt x="78" y="75"/>
                  <a:pt x="93" y="64"/>
                </a:cubicBezTo>
                <a:cubicBezTo>
                  <a:pt x="108" y="54"/>
                  <a:pt x="124" y="45"/>
                  <a:pt x="141" y="37"/>
                </a:cubicBezTo>
                <a:cubicBezTo>
                  <a:pt x="158" y="29"/>
                  <a:pt x="177" y="22"/>
                  <a:pt x="196" y="17"/>
                </a:cubicBezTo>
                <a:cubicBezTo>
                  <a:pt x="215" y="11"/>
                  <a:pt x="235" y="7"/>
                  <a:pt x="255" y="4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4"/>
                </a:cubicBezTo>
                <a:cubicBezTo>
                  <a:pt x="400" y="7"/>
                  <a:pt x="420" y="11"/>
                  <a:pt x="439" y="17"/>
                </a:cubicBezTo>
                <a:cubicBezTo>
                  <a:pt x="458" y="22"/>
                  <a:pt x="476" y="29"/>
                  <a:pt x="494" y="37"/>
                </a:cubicBezTo>
                <a:cubicBezTo>
                  <a:pt x="512" y="45"/>
                  <a:pt x="528" y="54"/>
                  <a:pt x="543" y="64"/>
                </a:cubicBezTo>
                <a:cubicBezTo>
                  <a:pt x="558" y="75"/>
                  <a:pt x="571" y="86"/>
                  <a:pt x="582" y="98"/>
                </a:cubicBezTo>
                <a:cubicBezTo>
                  <a:pt x="594" y="110"/>
                  <a:pt x="604" y="123"/>
                  <a:pt x="612" y="137"/>
                </a:cubicBezTo>
                <a:cubicBezTo>
                  <a:pt x="620" y="150"/>
                  <a:pt x="626" y="164"/>
                  <a:pt x="630" y="178"/>
                </a:cubicBezTo>
                <a:cubicBezTo>
                  <a:pt x="634" y="192"/>
                  <a:pt x="636" y="206"/>
                  <a:pt x="636" y="220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3" name="文本框 912"/>
          <p:cNvSpPr txBox="1"/>
          <p:nvPr/>
        </p:nvSpPr>
        <p:spPr>
          <a:xfrm>
            <a:off x="6095880" y="3439080"/>
            <a:ext cx="1441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5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过拟合对评估的影响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4" name="文本框 913"/>
          <p:cNvSpPr txBox="1"/>
          <p:nvPr/>
        </p:nvSpPr>
        <p:spPr>
          <a:xfrm>
            <a:off x="6151680" y="3822120"/>
            <a:ext cx="1710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3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5" name="文本框 914"/>
          <p:cNvSpPr txBox="1"/>
          <p:nvPr/>
        </p:nvSpPr>
        <p:spPr>
          <a:xfrm>
            <a:off x="6438960" y="3809160"/>
            <a:ext cx="6098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3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训练集表现：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6" name="文本框 915"/>
          <p:cNvSpPr txBox="1"/>
          <p:nvPr/>
        </p:nvSpPr>
        <p:spPr>
          <a:xfrm>
            <a:off x="7110954" y="3813480"/>
            <a:ext cx="34848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3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MSE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7" name="文本框 916"/>
          <p:cNvSpPr txBox="1"/>
          <p:nvPr/>
        </p:nvSpPr>
        <p:spPr>
          <a:xfrm>
            <a:off x="7463754" y="3809160"/>
            <a:ext cx="3052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3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极低，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8" name="文本框 917"/>
          <p:cNvSpPr txBox="1"/>
          <p:nvPr/>
        </p:nvSpPr>
        <p:spPr>
          <a:xfrm>
            <a:off x="7763919" y="3813480"/>
            <a:ext cx="17100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3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R²</a:t>
            </a:r>
            <a:endParaRPr lang="en-US" sz="93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9" name="文本框 918"/>
          <p:cNvSpPr txBox="1"/>
          <p:nvPr/>
        </p:nvSpPr>
        <p:spPr>
          <a:xfrm>
            <a:off x="7925685" y="3809160"/>
            <a:ext cx="325410" cy="1431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3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接近</a:t>
            </a:r>
            <a:r>
              <a:rPr lang="en-US" altLang="zh-CN" sz="93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 1</a:t>
            </a:r>
            <a:endParaRPr lang="en-US" sz="93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0" name="任意多边形 919"/>
          <p:cNvSpPr/>
          <p:nvPr/>
        </p:nvSpPr>
        <p:spPr>
          <a:xfrm>
            <a:off x="6095880" y="4083120"/>
            <a:ext cx="228960" cy="158040"/>
          </a:xfrm>
          <a:custGeom>
            <a:avLst/>
            <a:gdLst/>
            <a:ahLst/>
            <a:cxnLst/>
            <a:rect l="0" t="0" r="r" b="b"/>
            <a:pathLst>
              <a:path w="636" h="439">
                <a:moveTo>
                  <a:pt x="636" y="219"/>
                </a:moveTo>
                <a:cubicBezTo>
                  <a:pt x="636" y="233"/>
                  <a:pt x="634" y="248"/>
                  <a:pt x="630" y="262"/>
                </a:cubicBezTo>
                <a:cubicBezTo>
                  <a:pt x="626" y="277"/>
                  <a:pt x="620" y="291"/>
                  <a:pt x="612" y="304"/>
                </a:cubicBezTo>
                <a:cubicBezTo>
                  <a:pt x="604" y="317"/>
                  <a:pt x="594" y="330"/>
                  <a:pt x="582" y="342"/>
                </a:cubicBezTo>
                <a:cubicBezTo>
                  <a:pt x="571" y="354"/>
                  <a:pt x="558" y="365"/>
                  <a:pt x="543" y="375"/>
                </a:cubicBezTo>
                <a:cubicBezTo>
                  <a:pt x="528" y="385"/>
                  <a:pt x="512" y="394"/>
                  <a:pt x="494" y="402"/>
                </a:cubicBezTo>
                <a:cubicBezTo>
                  <a:pt x="476" y="410"/>
                  <a:pt x="458" y="417"/>
                  <a:pt x="439" y="422"/>
                </a:cubicBezTo>
                <a:cubicBezTo>
                  <a:pt x="420" y="428"/>
                  <a:pt x="400" y="432"/>
                  <a:pt x="379" y="435"/>
                </a:cubicBezTo>
                <a:cubicBezTo>
                  <a:pt x="359" y="438"/>
                  <a:pt x="338" y="439"/>
                  <a:pt x="317" y="439"/>
                </a:cubicBezTo>
                <a:cubicBezTo>
                  <a:pt x="296" y="439"/>
                  <a:pt x="276" y="438"/>
                  <a:pt x="255" y="435"/>
                </a:cubicBezTo>
                <a:cubicBezTo>
                  <a:pt x="235" y="432"/>
                  <a:pt x="215" y="428"/>
                  <a:pt x="196" y="422"/>
                </a:cubicBezTo>
                <a:cubicBezTo>
                  <a:pt x="177" y="417"/>
                  <a:pt x="158" y="410"/>
                  <a:pt x="141" y="402"/>
                </a:cubicBezTo>
                <a:cubicBezTo>
                  <a:pt x="124" y="394"/>
                  <a:pt x="108" y="385"/>
                  <a:pt x="93" y="375"/>
                </a:cubicBezTo>
                <a:cubicBezTo>
                  <a:pt x="78" y="365"/>
                  <a:pt x="65" y="354"/>
                  <a:pt x="53" y="342"/>
                </a:cubicBezTo>
                <a:cubicBezTo>
                  <a:pt x="42" y="330"/>
                  <a:pt x="32" y="317"/>
                  <a:pt x="24" y="304"/>
                </a:cubicBezTo>
                <a:cubicBezTo>
                  <a:pt x="16" y="291"/>
                  <a:pt x="10" y="277"/>
                  <a:pt x="6" y="262"/>
                </a:cubicBezTo>
                <a:cubicBezTo>
                  <a:pt x="2" y="248"/>
                  <a:pt x="0" y="233"/>
                  <a:pt x="0" y="219"/>
                </a:cubicBezTo>
                <a:cubicBezTo>
                  <a:pt x="0" y="205"/>
                  <a:pt x="2" y="190"/>
                  <a:pt x="6" y="176"/>
                </a:cubicBezTo>
                <a:cubicBezTo>
                  <a:pt x="10" y="162"/>
                  <a:pt x="16" y="148"/>
                  <a:pt x="24" y="135"/>
                </a:cubicBezTo>
                <a:cubicBezTo>
                  <a:pt x="32" y="122"/>
                  <a:pt x="42" y="109"/>
                  <a:pt x="53" y="97"/>
                </a:cubicBezTo>
                <a:cubicBezTo>
                  <a:pt x="65" y="85"/>
                  <a:pt x="78" y="74"/>
                  <a:pt x="93" y="64"/>
                </a:cubicBezTo>
                <a:cubicBezTo>
                  <a:pt x="108" y="54"/>
                  <a:pt x="124" y="45"/>
                  <a:pt x="141" y="37"/>
                </a:cubicBezTo>
                <a:cubicBezTo>
                  <a:pt x="158" y="29"/>
                  <a:pt x="177" y="22"/>
                  <a:pt x="196" y="17"/>
                </a:cubicBezTo>
                <a:cubicBezTo>
                  <a:pt x="215" y="11"/>
                  <a:pt x="235" y="7"/>
                  <a:pt x="255" y="4"/>
                </a:cubicBezTo>
                <a:cubicBezTo>
                  <a:pt x="276" y="1"/>
                  <a:pt x="296" y="0"/>
                  <a:pt x="317" y="0"/>
                </a:cubicBezTo>
                <a:cubicBezTo>
                  <a:pt x="338" y="0"/>
                  <a:pt x="359" y="1"/>
                  <a:pt x="379" y="4"/>
                </a:cubicBezTo>
                <a:cubicBezTo>
                  <a:pt x="400" y="7"/>
                  <a:pt x="420" y="11"/>
                  <a:pt x="439" y="17"/>
                </a:cubicBezTo>
                <a:cubicBezTo>
                  <a:pt x="458" y="22"/>
                  <a:pt x="476" y="29"/>
                  <a:pt x="494" y="37"/>
                </a:cubicBezTo>
                <a:cubicBezTo>
                  <a:pt x="512" y="45"/>
                  <a:pt x="528" y="54"/>
                  <a:pt x="543" y="64"/>
                </a:cubicBezTo>
                <a:cubicBezTo>
                  <a:pt x="558" y="74"/>
                  <a:pt x="571" y="85"/>
                  <a:pt x="582" y="97"/>
                </a:cubicBezTo>
                <a:cubicBezTo>
                  <a:pt x="594" y="109"/>
                  <a:pt x="604" y="122"/>
                  <a:pt x="612" y="135"/>
                </a:cubicBezTo>
                <a:cubicBezTo>
                  <a:pt x="620" y="148"/>
                  <a:pt x="626" y="162"/>
                  <a:pt x="630" y="176"/>
                </a:cubicBezTo>
                <a:cubicBezTo>
                  <a:pt x="634" y="190"/>
                  <a:pt x="636" y="205"/>
                  <a:pt x="636" y="219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2" name="文本框 921"/>
          <p:cNvSpPr txBox="1"/>
          <p:nvPr/>
        </p:nvSpPr>
        <p:spPr>
          <a:xfrm>
            <a:off x="6151680" y="4085280"/>
            <a:ext cx="1710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3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3" name="文本框 922"/>
          <p:cNvSpPr txBox="1"/>
          <p:nvPr/>
        </p:nvSpPr>
        <p:spPr>
          <a:xfrm>
            <a:off x="6438960" y="4071960"/>
            <a:ext cx="6098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3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测试集表现：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4" name="文本框 923"/>
          <p:cNvSpPr txBox="1"/>
          <p:nvPr/>
        </p:nvSpPr>
        <p:spPr>
          <a:xfrm>
            <a:off x="7110954" y="4076280"/>
            <a:ext cx="34848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3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MSE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5" name="文本框 924"/>
          <p:cNvSpPr txBox="1"/>
          <p:nvPr/>
        </p:nvSpPr>
        <p:spPr>
          <a:xfrm>
            <a:off x="7463754" y="4071960"/>
            <a:ext cx="5083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3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显著升⾼，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6" name="文本框 925"/>
          <p:cNvSpPr txBox="1"/>
          <p:nvPr/>
        </p:nvSpPr>
        <p:spPr>
          <a:xfrm>
            <a:off x="8002137" y="4076280"/>
            <a:ext cx="17100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3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R²</a:t>
            </a:r>
            <a:endParaRPr lang="en-US" sz="93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7" name="任意多边形 926"/>
          <p:cNvSpPr/>
          <p:nvPr/>
        </p:nvSpPr>
        <p:spPr>
          <a:xfrm>
            <a:off x="6095880" y="4345920"/>
            <a:ext cx="228960" cy="158400"/>
          </a:xfrm>
          <a:custGeom>
            <a:avLst/>
            <a:gdLst/>
            <a:ahLst/>
            <a:cxnLst/>
            <a:rect l="0" t="0" r="r" b="b"/>
            <a:pathLst>
              <a:path w="636" h="440">
                <a:moveTo>
                  <a:pt x="636" y="220"/>
                </a:moveTo>
                <a:cubicBezTo>
                  <a:pt x="636" y="234"/>
                  <a:pt x="634" y="248"/>
                  <a:pt x="630" y="262"/>
                </a:cubicBezTo>
                <a:cubicBezTo>
                  <a:pt x="626" y="276"/>
                  <a:pt x="620" y="290"/>
                  <a:pt x="612" y="303"/>
                </a:cubicBezTo>
                <a:cubicBezTo>
                  <a:pt x="604" y="317"/>
                  <a:pt x="594" y="329"/>
                  <a:pt x="582" y="341"/>
                </a:cubicBezTo>
                <a:cubicBezTo>
                  <a:pt x="571" y="353"/>
                  <a:pt x="558" y="364"/>
                  <a:pt x="543" y="375"/>
                </a:cubicBezTo>
                <a:cubicBezTo>
                  <a:pt x="528" y="385"/>
                  <a:pt x="512" y="394"/>
                  <a:pt x="494" y="402"/>
                </a:cubicBezTo>
                <a:cubicBezTo>
                  <a:pt x="476" y="410"/>
                  <a:pt x="458" y="418"/>
                  <a:pt x="439" y="423"/>
                </a:cubicBezTo>
                <a:cubicBezTo>
                  <a:pt x="420" y="429"/>
                  <a:pt x="400" y="433"/>
                  <a:pt x="379" y="436"/>
                </a:cubicBezTo>
                <a:cubicBezTo>
                  <a:pt x="359" y="438"/>
                  <a:pt x="338" y="440"/>
                  <a:pt x="317" y="440"/>
                </a:cubicBezTo>
                <a:cubicBezTo>
                  <a:pt x="296" y="440"/>
                  <a:pt x="276" y="438"/>
                  <a:pt x="255" y="436"/>
                </a:cubicBezTo>
                <a:cubicBezTo>
                  <a:pt x="235" y="433"/>
                  <a:pt x="215" y="429"/>
                  <a:pt x="196" y="423"/>
                </a:cubicBezTo>
                <a:cubicBezTo>
                  <a:pt x="177" y="418"/>
                  <a:pt x="158" y="410"/>
                  <a:pt x="141" y="402"/>
                </a:cubicBezTo>
                <a:cubicBezTo>
                  <a:pt x="124" y="394"/>
                  <a:pt x="108" y="385"/>
                  <a:pt x="93" y="375"/>
                </a:cubicBezTo>
                <a:cubicBezTo>
                  <a:pt x="78" y="364"/>
                  <a:pt x="65" y="353"/>
                  <a:pt x="53" y="341"/>
                </a:cubicBezTo>
                <a:cubicBezTo>
                  <a:pt x="42" y="329"/>
                  <a:pt x="32" y="317"/>
                  <a:pt x="24" y="303"/>
                </a:cubicBezTo>
                <a:cubicBezTo>
                  <a:pt x="16" y="290"/>
                  <a:pt x="10" y="276"/>
                  <a:pt x="6" y="262"/>
                </a:cubicBezTo>
                <a:cubicBezTo>
                  <a:pt x="2" y="248"/>
                  <a:pt x="0" y="234"/>
                  <a:pt x="0" y="220"/>
                </a:cubicBezTo>
                <a:cubicBezTo>
                  <a:pt x="0" y="205"/>
                  <a:pt x="2" y="191"/>
                  <a:pt x="6" y="177"/>
                </a:cubicBezTo>
                <a:cubicBezTo>
                  <a:pt x="10" y="163"/>
                  <a:pt x="16" y="149"/>
                  <a:pt x="24" y="136"/>
                </a:cubicBezTo>
                <a:cubicBezTo>
                  <a:pt x="32" y="122"/>
                  <a:pt x="42" y="110"/>
                  <a:pt x="53" y="98"/>
                </a:cubicBezTo>
                <a:cubicBezTo>
                  <a:pt x="65" y="86"/>
                  <a:pt x="78" y="75"/>
                  <a:pt x="93" y="65"/>
                </a:cubicBezTo>
                <a:cubicBezTo>
                  <a:pt x="108" y="54"/>
                  <a:pt x="124" y="45"/>
                  <a:pt x="141" y="37"/>
                </a:cubicBezTo>
                <a:cubicBezTo>
                  <a:pt x="158" y="29"/>
                  <a:pt x="177" y="23"/>
                  <a:pt x="196" y="17"/>
                </a:cubicBezTo>
                <a:cubicBezTo>
                  <a:pt x="215" y="12"/>
                  <a:pt x="235" y="7"/>
                  <a:pt x="255" y="5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5"/>
                </a:cubicBezTo>
                <a:cubicBezTo>
                  <a:pt x="400" y="7"/>
                  <a:pt x="420" y="12"/>
                  <a:pt x="439" y="17"/>
                </a:cubicBezTo>
                <a:cubicBezTo>
                  <a:pt x="458" y="23"/>
                  <a:pt x="476" y="29"/>
                  <a:pt x="494" y="37"/>
                </a:cubicBezTo>
                <a:cubicBezTo>
                  <a:pt x="512" y="45"/>
                  <a:pt x="528" y="54"/>
                  <a:pt x="543" y="65"/>
                </a:cubicBezTo>
                <a:cubicBezTo>
                  <a:pt x="558" y="75"/>
                  <a:pt x="571" y="86"/>
                  <a:pt x="582" y="98"/>
                </a:cubicBezTo>
                <a:cubicBezTo>
                  <a:pt x="594" y="110"/>
                  <a:pt x="604" y="122"/>
                  <a:pt x="612" y="136"/>
                </a:cubicBezTo>
                <a:cubicBezTo>
                  <a:pt x="620" y="149"/>
                  <a:pt x="626" y="163"/>
                  <a:pt x="630" y="177"/>
                </a:cubicBezTo>
                <a:cubicBezTo>
                  <a:pt x="634" y="191"/>
                  <a:pt x="636" y="205"/>
                  <a:pt x="636" y="220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8" name="文本框 927"/>
          <p:cNvSpPr txBox="1"/>
          <p:nvPr/>
        </p:nvSpPr>
        <p:spPr>
          <a:xfrm>
            <a:off x="8129988" y="4071960"/>
            <a:ext cx="4068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3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⼤幅下降</a:t>
            </a:r>
            <a:endParaRPr lang="en-US" sz="93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9" name="文本框 928"/>
          <p:cNvSpPr txBox="1"/>
          <p:nvPr/>
        </p:nvSpPr>
        <p:spPr>
          <a:xfrm>
            <a:off x="6151680" y="4348080"/>
            <a:ext cx="1710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3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0" name="文本框 929"/>
          <p:cNvSpPr txBox="1"/>
          <p:nvPr/>
        </p:nvSpPr>
        <p:spPr>
          <a:xfrm>
            <a:off x="6438960" y="4335120"/>
            <a:ext cx="16250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3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诊断⽅法：训练集与测试集指标差距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1" name="任意多边形 930"/>
          <p:cNvSpPr/>
          <p:nvPr/>
        </p:nvSpPr>
        <p:spPr>
          <a:xfrm>
            <a:off x="6095880" y="4609080"/>
            <a:ext cx="228960" cy="158040"/>
          </a:xfrm>
          <a:custGeom>
            <a:avLst/>
            <a:gdLst/>
            <a:ahLst/>
            <a:cxnLst/>
            <a:rect l="0" t="0" r="r" b="b"/>
            <a:pathLst>
              <a:path w="636" h="439">
                <a:moveTo>
                  <a:pt x="636" y="220"/>
                </a:moveTo>
                <a:cubicBezTo>
                  <a:pt x="636" y="235"/>
                  <a:pt x="634" y="249"/>
                  <a:pt x="630" y="263"/>
                </a:cubicBezTo>
                <a:cubicBezTo>
                  <a:pt x="626" y="277"/>
                  <a:pt x="620" y="291"/>
                  <a:pt x="612" y="304"/>
                </a:cubicBezTo>
                <a:cubicBezTo>
                  <a:pt x="604" y="317"/>
                  <a:pt x="594" y="330"/>
                  <a:pt x="582" y="342"/>
                </a:cubicBezTo>
                <a:cubicBezTo>
                  <a:pt x="571" y="354"/>
                  <a:pt x="558" y="365"/>
                  <a:pt x="543" y="375"/>
                </a:cubicBezTo>
                <a:cubicBezTo>
                  <a:pt x="528" y="385"/>
                  <a:pt x="512" y="394"/>
                  <a:pt x="494" y="402"/>
                </a:cubicBezTo>
                <a:cubicBezTo>
                  <a:pt x="476" y="410"/>
                  <a:pt x="458" y="417"/>
                  <a:pt x="439" y="423"/>
                </a:cubicBezTo>
                <a:cubicBezTo>
                  <a:pt x="420" y="428"/>
                  <a:pt x="400" y="432"/>
                  <a:pt x="379" y="435"/>
                </a:cubicBezTo>
                <a:cubicBezTo>
                  <a:pt x="359" y="438"/>
                  <a:pt x="338" y="439"/>
                  <a:pt x="317" y="439"/>
                </a:cubicBezTo>
                <a:cubicBezTo>
                  <a:pt x="296" y="439"/>
                  <a:pt x="276" y="438"/>
                  <a:pt x="255" y="435"/>
                </a:cubicBezTo>
                <a:cubicBezTo>
                  <a:pt x="235" y="432"/>
                  <a:pt x="215" y="428"/>
                  <a:pt x="196" y="423"/>
                </a:cubicBezTo>
                <a:cubicBezTo>
                  <a:pt x="177" y="417"/>
                  <a:pt x="158" y="410"/>
                  <a:pt x="141" y="402"/>
                </a:cubicBezTo>
                <a:cubicBezTo>
                  <a:pt x="124" y="394"/>
                  <a:pt x="108" y="385"/>
                  <a:pt x="93" y="375"/>
                </a:cubicBezTo>
                <a:cubicBezTo>
                  <a:pt x="78" y="365"/>
                  <a:pt x="65" y="354"/>
                  <a:pt x="53" y="342"/>
                </a:cubicBezTo>
                <a:cubicBezTo>
                  <a:pt x="42" y="330"/>
                  <a:pt x="32" y="317"/>
                  <a:pt x="24" y="304"/>
                </a:cubicBezTo>
                <a:cubicBezTo>
                  <a:pt x="16" y="291"/>
                  <a:pt x="10" y="277"/>
                  <a:pt x="6" y="263"/>
                </a:cubicBezTo>
                <a:cubicBezTo>
                  <a:pt x="2" y="249"/>
                  <a:pt x="0" y="235"/>
                  <a:pt x="0" y="220"/>
                </a:cubicBezTo>
                <a:cubicBezTo>
                  <a:pt x="0" y="206"/>
                  <a:pt x="2" y="192"/>
                  <a:pt x="6" y="177"/>
                </a:cubicBezTo>
                <a:cubicBezTo>
                  <a:pt x="10" y="163"/>
                  <a:pt x="16" y="150"/>
                  <a:pt x="24" y="136"/>
                </a:cubicBezTo>
                <a:cubicBezTo>
                  <a:pt x="32" y="123"/>
                  <a:pt x="42" y="109"/>
                  <a:pt x="53" y="97"/>
                </a:cubicBezTo>
                <a:cubicBezTo>
                  <a:pt x="65" y="85"/>
                  <a:pt x="78" y="74"/>
                  <a:pt x="93" y="64"/>
                </a:cubicBezTo>
                <a:cubicBezTo>
                  <a:pt x="108" y="54"/>
                  <a:pt x="124" y="45"/>
                  <a:pt x="141" y="37"/>
                </a:cubicBezTo>
                <a:cubicBezTo>
                  <a:pt x="158" y="29"/>
                  <a:pt x="177" y="22"/>
                  <a:pt x="196" y="17"/>
                </a:cubicBezTo>
                <a:cubicBezTo>
                  <a:pt x="215" y="11"/>
                  <a:pt x="235" y="7"/>
                  <a:pt x="255" y="4"/>
                </a:cubicBezTo>
                <a:cubicBezTo>
                  <a:pt x="276" y="1"/>
                  <a:pt x="296" y="0"/>
                  <a:pt x="317" y="0"/>
                </a:cubicBezTo>
                <a:cubicBezTo>
                  <a:pt x="338" y="0"/>
                  <a:pt x="359" y="1"/>
                  <a:pt x="379" y="4"/>
                </a:cubicBezTo>
                <a:cubicBezTo>
                  <a:pt x="400" y="7"/>
                  <a:pt x="420" y="11"/>
                  <a:pt x="439" y="17"/>
                </a:cubicBezTo>
                <a:cubicBezTo>
                  <a:pt x="458" y="22"/>
                  <a:pt x="476" y="29"/>
                  <a:pt x="494" y="37"/>
                </a:cubicBezTo>
                <a:cubicBezTo>
                  <a:pt x="512" y="45"/>
                  <a:pt x="528" y="54"/>
                  <a:pt x="543" y="64"/>
                </a:cubicBezTo>
                <a:cubicBezTo>
                  <a:pt x="558" y="74"/>
                  <a:pt x="571" y="85"/>
                  <a:pt x="582" y="97"/>
                </a:cubicBezTo>
                <a:cubicBezTo>
                  <a:pt x="594" y="109"/>
                  <a:pt x="604" y="123"/>
                  <a:pt x="612" y="136"/>
                </a:cubicBezTo>
                <a:cubicBezTo>
                  <a:pt x="620" y="150"/>
                  <a:pt x="626" y="163"/>
                  <a:pt x="630" y="177"/>
                </a:cubicBezTo>
                <a:cubicBezTo>
                  <a:pt x="634" y="192"/>
                  <a:pt x="636" y="206"/>
                  <a:pt x="636" y="220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2" name="文本框 931"/>
          <p:cNvSpPr txBox="1"/>
          <p:nvPr/>
        </p:nvSpPr>
        <p:spPr>
          <a:xfrm>
            <a:off x="8418772" y="4339440"/>
            <a:ext cx="49068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3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&gt; 15%</a:t>
            </a:r>
            <a:endParaRPr lang="en-US" sz="93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3" name="文本框 932"/>
          <p:cNvSpPr txBox="1"/>
          <p:nvPr/>
        </p:nvSpPr>
        <p:spPr>
          <a:xfrm>
            <a:off x="6151680" y="4611240"/>
            <a:ext cx="1710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3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5" name="文本框 934"/>
          <p:cNvSpPr txBox="1"/>
          <p:nvPr/>
        </p:nvSpPr>
        <p:spPr>
          <a:xfrm>
            <a:off x="6438960" y="4597920"/>
            <a:ext cx="18280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3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解决⽅案：正则化、增加数据、特征选择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40" y="882282"/>
            <a:ext cx="5794920" cy="277207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71008" y="3759480"/>
            <a:ext cx="5553512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sz="1000" b="1" i="0" dirty="0">
                <a:effectLst/>
                <a:latin typeface="Algerian" panose="04020705040A02060702" charset="0"/>
              </a:rPr>
              <a:t>​均方误差 </a:t>
            </a:r>
            <a:r>
              <a:rPr lang="en-US" altLang="zh-CN" sz="1000" b="1" i="0" dirty="0">
                <a:effectLst/>
                <a:latin typeface="Algerian" panose="04020705040A02060702" charset="0"/>
              </a:rPr>
              <a:t>(MSE)​</a:t>
            </a:r>
            <a:r>
              <a:rPr lang="zh-CN" altLang="en-US" sz="1000" b="1" i="0" dirty="0">
                <a:effectLst/>
                <a:latin typeface="PingFang SC"/>
              </a:rPr>
              <a:t>​</a:t>
            </a:r>
          </a:p>
          <a:p>
            <a:pPr algn="l" fontAlgn="base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000" b="0" i="0" dirty="0">
                <a:effectLst/>
                <a:latin typeface="Algerian" panose="04020705040A02060702" charset="0"/>
              </a:rPr>
              <a:t>​</a:t>
            </a:r>
            <a:r>
              <a:rPr lang="zh-CN" altLang="en-US" sz="1000" b="1" i="0" dirty="0">
                <a:effectLst/>
                <a:latin typeface="Algerian" panose="04020705040A02060702" charset="0"/>
              </a:rPr>
              <a:t>​核心特点​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​：通过平方放大误差，对大误差给予严厉惩罚</a:t>
            </a:r>
          </a:p>
          <a:p>
            <a:pPr algn="l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000" b="0" i="0" dirty="0">
                <a:effectLst/>
                <a:latin typeface="Algerian" panose="04020705040A02060702" charset="0"/>
              </a:rPr>
              <a:t>​</a:t>
            </a:r>
            <a:r>
              <a:rPr lang="zh-CN" altLang="en-US" sz="1000" b="1" i="0" dirty="0">
                <a:effectLst/>
                <a:latin typeface="Algerian" panose="04020705040A02060702" charset="0"/>
              </a:rPr>
              <a:t>​最佳适用​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​：对误差容忍度低的任务（如金融预测、质量控制）</a:t>
            </a:r>
          </a:p>
          <a:p>
            <a:pPr algn="l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000" b="0" i="0" dirty="0">
                <a:effectLst/>
                <a:latin typeface="Algerian" panose="04020705040A02060702" charset="0"/>
              </a:rPr>
              <a:t>​</a:t>
            </a:r>
            <a:r>
              <a:rPr lang="zh-CN" altLang="en-US" sz="1000" b="1" i="0" dirty="0">
                <a:effectLst/>
                <a:latin typeface="Algerian" panose="04020705040A02060702" charset="0"/>
              </a:rPr>
              <a:t>​关键局限​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​：计算结果单位异常（如预测房价时单位为</a:t>
            </a:r>
            <a:r>
              <a:rPr lang="en-US" altLang="zh-CN" sz="1000" b="0" i="0" dirty="0">
                <a:effectLst/>
                <a:latin typeface="Algerian" panose="04020705040A02060702" charset="0"/>
              </a:rPr>
              <a:t>"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万元</a:t>
            </a:r>
            <a:r>
              <a:rPr lang="en-US" altLang="zh-CN" sz="1000" b="0" i="0" dirty="0">
                <a:effectLst/>
                <a:latin typeface="Algerian" panose="04020705040A02060702" charset="0"/>
              </a:rPr>
              <a:t>²"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）</a:t>
            </a:r>
          </a:p>
          <a:p>
            <a:pPr algn="l" fontAlgn="base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000" b="0" i="0" dirty="0">
                <a:effectLst/>
                <a:latin typeface="Algerian" panose="04020705040A02060702" charset="0"/>
              </a:rPr>
              <a:t>​</a:t>
            </a:r>
            <a:r>
              <a:rPr lang="zh-CN" altLang="en-US" sz="1000" b="1" i="0" dirty="0">
                <a:effectLst/>
                <a:latin typeface="Algerian" panose="04020705040A02060702" charset="0"/>
              </a:rPr>
              <a:t>​改进方案​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​：使用 </a:t>
            </a:r>
            <a:r>
              <a:rPr lang="en-US" altLang="zh-CN" sz="1000" b="0" i="0" dirty="0">
                <a:effectLst/>
                <a:latin typeface="Algerian" panose="04020705040A02060702" charset="0"/>
              </a:rPr>
              <a:t>RMSE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（均方根误差）√</a:t>
            </a:r>
            <a:r>
              <a:rPr lang="en-US" altLang="zh-CN" sz="1000" b="0" i="0" dirty="0">
                <a:effectLst/>
                <a:latin typeface="Algerian" panose="04020705040A02060702" charset="0"/>
              </a:rPr>
              <a:t>MSE 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恢复量纲一致性</a:t>
            </a:r>
          </a:p>
          <a:p>
            <a:pPr algn="l" fontAlgn="base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sz="1000" b="1" i="0" dirty="0">
                <a:effectLst/>
                <a:latin typeface="PingFang SC"/>
              </a:rPr>
              <a:t>​</a:t>
            </a:r>
            <a:r>
              <a:rPr lang="zh-CN" altLang="en-US" sz="1000" b="1" i="0" dirty="0">
                <a:effectLst/>
                <a:latin typeface="Algerian" panose="04020705040A02060702" charset="0"/>
              </a:rPr>
              <a:t>​决定系数 </a:t>
            </a:r>
            <a:r>
              <a:rPr lang="en-US" altLang="zh-CN" sz="1000" b="1" i="0" dirty="0">
                <a:effectLst/>
                <a:latin typeface="Algerian" panose="04020705040A02060702" charset="0"/>
              </a:rPr>
              <a:t>(R²)​</a:t>
            </a:r>
            <a:r>
              <a:rPr lang="zh-CN" altLang="en-US" sz="1000" b="1" i="0" dirty="0">
                <a:effectLst/>
                <a:latin typeface="PingFang SC"/>
              </a:rPr>
              <a:t>​</a:t>
            </a:r>
          </a:p>
          <a:p>
            <a:pPr algn="l" fontAlgn="base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000" b="0" i="0" dirty="0">
                <a:effectLst/>
                <a:latin typeface="Algerian" panose="04020705040A02060702" charset="0"/>
              </a:rPr>
              <a:t>​</a:t>
            </a:r>
            <a:r>
              <a:rPr lang="zh-CN" altLang="en-US" sz="1000" b="1" i="0" dirty="0">
                <a:effectLst/>
                <a:latin typeface="Algerian" panose="04020705040A02060702" charset="0"/>
              </a:rPr>
              <a:t>​核心特点​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​：衡量模型捕捉数据波动的能力，与数据尺度无关</a:t>
            </a:r>
          </a:p>
          <a:p>
            <a:pPr algn="l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000" b="0" i="0" dirty="0">
                <a:effectLst/>
                <a:latin typeface="Algerian" panose="04020705040A02060702" charset="0"/>
              </a:rPr>
              <a:t>​</a:t>
            </a:r>
            <a:r>
              <a:rPr lang="zh-CN" altLang="en-US" sz="1000" b="1" i="0" dirty="0">
                <a:effectLst/>
                <a:latin typeface="Algerian" panose="04020705040A02060702" charset="0"/>
              </a:rPr>
              <a:t>​最佳适用​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​：比较不同模型的解释力（如线性模型 </a:t>
            </a:r>
            <a:r>
              <a:rPr lang="en-US" altLang="zh-CN" sz="1000" b="0" i="0" dirty="0">
                <a:effectLst/>
                <a:latin typeface="Algerian" panose="04020705040A02060702" charset="0"/>
              </a:rPr>
              <a:t>vs 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树模型）</a:t>
            </a:r>
          </a:p>
          <a:p>
            <a:pPr algn="l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000" b="0" i="0" dirty="0">
                <a:effectLst/>
                <a:latin typeface="Algerian" panose="04020705040A02060702" charset="0"/>
              </a:rPr>
              <a:t>​</a:t>
            </a:r>
            <a:r>
              <a:rPr lang="zh-CN" altLang="en-US" sz="1000" b="1" i="0" dirty="0">
                <a:effectLst/>
                <a:latin typeface="Algerian" panose="04020705040A02060702" charset="0"/>
              </a:rPr>
              <a:t>​致命缺陷​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​：添加任何特征（即使随机噪声）都会提升 </a:t>
            </a:r>
            <a:r>
              <a:rPr lang="en-US" altLang="zh-CN" sz="1000" b="0" i="1" dirty="0">
                <a:effectLst/>
                <a:latin typeface="Cambria Math" panose="02040503050406030204" charset="0"/>
              </a:rPr>
              <a:t>R</a:t>
            </a:r>
            <a:r>
              <a:rPr lang="en-US" altLang="zh-CN" sz="1000" b="0" i="0" dirty="0">
                <a:effectLst/>
                <a:latin typeface="Algerian" panose="04020705040A02060702" charset="0"/>
              </a:rPr>
              <a:t>2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值</a:t>
            </a:r>
          </a:p>
          <a:p>
            <a:pPr algn="l" fontAlgn="base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000" b="0" i="0" dirty="0">
                <a:effectLst/>
                <a:latin typeface="Algerian" panose="04020705040A02060702" charset="0"/>
              </a:rPr>
              <a:t>​</a:t>
            </a:r>
            <a:r>
              <a:rPr lang="zh-CN" altLang="en-US" sz="1000" b="1" i="0" dirty="0">
                <a:effectLst/>
                <a:latin typeface="Algerian" panose="04020705040A02060702" charset="0"/>
              </a:rPr>
              <a:t>​解决方案​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​：使用调整 </a:t>
            </a:r>
            <a:r>
              <a:rPr lang="en-US" altLang="zh-CN" sz="1000" b="0" i="1" dirty="0">
                <a:effectLst/>
                <a:latin typeface="Cambria Math" panose="02040503050406030204" charset="0"/>
              </a:rPr>
              <a:t>R</a:t>
            </a:r>
            <a:r>
              <a:rPr lang="en-US" altLang="zh-CN" sz="1000" b="0" i="0" dirty="0">
                <a:effectLst/>
                <a:latin typeface="Algerian" panose="04020705040A02060702" charset="0"/>
              </a:rPr>
              <a:t>2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引入特征数量惩罚项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2102AB-2E6E-820A-F35C-381C6962F533}"/>
              </a:ext>
            </a:extLst>
          </p:cNvPr>
          <p:cNvSpPr txBox="1"/>
          <p:nvPr/>
        </p:nvSpPr>
        <p:spPr>
          <a:xfrm>
            <a:off x="10905272" y="17246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任意多边形 9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48" name="任意多边形 947"/>
          <p:cNvSpPr/>
          <p:nvPr/>
        </p:nvSpPr>
        <p:spPr>
          <a:xfrm>
            <a:off x="152280" y="83160"/>
            <a:ext cx="11887560" cy="6774840"/>
          </a:xfrm>
          <a:custGeom>
            <a:avLst/>
            <a:gdLst/>
            <a:ahLst/>
            <a:cxnLst/>
            <a:rect l="0" t="0" r="r" b="b"/>
            <a:pathLst>
              <a:path w="33021" h="18819">
                <a:moveTo>
                  <a:pt x="0" y="0"/>
                </a:moveTo>
                <a:lnTo>
                  <a:pt x="33021" y="0"/>
                </a:lnTo>
                <a:lnTo>
                  <a:pt x="33021" y="18819"/>
                </a:lnTo>
                <a:lnTo>
                  <a:pt x="0" y="188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49" name="任意多边形 948"/>
          <p:cNvSpPr/>
          <p:nvPr/>
        </p:nvSpPr>
        <p:spPr>
          <a:xfrm>
            <a:off x="152280" y="83160"/>
            <a:ext cx="11887560" cy="526680"/>
          </a:xfrm>
          <a:custGeom>
            <a:avLst/>
            <a:gdLst/>
            <a:ahLst/>
            <a:cxnLst/>
            <a:rect l="0" t="0" r="r" b="b"/>
            <a:pathLst>
              <a:path w="33021" h="1463">
                <a:moveTo>
                  <a:pt x="0" y="0"/>
                </a:moveTo>
                <a:lnTo>
                  <a:pt x="33021" y="0"/>
                </a:lnTo>
                <a:lnTo>
                  <a:pt x="33021" y="1463"/>
                </a:lnTo>
                <a:lnTo>
                  <a:pt x="0" y="1463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50" name="任意多边形 949"/>
          <p:cNvSpPr/>
          <p:nvPr/>
        </p:nvSpPr>
        <p:spPr>
          <a:xfrm>
            <a:off x="152100" y="605626"/>
            <a:ext cx="11887560" cy="6108120"/>
          </a:xfrm>
          <a:custGeom>
            <a:avLst/>
            <a:gdLst/>
            <a:ahLst/>
            <a:cxnLst/>
            <a:rect l="0" t="0" r="r" b="b"/>
            <a:pathLst>
              <a:path w="33021" h="16967">
                <a:moveTo>
                  <a:pt x="0" y="0"/>
                </a:moveTo>
                <a:lnTo>
                  <a:pt x="33021" y="0"/>
                </a:lnTo>
                <a:lnTo>
                  <a:pt x="33021" y="16967"/>
                </a:lnTo>
                <a:lnTo>
                  <a:pt x="0" y="16967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51" name="任意多边形 950"/>
          <p:cNvSpPr/>
          <p:nvPr/>
        </p:nvSpPr>
        <p:spPr>
          <a:xfrm>
            <a:off x="628560" y="1078560"/>
            <a:ext cx="5162760" cy="521640"/>
          </a:xfrm>
          <a:custGeom>
            <a:avLst/>
            <a:gdLst/>
            <a:ahLst/>
            <a:cxnLst/>
            <a:rect l="0" t="0" r="r" b="b"/>
            <a:pathLst>
              <a:path w="14341" h="1449">
                <a:moveTo>
                  <a:pt x="0" y="1449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2"/>
                </a:cubicBezTo>
                <a:cubicBezTo>
                  <a:pt x="14184" y="4"/>
                  <a:pt x="14198" y="6"/>
                  <a:pt x="14210" y="9"/>
                </a:cubicBezTo>
                <a:cubicBezTo>
                  <a:pt x="14223" y="12"/>
                  <a:pt x="14236" y="15"/>
                  <a:pt x="14247" y="19"/>
                </a:cubicBezTo>
                <a:cubicBezTo>
                  <a:pt x="14259" y="24"/>
                  <a:pt x="14269" y="29"/>
                  <a:pt x="14279" y="34"/>
                </a:cubicBezTo>
                <a:cubicBezTo>
                  <a:pt x="14289" y="39"/>
                  <a:pt x="14298" y="45"/>
                  <a:pt x="14305" y="51"/>
                </a:cubicBezTo>
                <a:cubicBezTo>
                  <a:pt x="14313" y="58"/>
                  <a:pt x="14320" y="64"/>
                  <a:pt x="14325" y="71"/>
                </a:cubicBezTo>
                <a:cubicBezTo>
                  <a:pt x="14330" y="78"/>
                  <a:pt x="14334" y="86"/>
                  <a:pt x="14337" y="93"/>
                </a:cubicBezTo>
                <a:cubicBezTo>
                  <a:pt x="14340" y="101"/>
                  <a:pt x="14341" y="108"/>
                  <a:pt x="14341" y="116"/>
                </a:cubicBezTo>
                <a:lnTo>
                  <a:pt x="14341" y="1333"/>
                </a:lnTo>
                <a:cubicBezTo>
                  <a:pt x="14341" y="1340"/>
                  <a:pt x="14340" y="1348"/>
                  <a:pt x="14337" y="1355"/>
                </a:cubicBezTo>
                <a:cubicBezTo>
                  <a:pt x="14334" y="1363"/>
                  <a:pt x="14330" y="1370"/>
                  <a:pt x="14325" y="1377"/>
                </a:cubicBezTo>
                <a:cubicBezTo>
                  <a:pt x="14320" y="1384"/>
                  <a:pt x="14313" y="1391"/>
                  <a:pt x="14305" y="1397"/>
                </a:cubicBezTo>
                <a:cubicBezTo>
                  <a:pt x="14298" y="1403"/>
                  <a:pt x="14289" y="1409"/>
                  <a:pt x="14279" y="1415"/>
                </a:cubicBezTo>
                <a:cubicBezTo>
                  <a:pt x="14269" y="1420"/>
                  <a:pt x="14259" y="1425"/>
                  <a:pt x="14247" y="1429"/>
                </a:cubicBezTo>
                <a:cubicBezTo>
                  <a:pt x="14236" y="1433"/>
                  <a:pt x="14223" y="1437"/>
                  <a:pt x="14210" y="1440"/>
                </a:cubicBezTo>
                <a:cubicBezTo>
                  <a:pt x="14198" y="1443"/>
                  <a:pt x="14184" y="1445"/>
                  <a:pt x="14171" y="1446"/>
                </a:cubicBezTo>
                <a:cubicBezTo>
                  <a:pt x="14157" y="1448"/>
                  <a:pt x="14143" y="1449"/>
                  <a:pt x="14129" y="1449"/>
                </a:cubicBezTo>
                <a:lnTo>
                  <a:pt x="0" y="1449"/>
                </a:lnTo>
                <a:close/>
              </a:path>
            </a:pathLst>
          </a:custGeom>
          <a:solidFill>
            <a:srgbClr val="F0F9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52" name="任意多边形 951"/>
          <p:cNvSpPr/>
          <p:nvPr/>
        </p:nvSpPr>
        <p:spPr>
          <a:xfrm>
            <a:off x="609480" y="1078560"/>
            <a:ext cx="38520" cy="521640"/>
          </a:xfrm>
          <a:custGeom>
            <a:avLst/>
            <a:gdLst/>
            <a:ahLst/>
            <a:cxnLst/>
            <a:rect l="0" t="0" r="r" b="b"/>
            <a:pathLst>
              <a:path w="107" h="1449">
                <a:moveTo>
                  <a:pt x="0" y="0"/>
                </a:moveTo>
                <a:lnTo>
                  <a:pt x="107" y="0"/>
                </a:lnTo>
                <a:lnTo>
                  <a:pt x="107" y="1449"/>
                </a:lnTo>
                <a:lnTo>
                  <a:pt x="0" y="1449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53" name="任意多边形 952"/>
          <p:cNvSpPr/>
          <p:nvPr/>
        </p:nvSpPr>
        <p:spPr>
          <a:xfrm>
            <a:off x="628560" y="1683000"/>
            <a:ext cx="5162760" cy="521640"/>
          </a:xfrm>
          <a:custGeom>
            <a:avLst/>
            <a:gdLst/>
            <a:ahLst/>
            <a:cxnLst/>
            <a:rect l="0" t="0" r="r" b="b"/>
            <a:pathLst>
              <a:path w="14341" h="1449">
                <a:moveTo>
                  <a:pt x="0" y="1449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2"/>
                </a:cubicBezTo>
                <a:cubicBezTo>
                  <a:pt x="14184" y="4"/>
                  <a:pt x="14198" y="6"/>
                  <a:pt x="14210" y="9"/>
                </a:cubicBezTo>
                <a:cubicBezTo>
                  <a:pt x="14223" y="12"/>
                  <a:pt x="14236" y="15"/>
                  <a:pt x="14247" y="20"/>
                </a:cubicBezTo>
                <a:cubicBezTo>
                  <a:pt x="14259" y="24"/>
                  <a:pt x="14269" y="29"/>
                  <a:pt x="14279" y="34"/>
                </a:cubicBezTo>
                <a:cubicBezTo>
                  <a:pt x="14289" y="39"/>
                  <a:pt x="14298" y="45"/>
                  <a:pt x="14305" y="52"/>
                </a:cubicBezTo>
                <a:cubicBezTo>
                  <a:pt x="14313" y="58"/>
                  <a:pt x="14320" y="65"/>
                  <a:pt x="14325" y="72"/>
                </a:cubicBezTo>
                <a:cubicBezTo>
                  <a:pt x="14330" y="79"/>
                  <a:pt x="14334" y="86"/>
                  <a:pt x="14337" y="93"/>
                </a:cubicBezTo>
                <a:cubicBezTo>
                  <a:pt x="14340" y="101"/>
                  <a:pt x="14341" y="108"/>
                  <a:pt x="14341" y="116"/>
                </a:cubicBezTo>
                <a:lnTo>
                  <a:pt x="14341" y="1333"/>
                </a:lnTo>
                <a:cubicBezTo>
                  <a:pt x="14341" y="1341"/>
                  <a:pt x="14340" y="1348"/>
                  <a:pt x="14337" y="1356"/>
                </a:cubicBezTo>
                <a:cubicBezTo>
                  <a:pt x="14334" y="1363"/>
                  <a:pt x="14330" y="1370"/>
                  <a:pt x="14325" y="1377"/>
                </a:cubicBezTo>
                <a:cubicBezTo>
                  <a:pt x="14320" y="1384"/>
                  <a:pt x="14313" y="1391"/>
                  <a:pt x="14305" y="1397"/>
                </a:cubicBezTo>
                <a:cubicBezTo>
                  <a:pt x="14298" y="1404"/>
                  <a:pt x="14289" y="1409"/>
                  <a:pt x="14279" y="1415"/>
                </a:cubicBezTo>
                <a:cubicBezTo>
                  <a:pt x="14269" y="1420"/>
                  <a:pt x="14259" y="1425"/>
                  <a:pt x="14247" y="1429"/>
                </a:cubicBezTo>
                <a:cubicBezTo>
                  <a:pt x="14236" y="1433"/>
                  <a:pt x="14223" y="1437"/>
                  <a:pt x="14210" y="1440"/>
                </a:cubicBezTo>
                <a:cubicBezTo>
                  <a:pt x="14198" y="1443"/>
                  <a:pt x="14184" y="1445"/>
                  <a:pt x="14171" y="1446"/>
                </a:cubicBezTo>
                <a:cubicBezTo>
                  <a:pt x="14157" y="1448"/>
                  <a:pt x="14143" y="1449"/>
                  <a:pt x="14129" y="1449"/>
                </a:cubicBezTo>
                <a:lnTo>
                  <a:pt x="0" y="1449"/>
                </a:lnTo>
                <a:close/>
              </a:path>
            </a:pathLst>
          </a:custGeom>
          <a:solidFill>
            <a:srgbClr val="F0F9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54" name="任意多边形 953"/>
          <p:cNvSpPr/>
          <p:nvPr/>
        </p:nvSpPr>
        <p:spPr>
          <a:xfrm>
            <a:off x="609480" y="1683000"/>
            <a:ext cx="38520" cy="521640"/>
          </a:xfrm>
          <a:custGeom>
            <a:avLst/>
            <a:gdLst/>
            <a:ahLst/>
            <a:cxnLst/>
            <a:rect l="0" t="0" r="r" b="b"/>
            <a:pathLst>
              <a:path w="107" h="1449">
                <a:moveTo>
                  <a:pt x="0" y="0"/>
                </a:moveTo>
                <a:lnTo>
                  <a:pt x="107" y="0"/>
                </a:lnTo>
                <a:lnTo>
                  <a:pt x="107" y="1449"/>
                </a:lnTo>
                <a:lnTo>
                  <a:pt x="0" y="1449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55" name="任意多边形 954"/>
          <p:cNvSpPr/>
          <p:nvPr/>
        </p:nvSpPr>
        <p:spPr>
          <a:xfrm>
            <a:off x="628560" y="2287440"/>
            <a:ext cx="5162760" cy="521640"/>
          </a:xfrm>
          <a:custGeom>
            <a:avLst/>
            <a:gdLst/>
            <a:ahLst/>
            <a:cxnLst/>
            <a:rect l="0" t="0" r="r" b="b"/>
            <a:pathLst>
              <a:path w="14341" h="1449">
                <a:moveTo>
                  <a:pt x="0" y="1449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3"/>
                </a:cubicBezTo>
                <a:cubicBezTo>
                  <a:pt x="14184" y="4"/>
                  <a:pt x="14198" y="6"/>
                  <a:pt x="14210" y="9"/>
                </a:cubicBezTo>
                <a:cubicBezTo>
                  <a:pt x="14223" y="12"/>
                  <a:pt x="14236" y="16"/>
                  <a:pt x="14247" y="20"/>
                </a:cubicBezTo>
                <a:cubicBezTo>
                  <a:pt x="14259" y="24"/>
                  <a:pt x="14269" y="29"/>
                  <a:pt x="14279" y="34"/>
                </a:cubicBezTo>
                <a:cubicBezTo>
                  <a:pt x="14289" y="40"/>
                  <a:pt x="14298" y="45"/>
                  <a:pt x="14305" y="52"/>
                </a:cubicBezTo>
                <a:cubicBezTo>
                  <a:pt x="14313" y="58"/>
                  <a:pt x="14320" y="65"/>
                  <a:pt x="14325" y="72"/>
                </a:cubicBezTo>
                <a:cubicBezTo>
                  <a:pt x="14330" y="79"/>
                  <a:pt x="14334" y="86"/>
                  <a:pt x="14337" y="94"/>
                </a:cubicBezTo>
                <a:cubicBezTo>
                  <a:pt x="14340" y="101"/>
                  <a:pt x="14341" y="109"/>
                  <a:pt x="14341" y="116"/>
                </a:cubicBezTo>
                <a:lnTo>
                  <a:pt x="14341" y="1333"/>
                </a:lnTo>
                <a:cubicBezTo>
                  <a:pt x="14341" y="1341"/>
                  <a:pt x="14340" y="1348"/>
                  <a:pt x="14337" y="1356"/>
                </a:cubicBezTo>
                <a:cubicBezTo>
                  <a:pt x="14334" y="1363"/>
                  <a:pt x="14330" y="1370"/>
                  <a:pt x="14325" y="1377"/>
                </a:cubicBezTo>
                <a:cubicBezTo>
                  <a:pt x="14320" y="1384"/>
                  <a:pt x="14313" y="1391"/>
                  <a:pt x="14305" y="1397"/>
                </a:cubicBezTo>
                <a:cubicBezTo>
                  <a:pt x="14298" y="1404"/>
                  <a:pt x="14289" y="1410"/>
                  <a:pt x="14279" y="1415"/>
                </a:cubicBezTo>
                <a:cubicBezTo>
                  <a:pt x="14269" y="1420"/>
                  <a:pt x="14259" y="1425"/>
                  <a:pt x="14247" y="1429"/>
                </a:cubicBezTo>
                <a:cubicBezTo>
                  <a:pt x="14236" y="1434"/>
                  <a:pt x="14223" y="1437"/>
                  <a:pt x="14210" y="1440"/>
                </a:cubicBezTo>
                <a:cubicBezTo>
                  <a:pt x="14198" y="1443"/>
                  <a:pt x="14184" y="1445"/>
                  <a:pt x="14171" y="1447"/>
                </a:cubicBezTo>
                <a:cubicBezTo>
                  <a:pt x="14157" y="1448"/>
                  <a:pt x="14143" y="1449"/>
                  <a:pt x="14129" y="1449"/>
                </a:cubicBezTo>
                <a:lnTo>
                  <a:pt x="0" y="1449"/>
                </a:lnTo>
                <a:close/>
              </a:path>
            </a:pathLst>
          </a:custGeom>
          <a:solidFill>
            <a:srgbClr val="F0F9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56" name="任意多边形 955"/>
          <p:cNvSpPr/>
          <p:nvPr/>
        </p:nvSpPr>
        <p:spPr>
          <a:xfrm>
            <a:off x="609480" y="2287440"/>
            <a:ext cx="38520" cy="521640"/>
          </a:xfrm>
          <a:custGeom>
            <a:avLst/>
            <a:gdLst/>
            <a:ahLst/>
            <a:cxnLst/>
            <a:rect l="0" t="0" r="r" b="b"/>
            <a:pathLst>
              <a:path w="107" h="1449">
                <a:moveTo>
                  <a:pt x="0" y="0"/>
                </a:moveTo>
                <a:lnTo>
                  <a:pt x="107" y="0"/>
                </a:lnTo>
                <a:lnTo>
                  <a:pt x="107" y="1449"/>
                </a:lnTo>
                <a:lnTo>
                  <a:pt x="0" y="1449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57" name="任意多边形 956"/>
          <p:cNvSpPr/>
          <p:nvPr/>
        </p:nvSpPr>
        <p:spPr>
          <a:xfrm>
            <a:off x="628560" y="2892240"/>
            <a:ext cx="5162760" cy="521280"/>
          </a:xfrm>
          <a:custGeom>
            <a:avLst/>
            <a:gdLst/>
            <a:ahLst/>
            <a:cxnLst/>
            <a:rect l="0" t="0" r="r" b="b"/>
            <a:pathLst>
              <a:path w="14341" h="1448">
                <a:moveTo>
                  <a:pt x="0" y="1448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0"/>
                  <a:pt x="14171" y="2"/>
                </a:cubicBezTo>
                <a:cubicBezTo>
                  <a:pt x="14184" y="3"/>
                  <a:pt x="14198" y="5"/>
                  <a:pt x="14210" y="8"/>
                </a:cubicBezTo>
                <a:cubicBezTo>
                  <a:pt x="14223" y="11"/>
                  <a:pt x="14236" y="15"/>
                  <a:pt x="14247" y="19"/>
                </a:cubicBezTo>
                <a:cubicBezTo>
                  <a:pt x="14259" y="23"/>
                  <a:pt x="14269" y="28"/>
                  <a:pt x="14279" y="33"/>
                </a:cubicBezTo>
                <a:cubicBezTo>
                  <a:pt x="14289" y="39"/>
                  <a:pt x="14298" y="45"/>
                  <a:pt x="14305" y="51"/>
                </a:cubicBezTo>
                <a:cubicBezTo>
                  <a:pt x="14313" y="57"/>
                  <a:pt x="14320" y="64"/>
                  <a:pt x="14325" y="71"/>
                </a:cubicBezTo>
                <a:cubicBezTo>
                  <a:pt x="14330" y="78"/>
                  <a:pt x="14334" y="85"/>
                  <a:pt x="14337" y="93"/>
                </a:cubicBezTo>
                <a:cubicBezTo>
                  <a:pt x="14340" y="100"/>
                  <a:pt x="14341" y="108"/>
                  <a:pt x="14341" y="115"/>
                </a:cubicBezTo>
                <a:lnTo>
                  <a:pt x="14341" y="1331"/>
                </a:lnTo>
                <a:cubicBezTo>
                  <a:pt x="14341" y="1339"/>
                  <a:pt x="14340" y="1346"/>
                  <a:pt x="14337" y="1354"/>
                </a:cubicBezTo>
                <a:cubicBezTo>
                  <a:pt x="14334" y="1361"/>
                  <a:pt x="14330" y="1369"/>
                  <a:pt x="14325" y="1377"/>
                </a:cubicBezTo>
                <a:cubicBezTo>
                  <a:pt x="14320" y="1384"/>
                  <a:pt x="14313" y="1390"/>
                  <a:pt x="14305" y="1397"/>
                </a:cubicBezTo>
                <a:cubicBezTo>
                  <a:pt x="14298" y="1403"/>
                  <a:pt x="14289" y="1409"/>
                  <a:pt x="14279" y="1414"/>
                </a:cubicBezTo>
                <a:cubicBezTo>
                  <a:pt x="14269" y="1420"/>
                  <a:pt x="14259" y="1424"/>
                  <a:pt x="14247" y="1429"/>
                </a:cubicBezTo>
                <a:cubicBezTo>
                  <a:pt x="14236" y="1433"/>
                  <a:pt x="14223" y="1436"/>
                  <a:pt x="14210" y="1439"/>
                </a:cubicBezTo>
                <a:cubicBezTo>
                  <a:pt x="14198" y="1442"/>
                  <a:pt x="14184" y="1444"/>
                  <a:pt x="14171" y="1446"/>
                </a:cubicBezTo>
                <a:cubicBezTo>
                  <a:pt x="14157" y="1447"/>
                  <a:pt x="14143" y="1448"/>
                  <a:pt x="14129" y="1448"/>
                </a:cubicBezTo>
                <a:lnTo>
                  <a:pt x="0" y="1448"/>
                </a:lnTo>
                <a:close/>
              </a:path>
            </a:pathLst>
          </a:custGeom>
          <a:solidFill>
            <a:srgbClr val="F0F9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58" name="任意多边形 957"/>
          <p:cNvSpPr/>
          <p:nvPr/>
        </p:nvSpPr>
        <p:spPr>
          <a:xfrm>
            <a:off x="609480" y="2892240"/>
            <a:ext cx="38520" cy="521280"/>
          </a:xfrm>
          <a:custGeom>
            <a:avLst/>
            <a:gdLst/>
            <a:ahLst/>
            <a:cxnLst/>
            <a:rect l="0" t="0" r="r" b="b"/>
            <a:pathLst>
              <a:path w="107" h="1448">
                <a:moveTo>
                  <a:pt x="0" y="0"/>
                </a:moveTo>
                <a:lnTo>
                  <a:pt x="107" y="0"/>
                </a:lnTo>
                <a:lnTo>
                  <a:pt x="107" y="1448"/>
                </a:lnTo>
                <a:lnTo>
                  <a:pt x="0" y="1448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59" name="文本框 958"/>
          <p:cNvSpPr txBox="1"/>
          <p:nvPr/>
        </p:nvSpPr>
        <p:spPr>
          <a:xfrm>
            <a:off x="609480" y="213840"/>
            <a:ext cx="28980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3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交叉验证：提升评估可靠性</a:t>
            </a:r>
            <a:endParaRPr kumimoji="0" lang="en-US" sz="173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60" name="文本框 959"/>
          <p:cNvSpPr txBox="1"/>
          <p:nvPr/>
        </p:nvSpPr>
        <p:spPr>
          <a:xfrm>
            <a:off x="609480" y="802800"/>
            <a:ext cx="179536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K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61" name="任意多边形 960"/>
          <p:cNvSpPr/>
          <p:nvPr/>
        </p:nvSpPr>
        <p:spPr>
          <a:xfrm>
            <a:off x="799920" y="1187244"/>
            <a:ext cx="305280" cy="167040"/>
          </a:xfrm>
          <a:custGeom>
            <a:avLst/>
            <a:gdLst/>
            <a:ahLst/>
            <a:cxnLst/>
            <a:rect l="0" t="0" r="r" b="b"/>
            <a:pathLst>
              <a:path w="848" h="464">
                <a:moveTo>
                  <a:pt x="848" y="231"/>
                </a:moveTo>
                <a:cubicBezTo>
                  <a:pt x="848" y="247"/>
                  <a:pt x="845" y="262"/>
                  <a:pt x="840" y="277"/>
                </a:cubicBezTo>
                <a:cubicBezTo>
                  <a:pt x="834" y="292"/>
                  <a:pt x="826" y="307"/>
                  <a:pt x="815" y="321"/>
                </a:cubicBezTo>
                <a:cubicBezTo>
                  <a:pt x="805" y="335"/>
                  <a:pt x="792" y="348"/>
                  <a:pt x="776" y="361"/>
                </a:cubicBezTo>
                <a:cubicBezTo>
                  <a:pt x="761" y="374"/>
                  <a:pt x="743" y="385"/>
                  <a:pt x="723" y="396"/>
                </a:cubicBezTo>
                <a:cubicBezTo>
                  <a:pt x="703" y="407"/>
                  <a:pt x="682" y="416"/>
                  <a:pt x="659" y="425"/>
                </a:cubicBezTo>
                <a:cubicBezTo>
                  <a:pt x="635" y="433"/>
                  <a:pt x="611" y="440"/>
                  <a:pt x="585" y="446"/>
                </a:cubicBezTo>
                <a:cubicBezTo>
                  <a:pt x="560" y="452"/>
                  <a:pt x="533" y="456"/>
                  <a:pt x="506" y="459"/>
                </a:cubicBezTo>
                <a:cubicBezTo>
                  <a:pt x="479" y="462"/>
                  <a:pt x="451" y="464"/>
                  <a:pt x="423" y="464"/>
                </a:cubicBezTo>
                <a:cubicBezTo>
                  <a:pt x="396" y="464"/>
                  <a:pt x="368" y="462"/>
                  <a:pt x="341" y="459"/>
                </a:cubicBezTo>
                <a:cubicBezTo>
                  <a:pt x="313" y="456"/>
                  <a:pt x="287" y="452"/>
                  <a:pt x="261" y="446"/>
                </a:cubicBezTo>
                <a:cubicBezTo>
                  <a:pt x="236" y="440"/>
                  <a:pt x="211" y="433"/>
                  <a:pt x="188" y="425"/>
                </a:cubicBezTo>
                <a:cubicBezTo>
                  <a:pt x="165" y="416"/>
                  <a:pt x="144" y="407"/>
                  <a:pt x="124" y="396"/>
                </a:cubicBezTo>
                <a:cubicBezTo>
                  <a:pt x="104" y="385"/>
                  <a:pt x="87" y="374"/>
                  <a:pt x="71" y="361"/>
                </a:cubicBezTo>
                <a:cubicBezTo>
                  <a:pt x="56" y="348"/>
                  <a:pt x="43" y="335"/>
                  <a:pt x="32" y="321"/>
                </a:cubicBezTo>
                <a:cubicBezTo>
                  <a:pt x="22" y="307"/>
                  <a:pt x="14" y="292"/>
                  <a:pt x="8" y="277"/>
                </a:cubicBezTo>
                <a:cubicBezTo>
                  <a:pt x="3" y="262"/>
                  <a:pt x="0" y="247"/>
                  <a:pt x="0" y="231"/>
                </a:cubicBezTo>
                <a:cubicBezTo>
                  <a:pt x="0" y="216"/>
                  <a:pt x="3" y="201"/>
                  <a:pt x="8" y="186"/>
                </a:cubicBezTo>
                <a:cubicBezTo>
                  <a:pt x="14" y="171"/>
                  <a:pt x="22" y="157"/>
                  <a:pt x="32" y="143"/>
                </a:cubicBezTo>
                <a:cubicBezTo>
                  <a:pt x="43" y="129"/>
                  <a:pt x="56" y="115"/>
                  <a:pt x="71" y="103"/>
                </a:cubicBezTo>
                <a:cubicBezTo>
                  <a:pt x="87" y="90"/>
                  <a:pt x="104" y="78"/>
                  <a:pt x="124" y="67"/>
                </a:cubicBezTo>
                <a:cubicBezTo>
                  <a:pt x="144" y="57"/>
                  <a:pt x="165" y="47"/>
                  <a:pt x="188" y="39"/>
                </a:cubicBezTo>
                <a:cubicBezTo>
                  <a:pt x="211" y="30"/>
                  <a:pt x="236" y="23"/>
                  <a:pt x="261" y="17"/>
                </a:cubicBezTo>
                <a:cubicBezTo>
                  <a:pt x="287" y="11"/>
                  <a:pt x="313" y="7"/>
                  <a:pt x="341" y="4"/>
                </a:cubicBezTo>
                <a:cubicBezTo>
                  <a:pt x="368" y="1"/>
                  <a:pt x="396" y="0"/>
                  <a:pt x="423" y="0"/>
                </a:cubicBezTo>
                <a:cubicBezTo>
                  <a:pt x="451" y="0"/>
                  <a:pt x="479" y="1"/>
                  <a:pt x="506" y="4"/>
                </a:cubicBezTo>
                <a:cubicBezTo>
                  <a:pt x="533" y="7"/>
                  <a:pt x="560" y="11"/>
                  <a:pt x="585" y="17"/>
                </a:cubicBezTo>
                <a:cubicBezTo>
                  <a:pt x="611" y="23"/>
                  <a:pt x="635" y="30"/>
                  <a:pt x="659" y="39"/>
                </a:cubicBezTo>
                <a:cubicBezTo>
                  <a:pt x="682" y="47"/>
                  <a:pt x="703" y="57"/>
                  <a:pt x="723" y="67"/>
                </a:cubicBezTo>
                <a:cubicBezTo>
                  <a:pt x="743" y="78"/>
                  <a:pt x="761" y="90"/>
                  <a:pt x="776" y="103"/>
                </a:cubicBezTo>
                <a:cubicBezTo>
                  <a:pt x="792" y="115"/>
                  <a:pt x="805" y="129"/>
                  <a:pt x="815" y="143"/>
                </a:cubicBezTo>
                <a:cubicBezTo>
                  <a:pt x="826" y="157"/>
                  <a:pt x="834" y="171"/>
                  <a:pt x="840" y="186"/>
                </a:cubicBezTo>
                <a:cubicBezTo>
                  <a:pt x="845" y="201"/>
                  <a:pt x="848" y="216"/>
                  <a:pt x="848" y="231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62" name="文本框 961"/>
          <p:cNvSpPr txBox="1"/>
          <p:nvPr/>
        </p:nvSpPr>
        <p:spPr>
          <a:xfrm>
            <a:off x="817200" y="797400"/>
            <a:ext cx="1615827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NotoSansCJKsc"/>
                <a:ea typeface="NotoSansCJKsc"/>
              </a:rPr>
              <a:t>折交叉验证步骤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63" name="文本框 962"/>
          <p:cNvSpPr txBox="1"/>
          <p:nvPr/>
        </p:nvSpPr>
        <p:spPr>
          <a:xfrm>
            <a:off x="914400" y="1197360"/>
            <a:ext cx="6732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1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64" name="文本框 963"/>
          <p:cNvSpPr txBox="1"/>
          <p:nvPr/>
        </p:nvSpPr>
        <p:spPr>
          <a:xfrm>
            <a:off x="1219320" y="1180800"/>
            <a:ext cx="615553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NotoSansCJKsc"/>
                <a:ea typeface="NotoSansCJKsc"/>
              </a:rPr>
              <a:t>数据划分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65" name="文本框 964"/>
          <p:cNvSpPr txBox="1"/>
          <p:nvPr/>
        </p:nvSpPr>
        <p:spPr>
          <a:xfrm>
            <a:off x="1219320" y="1387800"/>
            <a:ext cx="121187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将数据集随机划分为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66" name="文本框 965"/>
          <p:cNvSpPr txBox="1"/>
          <p:nvPr/>
        </p:nvSpPr>
        <p:spPr>
          <a:xfrm>
            <a:off x="2762280" y="1391040"/>
            <a:ext cx="9778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K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67" name="任意多边形 966"/>
          <p:cNvSpPr/>
          <p:nvPr/>
        </p:nvSpPr>
        <p:spPr>
          <a:xfrm>
            <a:off x="799920" y="1804266"/>
            <a:ext cx="305280" cy="167040"/>
          </a:xfrm>
          <a:custGeom>
            <a:avLst/>
            <a:gdLst/>
            <a:ahLst/>
            <a:cxnLst/>
            <a:rect l="0" t="0" r="r" b="b"/>
            <a:pathLst>
              <a:path w="848" h="464">
                <a:moveTo>
                  <a:pt x="848" y="231"/>
                </a:moveTo>
                <a:cubicBezTo>
                  <a:pt x="848" y="247"/>
                  <a:pt x="845" y="262"/>
                  <a:pt x="840" y="277"/>
                </a:cubicBezTo>
                <a:cubicBezTo>
                  <a:pt x="834" y="291"/>
                  <a:pt x="826" y="306"/>
                  <a:pt x="815" y="320"/>
                </a:cubicBezTo>
                <a:cubicBezTo>
                  <a:pt x="805" y="334"/>
                  <a:pt x="792" y="347"/>
                  <a:pt x="776" y="360"/>
                </a:cubicBezTo>
                <a:cubicBezTo>
                  <a:pt x="761" y="373"/>
                  <a:pt x="743" y="384"/>
                  <a:pt x="723" y="395"/>
                </a:cubicBezTo>
                <a:cubicBezTo>
                  <a:pt x="703" y="406"/>
                  <a:pt x="682" y="415"/>
                  <a:pt x="659" y="425"/>
                </a:cubicBezTo>
                <a:cubicBezTo>
                  <a:pt x="635" y="433"/>
                  <a:pt x="611" y="441"/>
                  <a:pt x="585" y="446"/>
                </a:cubicBezTo>
                <a:cubicBezTo>
                  <a:pt x="560" y="452"/>
                  <a:pt x="533" y="457"/>
                  <a:pt x="506" y="460"/>
                </a:cubicBezTo>
                <a:cubicBezTo>
                  <a:pt x="479" y="462"/>
                  <a:pt x="451" y="464"/>
                  <a:pt x="423" y="464"/>
                </a:cubicBezTo>
                <a:cubicBezTo>
                  <a:pt x="396" y="464"/>
                  <a:pt x="368" y="462"/>
                  <a:pt x="341" y="460"/>
                </a:cubicBezTo>
                <a:cubicBezTo>
                  <a:pt x="313" y="457"/>
                  <a:pt x="287" y="452"/>
                  <a:pt x="261" y="446"/>
                </a:cubicBezTo>
                <a:cubicBezTo>
                  <a:pt x="236" y="441"/>
                  <a:pt x="211" y="433"/>
                  <a:pt x="188" y="425"/>
                </a:cubicBezTo>
                <a:cubicBezTo>
                  <a:pt x="165" y="415"/>
                  <a:pt x="144" y="406"/>
                  <a:pt x="124" y="395"/>
                </a:cubicBezTo>
                <a:cubicBezTo>
                  <a:pt x="104" y="384"/>
                  <a:pt x="87" y="373"/>
                  <a:pt x="71" y="360"/>
                </a:cubicBezTo>
                <a:cubicBezTo>
                  <a:pt x="56" y="347"/>
                  <a:pt x="43" y="334"/>
                  <a:pt x="32" y="320"/>
                </a:cubicBezTo>
                <a:cubicBezTo>
                  <a:pt x="22" y="306"/>
                  <a:pt x="14" y="291"/>
                  <a:pt x="8" y="277"/>
                </a:cubicBezTo>
                <a:cubicBezTo>
                  <a:pt x="3" y="262"/>
                  <a:pt x="0" y="247"/>
                  <a:pt x="0" y="231"/>
                </a:cubicBezTo>
                <a:cubicBezTo>
                  <a:pt x="0" y="216"/>
                  <a:pt x="3" y="201"/>
                  <a:pt x="8" y="186"/>
                </a:cubicBezTo>
                <a:cubicBezTo>
                  <a:pt x="14" y="171"/>
                  <a:pt x="22" y="157"/>
                  <a:pt x="32" y="143"/>
                </a:cubicBezTo>
                <a:cubicBezTo>
                  <a:pt x="43" y="129"/>
                  <a:pt x="56" y="115"/>
                  <a:pt x="71" y="103"/>
                </a:cubicBezTo>
                <a:cubicBezTo>
                  <a:pt x="87" y="90"/>
                  <a:pt x="104" y="78"/>
                  <a:pt x="124" y="68"/>
                </a:cubicBezTo>
                <a:cubicBezTo>
                  <a:pt x="144" y="57"/>
                  <a:pt x="165" y="47"/>
                  <a:pt x="188" y="39"/>
                </a:cubicBezTo>
                <a:cubicBezTo>
                  <a:pt x="211" y="30"/>
                  <a:pt x="236" y="23"/>
                  <a:pt x="261" y="17"/>
                </a:cubicBezTo>
                <a:cubicBezTo>
                  <a:pt x="287" y="12"/>
                  <a:pt x="313" y="7"/>
                  <a:pt x="341" y="4"/>
                </a:cubicBezTo>
                <a:cubicBezTo>
                  <a:pt x="368" y="1"/>
                  <a:pt x="396" y="0"/>
                  <a:pt x="423" y="0"/>
                </a:cubicBezTo>
                <a:cubicBezTo>
                  <a:pt x="451" y="0"/>
                  <a:pt x="479" y="1"/>
                  <a:pt x="506" y="4"/>
                </a:cubicBezTo>
                <a:cubicBezTo>
                  <a:pt x="533" y="7"/>
                  <a:pt x="560" y="12"/>
                  <a:pt x="585" y="17"/>
                </a:cubicBezTo>
                <a:cubicBezTo>
                  <a:pt x="611" y="23"/>
                  <a:pt x="635" y="30"/>
                  <a:pt x="659" y="39"/>
                </a:cubicBezTo>
                <a:cubicBezTo>
                  <a:pt x="682" y="47"/>
                  <a:pt x="703" y="57"/>
                  <a:pt x="723" y="68"/>
                </a:cubicBezTo>
                <a:cubicBezTo>
                  <a:pt x="743" y="78"/>
                  <a:pt x="761" y="90"/>
                  <a:pt x="776" y="103"/>
                </a:cubicBezTo>
                <a:cubicBezTo>
                  <a:pt x="792" y="115"/>
                  <a:pt x="805" y="129"/>
                  <a:pt x="815" y="143"/>
                </a:cubicBezTo>
                <a:cubicBezTo>
                  <a:pt x="826" y="157"/>
                  <a:pt x="834" y="171"/>
                  <a:pt x="840" y="186"/>
                </a:cubicBezTo>
                <a:cubicBezTo>
                  <a:pt x="845" y="201"/>
                  <a:pt x="848" y="216"/>
                  <a:pt x="848" y="231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68" name="文本框 967"/>
          <p:cNvSpPr txBox="1"/>
          <p:nvPr/>
        </p:nvSpPr>
        <p:spPr>
          <a:xfrm>
            <a:off x="2886120" y="1387800"/>
            <a:ext cx="1077218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个⼤⼩相等的⼦集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69" name="文本框 968"/>
          <p:cNvSpPr txBox="1"/>
          <p:nvPr/>
        </p:nvSpPr>
        <p:spPr>
          <a:xfrm>
            <a:off x="914400" y="1801800"/>
            <a:ext cx="6732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2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70" name="文本框 969"/>
          <p:cNvSpPr txBox="1"/>
          <p:nvPr/>
        </p:nvSpPr>
        <p:spPr>
          <a:xfrm>
            <a:off x="1219320" y="1785240"/>
            <a:ext cx="615553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NotoSansCJKsc"/>
                <a:ea typeface="NotoSansCJKsc"/>
              </a:rPr>
              <a:t>迭代训练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71" name="文本框 970"/>
          <p:cNvSpPr txBox="1"/>
          <p:nvPr/>
        </p:nvSpPr>
        <p:spPr>
          <a:xfrm>
            <a:off x="1219320" y="1992240"/>
            <a:ext cx="53860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每次使⽤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72" name="文本框 971"/>
          <p:cNvSpPr txBox="1"/>
          <p:nvPr/>
        </p:nvSpPr>
        <p:spPr>
          <a:xfrm>
            <a:off x="1905120" y="1995840"/>
            <a:ext cx="20999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K-1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73" name="文本框 972"/>
          <p:cNvSpPr txBox="1"/>
          <p:nvPr/>
        </p:nvSpPr>
        <p:spPr>
          <a:xfrm>
            <a:off x="2171520" y="1992240"/>
            <a:ext cx="1481175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个⼦集作为训练集，剩余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74" name="文本框 973"/>
          <p:cNvSpPr txBox="1"/>
          <p:nvPr/>
        </p:nvSpPr>
        <p:spPr>
          <a:xfrm>
            <a:off x="4057560" y="1995840"/>
            <a:ext cx="6732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1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75" name="任意多边形 974"/>
          <p:cNvSpPr/>
          <p:nvPr/>
        </p:nvSpPr>
        <p:spPr>
          <a:xfrm>
            <a:off x="799920" y="2396124"/>
            <a:ext cx="305280" cy="167040"/>
          </a:xfrm>
          <a:custGeom>
            <a:avLst/>
            <a:gdLst/>
            <a:ahLst/>
            <a:cxnLst/>
            <a:rect l="0" t="0" r="r" b="b"/>
            <a:pathLst>
              <a:path w="848" h="464">
                <a:moveTo>
                  <a:pt x="848" y="233"/>
                </a:moveTo>
                <a:cubicBezTo>
                  <a:pt x="848" y="248"/>
                  <a:pt x="845" y="263"/>
                  <a:pt x="840" y="278"/>
                </a:cubicBezTo>
                <a:cubicBezTo>
                  <a:pt x="834" y="293"/>
                  <a:pt x="826" y="307"/>
                  <a:pt x="815" y="321"/>
                </a:cubicBezTo>
                <a:cubicBezTo>
                  <a:pt x="805" y="335"/>
                  <a:pt x="792" y="349"/>
                  <a:pt x="776" y="361"/>
                </a:cubicBezTo>
                <a:cubicBezTo>
                  <a:pt x="761" y="374"/>
                  <a:pt x="743" y="386"/>
                  <a:pt x="723" y="396"/>
                </a:cubicBezTo>
                <a:cubicBezTo>
                  <a:pt x="703" y="407"/>
                  <a:pt x="682" y="417"/>
                  <a:pt x="659" y="425"/>
                </a:cubicBezTo>
                <a:cubicBezTo>
                  <a:pt x="635" y="434"/>
                  <a:pt x="611" y="441"/>
                  <a:pt x="585" y="447"/>
                </a:cubicBezTo>
                <a:cubicBezTo>
                  <a:pt x="560" y="452"/>
                  <a:pt x="533" y="457"/>
                  <a:pt x="506" y="460"/>
                </a:cubicBezTo>
                <a:cubicBezTo>
                  <a:pt x="479" y="463"/>
                  <a:pt x="451" y="464"/>
                  <a:pt x="423" y="464"/>
                </a:cubicBezTo>
                <a:cubicBezTo>
                  <a:pt x="396" y="464"/>
                  <a:pt x="368" y="463"/>
                  <a:pt x="341" y="460"/>
                </a:cubicBezTo>
                <a:cubicBezTo>
                  <a:pt x="313" y="457"/>
                  <a:pt x="287" y="452"/>
                  <a:pt x="261" y="447"/>
                </a:cubicBezTo>
                <a:cubicBezTo>
                  <a:pt x="236" y="441"/>
                  <a:pt x="211" y="434"/>
                  <a:pt x="188" y="425"/>
                </a:cubicBezTo>
                <a:cubicBezTo>
                  <a:pt x="165" y="417"/>
                  <a:pt x="144" y="407"/>
                  <a:pt x="124" y="396"/>
                </a:cubicBezTo>
                <a:cubicBezTo>
                  <a:pt x="104" y="386"/>
                  <a:pt x="87" y="374"/>
                  <a:pt x="71" y="361"/>
                </a:cubicBezTo>
                <a:cubicBezTo>
                  <a:pt x="56" y="349"/>
                  <a:pt x="43" y="335"/>
                  <a:pt x="32" y="321"/>
                </a:cubicBezTo>
                <a:cubicBezTo>
                  <a:pt x="22" y="307"/>
                  <a:pt x="14" y="293"/>
                  <a:pt x="8" y="278"/>
                </a:cubicBezTo>
                <a:cubicBezTo>
                  <a:pt x="3" y="263"/>
                  <a:pt x="0" y="248"/>
                  <a:pt x="0" y="233"/>
                </a:cubicBezTo>
                <a:cubicBezTo>
                  <a:pt x="0" y="217"/>
                  <a:pt x="3" y="202"/>
                  <a:pt x="8" y="187"/>
                </a:cubicBezTo>
                <a:cubicBezTo>
                  <a:pt x="14" y="172"/>
                  <a:pt x="22" y="158"/>
                  <a:pt x="32" y="144"/>
                </a:cubicBezTo>
                <a:cubicBezTo>
                  <a:pt x="43" y="130"/>
                  <a:pt x="56" y="116"/>
                  <a:pt x="71" y="103"/>
                </a:cubicBezTo>
                <a:cubicBezTo>
                  <a:pt x="87" y="90"/>
                  <a:pt x="104" y="79"/>
                  <a:pt x="124" y="68"/>
                </a:cubicBezTo>
                <a:cubicBezTo>
                  <a:pt x="144" y="57"/>
                  <a:pt x="165" y="47"/>
                  <a:pt x="188" y="39"/>
                </a:cubicBezTo>
                <a:cubicBezTo>
                  <a:pt x="211" y="31"/>
                  <a:pt x="236" y="23"/>
                  <a:pt x="261" y="18"/>
                </a:cubicBezTo>
                <a:cubicBezTo>
                  <a:pt x="287" y="12"/>
                  <a:pt x="313" y="7"/>
                  <a:pt x="341" y="4"/>
                </a:cubicBezTo>
                <a:cubicBezTo>
                  <a:pt x="368" y="1"/>
                  <a:pt x="396" y="0"/>
                  <a:pt x="423" y="0"/>
                </a:cubicBezTo>
                <a:cubicBezTo>
                  <a:pt x="451" y="0"/>
                  <a:pt x="479" y="1"/>
                  <a:pt x="506" y="4"/>
                </a:cubicBezTo>
                <a:cubicBezTo>
                  <a:pt x="533" y="7"/>
                  <a:pt x="560" y="12"/>
                  <a:pt x="585" y="18"/>
                </a:cubicBezTo>
                <a:cubicBezTo>
                  <a:pt x="611" y="23"/>
                  <a:pt x="635" y="31"/>
                  <a:pt x="659" y="39"/>
                </a:cubicBezTo>
                <a:cubicBezTo>
                  <a:pt x="682" y="47"/>
                  <a:pt x="703" y="57"/>
                  <a:pt x="723" y="68"/>
                </a:cubicBezTo>
                <a:cubicBezTo>
                  <a:pt x="743" y="79"/>
                  <a:pt x="761" y="90"/>
                  <a:pt x="776" y="103"/>
                </a:cubicBezTo>
                <a:cubicBezTo>
                  <a:pt x="792" y="116"/>
                  <a:pt x="805" y="130"/>
                  <a:pt x="815" y="144"/>
                </a:cubicBezTo>
                <a:cubicBezTo>
                  <a:pt x="826" y="158"/>
                  <a:pt x="834" y="172"/>
                  <a:pt x="840" y="187"/>
                </a:cubicBezTo>
                <a:cubicBezTo>
                  <a:pt x="845" y="202"/>
                  <a:pt x="848" y="217"/>
                  <a:pt x="848" y="233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76" name="文本框 975"/>
          <p:cNvSpPr txBox="1"/>
          <p:nvPr/>
        </p:nvSpPr>
        <p:spPr>
          <a:xfrm>
            <a:off x="4143240" y="1992240"/>
            <a:ext cx="807913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个作为验证集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77" name="文本框 976"/>
          <p:cNvSpPr txBox="1"/>
          <p:nvPr/>
        </p:nvSpPr>
        <p:spPr>
          <a:xfrm>
            <a:off x="914400" y="2406240"/>
            <a:ext cx="6732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3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78" name="文本框 977"/>
          <p:cNvSpPr txBox="1"/>
          <p:nvPr/>
        </p:nvSpPr>
        <p:spPr>
          <a:xfrm>
            <a:off x="1219320" y="2389680"/>
            <a:ext cx="615553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NotoSansCJKsc"/>
                <a:ea typeface="NotoSansCJKsc"/>
              </a:rPr>
              <a:t>性能评估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79" name="任意多边形 978"/>
          <p:cNvSpPr/>
          <p:nvPr/>
        </p:nvSpPr>
        <p:spPr>
          <a:xfrm>
            <a:off x="799920" y="3000564"/>
            <a:ext cx="305280" cy="167040"/>
          </a:xfrm>
          <a:custGeom>
            <a:avLst/>
            <a:gdLst/>
            <a:ahLst/>
            <a:cxnLst/>
            <a:rect l="0" t="0" r="r" b="b"/>
            <a:pathLst>
              <a:path w="848" h="464">
                <a:moveTo>
                  <a:pt x="848" y="232"/>
                </a:moveTo>
                <a:cubicBezTo>
                  <a:pt x="848" y="247"/>
                  <a:pt x="845" y="262"/>
                  <a:pt x="840" y="277"/>
                </a:cubicBezTo>
                <a:cubicBezTo>
                  <a:pt x="834" y="292"/>
                  <a:pt x="826" y="307"/>
                  <a:pt x="815" y="321"/>
                </a:cubicBezTo>
                <a:cubicBezTo>
                  <a:pt x="805" y="335"/>
                  <a:pt x="792" y="349"/>
                  <a:pt x="776" y="361"/>
                </a:cubicBezTo>
                <a:cubicBezTo>
                  <a:pt x="761" y="374"/>
                  <a:pt x="743" y="386"/>
                  <a:pt x="723" y="396"/>
                </a:cubicBezTo>
                <a:cubicBezTo>
                  <a:pt x="703" y="407"/>
                  <a:pt x="682" y="417"/>
                  <a:pt x="659" y="425"/>
                </a:cubicBezTo>
                <a:cubicBezTo>
                  <a:pt x="635" y="434"/>
                  <a:pt x="611" y="441"/>
                  <a:pt x="585" y="447"/>
                </a:cubicBezTo>
                <a:cubicBezTo>
                  <a:pt x="560" y="453"/>
                  <a:pt x="533" y="457"/>
                  <a:pt x="506" y="460"/>
                </a:cubicBezTo>
                <a:cubicBezTo>
                  <a:pt x="479" y="463"/>
                  <a:pt x="451" y="464"/>
                  <a:pt x="423" y="464"/>
                </a:cubicBezTo>
                <a:cubicBezTo>
                  <a:pt x="396" y="464"/>
                  <a:pt x="368" y="463"/>
                  <a:pt x="341" y="460"/>
                </a:cubicBezTo>
                <a:cubicBezTo>
                  <a:pt x="313" y="457"/>
                  <a:pt x="287" y="453"/>
                  <a:pt x="261" y="447"/>
                </a:cubicBezTo>
                <a:cubicBezTo>
                  <a:pt x="236" y="441"/>
                  <a:pt x="211" y="434"/>
                  <a:pt x="188" y="425"/>
                </a:cubicBezTo>
                <a:cubicBezTo>
                  <a:pt x="165" y="417"/>
                  <a:pt x="144" y="407"/>
                  <a:pt x="124" y="396"/>
                </a:cubicBezTo>
                <a:cubicBezTo>
                  <a:pt x="104" y="386"/>
                  <a:pt x="87" y="374"/>
                  <a:pt x="71" y="361"/>
                </a:cubicBezTo>
                <a:cubicBezTo>
                  <a:pt x="56" y="349"/>
                  <a:pt x="43" y="335"/>
                  <a:pt x="32" y="321"/>
                </a:cubicBezTo>
                <a:cubicBezTo>
                  <a:pt x="22" y="307"/>
                  <a:pt x="14" y="292"/>
                  <a:pt x="8" y="277"/>
                </a:cubicBezTo>
                <a:cubicBezTo>
                  <a:pt x="3" y="262"/>
                  <a:pt x="0" y="247"/>
                  <a:pt x="0" y="232"/>
                </a:cubicBezTo>
                <a:cubicBezTo>
                  <a:pt x="0" y="217"/>
                  <a:pt x="3" y="201"/>
                  <a:pt x="8" y="187"/>
                </a:cubicBezTo>
                <a:cubicBezTo>
                  <a:pt x="14" y="172"/>
                  <a:pt x="22" y="157"/>
                  <a:pt x="32" y="143"/>
                </a:cubicBezTo>
                <a:cubicBezTo>
                  <a:pt x="43" y="129"/>
                  <a:pt x="56" y="116"/>
                  <a:pt x="71" y="103"/>
                </a:cubicBezTo>
                <a:cubicBezTo>
                  <a:pt x="87" y="90"/>
                  <a:pt x="104" y="79"/>
                  <a:pt x="124" y="68"/>
                </a:cubicBezTo>
                <a:cubicBezTo>
                  <a:pt x="144" y="57"/>
                  <a:pt x="165" y="48"/>
                  <a:pt x="188" y="39"/>
                </a:cubicBezTo>
                <a:cubicBezTo>
                  <a:pt x="211" y="31"/>
                  <a:pt x="236" y="24"/>
                  <a:pt x="261" y="18"/>
                </a:cubicBezTo>
                <a:cubicBezTo>
                  <a:pt x="287" y="12"/>
                  <a:pt x="313" y="8"/>
                  <a:pt x="341" y="5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5"/>
                </a:cubicBezTo>
                <a:cubicBezTo>
                  <a:pt x="533" y="8"/>
                  <a:pt x="560" y="12"/>
                  <a:pt x="585" y="18"/>
                </a:cubicBezTo>
                <a:cubicBezTo>
                  <a:pt x="611" y="24"/>
                  <a:pt x="635" y="31"/>
                  <a:pt x="659" y="39"/>
                </a:cubicBezTo>
                <a:cubicBezTo>
                  <a:pt x="682" y="48"/>
                  <a:pt x="703" y="57"/>
                  <a:pt x="723" y="68"/>
                </a:cubicBezTo>
                <a:cubicBezTo>
                  <a:pt x="743" y="79"/>
                  <a:pt x="761" y="90"/>
                  <a:pt x="776" y="103"/>
                </a:cubicBezTo>
                <a:cubicBezTo>
                  <a:pt x="792" y="116"/>
                  <a:pt x="805" y="129"/>
                  <a:pt x="815" y="143"/>
                </a:cubicBezTo>
                <a:cubicBezTo>
                  <a:pt x="826" y="157"/>
                  <a:pt x="834" y="172"/>
                  <a:pt x="840" y="187"/>
                </a:cubicBezTo>
                <a:cubicBezTo>
                  <a:pt x="845" y="201"/>
                  <a:pt x="848" y="217"/>
                  <a:pt x="848" y="232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80" name="文本框 979"/>
          <p:cNvSpPr txBox="1"/>
          <p:nvPr/>
        </p:nvSpPr>
        <p:spPr>
          <a:xfrm>
            <a:off x="1219320" y="2596680"/>
            <a:ext cx="242374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在验证集上评估模型性能，记录评估指标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81" name="文本框 980"/>
          <p:cNvSpPr txBox="1"/>
          <p:nvPr/>
        </p:nvSpPr>
        <p:spPr>
          <a:xfrm>
            <a:off x="914400" y="3010680"/>
            <a:ext cx="6732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4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82" name="文本框 981"/>
          <p:cNvSpPr txBox="1"/>
          <p:nvPr/>
        </p:nvSpPr>
        <p:spPr>
          <a:xfrm>
            <a:off x="1219320" y="2994120"/>
            <a:ext cx="615553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NotoSansCJKsc"/>
                <a:ea typeface="NotoSansCJKsc"/>
              </a:rPr>
              <a:t>结果聚合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83" name="文本框 982"/>
          <p:cNvSpPr txBox="1"/>
          <p:nvPr/>
        </p:nvSpPr>
        <p:spPr>
          <a:xfrm>
            <a:off x="1219320" y="3201120"/>
            <a:ext cx="26930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重复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84" name="文本框 983"/>
          <p:cNvSpPr txBox="1"/>
          <p:nvPr/>
        </p:nvSpPr>
        <p:spPr>
          <a:xfrm>
            <a:off x="1562040" y="3204720"/>
            <a:ext cx="9778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K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85" name="文本框 984"/>
          <p:cNvSpPr txBox="1"/>
          <p:nvPr/>
        </p:nvSpPr>
        <p:spPr>
          <a:xfrm>
            <a:off x="1685880" y="3201120"/>
            <a:ext cx="201978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次后，计算所有评估指标的平均值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86" name="任意多边形 985"/>
          <p:cNvSpPr/>
          <p:nvPr/>
        </p:nvSpPr>
        <p:spPr>
          <a:xfrm>
            <a:off x="603767" y="4483296"/>
            <a:ext cx="228960" cy="125280"/>
          </a:xfrm>
          <a:custGeom>
            <a:avLst/>
            <a:gdLst/>
            <a:ahLst/>
            <a:cxnLst/>
            <a:rect l="0" t="0" r="r" b="b"/>
            <a:pathLst>
              <a:path w="636" h="348">
                <a:moveTo>
                  <a:pt x="636" y="175"/>
                </a:moveTo>
                <a:cubicBezTo>
                  <a:pt x="636" y="186"/>
                  <a:pt x="634" y="197"/>
                  <a:pt x="630" y="208"/>
                </a:cubicBezTo>
                <a:cubicBezTo>
                  <a:pt x="626" y="220"/>
                  <a:pt x="620" y="230"/>
                  <a:pt x="612" y="241"/>
                </a:cubicBezTo>
                <a:cubicBezTo>
                  <a:pt x="604" y="252"/>
                  <a:pt x="594" y="262"/>
                  <a:pt x="582" y="271"/>
                </a:cubicBezTo>
                <a:cubicBezTo>
                  <a:pt x="571" y="280"/>
                  <a:pt x="558" y="289"/>
                  <a:pt x="543" y="297"/>
                </a:cubicBezTo>
                <a:cubicBezTo>
                  <a:pt x="528" y="305"/>
                  <a:pt x="511" y="313"/>
                  <a:pt x="494" y="319"/>
                </a:cubicBezTo>
                <a:cubicBezTo>
                  <a:pt x="476" y="325"/>
                  <a:pt x="458" y="331"/>
                  <a:pt x="439" y="335"/>
                </a:cubicBezTo>
                <a:cubicBezTo>
                  <a:pt x="420" y="339"/>
                  <a:pt x="400" y="343"/>
                  <a:pt x="379" y="345"/>
                </a:cubicBezTo>
                <a:cubicBezTo>
                  <a:pt x="359" y="347"/>
                  <a:pt x="338" y="348"/>
                  <a:pt x="317" y="348"/>
                </a:cubicBezTo>
                <a:cubicBezTo>
                  <a:pt x="296" y="348"/>
                  <a:pt x="276" y="347"/>
                  <a:pt x="255" y="345"/>
                </a:cubicBezTo>
                <a:cubicBezTo>
                  <a:pt x="235" y="343"/>
                  <a:pt x="215" y="339"/>
                  <a:pt x="196" y="335"/>
                </a:cubicBezTo>
                <a:cubicBezTo>
                  <a:pt x="177" y="331"/>
                  <a:pt x="158" y="325"/>
                  <a:pt x="141" y="319"/>
                </a:cubicBezTo>
                <a:cubicBezTo>
                  <a:pt x="124" y="313"/>
                  <a:pt x="108" y="305"/>
                  <a:pt x="93" y="297"/>
                </a:cubicBezTo>
                <a:cubicBezTo>
                  <a:pt x="78" y="289"/>
                  <a:pt x="65" y="280"/>
                  <a:pt x="53" y="271"/>
                </a:cubicBezTo>
                <a:cubicBezTo>
                  <a:pt x="42" y="262"/>
                  <a:pt x="32" y="252"/>
                  <a:pt x="24" y="241"/>
                </a:cubicBezTo>
                <a:cubicBezTo>
                  <a:pt x="16" y="230"/>
                  <a:pt x="10" y="220"/>
                  <a:pt x="6" y="208"/>
                </a:cubicBezTo>
                <a:cubicBezTo>
                  <a:pt x="2" y="197"/>
                  <a:pt x="0" y="186"/>
                  <a:pt x="0" y="175"/>
                </a:cubicBezTo>
                <a:cubicBezTo>
                  <a:pt x="0" y="163"/>
                  <a:pt x="2" y="152"/>
                  <a:pt x="6" y="141"/>
                </a:cubicBezTo>
                <a:cubicBezTo>
                  <a:pt x="10" y="129"/>
                  <a:pt x="16" y="119"/>
                  <a:pt x="24" y="108"/>
                </a:cubicBezTo>
                <a:cubicBezTo>
                  <a:pt x="32" y="97"/>
                  <a:pt x="42" y="87"/>
                  <a:pt x="53" y="78"/>
                </a:cubicBezTo>
                <a:cubicBezTo>
                  <a:pt x="65" y="69"/>
                  <a:pt x="78" y="60"/>
                  <a:pt x="93" y="52"/>
                </a:cubicBezTo>
                <a:cubicBezTo>
                  <a:pt x="108" y="43"/>
                  <a:pt x="124" y="35"/>
                  <a:pt x="141" y="29"/>
                </a:cubicBezTo>
                <a:cubicBezTo>
                  <a:pt x="158" y="23"/>
                  <a:pt x="177" y="17"/>
                  <a:pt x="196" y="13"/>
                </a:cubicBezTo>
                <a:cubicBezTo>
                  <a:pt x="215" y="9"/>
                  <a:pt x="235" y="5"/>
                  <a:pt x="255" y="3"/>
                </a:cubicBezTo>
                <a:cubicBezTo>
                  <a:pt x="276" y="1"/>
                  <a:pt x="296" y="0"/>
                  <a:pt x="317" y="0"/>
                </a:cubicBezTo>
                <a:cubicBezTo>
                  <a:pt x="338" y="0"/>
                  <a:pt x="359" y="1"/>
                  <a:pt x="379" y="3"/>
                </a:cubicBezTo>
                <a:cubicBezTo>
                  <a:pt x="400" y="5"/>
                  <a:pt x="420" y="9"/>
                  <a:pt x="439" y="13"/>
                </a:cubicBezTo>
                <a:cubicBezTo>
                  <a:pt x="458" y="17"/>
                  <a:pt x="476" y="23"/>
                  <a:pt x="494" y="29"/>
                </a:cubicBezTo>
                <a:cubicBezTo>
                  <a:pt x="511" y="35"/>
                  <a:pt x="528" y="43"/>
                  <a:pt x="543" y="52"/>
                </a:cubicBezTo>
                <a:cubicBezTo>
                  <a:pt x="558" y="60"/>
                  <a:pt x="571" y="69"/>
                  <a:pt x="582" y="78"/>
                </a:cubicBezTo>
                <a:cubicBezTo>
                  <a:pt x="594" y="87"/>
                  <a:pt x="604" y="97"/>
                  <a:pt x="612" y="108"/>
                </a:cubicBezTo>
                <a:cubicBezTo>
                  <a:pt x="620" y="119"/>
                  <a:pt x="626" y="129"/>
                  <a:pt x="630" y="141"/>
                </a:cubicBezTo>
                <a:cubicBezTo>
                  <a:pt x="634" y="152"/>
                  <a:pt x="636" y="163"/>
                  <a:pt x="636" y="175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87" name="文本框 986"/>
          <p:cNvSpPr txBox="1"/>
          <p:nvPr/>
        </p:nvSpPr>
        <p:spPr>
          <a:xfrm>
            <a:off x="603767" y="4230000"/>
            <a:ext cx="1231106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NotoSansCJKsc"/>
                <a:ea typeface="NotoSansCJKsc"/>
              </a:rPr>
              <a:t>解决数据划分偏差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88" name="文本框 987"/>
          <p:cNvSpPr txBox="1"/>
          <p:nvPr/>
        </p:nvSpPr>
        <p:spPr>
          <a:xfrm>
            <a:off x="659567" y="4468320"/>
            <a:ext cx="10099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✓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89" name="任意多边形 988"/>
          <p:cNvSpPr/>
          <p:nvPr/>
        </p:nvSpPr>
        <p:spPr>
          <a:xfrm>
            <a:off x="603767" y="4670856"/>
            <a:ext cx="228960" cy="125280"/>
          </a:xfrm>
          <a:custGeom>
            <a:avLst/>
            <a:gdLst/>
            <a:ahLst/>
            <a:cxnLst/>
            <a:rect l="0" t="0" r="r" b="b"/>
            <a:pathLst>
              <a:path w="636" h="348">
                <a:moveTo>
                  <a:pt x="636" y="174"/>
                </a:moveTo>
                <a:cubicBezTo>
                  <a:pt x="636" y="185"/>
                  <a:pt x="634" y="196"/>
                  <a:pt x="630" y="208"/>
                </a:cubicBezTo>
                <a:cubicBezTo>
                  <a:pt x="626" y="220"/>
                  <a:pt x="620" y="231"/>
                  <a:pt x="612" y="241"/>
                </a:cubicBezTo>
                <a:cubicBezTo>
                  <a:pt x="604" y="252"/>
                  <a:pt x="594" y="262"/>
                  <a:pt x="582" y="271"/>
                </a:cubicBezTo>
                <a:cubicBezTo>
                  <a:pt x="571" y="281"/>
                  <a:pt x="558" y="289"/>
                  <a:pt x="543" y="297"/>
                </a:cubicBezTo>
                <a:cubicBezTo>
                  <a:pt x="528" y="306"/>
                  <a:pt x="511" y="313"/>
                  <a:pt x="494" y="319"/>
                </a:cubicBezTo>
                <a:cubicBezTo>
                  <a:pt x="476" y="325"/>
                  <a:pt x="458" y="331"/>
                  <a:pt x="439" y="335"/>
                </a:cubicBezTo>
                <a:cubicBezTo>
                  <a:pt x="420" y="339"/>
                  <a:pt x="400" y="343"/>
                  <a:pt x="379" y="345"/>
                </a:cubicBezTo>
                <a:cubicBezTo>
                  <a:pt x="359" y="347"/>
                  <a:pt x="338" y="348"/>
                  <a:pt x="317" y="348"/>
                </a:cubicBezTo>
                <a:cubicBezTo>
                  <a:pt x="296" y="348"/>
                  <a:pt x="276" y="347"/>
                  <a:pt x="255" y="345"/>
                </a:cubicBezTo>
                <a:cubicBezTo>
                  <a:pt x="235" y="343"/>
                  <a:pt x="215" y="339"/>
                  <a:pt x="196" y="335"/>
                </a:cubicBezTo>
                <a:cubicBezTo>
                  <a:pt x="177" y="331"/>
                  <a:pt x="158" y="325"/>
                  <a:pt x="141" y="319"/>
                </a:cubicBezTo>
                <a:cubicBezTo>
                  <a:pt x="124" y="313"/>
                  <a:pt x="108" y="306"/>
                  <a:pt x="93" y="297"/>
                </a:cubicBezTo>
                <a:cubicBezTo>
                  <a:pt x="78" y="289"/>
                  <a:pt x="65" y="281"/>
                  <a:pt x="53" y="271"/>
                </a:cubicBezTo>
                <a:cubicBezTo>
                  <a:pt x="42" y="262"/>
                  <a:pt x="32" y="252"/>
                  <a:pt x="24" y="241"/>
                </a:cubicBezTo>
                <a:cubicBezTo>
                  <a:pt x="16" y="231"/>
                  <a:pt x="10" y="220"/>
                  <a:pt x="6" y="208"/>
                </a:cubicBezTo>
                <a:cubicBezTo>
                  <a:pt x="2" y="196"/>
                  <a:pt x="0" y="185"/>
                  <a:pt x="0" y="174"/>
                </a:cubicBezTo>
                <a:cubicBezTo>
                  <a:pt x="0" y="162"/>
                  <a:pt x="2" y="151"/>
                  <a:pt x="6" y="140"/>
                </a:cubicBezTo>
                <a:cubicBezTo>
                  <a:pt x="10" y="129"/>
                  <a:pt x="16" y="118"/>
                  <a:pt x="24" y="107"/>
                </a:cubicBezTo>
                <a:cubicBezTo>
                  <a:pt x="32" y="97"/>
                  <a:pt x="42" y="87"/>
                  <a:pt x="53" y="77"/>
                </a:cubicBezTo>
                <a:cubicBezTo>
                  <a:pt x="65" y="68"/>
                  <a:pt x="78" y="59"/>
                  <a:pt x="93" y="51"/>
                </a:cubicBezTo>
                <a:cubicBezTo>
                  <a:pt x="108" y="43"/>
                  <a:pt x="124" y="36"/>
                  <a:pt x="141" y="29"/>
                </a:cubicBezTo>
                <a:cubicBezTo>
                  <a:pt x="158" y="23"/>
                  <a:pt x="177" y="18"/>
                  <a:pt x="196" y="13"/>
                </a:cubicBezTo>
                <a:cubicBezTo>
                  <a:pt x="215" y="9"/>
                  <a:pt x="235" y="5"/>
                  <a:pt x="255" y="3"/>
                </a:cubicBezTo>
                <a:cubicBezTo>
                  <a:pt x="276" y="1"/>
                  <a:pt x="296" y="0"/>
                  <a:pt x="317" y="0"/>
                </a:cubicBezTo>
                <a:cubicBezTo>
                  <a:pt x="338" y="0"/>
                  <a:pt x="359" y="1"/>
                  <a:pt x="379" y="3"/>
                </a:cubicBezTo>
                <a:cubicBezTo>
                  <a:pt x="400" y="5"/>
                  <a:pt x="420" y="9"/>
                  <a:pt x="439" y="13"/>
                </a:cubicBezTo>
                <a:cubicBezTo>
                  <a:pt x="458" y="18"/>
                  <a:pt x="476" y="23"/>
                  <a:pt x="494" y="29"/>
                </a:cubicBezTo>
                <a:cubicBezTo>
                  <a:pt x="511" y="36"/>
                  <a:pt x="528" y="43"/>
                  <a:pt x="543" y="51"/>
                </a:cubicBezTo>
                <a:cubicBezTo>
                  <a:pt x="558" y="59"/>
                  <a:pt x="571" y="68"/>
                  <a:pt x="582" y="77"/>
                </a:cubicBezTo>
                <a:cubicBezTo>
                  <a:pt x="594" y="87"/>
                  <a:pt x="604" y="97"/>
                  <a:pt x="612" y="107"/>
                </a:cubicBezTo>
                <a:cubicBezTo>
                  <a:pt x="620" y="118"/>
                  <a:pt x="626" y="129"/>
                  <a:pt x="630" y="140"/>
                </a:cubicBezTo>
                <a:cubicBezTo>
                  <a:pt x="634" y="151"/>
                  <a:pt x="636" y="162"/>
                  <a:pt x="636" y="174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90" name="文本框 989"/>
          <p:cNvSpPr txBox="1"/>
          <p:nvPr/>
        </p:nvSpPr>
        <p:spPr>
          <a:xfrm>
            <a:off x="946847" y="4457880"/>
            <a:ext cx="1885131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避免单次划分导致的偶然性结果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91" name="文本框 990"/>
          <p:cNvSpPr txBox="1"/>
          <p:nvPr/>
        </p:nvSpPr>
        <p:spPr>
          <a:xfrm>
            <a:off x="659567" y="4655880"/>
            <a:ext cx="10099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✓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92" name="任意多边形 991"/>
          <p:cNvSpPr/>
          <p:nvPr/>
        </p:nvSpPr>
        <p:spPr>
          <a:xfrm>
            <a:off x="603767" y="4858416"/>
            <a:ext cx="228960" cy="125280"/>
          </a:xfrm>
          <a:custGeom>
            <a:avLst/>
            <a:gdLst/>
            <a:ahLst/>
            <a:cxnLst/>
            <a:rect l="0" t="0" r="r" b="b"/>
            <a:pathLst>
              <a:path w="636" h="348">
                <a:moveTo>
                  <a:pt x="636" y="175"/>
                </a:moveTo>
                <a:cubicBezTo>
                  <a:pt x="636" y="186"/>
                  <a:pt x="634" y="197"/>
                  <a:pt x="630" y="209"/>
                </a:cubicBezTo>
                <a:cubicBezTo>
                  <a:pt x="626" y="220"/>
                  <a:pt x="620" y="231"/>
                  <a:pt x="612" y="241"/>
                </a:cubicBezTo>
                <a:cubicBezTo>
                  <a:pt x="604" y="252"/>
                  <a:pt x="594" y="262"/>
                  <a:pt x="582" y="271"/>
                </a:cubicBezTo>
                <a:cubicBezTo>
                  <a:pt x="571" y="281"/>
                  <a:pt x="558" y="290"/>
                  <a:pt x="543" y="298"/>
                </a:cubicBezTo>
                <a:cubicBezTo>
                  <a:pt x="528" y="306"/>
                  <a:pt x="511" y="313"/>
                  <a:pt x="494" y="319"/>
                </a:cubicBezTo>
                <a:cubicBezTo>
                  <a:pt x="476" y="326"/>
                  <a:pt x="458" y="331"/>
                  <a:pt x="439" y="335"/>
                </a:cubicBezTo>
                <a:cubicBezTo>
                  <a:pt x="420" y="340"/>
                  <a:pt x="400" y="343"/>
                  <a:pt x="379" y="345"/>
                </a:cubicBezTo>
                <a:cubicBezTo>
                  <a:pt x="359" y="347"/>
                  <a:pt x="338" y="348"/>
                  <a:pt x="317" y="348"/>
                </a:cubicBezTo>
                <a:cubicBezTo>
                  <a:pt x="296" y="348"/>
                  <a:pt x="276" y="347"/>
                  <a:pt x="255" y="345"/>
                </a:cubicBezTo>
                <a:cubicBezTo>
                  <a:pt x="235" y="343"/>
                  <a:pt x="215" y="340"/>
                  <a:pt x="196" y="335"/>
                </a:cubicBezTo>
                <a:cubicBezTo>
                  <a:pt x="177" y="331"/>
                  <a:pt x="158" y="326"/>
                  <a:pt x="141" y="319"/>
                </a:cubicBezTo>
                <a:cubicBezTo>
                  <a:pt x="124" y="313"/>
                  <a:pt x="108" y="306"/>
                  <a:pt x="93" y="298"/>
                </a:cubicBezTo>
                <a:cubicBezTo>
                  <a:pt x="78" y="290"/>
                  <a:pt x="65" y="281"/>
                  <a:pt x="53" y="271"/>
                </a:cubicBezTo>
                <a:cubicBezTo>
                  <a:pt x="42" y="262"/>
                  <a:pt x="32" y="252"/>
                  <a:pt x="24" y="241"/>
                </a:cubicBezTo>
                <a:cubicBezTo>
                  <a:pt x="16" y="231"/>
                  <a:pt x="10" y="220"/>
                  <a:pt x="6" y="209"/>
                </a:cubicBezTo>
                <a:cubicBezTo>
                  <a:pt x="2" y="197"/>
                  <a:pt x="0" y="186"/>
                  <a:pt x="0" y="175"/>
                </a:cubicBezTo>
                <a:cubicBezTo>
                  <a:pt x="0" y="163"/>
                  <a:pt x="2" y="152"/>
                  <a:pt x="6" y="141"/>
                </a:cubicBezTo>
                <a:cubicBezTo>
                  <a:pt x="10" y="130"/>
                  <a:pt x="16" y="119"/>
                  <a:pt x="24" y="108"/>
                </a:cubicBezTo>
                <a:cubicBezTo>
                  <a:pt x="32" y="98"/>
                  <a:pt x="42" y="88"/>
                  <a:pt x="53" y="78"/>
                </a:cubicBezTo>
                <a:cubicBezTo>
                  <a:pt x="65" y="69"/>
                  <a:pt x="78" y="60"/>
                  <a:pt x="93" y="52"/>
                </a:cubicBezTo>
                <a:cubicBezTo>
                  <a:pt x="108" y="43"/>
                  <a:pt x="124" y="36"/>
                  <a:pt x="141" y="29"/>
                </a:cubicBezTo>
                <a:cubicBezTo>
                  <a:pt x="158" y="23"/>
                  <a:pt x="177" y="18"/>
                  <a:pt x="196" y="13"/>
                </a:cubicBezTo>
                <a:cubicBezTo>
                  <a:pt x="215" y="9"/>
                  <a:pt x="235" y="6"/>
                  <a:pt x="255" y="3"/>
                </a:cubicBezTo>
                <a:cubicBezTo>
                  <a:pt x="276" y="1"/>
                  <a:pt x="296" y="0"/>
                  <a:pt x="317" y="0"/>
                </a:cubicBezTo>
                <a:cubicBezTo>
                  <a:pt x="338" y="0"/>
                  <a:pt x="359" y="1"/>
                  <a:pt x="379" y="3"/>
                </a:cubicBezTo>
                <a:cubicBezTo>
                  <a:pt x="400" y="6"/>
                  <a:pt x="420" y="9"/>
                  <a:pt x="439" y="13"/>
                </a:cubicBezTo>
                <a:cubicBezTo>
                  <a:pt x="458" y="18"/>
                  <a:pt x="476" y="23"/>
                  <a:pt x="494" y="29"/>
                </a:cubicBezTo>
                <a:cubicBezTo>
                  <a:pt x="511" y="36"/>
                  <a:pt x="528" y="43"/>
                  <a:pt x="543" y="52"/>
                </a:cubicBezTo>
                <a:cubicBezTo>
                  <a:pt x="558" y="60"/>
                  <a:pt x="571" y="69"/>
                  <a:pt x="582" y="78"/>
                </a:cubicBezTo>
                <a:cubicBezTo>
                  <a:pt x="594" y="88"/>
                  <a:pt x="604" y="98"/>
                  <a:pt x="612" y="108"/>
                </a:cubicBezTo>
                <a:cubicBezTo>
                  <a:pt x="620" y="119"/>
                  <a:pt x="626" y="130"/>
                  <a:pt x="630" y="141"/>
                </a:cubicBezTo>
                <a:cubicBezTo>
                  <a:pt x="634" y="152"/>
                  <a:pt x="636" y="163"/>
                  <a:pt x="636" y="175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93" name="文本框 992"/>
          <p:cNvSpPr txBox="1"/>
          <p:nvPr/>
        </p:nvSpPr>
        <p:spPr>
          <a:xfrm>
            <a:off x="946847" y="4645440"/>
            <a:ext cx="201978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充分利⽤所有样本进⾏训练和验证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94" name="文本框 993"/>
          <p:cNvSpPr txBox="1"/>
          <p:nvPr/>
        </p:nvSpPr>
        <p:spPr>
          <a:xfrm>
            <a:off x="659567" y="4843440"/>
            <a:ext cx="10099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✓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95" name="任意多边形 994"/>
          <p:cNvSpPr/>
          <p:nvPr/>
        </p:nvSpPr>
        <p:spPr>
          <a:xfrm>
            <a:off x="6100560" y="1081080"/>
            <a:ext cx="5477400" cy="1329480"/>
          </a:xfrm>
          <a:custGeom>
            <a:avLst/>
            <a:gdLst/>
            <a:ahLst/>
            <a:cxnLst/>
            <a:rect l="0" t="0" r="r" b="b"/>
            <a:pathLst>
              <a:path w="15215" h="3693" fill="none">
                <a:moveTo>
                  <a:pt x="0" y="3584"/>
                </a:moveTo>
                <a:lnTo>
                  <a:pt x="0" y="109"/>
                </a:lnTo>
                <a:cubicBezTo>
                  <a:pt x="0" y="102"/>
                  <a:pt x="1" y="95"/>
                  <a:pt x="4" y="88"/>
                </a:cubicBezTo>
                <a:cubicBezTo>
                  <a:pt x="6" y="81"/>
                  <a:pt x="10" y="74"/>
                  <a:pt x="15" y="67"/>
                </a:cubicBezTo>
                <a:cubicBezTo>
                  <a:pt x="20" y="61"/>
                  <a:pt x="26" y="54"/>
                  <a:pt x="34" y="48"/>
                </a:cubicBezTo>
                <a:cubicBezTo>
                  <a:pt x="41" y="43"/>
                  <a:pt x="49" y="37"/>
                  <a:pt x="58" y="32"/>
                </a:cubicBezTo>
                <a:cubicBezTo>
                  <a:pt x="67" y="27"/>
                  <a:pt x="77" y="22"/>
                  <a:pt x="88" y="19"/>
                </a:cubicBezTo>
                <a:cubicBezTo>
                  <a:pt x="99" y="15"/>
                  <a:pt x="111" y="11"/>
                  <a:pt x="123" y="8"/>
                </a:cubicBezTo>
                <a:cubicBezTo>
                  <a:pt x="135" y="6"/>
                  <a:pt x="147" y="4"/>
                  <a:pt x="160" y="2"/>
                </a:cubicBezTo>
                <a:cubicBezTo>
                  <a:pt x="173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2"/>
                </a:cubicBezTo>
                <a:cubicBezTo>
                  <a:pt x="15068" y="4"/>
                  <a:pt x="15080" y="6"/>
                  <a:pt x="15092" y="8"/>
                </a:cubicBezTo>
                <a:cubicBezTo>
                  <a:pt x="15104" y="11"/>
                  <a:pt x="15116" y="15"/>
                  <a:pt x="15126" y="19"/>
                </a:cubicBezTo>
                <a:cubicBezTo>
                  <a:pt x="15137" y="22"/>
                  <a:pt x="15147" y="27"/>
                  <a:pt x="15156" y="32"/>
                </a:cubicBezTo>
                <a:cubicBezTo>
                  <a:pt x="15166" y="37"/>
                  <a:pt x="15174" y="43"/>
                  <a:pt x="15181" y="48"/>
                </a:cubicBezTo>
                <a:cubicBezTo>
                  <a:pt x="15188" y="54"/>
                  <a:pt x="15195" y="61"/>
                  <a:pt x="15199" y="67"/>
                </a:cubicBezTo>
                <a:cubicBezTo>
                  <a:pt x="15204" y="74"/>
                  <a:pt x="15208" y="81"/>
                  <a:pt x="15211" y="88"/>
                </a:cubicBezTo>
                <a:cubicBezTo>
                  <a:pt x="15213" y="95"/>
                  <a:pt x="15215" y="102"/>
                  <a:pt x="15215" y="109"/>
                </a:cubicBezTo>
                <a:lnTo>
                  <a:pt x="15215" y="3584"/>
                </a:lnTo>
                <a:cubicBezTo>
                  <a:pt x="15215" y="3591"/>
                  <a:pt x="15213" y="3598"/>
                  <a:pt x="15211" y="3605"/>
                </a:cubicBezTo>
                <a:cubicBezTo>
                  <a:pt x="15208" y="3612"/>
                  <a:pt x="15204" y="3619"/>
                  <a:pt x="15199" y="3625"/>
                </a:cubicBezTo>
                <a:cubicBezTo>
                  <a:pt x="15195" y="3632"/>
                  <a:pt x="15188" y="3638"/>
                  <a:pt x="15181" y="3644"/>
                </a:cubicBezTo>
                <a:cubicBezTo>
                  <a:pt x="15174" y="3650"/>
                  <a:pt x="15166" y="3656"/>
                  <a:pt x="15156" y="3661"/>
                </a:cubicBezTo>
                <a:cubicBezTo>
                  <a:pt x="15147" y="3666"/>
                  <a:pt x="15137" y="3670"/>
                  <a:pt x="15126" y="3674"/>
                </a:cubicBezTo>
                <a:cubicBezTo>
                  <a:pt x="15116" y="3678"/>
                  <a:pt x="15104" y="3682"/>
                  <a:pt x="15092" y="3684"/>
                </a:cubicBezTo>
                <a:cubicBezTo>
                  <a:pt x="15080" y="3687"/>
                  <a:pt x="15068" y="3689"/>
                  <a:pt x="15055" y="3690"/>
                </a:cubicBezTo>
                <a:cubicBezTo>
                  <a:pt x="15042" y="3692"/>
                  <a:pt x="15029" y="3693"/>
                  <a:pt x="15016" y="3693"/>
                </a:cubicBezTo>
                <a:lnTo>
                  <a:pt x="198" y="3693"/>
                </a:lnTo>
                <a:cubicBezTo>
                  <a:pt x="185" y="3693"/>
                  <a:pt x="173" y="3692"/>
                  <a:pt x="160" y="3690"/>
                </a:cubicBezTo>
                <a:cubicBezTo>
                  <a:pt x="147" y="3689"/>
                  <a:pt x="135" y="3687"/>
                  <a:pt x="123" y="3684"/>
                </a:cubicBezTo>
                <a:cubicBezTo>
                  <a:pt x="111" y="3682"/>
                  <a:pt x="99" y="3678"/>
                  <a:pt x="88" y="3674"/>
                </a:cubicBezTo>
                <a:cubicBezTo>
                  <a:pt x="77" y="3670"/>
                  <a:pt x="67" y="3666"/>
                  <a:pt x="58" y="3661"/>
                </a:cubicBezTo>
                <a:cubicBezTo>
                  <a:pt x="49" y="3656"/>
                  <a:pt x="41" y="3650"/>
                  <a:pt x="34" y="3644"/>
                </a:cubicBezTo>
                <a:cubicBezTo>
                  <a:pt x="26" y="3638"/>
                  <a:pt x="20" y="3632"/>
                  <a:pt x="15" y="3625"/>
                </a:cubicBezTo>
                <a:cubicBezTo>
                  <a:pt x="10" y="3619"/>
                  <a:pt x="6" y="3612"/>
                  <a:pt x="4" y="3605"/>
                </a:cubicBezTo>
                <a:cubicBezTo>
                  <a:pt x="1" y="3598"/>
                  <a:pt x="0" y="3591"/>
                  <a:pt x="0" y="3584"/>
                </a:cubicBezTo>
              </a:path>
            </a:pathLst>
          </a:custGeom>
          <a:ln w="7200">
            <a:solidFill>
              <a:srgbClr val="E5E7EB"/>
            </a:solidFill>
            <a:miter/>
          </a:ln>
        </p:spPr>
        <p:txBody>
          <a:bodyPr lIns="3600" tIns="3600" rIns="3600" bIns="36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96" name="任意多边形 995"/>
          <p:cNvSpPr/>
          <p:nvPr/>
        </p:nvSpPr>
        <p:spPr>
          <a:xfrm>
            <a:off x="6095880" y="3006720"/>
            <a:ext cx="5486760" cy="3543840"/>
          </a:xfrm>
          <a:custGeom>
            <a:avLst/>
            <a:gdLst/>
            <a:ahLst/>
            <a:cxnLst/>
            <a:rect l="0" t="0" r="r" b="b"/>
            <a:pathLst>
              <a:path w="15241" h="9844">
                <a:moveTo>
                  <a:pt x="0" y="9729"/>
                </a:moveTo>
                <a:lnTo>
                  <a:pt x="0" y="116"/>
                </a:lnTo>
                <a:cubicBezTo>
                  <a:pt x="0" y="108"/>
                  <a:pt x="1" y="101"/>
                  <a:pt x="4" y="93"/>
                </a:cubicBezTo>
                <a:cubicBezTo>
                  <a:pt x="7" y="86"/>
                  <a:pt x="11" y="78"/>
                  <a:pt x="16" y="71"/>
                </a:cubicBezTo>
                <a:cubicBezTo>
                  <a:pt x="21" y="64"/>
                  <a:pt x="28" y="58"/>
                  <a:pt x="36" y="51"/>
                </a:cubicBezTo>
                <a:cubicBezTo>
                  <a:pt x="43" y="45"/>
                  <a:pt x="52" y="39"/>
                  <a:pt x="62" y="34"/>
                </a:cubicBezTo>
                <a:cubicBezTo>
                  <a:pt x="72" y="29"/>
                  <a:pt x="82" y="24"/>
                  <a:pt x="94" y="19"/>
                </a:cubicBezTo>
                <a:cubicBezTo>
                  <a:pt x="105" y="15"/>
                  <a:pt x="118" y="12"/>
                  <a:pt x="130" y="9"/>
                </a:cubicBezTo>
                <a:cubicBezTo>
                  <a:pt x="143" y="6"/>
                  <a:pt x="157" y="4"/>
                  <a:pt x="170" y="2"/>
                </a:cubicBezTo>
                <a:cubicBezTo>
                  <a:pt x="184" y="1"/>
                  <a:pt x="198" y="0"/>
                  <a:pt x="211" y="0"/>
                </a:cubicBezTo>
                <a:lnTo>
                  <a:pt x="15029" y="0"/>
                </a:lnTo>
                <a:cubicBezTo>
                  <a:pt x="15043" y="0"/>
                  <a:pt x="15057" y="1"/>
                  <a:pt x="15070" y="2"/>
                </a:cubicBezTo>
                <a:cubicBezTo>
                  <a:pt x="15084" y="4"/>
                  <a:pt x="15097" y="6"/>
                  <a:pt x="15110" y="9"/>
                </a:cubicBezTo>
                <a:cubicBezTo>
                  <a:pt x="15123" y="12"/>
                  <a:pt x="15135" y="15"/>
                  <a:pt x="15147" y="19"/>
                </a:cubicBezTo>
                <a:cubicBezTo>
                  <a:pt x="15158" y="24"/>
                  <a:pt x="15169" y="29"/>
                  <a:pt x="15179" y="34"/>
                </a:cubicBezTo>
                <a:cubicBezTo>
                  <a:pt x="15189" y="39"/>
                  <a:pt x="15197" y="45"/>
                  <a:pt x="15205" y="51"/>
                </a:cubicBezTo>
                <a:cubicBezTo>
                  <a:pt x="15213" y="58"/>
                  <a:pt x="15219" y="64"/>
                  <a:pt x="15225" y="71"/>
                </a:cubicBezTo>
                <a:cubicBezTo>
                  <a:pt x="15230" y="78"/>
                  <a:pt x="15234" y="86"/>
                  <a:pt x="15237" y="93"/>
                </a:cubicBezTo>
                <a:cubicBezTo>
                  <a:pt x="15239" y="101"/>
                  <a:pt x="15241" y="108"/>
                  <a:pt x="15241" y="116"/>
                </a:cubicBezTo>
                <a:lnTo>
                  <a:pt x="15241" y="9729"/>
                </a:lnTo>
                <a:cubicBezTo>
                  <a:pt x="15241" y="9736"/>
                  <a:pt x="15239" y="9744"/>
                  <a:pt x="15237" y="9751"/>
                </a:cubicBezTo>
                <a:cubicBezTo>
                  <a:pt x="15234" y="9759"/>
                  <a:pt x="15230" y="9766"/>
                  <a:pt x="15225" y="9773"/>
                </a:cubicBezTo>
                <a:cubicBezTo>
                  <a:pt x="15219" y="9780"/>
                  <a:pt x="15213" y="9787"/>
                  <a:pt x="15205" y="9793"/>
                </a:cubicBezTo>
                <a:cubicBezTo>
                  <a:pt x="15197" y="9799"/>
                  <a:pt x="15189" y="9805"/>
                  <a:pt x="15179" y="9811"/>
                </a:cubicBezTo>
                <a:cubicBezTo>
                  <a:pt x="15169" y="9816"/>
                  <a:pt x="15158" y="9821"/>
                  <a:pt x="15147" y="9825"/>
                </a:cubicBezTo>
                <a:cubicBezTo>
                  <a:pt x="15135" y="9829"/>
                  <a:pt x="15123" y="9833"/>
                  <a:pt x="15110" y="9836"/>
                </a:cubicBezTo>
                <a:cubicBezTo>
                  <a:pt x="15097" y="9839"/>
                  <a:pt x="15084" y="9841"/>
                  <a:pt x="15070" y="9842"/>
                </a:cubicBezTo>
                <a:cubicBezTo>
                  <a:pt x="15057" y="9844"/>
                  <a:pt x="15043" y="9844"/>
                  <a:pt x="15029" y="9844"/>
                </a:cubicBezTo>
                <a:lnTo>
                  <a:pt x="211" y="9844"/>
                </a:lnTo>
                <a:cubicBezTo>
                  <a:pt x="198" y="9844"/>
                  <a:pt x="184" y="9844"/>
                  <a:pt x="170" y="9842"/>
                </a:cubicBezTo>
                <a:cubicBezTo>
                  <a:pt x="157" y="9841"/>
                  <a:pt x="143" y="9839"/>
                  <a:pt x="130" y="9836"/>
                </a:cubicBezTo>
                <a:cubicBezTo>
                  <a:pt x="118" y="9833"/>
                  <a:pt x="105" y="9829"/>
                  <a:pt x="94" y="9825"/>
                </a:cubicBezTo>
                <a:cubicBezTo>
                  <a:pt x="82" y="9821"/>
                  <a:pt x="72" y="9816"/>
                  <a:pt x="62" y="9811"/>
                </a:cubicBezTo>
                <a:cubicBezTo>
                  <a:pt x="52" y="9805"/>
                  <a:pt x="43" y="9799"/>
                  <a:pt x="36" y="9793"/>
                </a:cubicBezTo>
                <a:cubicBezTo>
                  <a:pt x="28" y="9787"/>
                  <a:pt x="21" y="9780"/>
                  <a:pt x="16" y="9773"/>
                </a:cubicBezTo>
                <a:cubicBezTo>
                  <a:pt x="11" y="9766"/>
                  <a:pt x="7" y="9759"/>
                  <a:pt x="4" y="9751"/>
                </a:cubicBezTo>
                <a:cubicBezTo>
                  <a:pt x="1" y="9744"/>
                  <a:pt x="0" y="9736"/>
                  <a:pt x="0" y="9729"/>
                </a:cubicBez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97" name="文本框 996"/>
          <p:cNvSpPr txBox="1"/>
          <p:nvPr/>
        </p:nvSpPr>
        <p:spPr>
          <a:xfrm>
            <a:off x="946847" y="4833000"/>
            <a:ext cx="1615827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提供更稳健的模型性能估计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98" name="文本框 997"/>
          <p:cNvSpPr txBox="1"/>
          <p:nvPr/>
        </p:nvSpPr>
        <p:spPr>
          <a:xfrm>
            <a:off x="6095880" y="802800"/>
            <a:ext cx="266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K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pic>
        <p:nvPicPr>
          <p:cNvPr id="999" name="图片 998"/>
          <p:cNvPicPr/>
          <p:nvPr/>
        </p:nvPicPr>
        <p:blipFill>
          <a:blip r:embed="rId2"/>
          <a:stretch>
            <a:fillRect/>
          </a:stretch>
        </p:blipFill>
        <p:spPr>
          <a:xfrm>
            <a:off x="6391440" y="1083960"/>
            <a:ext cx="4895640" cy="154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0" name="文本框 999"/>
          <p:cNvSpPr txBox="1"/>
          <p:nvPr/>
        </p:nvSpPr>
        <p:spPr>
          <a:xfrm>
            <a:off x="6303600" y="797400"/>
            <a:ext cx="1281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" b="0" i="0" u="none" strike="noStrike" kern="1200" cap="none" spc="0" normalizeH="0" baseline="0" noProof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NotoSansCJKsc"/>
                <a:ea typeface="NotoSansCJKsc"/>
              </a:rPr>
              <a:t>折交叉验证⽰意图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03" name="文本框 1002"/>
          <p:cNvSpPr txBox="1"/>
          <p:nvPr/>
        </p:nvSpPr>
        <p:spPr>
          <a:xfrm>
            <a:off x="6095880" y="2725560"/>
            <a:ext cx="1077218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NotoSansCJKsc"/>
                <a:ea typeface="NotoSansCJKsc"/>
              </a:rPr>
              <a:t>代码实现思路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04" name="文本框 1003"/>
          <p:cNvSpPr txBox="1"/>
          <p:nvPr/>
        </p:nvSpPr>
        <p:spPr>
          <a:xfrm>
            <a:off x="6248520" y="3104280"/>
            <a:ext cx="689291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# sklearn 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05" name="文本框 1004"/>
          <p:cNvSpPr txBox="1"/>
          <p:nvPr/>
        </p:nvSpPr>
        <p:spPr>
          <a:xfrm>
            <a:off x="7162920" y="3096360"/>
            <a:ext cx="461665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SansCJKsc"/>
                <a:ea typeface="NotoSansCJKsc"/>
              </a:rPr>
              <a:t>实现⽰例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06" name="文本框 1005"/>
          <p:cNvSpPr txBox="1"/>
          <p:nvPr/>
        </p:nvSpPr>
        <p:spPr>
          <a:xfrm>
            <a:off x="6248520" y="3229200"/>
            <a:ext cx="2826095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from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sklearn.model_selection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 import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KFold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07" name="文本框 1006"/>
          <p:cNvSpPr txBox="1"/>
          <p:nvPr/>
        </p:nvSpPr>
        <p:spPr>
          <a:xfrm>
            <a:off x="6248520" y="3354480"/>
            <a:ext cx="3377528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from sklearn.linear_model import LinearRegression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08" name="文本框 1007"/>
          <p:cNvSpPr txBox="1"/>
          <p:nvPr/>
        </p:nvSpPr>
        <p:spPr>
          <a:xfrm>
            <a:off x="6248520" y="3479400"/>
            <a:ext cx="1240724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import numpy as np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09" name="文本框 1008"/>
          <p:cNvSpPr txBox="1"/>
          <p:nvPr/>
        </p:nvSpPr>
        <p:spPr>
          <a:xfrm>
            <a:off x="6248520" y="3729600"/>
            <a:ext cx="344646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# 1. 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10" name="文本框 1009"/>
          <p:cNvSpPr txBox="1"/>
          <p:nvPr/>
        </p:nvSpPr>
        <p:spPr>
          <a:xfrm>
            <a:off x="6705720" y="3721680"/>
            <a:ext cx="346249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SansCJKsc"/>
                <a:ea typeface="NotoSansCJKsc"/>
              </a:rPr>
              <a:t>初始化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11" name="文本框 1010"/>
          <p:cNvSpPr txBox="1"/>
          <p:nvPr/>
        </p:nvSpPr>
        <p:spPr>
          <a:xfrm>
            <a:off x="7162920" y="3729600"/>
            <a:ext cx="68930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12" name="文本框 1011"/>
          <p:cNvSpPr txBox="1"/>
          <p:nvPr/>
        </p:nvSpPr>
        <p:spPr>
          <a:xfrm>
            <a:off x="7254360" y="3721680"/>
            <a:ext cx="577081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SansCJKsc"/>
                <a:ea typeface="NotoSansCJKsc"/>
              </a:rPr>
              <a:t>折交叉验证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13" name="文本框 1012"/>
          <p:cNvSpPr txBox="1"/>
          <p:nvPr/>
        </p:nvSpPr>
        <p:spPr>
          <a:xfrm>
            <a:off x="6248520" y="3854520"/>
            <a:ext cx="3653244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kf = KFold(n_splits=5, shuffle=True, random_state=42)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14" name="文本框 1013"/>
          <p:cNvSpPr txBox="1"/>
          <p:nvPr/>
        </p:nvSpPr>
        <p:spPr>
          <a:xfrm>
            <a:off x="6248520" y="4104720"/>
            <a:ext cx="344646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# 2. 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15" name="文本框 1014"/>
          <p:cNvSpPr txBox="1"/>
          <p:nvPr/>
        </p:nvSpPr>
        <p:spPr>
          <a:xfrm>
            <a:off x="6705720" y="4096800"/>
            <a:ext cx="1038746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SansCJKsc"/>
                <a:ea typeface="NotoSansCJKsc"/>
              </a:rPr>
              <a:t>存储每次迭代的得分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16" name="文本框 1015"/>
          <p:cNvSpPr txBox="1"/>
          <p:nvPr/>
        </p:nvSpPr>
        <p:spPr>
          <a:xfrm>
            <a:off x="6248520" y="4230000"/>
            <a:ext cx="758221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scores = []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17" name="文本框 1016"/>
          <p:cNvSpPr txBox="1"/>
          <p:nvPr/>
        </p:nvSpPr>
        <p:spPr>
          <a:xfrm>
            <a:off x="6248520" y="4479840"/>
            <a:ext cx="344646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# 3. 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18" name="文本框 1017"/>
          <p:cNvSpPr txBox="1"/>
          <p:nvPr/>
        </p:nvSpPr>
        <p:spPr>
          <a:xfrm>
            <a:off x="6705720" y="4471920"/>
            <a:ext cx="807913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SansCJKsc"/>
                <a:ea typeface="NotoSansCJKsc"/>
              </a:rPr>
              <a:t>迭代训练和验证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19" name="文本框 1018"/>
          <p:cNvSpPr txBox="1"/>
          <p:nvPr/>
        </p:nvSpPr>
        <p:spPr>
          <a:xfrm>
            <a:off x="6248520" y="4605120"/>
            <a:ext cx="2895023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for train_index, val_index in kf.split(X):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20" name="文本框 1019"/>
          <p:cNvSpPr txBox="1"/>
          <p:nvPr/>
        </p:nvSpPr>
        <p:spPr>
          <a:xfrm>
            <a:off x="6248520" y="4730040"/>
            <a:ext cx="3377528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    X_train,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X_val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 = X[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train_index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], X[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val_index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]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21" name="文本框 1020"/>
          <p:cNvSpPr txBox="1"/>
          <p:nvPr/>
        </p:nvSpPr>
        <p:spPr>
          <a:xfrm>
            <a:off x="6248520" y="4855320"/>
            <a:ext cx="3377528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    y_train, y_val = y[train_index], y[val_index]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22" name="文本框 1021"/>
          <p:cNvSpPr txBox="1"/>
          <p:nvPr/>
        </p:nvSpPr>
        <p:spPr>
          <a:xfrm>
            <a:off x="6248520" y="4980240"/>
            <a:ext cx="275717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    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23" name="文本框 1022"/>
          <p:cNvSpPr txBox="1"/>
          <p:nvPr/>
        </p:nvSpPr>
        <p:spPr>
          <a:xfrm>
            <a:off x="6248520" y="5105160"/>
            <a:ext cx="413575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    # 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24" name="文本框 1023"/>
          <p:cNvSpPr txBox="1"/>
          <p:nvPr/>
        </p:nvSpPr>
        <p:spPr>
          <a:xfrm>
            <a:off x="6797160" y="5097240"/>
            <a:ext cx="461665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SansCJKsc"/>
                <a:ea typeface="NotoSansCJKsc"/>
              </a:rPr>
              <a:t>训练模型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25" name="文本框 1024"/>
          <p:cNvSpPr txBox="1"/>
          <p:nvPr/>
        </p:nvSpPr>
        <p:spPr>
          <a:xfrm>
            <a:off x="6248520" y="5230440"/>
            <a:ext cx="2067874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    model =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LinearRegression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()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26" name="文本框 1025"/>
          <p:cNvSpPr txBox="1"/>
          <p:nvPr/>
        </p:nvSpPr>
        <p:spPr>
          <a:xfrm>
            <a:off x="6248520" y="5355360"/>
            <a:ext cx="2136803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    model.fit(X_train, y_train)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27" name="文本框 1026"/>
          <p:cNvSpPr txBox="1"/>
          <p:nvPr/>
        </p:nvSpPr>
        <p:spPr>
          <a:xfrm>
            <a:off x="6248520" y="5480640"/>
            <a:ext cx="275717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    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28" name="文本框 1027"/>
          <p:cNvSpPr txBox="1"/>
          <p:nvPr/>
        </p:nvSpPr>
        <p:spPr>
          <a:xfrm>
            <a:off x="6248520" y="5605560"/>
            <a:ext cx="413575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    # 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29" name="文本框 1028"/>
          <p:cNvSpPr txBox="1"/>
          <p:nvPr/>
        </p:nvSpPr>
        <p:spPr>
          <a:xfrm>
            <a:off x="6797160" y="5597640"/>
            <a:ext cx="461665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SansCJKsc"/>
                <a:ea typeface="NotoSansCJKsc"/>
              </a:rPr>
              <a:t>评估模型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30" name="文本框 1029"/>
          <p:cNvSpPr txBox="1"/>
          <p:nvPr/>
        </p:nvSpPr>
        <p:spPr>
          <a:xfrm>
            <a:off x="6248520" y="5730840"/>
            <a:ext cx="2550378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    score = model.score(X_val, y_val)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31" name="文本框 1030"/>
          <p:cNvSpPr txBox="1"/>
          <p:nvPr/>
        </p:nvSpPr>
        <p:spPr>
          <a:xfrm>
            <a:off x="6248520" y="5855760"/>
            <a:ext cx="1654299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    scores.append(score)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32" name="文本框 1031"/>
          <p:cNvSpPr txBox="1"/>
          <p:nvPr/>
        </p:nvSpPr>
        <p:spPr>
          <a:xfrm>
            <a:off x="6248520" y="6105960"/>
            <a:ext cx="344646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# 4. 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33" name="文本框 1032"/>
          <p:cNvSpPr txBox="1"/>
          <p:nvPr/>
        </p:nvSpPr>
        <p:spPr>
          <a:xfrm>
            <a:off x="6705720" y="6098040"/>
            <a:ext cx="692497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SansCJKsc"/>
                <a:ea typeface="NotoSansCJKsc"/>
              </a:rPr>
              <a:t>计算平均性能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34" name="文本框 1033"/>
          <p:cNvSpPr txBox="1"/>
          <p:nvPr/>
        </p:nvSpPr>
        <p:spPr>
          <a:xfrm>
            <a:off x="6248520" y="6230880"/>
            <a:ext cx="1998945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final_score = np.mean(scores)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35" name="文本框 1034"/>
          <p:cNvSpPr txBox="1"/>
          <p:nvPr/>
        </p:nvSpPr>
        <p:spPr>
          <a:xfrm>
            <a:off x="6248520" y="6356160"/>
            <a:ext cx="551433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print(f"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36" name="文本框 1035"/>
          <p:cNvSpPr txBox="1"/>
          <p:nvPr/>
        </p:nvSpPr>
        <p:spPr>
          <a:xfrm>
            <a:off x="6980040" y="6348240"/>
            <a:ext cx="230832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SansCJKsc"/>
                <a:ea typeface="NotoSansCJKsc"/>
              </a:rPr>
              <a:t>平均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37" name="文本框 1036"/>
          <p:cNvSpPr txBox="1"/>
          <p:nvPr/>
        </p:nvSpPr>
        <p:spPr>
          <a:xfrm>
            <a:off x="7284960" y="6356160"/>
            <a:ext cx="137858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R²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38" name="文本框 1037"/>
          <p:cNvSpPr txBox="1"/>
          <p:nvPr/>
        </p:nvSpPr>
        <p:spPr>
          <a:xfrm>
            <a:off x="7467840" y="6348240"/>
            <a:ext cx="230832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SansCJKsc"/>
                <a:ea typeface="NotoSansCJKsc"/>
              </a:rPr>
              <a:t>分数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40" name="文本框 1039"/>
          <p:cNvSpPr txBox="1"/>
          <p:nvPr/>
        </p:nvSpPr>
        <p:spPr>
          <a:xfrm>
            <a:off x="7772400" y="6356160"/>
            <a:ext cx="1447512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: {final_score:.4f}")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5DCC60-2DE1-D31D-051E-37EF4A08D73F}"/>
              </a:ext>
            </a:extLst>
          </p:cNvPr>
          <p:cNvSpPr txBox="1"/>
          <p:nvPr/>
        </p:nvSpPr>
        <p:spPr>
          <a:xfrm>
            <a:off x="10900293" y="172460"/>
            <a:ext cx="928309" cy="3693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1200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sz="1200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sz="1200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sz="1200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任意多边形 104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1" name="任意多边形 1050"/>
          <p:cNvSpPr/>
          <p:nvPr/>
        </p:nvSpPr>
        <p:spPr>
          <a:xfrm>
            <a:off x="152280" y="106200"/>
            <a:ext cx="11887560" cy="6751800"/>
          </a:xfrm>
          <a:custGeom>
            <a:avLst/>
            <a:gdLst/>
            <a:ahLst/>
            <a:cxnLst/>
            <a:rect l="0" t="0" r="r" b="b"/>
            <a:pathLst>
              <a:path w="33021" h="18755">
                <a:moveTo>
                  <a:pt x="0" y="0"/>
                </a:moveTo>
                <a:lnTo>
                  <a:pt x="33021" y="0"/>
                </a:lnTo>
                <a:lnTo>
                  <a:pt x="33021" y="18755"/>
                </a:lnTo>
                <a:lnTo>
                  <a:pt x="0" y="1875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2" name="任意多边形 1051"/>
          <p:cNvSpPr/>
          <p:nvPr/>
        </p:nvSpPr>
        <p:spPr>
          <a:xfrm>
            <a:off x="152280" y="106200"/>
            <a:ext cx="11887560" cy="671400"/>
          </a:xfrm>
          <a:custGeom>
            <a:avLst/>
            <a:gdLst/>
            <a:ahLst/>
            <a:cxnLst/>
            <a:rect l="0" t="0" r="r" b="b"/>
            <a:pathLst>
              <a:path w="33021" h="1865">
                <a:moveTo>
                  <a:pt x="0" y="0"/>
                </a:moveTo>
                <a:lnTo>
                  <a:pt x="33021" y="0"/>
                </a:lnTo>
                <a:lnTo>
                  <a:pt x="33021" y="1865"/>
                </a:lnTo>
                <a:lnTo>
                  <a:pt x="0" y="1865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3" name="任意多边形 1052"/>
          <p:cNvSpPr/>
          <p:nvPr/>
        </p:nvSpPr>
        <p:spPr>
          <a:xfrm>
            <a:off x="152280" y="777240"/>
            <a:ext cx="11887560" cy="5901480"/>
          </a:xfrm>
          <a:custGeom>
            <a:avLst/>
            <a:gdLst/>
            <a:ahLst/>
            <a:cxnLst/>
            <a:rect l="0" t="0" r="r" b="b"/>
            <a:pathLst>
              <a:path w="33021" h="16393">
                <a:moveTo>
                  <a:pt x="0" y="0"/>
                </a:moveTo>
                <a:lnTo>
                  <a:pt x="33021" y="0"/>
                </a:lnTo>
                <a:lnTo>
                  <a:pt x="33021" y="16393"/>
                </a:lnTo>
                <a:lnTo>
                  <a:pt x="0" y="1639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5" name="任意多边形 1054"/>
          <p:cNvSpPr/>
          <p:nvPr/>
        </p:nvSpPr>
        <p:spPr>
          <a:xfrm>
            <a:off x="609480" y="2784240"/>
            <a:ext cx="5181840" cy="1761480"/>
          </a:xfrm>
          <a:custGeom>
            <a:avLst/>
            <a:gdLst/>
            <a:ahLst/>
            <a:cxnLst/>
            <a:rect l="0" t="0" r="r" b="b"/>
            <a:pathLst>
              <a:path w="14394" h="4893">
                <a:moveTo>
                  <a:pt x="0" y="4745"/>
                </a:moveTo>
                <a:lnTo>
                  <a:pt x="0" y="148"/>
                </a:lnTo>
                <a:cubicBezTo>
                  <a:pt x="0" y="138"/>
                  <a:pt x="1" y="128"/>
                  <a:pt x="4" y="119"/>
                </a:cubicBezTo>
                <a:cubicBezTo>
                  <a:pt x="7" y="109"/>
                  <a:pt x="11" y="100"/>
                  <a:pt x="16" y="91"/>
                </a:cubicBezTo>
                <a:cubicBezTo>
                  <a:pt x="21" y="82"/>
                  <a:pt x="28" y="74"/>
                  <a:pt x="36" y="66"/>
                </a:cubicBezTo>
                <a:cubicBezTo>
                  <a:pt x="43" y="58"/>
                  <a:pt x="52" y="50"/>
                  <a:pt x="62" y="43"/>
                </a:cubicBezTo>
                <a:cubicBezTo>
                  <a:pt x="72" y="36"/>
                  <a:pt x="82" y="30"/>
                  <a:pt x="94" y="25"/>
                </a:cubicBezTo>
                <a:cubicBezTo>
                  <a:pt x="105" y="19"/>
                  <a:pt x="118" y="15"/>
                  <a:pt x="130" y="11"/>
                </a:cubicBezTo>
                <a:cubicBezTo>
                  <a:pt x="143" y="7"/>
                  <a:pt x="157" y="5"/>
                  <a:pt x="170" y="3"/>
                </a:cubicBezTo>
                <a:cubicBezTo>
                  <a:pt x="184" y="1"/>
                  <a:pt x="198" y="0"/>
                  <a:pt x="211" y="0"/>
                </a:cubicBezTo>
                <a:lnTo>
                  <a:pt x="14182" y="0"/>
                </a:lnTo>
                <a:cubicBezTo>
                  <a:pt x="14196" y="0"/>
                  <a:pt x="14210" y="1"/>
                  <a:pt x="14224" y="3"/>
                </a:cubicBezTo>
                <a:cubicBezTo>
                  <a:pt x="14237" y="5"/>
                  <a:pt x="14251" y="7"/>
                  <a:pt x="14263" y="11"/>
                </a:cubicBezTo>
                <a:cubicBezTo>
                  <a:pt x="14276" y="15"/>
                  <a:pt x="14289" y="19"/>
                  <a:pt x="14300" y="25"/>
                </a:cubicBezTo>
                <a:cubicBezTo>
                  <a:pt x="14312" y="30"/>
                  <a:pt x="14322" y="36"/>
                  <a:pt x="14332" y="43"/>
                </a:cubicBezTo>
                <a:cubicBezTo>
                  <a:pt x="14342" y="50"/>
                  <a:pt x="14351" y="58"/>
                  <a:pt x="14358" y="66"/>
                </a:cubicBezTo>
                <a:cubicBezTo>
                  <a:pt x="14366" y="74"/>
                  <a:pt x="14373" y="82"/>
                  <a:pt x="14378" y="91"/>
                </a:cubicBezTo>
                <a:cubicBezTo>
                  <a:pt x="14383" y="100"/>
                  <a:pt x="14387" y="109"/>
                  <a:pt x="14390" y="119"/>
                </a:cubicBezTo>
                <a:cubicBezTo>
                  <a:pt x="14393" y="128"/>
                  <a:pt x="14394" y="138"/>
                  <a:pt x="14394" y="148"/>
                </a:cubicBezTo>
                <a:lnTo>
                  <a:pt x="14394" y="4745"/>
                </a:lnTo>
                <a:cubicBezTo>
                  <a:pt x="14394" y="4755"/>
                  <a:pt x="14393" y="4764"/>
                  <a:pt x="14390" y="4774"/>
                </a:cubicBezTo>
                <a:cubicBezTo>
                  <a:pt x="14387" y="4783"/>
                  <a:pt x="14383" y="4793"/>
                  <a:pt x="14378" y="4801"/>
                </a:cubicBezTo>
                <a:cubicBezTo>
                  <a:pt x="14373" y="4810"/>
                  <a:pt x="14366" y="4819"/>
                  <a:pt x="14358" y="4827"/>
                </a:cubicBezTo>
                <a:cubicBezTo>
                  <a:pt x="14351" y="4835"/>
                  <a:pt x="14342" y="4843"/>
                  <a:pt x="14332" y="4849"/>
                </a:cubicBezTo>
                <a:cubicBezTo>
                  <a:pt x="14322" y="4856"/>
                  <a:pt x="14312" y="4862"/>
                  <a:pt x="14300" y="4868"/>
                </a:cubicBezTo>
                <a:cubicBezTo>
                  <a:pt x="14289" y="4873"/>
                  <a:pt x="14276" y="4878"/>
                  <a:pt x="14263" y="4881"/>
                </a:cubicBezTo>
                <a:cubicBezTo>
                  <a:pt x="14251" y="4885"/>
                  <a:pt x="14237" y="4888"/>
                  <a:pt x="14224" y="4890"/>
                </a:cubicBezTo>
                <a:cubicBezTo>
                  <a:pt x="14210" y="4892"/>
                  <a:pt x="14196" y="4893"/>
                  <a:pt x="14182" y="4893"/>
                </a:cubicBezTo>
                <a:lnTo>
                  <a:pt x="211" y="4893"/>
                </a:lnTo>
                <a:cubicBezTo>
                  <a:pt x="198" y="4893"/>
                  <a:pt x="184" y="4892"/>
                  <a:pt x="170" y="4890"/>
                </a:cubicBezTo>
                <a:cubicBezTo>
                  <a:pt x="157" y="4888"/>
                  <a:pt x="143" y="4885"/>
                  <a:pt x="130" y="4881"/>
                </a:cubicBezTo>
                <a:cubicBezTo>
                  <a:pt x="118" y="4878"/>
                  <a:pt x="105" y="4873"/>
                  <a:pt x="94" y="4868"/>
                </a:cubicBezTo>
                <a:cubicBezTo>
                  <a:pt x="82" y="4862"/>
                  <a:pt x="72" y="4856"/>
                  <a:pt x="62" y="4849"/>
                </a:cubicBezTo>
                <a:cubicBezTo>
                  <a:pt x="52" y="4843"/>
                  <a:pt x="43" y="4835"/>
                  <a:pt x="36" y="4827"/>
                </a:cubicBezTo>
                <a:cubicBezTo>
                  <a:pt x="28" y="4819"/>
                  <a:pt x="21" y="4810"/>
                  <a:pt x="16" y="4801"/>
                </a:cubicBezTo>
                <a:cubicBezTo>
                  <a:pt x="11" y="4793"/>
                  <a:pt x="7" y="4783"/>
                  <a:pt x="4" y="4774"/>
                </a:cubicBezTo>
                <a:cubicBezTo>
                  <a:pt x="1" y="4764"/>
                  <a:pt x="0" y="4755"/>
                  <a:pt x="0" y="4745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6" name="任意多边形 1055"/>
          <p:cNvSpPr/>
          <p:nvPr/>
        </p:nvSpPr>
        <p:spPr>
          <a:xfrm>
            <a:off x="609480" y="4651560"/>
            <a:ext cx="5181840" cy="1708200"/>
          </a:xfrm>
          <a:custGeom>
            <a:avLst/>
            <a:gdLst/>
            <a:ahLst/>
            <a:cxnLst/>
            <a:rect l="0" t="0" r="r" b="b"/>
            <a:pathLst>
              <a:path w="14394" h="4745">
                <a:moveTo>
                  <a:pt x="0" y="4597"/>
                </a:moveTo>
                <a:lnTo>
                  <a:pt x="0" y="148"/>
                </a:lnTo>
                <a:cubicBezTo>
                  <a:pt x="0" y="138"/>
                  <a:pt x="1" y="128"/>
                  <a:pt x="4" y="119"/>
                </a:cubicBezTo>
                <a:cubicBezTo>
                  <a:pt x="7" y="109"/>
                  <a:pt x="11" y="100"/>
                  <a:pt x="16" y="91"/>
                </a:cubicBezTo>
                <a:cubicBezTo>
                  <a:pt x="21" y="82"/>
                  <a:pt x="28" y="74"/>
                  <a:pt x="36" y="66"/>
                </a:cubicBezTo>
                <a:cubicBezTo>
                  <a:pt x="43" y="58"/>
                  <a:pt x="52" y="50"/>
                  <a:pt x="62" y="43"/>
                </a:cubicBezTo>
                <a:cubicBezTo>
                  <a:pt x="72" y="36"/>
                  <a:pt x="82" y="30"/>
                  <a:pt x="94" y="25"/>
                </a:cubicBezTo>
                <a:cubicBezTo>
                  <a:pt x="105" y="20"/>
                  <a:pt x="118" y="15"/>
                  <a:pt x="130" y="11"/>
                </a:cubicBezTo>
                <a:cubicBezTo>
                  <a:pt x="143" y="8"/>
                  <a:pt x="157" y="5"/>
                  <a:pt x="170" y="3"/>
                </a:cubicBezTo>
                <a:cubicBezTo>
                  <a:pt x="184" y="1"/>
                  <a:pt x="198" y="0"/>
                  <a:pt x="211" y="0"/>
                </a:cubicBezTo>
                <a:lnTo>
                  <a:pt x="14182" y="0"/>
                </a:lnTo>
                <a:cubicBezTo>
                  <a:pt x="14196" y="0"/>
                  <a:pt x="14210" y="1"/>
                  <a:pt x="14224" y="3"/>
                </a:cubicBezTo>
                <a:cubicBezTo>
                  <a:pt x="14237" y="5"/>
                  <a:pt x="14251" y="8"/>
                  <a:pt x="14263" y="11"/>
                </a:cubicBezTo>
                <a:cubicBezTo>
                  <a:pt x="14276" y="15"/>
                  <a:pt x="14289" y="20"/>
                  <a:pt x="14300" y="25"/>
                </a:cubicBezTo>
                <a:cubicBezTo>
                  <a:pt x="14312" y="30"/>
                  <a:pt x="14322" y="36"/>
                  <a:pt x="14332" y="43"/>
                </a:cubicBezTo>
                <a:cubicBezTo>
                  <a:pt x="14342" y="50"/>
                  <a:pt x="14351" y="58"/>
                  <a:pt x="14358" y="66"/>
                </a:cubicBezTo>
                <a:cubicBezTo>
                  <a:pt x="14366" y="74"/>
                  <a:pt x="14373" y="82"/>
                  <a:pt x="14378" y="91"/>
                </a:cubicBezTo>
                <a:cubicBezTo>
                  <a:pt x="14383" y="100"/>
                  <a:pt x="14387" y="109"/>
                  <a:pt x="14390" y="119"/>
                </a:cubicBezTo>
                <a:cubicBezTo>
                  <a:pt x="14393" y="128"/>
                  <a:pt x="14394" y="138"/>
                  <a:pt x="14394" y="148"/>
                </a:cubicBezTo>
                <a:lnTo>
                  <a:pt x="14394" y="4597"/>
                </a:lnTo>
                <a:cubicBezTo>
                  <a:pt x="14394" y="4607"/>
                  <a:pt x="14393" y="4617"/>
                  <a:pt x="14390" y="4626"/>
                </a:cubicBezTo>
                <a:cubicBezTo>
                  <a:pt x="14387" y="4636"/>
                  <a:pt x="14383" y="4645"/>
                  <a:pt x="14378" y="4654"/>
                </a:cubicBezTo>
                <a:cubicBezTo>
                  <a:pt x="14373" y="4663"/>
                  <a:pt x="14366" y="4671"/>
                  <a:pt x="14358" y="4679"/>
                </a:cubicBezTo>
                <a:cubicBezTo>
                  <a:pt x="14351" y="4687"/>
                  <a:pt x="14342" y="4695"/>
                  <a:pt x="14332" y="4702"/>
                </a:cubicBezTo>
                <a:cubicBezTo>
                  <a:pt x="14322" y="4709"/>
                  <a:pt x="14312" y="4715"/>
                  <a:pt x="14300" y="4720"/>
                </a:cubicBezTo>
                <a:cubicBezTo>
                  <a:pt x="14289" y="4726"/>
                  <a:pt x="14276" y="4730"/>
                  <a:pt x="14263" y="4734"/>
                </a:cubicBezTo>
                <a:cubicBezTo>
                  <a:pt x="14251" y="4738"/>
                  <a:pt x="14237" y="4740"/>
                  <a:pt x="14224" y="4742"/>
                </a:cubicBezTo>
                <a:cubicBezTo>
                  <a:pt x="14210" y="4744"/>
                  <a:pt x="14196" y="4745"/>
                  <a:pt x="14182" y="4745"/>
                </a:cubicBezTo>
                <a:lnTo>
                  <a:pt x="211" y="4745"/>
                </a:lnTo>
                <a:cubicBezTo>
                  <a:pt x="198" y="4745"/>
                  <a:pt x="184" y="4744"/>
                  <a:pt x="170" y="4742"/>
                </a:cubicBezTo>
                <a:cubicBezTo>
                  <a:pt x="157" y="4740"/>
                  <a:pt x="143" y="4738"/>
                  <a:pt x="130" y="4734"/>
                </a:cubicBezTo>
                <a:cubicBezTo>
                  <a:pt x="118" y="4730"/>
                  <a:pt x="105" y="4726"/>
                  <a:pt x="94" y="4720"/>
                </a:cubicBezTo>
                <a:cubicBezTo>
                  <a:pt x="82" y="4715"/>
                  <a:pt x="72" y="4709"/>
                  <a:pt x="62" y="4702"/>
                </a:cubicBezTo>
                <a:cubicBezTo>
                  <a:pt x="52" y="4695"/>
                  <a:pt x="43" y="4687"/>
                  <a:pt x="36" y="4679"/>
                </a:cubicBezTo>
                <a:cubicBezTo>
                  <a:pt x="28" y="4671"/>
                  <a:pt x="21" y="4663"/>
                  <a:pt x="16" y="4654"/>
                </a:cubicBezTo>
                <a:cubicBezTo>
                  <a:pt x="11" y="4645"/>
                  <a:pt x="7" y="4636"/>
                  <a:pt x="4" y="4626"/>
                </a:cubicBezTo>
                <a:cubicBezTo>
                  <a:pt x="1" y="4617"/>
                  <a:pt x="0" y="4607"/>
                  <a:pt x="0" y="4597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7" name="任意多边形 1056"/>
          <p:cNvSpPr/>
          <p:nvPr/>
        </p:nvSpPr>
        <p:spPr>
          <a:xfrm>
            <a:off x="771480" y="5083560"/>
            <a:ext cx="1133640" cy="292680"/>
          </a:xfrm>
          <a:custGeom>
            <a:avLst/>
            <a:gdLst/>
            <a:ahLst/>
            <a:cxnLst/>
            <a:rect l="0" t="0" r="r" b="b"/>
            <a:pathLst>
              <a:path w="3149" h="813">
                <a:moveTo>
                  <a:pt x="0" y="0"/>
                </a:moveTo>
                <a:lnTo>
                  <a:pt x="3149" y="0"/>
                </a:lnTo>
                <a:lnTo>
                  <a:pt x="3149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8" name="任意多边形 1057"/>
          <p:cNvSpPr/>
          <p:nvPr/>
        </p:nvSpPr>
        <p:spPr>
          <a:xfrm>
            <a:off x="1904760" y="5083560"/>
            <a:ext cx="1371960" cy="292680"/>
          </a:xfrm>
          <a:custGeom>
            <a:avLst/>
            <a:gdLst/>
            <a:ahLst/>
            <a:cxnLst/>
            <a:rect l="0" t="0" r="r" b="b"/>
            <a:pathLst>
              <a:path w="3811" h="813">
                <a:moveTo>
                  <a:pt x="0" y="0"/>
                </a:moveTo>
                <a:lnTo>
                  <a:pt x="3811" y="0"/>
                </a:lnTo>
                <a:lnTo>
                  <a:pt x="3811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9" name="任意多边形 1058"/>
          <p:cNvSpPr/>
          <p:nvPr/>
        </p:nvSpPr>
        <p:spPr>
          <a:xfrm>
            <a:off x="3276360" y="5083560"/>
            <a:ext cx="1219680" cy="292680"/>
          </a:xfrm>
          <a:custGeom>
            <a:avLst/>
            <a:gdLst/>
            <a:ahLst/>
            <a:cxnLst/>
            <a:rect l="0" t="0" r="r" b="b"/>
            <a:pathLst>
              <a:path w="3388" h="813">
                <a:moveTo>
                  <a:pt x="0" y="0"/>
                </a:moveTo>
                <a:lnTo>
                  <a:pt x="3388" y="0"/>
                </a:lnTo>
                <a:lnTo>
                  <a:pt x="338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0" name="任意多边形 1059"/>
          <p:cNvSpPr/>
          <p:nvPr/>
        </p:nvSpPr>
        <p:spPr>
          <a:xfrm>
            <a:off x="4495680" y="5083560"/>
            <a:ext cx="1143360" cy="292680"/>
          </a:xfrm>
          <a:custGeom>
            <a:avLst/>
            <a:gdLst/>
            <a:ahLst/>
            <a:cxnLst/>
            <a:rect l="0" t="0" r="r" b="b"/>
            <a:pathLst>
              <a:path w="3176" h="813">
                <a:moveTo>
                  <a:pt x="0" y="0"/>
                </a:moveTo>
                <a:lnTo>
                  <a:pt x="3176" y="0"/>
                </a:lnTo>
                <a:lnTo>
                  <a:pt x="3176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1" name="任意多边形 1060"/>
          <p:cNvSpPr/>
          <p:nvPr/>
        </p:nvSpPr>
        <p:spPr>
          <a:xfrm>
            <a:off x="771480" y="5668200"/>
            <a:ext cx="1133640" cy="292680"/>
          </a:xfrm>
          <a:custGeom>
            <a:avLst/>
            <a:gdLst/>
            <a:ahLst/>
            <a:cxnLst/>
            <a:rect l="0" t="0" r="r" b="b"/>
            <a:pathLst>
              <a:path w="3149" h="813">
                <a:moveTo>
                  <a:pt x="0" y="0"/>
                </a:moveTo>
                <a:lnTo>
                  <a:pt x="3149" y="0"/>
                </a:lnTo>
                <a:lnTo>
                  <a:pt x="3149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2" name="任意多边形 1061"/>
          <p:cNvSpPr/>
          <p:nvPr/>
        </p:nvSpPr>
        <p:spPr>
          <a:xfrm>
            <a:off x="1904760" y="5668200"/>
            <a:ext cx="1371960" cy="292680"/>
          </a:xfrm>
          <a:custGeom>
            <a:avLst/>
            <a:gdLst/>
            <a:ahLst/>
            <a:cxnLst/>
            <a:rect l="0" t="0" r="r" b="b"/>
            <a:pathLst>
              <a:path w="3811" h="813">
                <a:moveTo>
                  <a:pt x="0" y="0"/>
                </a:moveTo>
                <a:lnTo>
                  <a:pt x="3811" y="0"/>
                </a:lnTo>
                <a:lnTo>
                  <a:pt x="3811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3" name="任意多边形 1062"/>
          <p:cNvSpPr/>
          <p:nvPr/>
        </p:nvSpPr>
        <p:spPr>
          <a:xfrm>
            <a:off x="3276360" y="5668200"/>
            <a:ext cx="1219680" cy="292680"/>
          </a:xfrm>
          <a:custGeom>
            <a:avLst/>
            <a:gdLst/>
            <a:ahLst/>
            <a:cxnLst/>
            <a:rect l="0" t="0" r="r" b="b"/>
            <a:pathLst>
              <a:path w="3388" h="813">
                <a:moveTo>
                  <a:pt x="0" y="0"/>
                </a:moveTo>
                <a:lnTo>
                  <a:pt x="3388" y="0"/>
                </a:lnTo>
                <a:lnTo>
                  <a:pt x="338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4" name="任意多边形 1063"/>
          <p:cNvSpPr/>
          <p:nvPr/>
        </p:nvSpPr>
        <p:spPr>
          <a:xfrm>
            <a:off x="4495680" y="5668200"/>
            <a:ext cx="1143360" cy="292680"/>
          </a:xfrm>
          <a:custGeom>
            <a:avLst/>
            <a:gdLst/>
            <a:ahLst/>
            <a:cxnLst/>
            <a:rect l="0" t="0" r="r" b="b"/>
            <a:pathLst>
              <a:path w="3176" h="813">
                <a:moveTo>
                  <a:pt x="0" y="0"/>
                </a:moveTo>
                <a:lnTo>
                  <a:pt x="3176" y="0"/>
                </a:lnTo>
                <a:lnTo>
                  <a:pt x="3176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5" name="任意多边形 1064"/>
          <p:cNvSpPr/>
          <p:nvPr/>
        </p:nvSpPr>
        <p:spPr>
          <a:xfrm>
            <a:off x="761760" y="5076720"/>
            <a:ext cx="10080" cy="299520"/>
          </a:xfrm>
          <a:custGeom>
            <a:avLst/>
            <a:gdLst/>
            <a:ahLst/>
            <a:cxnLst/>
            <a:rect l="0" t="0" r="r" b="b"/>
            <a:pathLst>
              <a:path w="28" h="832">
                <a:moveTo>
                  <a:pt x="0" y="0"/>
                </a:moveTo>
                <a:lnTo>
                  <a:pt x="28" y="0"/>
                </a:lnTo>
                <a:lnTo>
                  <a:pt x="28" y="832"/>
                </a:lnTo>
                <a:lnTo>
                  <a:pt x="0" y="83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6" name="任意多边形 1065"/>
          <p:cNvSpPr/>
          <p:nvPr/>
        </p:nvSpPr>
        <p:spPr>
          <a:xfrm>
            <a:off x="761760" y="5076720"/>
            <a:ext cx="1143360" cy="7560"/>
          </a:xfrm>
          <a:custGeom>
            <a:avLst/>
            <a:gdLst/>
            <a:ahLst/>
            <a:cxnLst/>
            <a:rect l="0" t="0" r="r" b="b"/>
            <a:pathLst>
              <a:path w="3176" h="21">
                <a:moveTo>
                  <a:pt x="0" y="0"/>
                </a:moveTo>
                <a:lnTo>
                  <a:pt x="3176" y="0"/>
                </a:lnTo>
                <a:lnTo>
                  <a:pt x="3176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7" name="任意多边形 1066"/>
          <p:cNvSpPr/>
          <p:nvPr/>
        </p:nvSpPr>
        <p:spPr>
          <a:xfrm>
            <a:off x="1895400" y="5076720"/>
            <a:ext cx="9720" cy="299520"/>
          </a:xfrm>
          <a:custGeom>
            <a:avLst/>
            <a:gdLst/>
            <a:ahLst/>
            <a:cxnLst/>
            <a:rect l="0" t="0" r="r" b="b"/>
            <a:pathLst>
              <a:path w="27" h="832">
                <a:moveTo>
                  <a:pt x="0" y="0"/>
                </a:moveTo>
                <a:lnTo>
                  <a:pt x="27" y="0"/>
                </a:lnTo>
                <a:lnTo>
                  <a:pt x="27" y="832"/>
                </a:lnTo>
                <a:lnTo>
                  <a:pt x="0" y="83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8" name="任意多边形 1067"/>
          <p:cNvSpPr/>
          <p:nvPr/>
        </p:nvSpPr>
        <p:spPr>
          <a:xfrm>
            <a:off x="1904760" y="5076720"/>
            <a:ext cx="1371960" cy="7560"/>
          </a:xfrm>
          <a:custGeom>
            <a:avLst/>
            <a:gdLst/>
            <a:ahLst/>
            <a:cxnLst/>
            <a:rect l="0" t="0" r="r" b="b"/>
            <a:pathLst>
              <a:path w="3811" h="21">
                <a:moveTo>
                  <a:pt x="0" y="0"/>
                </a:moveTo>
                <a:lnTo>
                  <a:pt x="3811" y="0"/>
                </a:lnTo>
                <a:lnTo>
                  <a:pt x="3811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9" name="任意多边形 1068"/>
          <p:cNvSpPr/>
          <p:nvPr/>
        </p:nvSpPr>
        <p:spPr>
          <a:xfrm>
            <a:off x="3267000" y="5076720"/>
            <a:ext cx="9720" cy="299520"/>
          </a:xfrm>
          <a:custGeom>
            <a:avLst/>
            <a:gdLst/>
            <a:ahLst/>
            <a:cxnLst/>
            <a:rect l="0" t="0" r="r" b="b"/>
            <a:pathLst>
              <a:path w="27" h="832">
                <a:moveTo>
                  <a:pt x="0" y="0"/>
                </a:moveTo>
                <a:lnTo>
                  <a:pt x="27" y="0"/>
                </a:lnTo>
                <a:lnTo>
                  <a:pt x="27" y="832"/>
                </a:lnTo>
                <a:lnTo>
                  <a:pt x="0" y="83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0" name="任意多边形 1069"/>
          <p:cNvSpPr/>
          <p:nvPr/>
        </p:nvSpPr>
        <p:spPr>
          <a:xfrm>
            <a:off x="3276360" y="5076720"/>
            <a:ext cx="1229040" cy="7560"/>
          </a:xfrm>
          <a:custGeom>
            <a:avLst/>
            <a:gdLst/>
            <a:ahLst/>
            <a:cxnLst/>
            <a:rect l="0" t="0" r="r" b="b"/>
            <a:pathLst>
              <a:path w="3414" h="21">
                <a:moveTo>
                  <a:pt x="0" y="0"/>
                </a:moveTo>
                <a:lnTo>
                  <a:pt x="3414" y="0"/>
                </a:lnTo>
                <a:lnTo>
                  <a:pt x="3414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1" name="任意多边形 1070"/>
          <p:cNvSpPr/>
          <p:nvPr/>
        </p:nvSpPr>
        <p:spPr>
          <a:xfrm>
            <a:off x="4495680" y="5076720"/>
            <a:ext cx="9720" cy="299520"/>
          </a:xfrm>
          <a:custGeom>
            <a:avLst/>
            <a:gdLst/>
            <a:ahLst/>
            <a:cxnLst/>
            <a:rect l="0" t="0" r="r" b="b"/>
            <a:pathLst>
              <a:path w="27" h="832">
                <a:moveTo>
                  <a:pt x="0" y="0"/>
                </a:moveTo>
                <a:lnTo>
                  <a:pt x="27" y="0"/>
                </a:lnTo>
                <a:lnTo>
                  <a:pt x="27" y="832"/>
                </a:lnTo>
                <a:lnTo>
                  <a:pt x="0" y="83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2" name="任意多边形 1071"/>
          <p:cNvSpPr/>
          <p:nvPr/>
        </p:nvSpPr>
        <p:spPr>
          <a:xfrm>
            <a:off x="4505040" y="5076720"/>
            <a:ext cx="1134000" cy="7560"/>
          </a:xfrm>
          <a:custGeom>
            <a:avLst/>
            <a:gdLst/>
            <a:ahLst/>
            <a:cxnLst/>
            <a:rect l="0" t="0" r="r" b="b"/>
            <a:pathLst>
              <a:path w="3150" h="21">
                <a:moveTo>
                  <a:pt x="0" y="0"/>
                </a:moveTo>
                <a:lnTo>
                  <a:pt x="3150" y="0"/>
                </a:lnTo>
                <a:lnTo>
                  <a:pt x="3150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3" name="任意多边形 1072"/>
          <p:cNvSpPr/>
          <p:nvPr/>
        </p:nvSpPr>
        <p:spPr>
          <a:xfrm>
            <a:off x="5628960" y="5076720"/>
            <a:ext cx="10080" cy="299520"/>
          </a:xfrm>
          <a:custGeom>
            <a:avLst/>
            <a:gdLst/>
            <a:ahLst/>
            <a:cxnLst/>
            <a:rect l="0" t="0" r="r" b="b"/>
            <a:pathLst>
              <a:path w="28" h="832">
                <a:moveTo>
                  <a:pt x="0" y="0"/>
                </a:moveTo>
                <a:lnTo>
                  <a:pt x="28" y="0"/>
                </a:lnTo>
                <a:lnTo>
                  <a:pt x="28" y="832"/>
                </a:lnTo>
                <a:lnTo>
                  <a:pt x="0" y="83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4" name="任意多边形 1073"/>
          <p:cNvSpPr/>
          <p:nvPr/>
        </p:nvSpPr>
        <p:spPr>
          <a:xfrm>
            <a:off x="761760" y="5369400"/>
            <a:ext cx="1143360" cy="6840"/>
          </a:xfrm>
          <a:custGeom>
            <a:avLst/>
            <a:gdLst/>
            <a:ahLst/>
            <a:cxnLst/>
            <a:rect l="0" t="0" r="r" b="b"/>
            <a:pathLst>
              <a:path w="3176" h="19">
                <a:moveTo>
                  <a:pt x="0" y="0"/>
                </a:moveTo>
                <a:lnTo>
                  <a:pt x="3176" y="0"/>
                </a:lnTo>
                <a:lnTo>
                  <a:pt x="317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5" name="任意多边形 1074"/>
          <p:cNvSpPr/>
          <p:nvPr/>
        </p:nvSpPr>
        <p:spPr>
          <a:xfrm>
            <a:off x="1904760" y="5369400"/>
            <a:ext cx="1371960" cy="6840"/>
          </a:xfrm>
          <a:custGeom>
            <a:avLst/>
            <a:gdLst/>
            <a:ahLst/>
            <a:cxnLst/>
            <a:rect l="0" t="0" r="r" b="b"/>
            <a:pathLst>
              <a:path w="3811" h="19">
                <a:moveTo>
                  <a:pt x="0" y="0"/>
                </a:moveTo>
                <a:lnTo>
                  <a:pt x="3811" y="0"/>
                </a:lnTo>
                <a:lnTo>
                  <a:pt x="3811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6" name="任意多边形 1075"/>
          <p:cNvSpPr/>
          <p:nvPr/>
        </p:nvSpPr>
        <p:spPr>
          <a:xfrm>
            <a:off x="3276360" y="5369400"/>
            <a:ext cx="1229040" cy="6840"/>
          </a:xfrm>
          <a:custGeom>
            <a:avLst/>
            <a:gdLst/>
            <a:ahLst/>
            <a:cxnLst/>
            <a:rect l="0" t="0" r="r" b="b"/>
            <a:pathLst>
              <a:path w="3414" h="19">
                <a:moveTo>
                  <a:pt x="0" y="0"/>
                </a:moveTo>
                <a:lnTo>
                  <a:pt x="3414" y="0"/>
                </a:lnTo>
                <a:lnTo>
                  <a:pt x="3414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7" name="任意多边形 1076"/>
          <p:cNvSpPr/>
          <p:nvPr/>
        </p:nvSpPr>
        <p:spPr>
          <a:xfrm>
            <a:off x="4505040" y="5369400"/>
            <a:ext cx="1134000" cy="6840"/>
          </a:xfrm>
          <a:custGeom>
            <a:avLst/>
            <a:gdLst/>
            <a:ahLst/>
            <a:cxnLst/>
            <a:rect l="0" t="0" r="r" b="b"/>
            <a:pathLst>
              <a:path w="3150" h="19">
                <a:moveTo>
                  <a:pt x="0" y="0"/>
                </a:moveTo>
                <a:lnTo>
                  <a:pt x="3150" y="0"/>
                </a:lnTo>
                <a:lnTo>
                  <a:pt x="3150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8" name="任意多边形 1077"/>
          <p:cNvSpPr/>
          <p:nvPr/>
        </p:nvSpPr>
        <p:spPr>
          <a:xfrm>
            <a:off x="761760" y="5375880"/>
            <a:ext cx="10080" cy="292680"/>
          </a:xfrm>
          <a:custGeom>
            <a:avLst/>
            <a:gdLst/>
            <a:ahLst/>
            <a:cxnLst/>
            <a:rect l="0" t="0" r="r" b="b"/>
            <a:pathLst>
              <a:path w="28" h="813">
                <a:moveTo>
                  <a:pt x="0" y="0"/>
                </a:moveTo>
                <a:lnTo>
                  <a:pt x="28" y="0"/>
                </a:lnTo>
                <a:lnTo>
                  <a:pt x="2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9" name="任意多边形 1078"/>
          <p:cNvSpPr/>
          <p:nvPr/>
        </p:nvSpPr>
        <p:spPr>
          <a:xfrm>
            <a:off x="1895400" y="537588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0" name="任意多边形 1079"/>
          <p:cNvSpPr/>
          <p:nvPr/>
        </p:nvSpPr>
        <p:spPr>
          <a:xfrm>
            <a:off x="3267000" y="537588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1" name="任意多边形 1080"/>
          <p:cNvSpPr/>
          <p:nvPr/>
        </p:nvSpPr>
        <p:spPr>
          <a:xfrm>
            <a:off x="4495680" y="537588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2" name="任意多边形 1081"/>
          <p:cNvSpPr/>
          <p:nvPr/>
        </p:nvSpPr>
        <p:spPr>
          <a:xfrm>
            <a:off x="5628960" y="5375880"/>
            <a:ext cx="10080" cy="292680"/>
          </a:xfrm>
          <a:custGeom>
            <a:avLst/>
            <a:gdLst/>
            <a:ahLst/>
            <a:cxnLst/>
            <a:rect l="0" t="0" r="r" b="b"/>
            <a:pathLst>
              <a:path w="28" h="813">
                <a:moveTo>
                  <a:pt x="0" y="0"/>
                </a:moveTo>
                <a:lnTo>
                  <a:pt x="28" y="0"/>
                </a:lnTo>
                <a:lnTo>
                  <a:pt x="2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3" name="任意多边形 1082"/>
          <p:cNvSpPr/>
          <p:nvPr/>
        </p:nvSpPr>
        <p:spPr>
          <a:xfrm>
            <a:off x="761760" y="5668200"/>
            <a:ext cx="10080" cy="292680"/>
          </a:xfrm>
          <a:custGeom>
            <a:avLst/>
            <a:gdLst/>
            <a:ahLst/>
            <a:cxnLst/>
            <a:rect l="0" t="0" r="r" b="b"/>
            <a:pathLst>
              <a:path w="28" h="813">
                <a:moveTo>
                  <a:pt x="0" y="0"/>
                </a:moveTo>
                <a:lnTo>
                  <a:pt x="28" y="0"/>
                </a:lnTo>
                <a:lnTo>
                  <a:pt x="2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4" name="任意多边形 1083"/>
          <p:cNvSpPr/>
          <p:nvPr/>
        </p:nvSpPr>
        <p:spPr>
          <a:xfrm>
            <a:off x="761760" y="5661720"/>
            <a:ext cx="1143360" cy="6840"/>
          </a:xfrm>
          <a:custGeom>
            <a:avLst/>
            <a:gdLst/>
            <a:ahLst/>
            <a:cxnLst/>
            <a:rect l="0" t="0" r="r" b="b"/>
            <a:pathLst>
              <a:path w="3176" h="19">
                <a:moveTo>
                  <a:pt x="0" y="0"/>
                </a:moveTo>
                <a:lnTo>
                  <a:pt x="3176" y="0"/>
                </a:lnTo>
                <a:lnTo>
                  <a:pt x="317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5" name="任意多边形 1084"/>
          <p:cNvSpPr/>
          <p:nvPr/>
        </p:nvSpPr>
        <p:spPr>
          <a:xfrm>
            <a:off x="1895400" y="566820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6" name="任意多边形 1085"/>
          <p:cNvSpPr/>
          <p:nvPr/>
        </p:nvSpPr>
        <p:spPr>
          <a:xfrm>
            <a:off x="1904760" y="5661720"/>
            <a:ext cx="1371960" cy="6840"/>
          </a:xfrm>
          <a:custGeom>
            <a:avLst/>
            <a:gdLst/>
            <a:ahLst/>
            <a:cxnLst/>
            <a:rect l="0" t="0" r="r" b="b"/>
            <a:pathLst>
              <a:path w="3811" h="19">
                <a:moveTo>
                  <a:pt x="0" y="0"/>
                </a:moveTo>
                <a:lnTo>
                  <a:pt x="3811" y="0"/>
                </a:lnTo>
                <a:lnTo>
                  <a:pt x="3811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7" name="任意多边形 1086"/>
          <p:cNvSpPr/>
          <p:nvPr/>
        </p:nvSpPr>
        <p:spPr>
          <a:xfrm>
            <a:off x="3267000" y="566820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8" name="任意多边形 1087"/>
          <p:cNvSpPr/>
          <p:nvPr/>
        </p:nvSpPr>
        <p:spPr>
          <a:xfrm>
            <a:off x="3276360" y="5661720"/>
            <a:ext cx="1229040" cy="6840"/>
          </a:xfrm>
          <a:custGeom>
            <a:avLst/>
            <a:gdLst/>
            <a:ahLst/>
            <a:cxnLst/>
            <a:rect l="0" t="0" r="r" b="b"/>
            <a:pathLst>
              <a:path w="3414" h="19">
                <a:moveTo>
                  <a:pt x="0" y="0"/>
                </a:moveTo>
                <a:lnTo>
                  <a:pt x="3414" y="0"/>
                </a:lnTo>
                <a:lnTo>
                  <a:pt x="3414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9" name="任意多边形 1088"/>
          <p:cNvSpPr/>
          <p:nvPr/>
        </p:nvSpPr>
        <p:spPr>
          <a:xfrm>
            <a:off x="4495680" y="566820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0" name="任意多边形 1089"/>
          <p:cNvSpPr/>
          <p:nvPr/>
        </p:nvSpPr>
        <p:spPr>
          <a:xfrm>
            <a:off x="4505040" y="5661720"/>
            <a:ext cx="1134000" cy="6840"/>
          </a:xfrm>
          <a:custGeom>
            <a:avLst/>
            <a:gdLst/>
            <a:ahLst/>
            <a:cxnLst/>
            <a:rect l="0" t="0" r="r" b="b"/>
            <a:pathLst>
              <a:path w="3150" h="19">
                <a:moveTo>
                  <a:pt x="0" y="0"/>
                </a:moveTo>
                <a:lnTo>
                  <a:pt x="3150" y="0"/>
                </a:lnTo>
                <a:lnTo>
                  <a:pt x="3150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1" name="任意多边形 1090"/>
          <p:cNvSpPr/>
          <p:nvPr/>
        </p:nvSpPr>
        <p:spPr>
          <a:xfrm>
            <a:off x="5628960" y="5668200"/>
            <a:ext cx="10080" cy="292680"/>
          </a:xfrm>
          <a:custGeom>
            <a:avLst/>
            <a:gdLst/>
            <a:ahLst/>
            <a:cxnLst/>
            <a:rect l="0" t="0" r="r" b="b"/>
            <a:pathLst>
              <a:path w="28" h="813">
                <a:moveTo>
                  <a:pt x="0" y="0"/>
                </a:moveTo>
                <a:lnTo>
                  <a:pt x="28" y="0"/>
                </a:lnTo>
                <a:lnTo>
                  <a:pt x="2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2" name="任意多边形 1091"/>
          <p:cNvSpPr/>
          <p:nvPr/>
        </p:nvSpPr>
        <p:spPr>
          <a:xfrm>
            <a:off x="761760" y="5960520"/>
            <a:ext cx="10080" cy="293040"/>
          </a:xfrm>
          <a:custGeom>
            <a:avLst/>
            <a:gdLst/>
            <a:ahLst/>
            <a:cxnLst/>
            <a:rect l="0" t="0" r="r" b="b"/>
            <a:pathLst>
              <a:path w="28" h="814">
                <a:moveTo>
                  <a:pt x="0" y="0"/>
                </a:moveTo>
                <a:lnTo>
                  <a:pt x="28" y="0"/>
                </a:lnTo>
                <a:lnTo>
                  <a:pt x="28" y="814"/>
                </a:lnTo>
                <a:lnTo>
                  <a:pt x="0" y="81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3" name="任意多边形 1092"/>
          <p:cNvSpPr/>
          <p:nvPr/>
        </p:nvSpPr>
        <p:spPr>
          <a:xfrm>
            <a:off x="761760" y="5954040"/>
            <a:ext cx="1143360" cy="6840"/>
          </a:xfrm>
          <a:custGeom>
            <a:avLst/>
            <a:gdLst/>
            <a:ahLst/>
            <a:cxnLst/>
            <a:rect l="0" t="0" r="r" b="b"/>
            <a:pathLst>
              <a:path w="3176" h="19">
                <a:moveTo>
                  <a:pt x="0" y="0"/>
                </a:moveTo>
                <a:lnTo>
                  <a:pt x="3176" y="0"/>
                </a:lnTo>
                <a:lnTo>
                  <a:pt x="317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4" name="任意多边形 1093"/>
          <p:cNvSpPr/>
          <p:nvPr/>
        </p:nvSpPr>
        <p:spPr>
          <a:xfrm>
            <a:off x="1895400" y="5960520"/>
            <a:ext cx="9720" cy="293040"/>
          </a:xfrm>
          <a:custGeom>
            <a:avLst/>
            <a:gdLst/>
            <a:ahLst/>
            <a:cxnLst/>
            <a:rect l="0" t="0" r="r" b="b"/>
            <a:pathLst>
              <a:path w="27" h="814">
                <a:moveTo>
                  <a:pt x="0" y="0"/>
                </a:moveTo>
                <a:lnTo>
                  <a:pt x="27" y="0"/>
                </a:lnTo>
                <a:lnTo>
                  <a:pt x="27" y="814"/>
                </a:lnTo>
                <a:lnTo>
                  <a:pt x="0" y="81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5" name="任意多边形 1094"/>
          <p:cNvSpPr/>
          <p:nvPr/>
        </p:nvSpPr>
        <p:spPr>
          <a:xfrm>
            <a:off x="1904760" y="5954040"/>
            <a:ext cx="1371960" cy="6840"/>
          </a:xfrm>
          <a:custGeom>
            <a:avLst/>
            <a:gdLst/>
            <a:ahLst/>
            <a:cxnLst/>
            <a:rect l="0" t="0" r="r" b="b"/>
            <a:pathLst>
              <a:path w="3811" h="19">
                <a:moveTo>
                  <a:pt x="0" y="0"/>
                </a:moveTo>
                <a:lnTo>
                  <a:pt x="3811" y="0"/>
                </a:lnTo>
                <a:lnTo>
                  <a:pt x="3811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6" name="任意多边形 1095"/>
          <p:cNvSpPr/>
          <p:nvPr/>
        </p:nvSpPr>
        <p:spPr>
          <a:xfrm>
            <a:off x="3267000" y="5960520"/>
            <a:ext cx="9720" cy="293040"/>
          </a:xfrm>
          <a:custGeom>
            <a:avLst/>
            <a:gdLst/>
            <a:ahLst/>
            <a:cxnLst/>
            <a:rect l="0" t="0" r="r" b="b"/>
            <a:pathLst>
              <a:path w="27" h="814">
                <a:moveTo>
                  <a:pt x="0" y="0"/>
                </a:moveTo>
                <a:lnTo>
                  <a:pt x="27" y="0"/>
                </a:lnTo>
                <a:lnTo>
                  <a:pt x="27" y="814"/>
                </a:lnTo>
                <a:lnTo>
                  <a:pt x="0" y="81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7" name="任意多边形 1096"/>
          <p:cNvSpPr/>
          <p:nvPr/>
        </p:nvSpPr>
        <p:spPr>
          <a:xfrm>
            <a:off x="3276360" y="5954040"/>
            <a:ext cx="1229040" cy="6840"/>
          </a:xfrm>
          <a:custGeom>
            <a:avLst/>
            <a:gdLst/>
            <a:ahLst/>
            <a:cxnLst/>
            <a:rect l="0" t="0" r="r" b="b"/>
            <a:pathLst>
              <a:path w="3414" h="19">
                <a:moveTo>
                  <a:pt x="0" y="0"/>
                </a:moveTo>
                <a:lnTo>
                  <a:pt x="3414" y="0"/>
                </a:lnTo>
                <a:lnTo>
                  <a:pt x="3414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8" name="任意多边形 1097"/>
          <p:cNvSpPr/>
          <p:nvPr/>
        </p:nvSpPr>
        <p:spPr>
          <a:xfrm>
            <a:off x="4495680" y="5960520"/>
            <a:ext cx="9720" cy="293040"/>
          </a:xfrm>
          <a:custGeom>
            <a:avLst/>
            <a:gdLst/>
            <a:ahLst/>
            <a:cxnLst/>
            <a:rect l="0" t="0" r="r" b="b"/>
            <a:pathLst>
              <a:path w="27" h="814">
                <a:moveTo>
                  <a:pt x="0" y="0"/>
                </a:moveTo>
                <a:lnTo>
                  <a:pt x="27" y="0"/>
                </a:lnTo>
                <a:lnTo>
                  <a:pt x="27" y="814"/>
                </a:lnTo>
                <a:lnTo>
                  <a:pt x="0" y="81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9" name="任意多边形 1098"/>
          <p:cNvSpPr/>
          <p:nvPr/>
        </p:nvSpPr>
        <p:spPr>
          <a:xfrm>
            <a:off x="4505040" y="5954040"/>
            <a:ext cx="1134000" cy="6840"/>
          </a:xfrm>
          <a:custGeom>
            <a:avLst/>
            <a:gdLst/>
            <a:ahLst/>
            <a:cxnLst/>
            <a:rect l="0" t="0" r="r" b="b"/>
            <a:pathLst>
              <a:path w="3150" h="19">
                <a:moveTo>
                  <a:pt x="0" y="0"/>
                </a:moveTo>
                <a:lnTo>
                  <a:pt x="3150" y="0"/>
                </a:lnTo>
                <a:lnTo>
                  <a:pt x="3150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0" name="任意多边形 1099"/>
          <p:cNvSpPr/>
          <p:nvPr/>
        </p:nvSpPr>
        <p:spPr>
          <a:xfrm>
            <a:off x="5628960" y="5960520"/>
            <a:ext cx="10080" cy="293040"/>
          </a:xfrm>
          <a:custGeom>
            <a:avLst/>
            <a:gdLst/>
            <a:ahLst/>
            <a:cxnLst/>
            <a:rect l="0" t="0" r="r" b="b"/>
            <a:pathLst>
              <a:path w="28" h="814">
                <a:moveTo>
                  <a:pt x="0" y="0"/>
                </a:moveTo>
                <a:lnTo>
                  <a:pt x="28" y="0"/>
                </a:lnTo>
                <a:lnTo>
                  <a:pt x="28" y="814"/>
                </a:lnTo>
                <a:lnTo>
                  <a:pt x="0" y="81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1" name="任意多边形 1100"/>
          <p:cNvSpPr/>
          <p:nvPr/>
        </p:nvSpPr>
        <p:spPr>
          <a:xfrm>
            <a:off x="761760" y="6246360"/>
            <a:ext cx="1143360" cy="7200"/>
          </a:xfrm>
          <a:custGeom>
            <a:avLst/>
            <a:gdLst/>
            <a:ahLst/>
            <a:cxnLst/>
            <a:rect l="0" t="0" r="r" b="b"/>
            <a:pathLst>
              <a:path w="3176" h="20">
                <a:moveTo>
                  <a:pt x="0" y="0"/>
                </a:moveTo>
                <a:lnTo>
                  <a:pt x="3176" y="0"/>
                </a:lnTo>
                <a:lnTo>
                  <a:pt x="3176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2" name="任意多边形 1101"/>
          <p:cNvSpPr/>
          <p:nvPr/>
        </p:nvSpPr>
        <p:spPr>
          <a:xfrm>
            <a:off x="1904760" y="6246360"/>
            <a:ext cx="1371960" cy="7200"/>
          </a:xfrm>
          <a:custGeom>
            <a:avLst/>
            <a:gdLst/>
            <a:ahLst/>
            <a:cxnLst/>
            <a:rect l="0" t="0" r="r" b="b"/>
            <a:pathLst>
              <a:path w="3811" h="20">
                <a:moveTo>
                  <a:pt x="0" y="0"/>
                </a:moveTo>
                <a:lnTo>
                  <a:pt x="3811" y="0"/>
                </a:lnTo>
                <a:lnTo>
                  <a:pt x="3811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3" name="任意多边形 1102"/>
          <p:cNvSpPr/>
          <p:nvPr/>
        </p:nvSpPr>
        <p:spPr>
          <a:xfrm>
            <a:off x="3276360" y="6246360"/>
            <a:ext cx="1229040" cy="7200"/>
          </a:xfrm>
          <a:custGeom>
            <a:avLst/>
            <a:gdLst/>
            <a:ahLst/>
            <a:cxnLst/>
            <a:rect l="0" t="0" r="r" b="b"/>
            <a:pathLst>
              <a:path w="3414" h="20">
                <a:moveTo>
                  <a:pt x="0" y="0"/>
                </a:moveTo>
                <a:lnTo>
                  <a:pt x="3414" y="0"/>
                </a:lnTo>
                <a:lnTo>
                  <a:pt x="3414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4" name="任意多边形 1103"/>
          <p:cNvSpPr/>
          <p:nvPr/>
        </p:nvSpPr>
        <p:spPr>
          <a:xfrm>
            <a:off x="4505040" y="6246360"/>
            <a:ext cx="1134000" cy="7200"/>
          </a:xfrm>
          <a:custGeom>
            <a:avLst/>
            <a:gdLst/>
            <a:ahLst/>
            <a:cxnLst/>
            <a:rect l="0" t="0" r="r" b="b"/>
            <a:pathLst>
              <a:path w="3150" h="20">
                <a:moveTo>
                  <a:pt x="0" y="0"/>
                </a:moveTo>
                <a:lnTo>
                  <a:pt x="3150" y="0"/>
                </a:lnTo>
                <a:lnTo>
                  <a:pt x="315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5" name="文本框 1104"/>
          <p:cNvSpPr txBox="1"/>
          <p:nvPr/>
        </p:nvSpPr>
        <p:spPr>
          <a:xfrm>
            <a:off x="609480" y="272520"/>
            <a:ext cx="33552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20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特征⼯程：从数据到模型的桥梁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6" name="文本框 1105"/>
          <p:cNvSpPr txBox="1"/>
          <p:nvPr/>
        </p:nvSpPr>
        <p:spPr>
          <a:xfrm>
            <a:off x="762120" y="1121400"/>
            <a:ext cx="686520" cy="18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60" b="0" u="none" strike="noStrike" dirty="0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特征标准化</a:t>
            </a:r>
            <a:endParaRPr lang="en-US" sz="126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7" name="文本框 1106"/>
          <p:cNvSpPr txBox="1"/>
          <p:nvPr/>
        </p:nvSpPr>
        <p:spPr>
          <a:xfrm>
            <a:off x="1661844" y="1127160"/>
            <a:ext cx="9846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60" b="1" u="none" strike="noStrike" dirty="0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(Z-Score)</a:t>
            </a:r>
            <a:endParaRPr lang="en-US" sz="126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8" name="文本框 1107"/>
          <p:cNvSpPr txBox="1"/>
          <p:nvPr/>
        </p:nvSpPr>
        <p:spPr>
          <a:xfrm>
            <a:off x="762120" y="1942560"/>
            <a:ext cx="162504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⽬的：使不同量纲的特征具有可⽐性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9" name="文本框 1108"/>
          <p:cNvSpPr txBox="1"/>
          <p:nvPr/>
        </p:nvSpPr>
        <p:spPr>
          <a:xfrm>
            <a:off x="762120" y="2175120"/>
            <a:ext cx="60984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效果：均值为</a:t>
            </a:r>
            <a:endParaRPr lang="en-US" sz="94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0" name="文本框 1109"/>
          <p:cNvSpPr txBox="1"/>
          <p:nvPr/>
        </p:nvSpPr>
        <p:spPr>
          <a:xfrm>
            <a:off x="1492836" y="2179440"/>
            <a:ext cx="722955" cy="1446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dirty="0">
                <a:solidFill>
                  <a:srgbClr val="374151"/>
                </a:solidFill>
                <a:latin typeface="NotoSansCJKsc"/>
              </a:rPr>
              <a:t>0</a:t>
            </a:r>
            <a:r>
              <a:rPr lang="zh-CN" altLang="en-US" sz="940" dirty="0">
                <a:solidFill>
                  <a:srgbClr val="374151"/>
                </a:solidFill>
                <a:latin typeface="NotoSansCJKsc"/>
              </a:rPr>
              <a:t>，标准差为</a:t>
            </a:r>
            <a:r>
              <a:rPr lang="en-US" altLang="zh-CN" sz="940" dirty="0">
                <a:solidFill>
                  <a:srgbClr val="374151"/>
                </a:solidFill>
                <a:latin typeface="NotoSansCJKsc"/>
              </a:rPr>
              <a:t>1</a:t>
            </a:r>
            <a:endParaRPr lang="en-US" sz="940" dirty="0">
              <a:solidFill>
                <a:srgbClr val="374151"/>
              </a:solidFill>
              <a:latin typeface="NotoSansCJKsc"/>
            </a:endParaRPr>
          </a:p>
        </p:txBody>
      </p:sp>
      <p:sp>
        <p:nvSpPr>
          <p:cNvPr id="1113" name="文本框 1112"/>
          <p:cNvSpPr txBox="1"/>
          <p:nvPr/>
        </p:nvSpPr>
        <p:spPr>
          <a:xfrm>
            <a:off x="762120" y="2407680"/>
            <a:ext cx="15235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适⽤场景：特征分布接近正态分布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4" name="文本框 1113"/>
          <p:cNvSpPr txBox="1"/>
          <p:nvPr/>
        </p:nvSpPr>
        <p:spPr>
          <a:xfrm>
            <a:off x="762120" y="2915640"/>
            <a:ext cx="686520" cy="18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6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特征归⼀化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5" name="文本框 1114"/>
          <p:cNvSpPr txBox="1"/>
          <p:nvPr/>
        </p:nvSpPr>
        <p:spPr>
          <a:xfrm>
            <a:off x="1661844" y="2921400"/>
            <a:ext cx="11368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60" b="1" u="none" strike="noStrike" dirty="0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(Min-Max)</a:t>
            </a:r>
            <a:endParaRPr lang="en-US" sz="126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6" name="文本框 1115"/>
          <p:cNvSpPr txBox="1"/>
          <p:nvPr/>
        </p:nvSpPr>
        <p:spPr>
          <a:xfrm>
            <a:off x="762120" y="3809880"/>
            <a:ext cx="9144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⽬的：将特征缩放到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7" name="文本框 1116"/>
          <p:cNvSpPr txBox="1"/>
          <p:nvPr/>
        </p:nvSpPr>
        <p:spPr>
          <a:xfrm>
            <a:off x="1856270" y="3814200"/>
            <a:ext cx="32472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[0,1]</a:t>
            </a:r>
            <a:endParaRPr lang="en-US" sz="94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8" name="文本框 1117"/>
          <p:cNvSpPr txBox="1"/>
          <p:nvPr/>
        </p:nvSpPr>
        <p:spPr>
          <a:xfrm>
            <a:off x="2121682" y="3809880"/>
            <a:ext cx="2037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区间</a:t>
            </a:r>
            <a:endParaRPr lang="en-US" sz="94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9" name="文本框 1118"/>
          <p:cNvSpPr txBox="1"/>
          <p:nvPr/>
        </p:nvSpPr>
        <p:spPr>
          <a:xfrm>
            <a:off x="762120" y="4042440"/>
            <a:ext cx="111744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效果：保留原始分布形状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0" name="文本框 1119"/>
          <p:cNvSpPr txBox="1"/>
          <p:nvPr/>
        </p:nvSpPr>
        <p:spPr>
          <a:xfrm>
            <a:off x="762120" y="4275000"/>
            <a:ext cx="2410916" cy="1446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适⽤场景：需要边界明确的算法（如</a:t>
            </a:r>
            <a:r>
              <a:rPr lang="en-US" altLang="zh-CN" sz="94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 KNN</a:t>
            </a:r>
            <a:r>
              <a:rPr lang="zh-CN" altLang="en-US" sz="94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等）</a:t>
            </a:r>
            <a:endParaRPr lang="en-US" sz="94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3" name="文本框 1122"/>
          <p:cNvSpPr txBox="1"/>
          <p:nvPr/>
        </p:nvSpPr>
        <p:spPr>
          <a:xfrm>
            <a:off x="762120" y="4782960"/>
            <a:ext cx="1098000" cy="18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6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鸢尾花数据集⽰例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4" name="文本框 1123"/>
          <p:cNvSpPr txBox="1"/>
          <p:nvPr/>
        </p:nvSpPr>
        <p:spPr>
          <a:xfrm>
            <a:off x="1164240" y="5151960"/>
            <a:ext cx="2037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特征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5" name="文本框 1124"/>
          <p:cNvSpPr txBox="1"/>
          <p:nvPr/>
        </p:nvSpPr>
        <p:spPr>
          <a:xfrm>
            <a:off x="2159640" y="5151960"/>
            <a:ext cx="5083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原始值范围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6" name="文本框 1125"/>
          <p:cNvSpPr txBox="1"/>
          <p:nvPr/>
        </p:nvSpPr>
        <p:spPr>
          <a:xfrm>
            <a:off x="3540960" y="5151960"/>
            <a:ext cx="406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标准化后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7" name="文本框 1126"/>
          <p:cNvSpPr txBox="1"/>
          <p:nvPr/>
        </p:nvSpPr>
        <p:spPr>
          <a:xfrm>
            <a:off x="4722120" y="5151960"/>
            <a:ext cx="406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归⼀化后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8" name="文本框 1127"/>
          <p:cNvSpPr txBox="1"/>
          <p:nvPr/>
        </p:nvSpPr>
        <p:spPr>
          <a:xfrm>
            <a:off x="847800" y="5444640"/>
            <a:ext cx="406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花萼⻓度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9" name="文本框 1128"/>
          <p:cNvSpPr txBox="1"/>
          <p:nvPr/>
        </p:nvSpPr>
        <p:spPr>
          <a:xfrm>
            <a:off x="1985400" y="5448960"/>
            <a:ext cx="7290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4.3-7.9 cm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0" name="文本框 1129"/>
          <p:cNvSpPr txBox="1"/>
          <p:nvPr/>
        </p:nvSpPr>
        <p:spPr>
          <a:xfrm>
            <a:off x="3353040" y="5448960"/>
            <a:ext cx="74052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-1.86~2.48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1" name="文本框 1130"/>
          <p:cNvSpPr txBox="1"/>
          <p:nvPr/>
        </p:nvSpPr>
        <p:spPr>
          <a:xfrm>
            <a:off x="4577040" y="5448960"/>
            <a:ext cx="2613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0~1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2" name="文本框 1131"/>
          <p:cNvSpPr txBox="1"/>
          <p:nvPr/>
        </p:nvSpPr>
        <p:spPr>
          <a:xfrm>
            <a:off x="847800" y="5736960"/>
            <a:ext cx="406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花萼宽度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3" name="文本框 1132"/>
          <p:cNvSpPr txBox="1"/>
          <p:nvPr/>
        </p:nvSpPr>
        <p:spPr>
          <a:xfrm>
            <a:off x="1985400" y="5741280"/>
            <a:ext cx="7290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2.0-4.4 cm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4" name="文本框 1133"/>
          <p:cNvSpPr txBox="1"/>
          <p:nvPr/>
        </p:nvSpPr>
        <p:spPr>
          <a:xfrm>
            <a:off x="3353040" y="5741280"/>
            <a:ext cx="74052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-2.43~1.76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5" name="文本框 1134"/>
          <p:cNvSpPr txBox="1"/>
          <p:nvPr/>
        </p:nvSpPr>
        <p:spPr>
          <a:xfrm>
            <a:off x="4577040" y="5741280"/>
            <a:ext cx="2613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0~1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6" name="文本框 1135"/>
          <p:cNvSpPr txBox="1"/>
          <p:nvPr/>
        </p:nvSpPr>
        <p:spPr>
          <a:xfrm>
            <a:off x="847800" y="6029280"/>
            <a:ext cx="406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花瓣⻓度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7" name="文本框 1136"/>
          <p:cNvSpPr txBox="1"/>
          <p:nvPr/>
        </p:nvSpPr>
        <p:spPr>
          <a:xfrm>
            <a:off x="1985400" y="6033600"/>
            <a:ext cx="7290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1.0-6.9 cm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8" name="文本框 1137"/>
          <p:cNvSpPr txBox="1"/>
          <p:nvPr/>
        </p:nvSpPr>
        <p:spPr>
          <a:xfrm>
            <a:off x="3353040" y="6033600"/>
            <a:ext cx="74052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-1.57~1.78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9" name="任意多边形 1138"/>
          <p:cNvSpPr/>
          <p:nvPr/>
        </p:nvSpPr>
        <p:spPr>
          <a:xfrm>
            <a:off x="6095880" y="990000"/>
            <a:ext cx="5486760" cy="3150360"/>
          </a:xfrm>
          <a:custGeom>
            <a:avLst/>
            <a:gdLst/>
            <a:ahLst/>
            <a:cxnLst/>
            <a:rect l="0" t="0" r="r" b="b"/>
            <a:pathLst>
              <a:path w="15241" h="8751">
                <a:moveTo>
                  <a:pt x="0" y="8603"/>
                </a:moveTo>
                <a:lnTo>
                  <a:pt x="0" y="148"/>
                </a:lnTo>
                <a:cubicBezTo>
                  <a:pt x="0" y="138"/>
                  <a:pt x="1" y="128"/>
                  <a:pt x="4" y="119"/>
                </a:cubicBezTo>
                <a:cubicBezTo>
                  <a:pt x="7" y="109"/>
                  <a:pt x="11" y="100"/>
                  <a:pt x="16" y="91"/>
                </a:cubicBezTo>
                <a:cubicBezTo>
                  <a:pt x="21" y="82"/>
                  <a:pt x="28" y="74"/>
                  <a:pt x="36" y="66"/>
                </a:cubicBezTo>
                <a:cubicBezTo>
                  <a:pt x="43" y="58"/>
                  <a:pt x="52" y="50"/>
                  <a:pt x="62" y="43"/>
                </a:cubicBezTo>
                <a:cubicBezTo>
                  <a:pt x="72" y="36"/>
                  <a:pt x="82" y="30"/>
                  <a:pt x="94" y="25"/>
                </a:cubicBezTo>
                <a:cubicBezTo>
                  <a:pt x="105" y="19"/>
                  <a:pt x="118" y="15"/>
                  <a:pt x="130" y="11"/>
                </a:cubicBezTo>
                <a:cubicBezTo>
                  <a:pt x="143" y="7"/>
                  <a:pt x="157" y="5"/>
                  <a:pt x="170" y="3"/>
                </a:cubicBezTo>
                <a:cubicBezTo>
                  <a:pt x="184" y="1"/>
                  <a:pt x="198" y="0"/>
                  <a:pt x="211" y="0"/>
                </a:cubicBezTo>
                <a:lnTo>
                  <a:pt x="15029" y="0"/>
                </a:lnTo>
                <a:cubicBezTo>
                  <a:pt x="15043" y="0"/>
                  <a:pt x="15057" y="1"/>
                  <a:pt x="15070" y="3"/>
                </a:cubicBezTo>
                <a:cubicBezTo>
                  <a:pt x="15084" y="5"/>
                  <a:pt x="15097" y="7"/>
                  <a:pt x="15110" y="11"/>
                </a:cubicBezTo>
                <a:cubicBezTo>
                  <a:pt x="15123" y="15"/>
                  <a:pt x="15135" y="19"/>
                  <a:pt x="15147" y="25"/>
                </a:cubicBezTo>
                <a:cubicBezTo>
                  <a:pt x="15158" y="30"/>
                  <a:pt x="15169" y="36"/>
                  <a:pt x="15179" y="43"/>
                </a:cubicBezTo>
                <a:cubicBezTo>
                  <a:pt x="15189" y="50"/>
                  <a:pt x="15197" y="58"/>
                  <a:pt x="15205" y="66"/>
                </a:cubicBezTo>
                <a:cubicBezTo>
                  <a:pt x="15213" y="74"/>
                  <a:pt x="15219" y="82"/>
                  <a:pt x="15225" y="91"/>
                </a:cubicBezTo>
                <a:cubicBezTo>
                  <a:pt x="15230" y="100"/>
                  <a:pt x="15234" y="109"/>
                  <a:pt x="15237" y="119"/>
                </a:cubicBezTo>
                <a:cubicBezTo>
                  <a:pt x="15239" y="128"/>
                  <a:pt x="15241" y="138"/>
                  <a:pt x="15241" y="148"/>
                </a:cubicBezTo>
                <a:lnTo>
                  <a:pt x="15241" y="8603"/>
                </a:lnTo>
                <a:cubicBezTo>
                  <a:pt x="15241" y="8613"/>
                  <a:pt x="15239" y="8622"/>
                  <a:pt x="15237" y="8632"/>
                </a:cubicBezTo>
                <a:cubicBezTo>
                  <a:pt x="15234" y="8641"/>
                  <a:pt x="15230" y="8651"/>
                  <a:pt x="15225" y="8659"/>
                </a:cubicBezTo>
                <a:cubicBezTo>
                  <a:pt x="15219" y="8668"/>
                  <a:pt x="15213" y="8677"/>
                  <a:pt x="15205" y="8685"/>
                </a:cubicBezTo>
                <a:cubicBezTo>
                  <a:pt x="15197" y="8693"/>
                  <a:pt x="15189" y="8701"/>
                  <a:pt x="15179" y="8707"/>
                </a:cubicBezTo>
                <a:cubicBezTo>
                  <a:pt x="15169" y="8714"/>
                  <a:pt x="15158" y="8720"/>
                  <a:pt x="15147" y="8726"/>
                </a:cubicBezTo>
                <a:cubicBezTo>
                  <a:pt x="15135" y="8731"/>
                  <a:pt x="15123" y="8736"/>
                  <a:pt x="15110" y="8739"/>
                </a:cubicBezTo>
                <a:cubicBezTo>
                  <a:pt x="15097" y="8743"/>
                  <a:pt x="15084" y="8746"/>
                  <a:pt x="15070" y="8748"/>
                </a:cubicBezTo>
                <a:cubicBezTo>
                  <a:pt x="15057" y="8750"/>
                  <a:pt x="15043" y="8751"/>
                  <a:pt x="15029" y="8751"/>
                </a:cubicBezTo>
                <a:lnTo>
                  <a:pt x="211" y="8751"/>
                </a:lnTo>
                <a:cubicBezTo>
                  <a:pt x="198" y="8751"/>
                  <a:pt x="184" y="8750"/>
                  <a:pt x="170" y="8748"/>
                </a:cubicBezTo>
                <a:cubicBezTo>
                  <a:pt x="157" y="8746"/>
                  <a:pt x="143" y="8743"/>
                  <a:pt x="130" y="8739"/>
                </a:cubicBezTo>
                <a:cubicBezTo>
                  <a:pt x="118" y="8736"/>
                  <a:pt x="105" y="8731"/>
                  <a:pt x="94" y="8726"/>
                </a:cubicBezTo>
                <a:cubicBezTo>
                  <a:pt x="82" y="8720"/>
                  <a:pt x="72" y="8714"/>
                  <a:pt x="62" y="8707"/>
                </a:cubicBezTo>
                <a:cubicBezTo>
                  <a:pt x="52" y="8701"/>
                  <a:pt x="43" y="8693"/>
                  <a:pt x="36" y="8685"/>
                </a:cubicBezTo>
                <a:cubicBezTo>
                  <a:pt x="28" y="8677"/>
                  <a:pt x="21" y="8668"/>
                  <a:pt x="16" y="8659"/>
                </a:cubicBezTo>
                <a:cubicBezTo>
                  <a:pt x="11" y="8651"/>
                  <a:pt x="7" y="8641"/>
                  <a:pt x="4" y="8632"/>
                </a:cubicBezTo>
                <a:cubicBezTo>
                  <a:pt x="1" y="8622"/>
                  <a:pt x="0" y="8613"/>
                  <a:pt x="0" y="8603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0" name="任意多边形 1139"/>
          <p:cNvSpPr/>
          <p:nvPr/>
        </p:nvSpPr>
        <p:spPr>
          <a:xfrm>
            <a:off x="6257880" y="1441800"/>
            <a:ext cx="1705320" cy="292680"/>
          </a:xfrm>
          <a:custGeom>
            <a:avLst/>
            <a:gdLst/>
            <a:ahLst/>
            <a:cxnLst/>
            <a:rect l="0" t="0" r="r" b="b"/>
            <a:pathLst>
              <a:path w="4737" h="813">
                <a:moveTo>
                  <a:pt x="0" y="0"/>
                </a:moveTo>
                <a:lnTo>
                  <a:pt x="4737" y="0"/>
                </a:lnTo>
                <a:lnTo>
                  <a:pt x="473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1" name="任意多边形 1140"/>
          <p:cNvSpPr/>
          <p:nvPr/>
        </p:nvSpPr>
        <p:spPr>
          <a:xfrm>
            <a:off x="7962840" y="1441800"/>
            <a:ext cx="1105200" cy="292680"/>
          </a:xfrm>
          <a:custGeom>
            <a:avLst/>
            <a:gdLst/>
            <a:ahLst/>
            <a:cxnLst/>
            <a:rect l="0" t="0" r="r" b="b"/>
            <a:pathLst>
              <a:path w="3070" h="813">
                <a:moveTo>
                  <a:pt x="0" y="0"/>
                </a:moveTo>
                <a:lnTo>
                  <a:pt x="3070" y="0"/>
                </a:lnTo>
                <a:lnTo>
                  <a:pt x="3070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2" name="任意多边形 1141"/>
          <p:cNvSpPr/>
          <p:nvPr/>
        </p:nvSpPr>
        <p:spPr>
          <a:xfrm>
            <a:off x="9067680" y="1441800"/>
            <a:ext cx="1248120" cy="292680"/>
          </a:xfrm>
          <a:custGeom>
            <a:avLst/>
            <a:gdLst/>
            <a:ahLst/>
            <a:cxnLst/>
            <a:rect l="0" t="0" r="r" b="b"/>
            <a:pathLst>
              <a:path w="3467" h="813">
                <a:moveTo>
                  <a:pt x="0" y="0"/>
                </a:moveTo>
                <a:lnTo>
                  <a:pt x="3467" y="0"/>
                </a:lnTo>
                <a:lnTo>
                  <a:pt x="346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3" name="任意多边形 1142"/>
          <p:cNvSpPr/>
          <p:nvPr/>
        </p:nvSpPr>
        <p:spPr>
          <a:xfrm>
            <a:off x="10315440" y="1441800"/>
            <a:ext cx="1114560" cy="292680"/>
          </a:xfrm>
          <a:custGeom>
            <a:avLst/>
            <a:gdLst/>
            <a:ahLst/>
            <a:cxnLst/>
            <a:rect l="0" t="0" r="r" b="b"/>
            <a:pathLst>
              <a:path w="3096" h="813">
                <a:moveTo>
                  <a:pt x="0" y="0"/>
                </a:moveTo>
                <a:lnTo>
                  <a:pt x="3096" y="0"/>
                </a:lnTo>
                <a:lnTo>
                  <a:pt x="3096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4" name="任意多边形 1143"/>
          <p:cNvSpPr/>
          <p:nvPr/>
        </p:nvSpPr>
        <p:spPr>
          <a:xfrm>
            <a:off x="6257880" y="2026800"/>
            <a:ext cx="1705320" cy="292680"/>
          </a:xfrm>
          <a:custGeom>
            <a:avLst/>
            <a:gdLst/>
            <a:ahLst/>
            <a:cxnLst/>
            <a:rect l="0" t="0" r="r" b="b"/>
            <a:pathLst>
              <a:path w="4737" h="813">
                <a:moveTo>
                  <a:pt x="0" y="0"/>
                </a:moveTo>
                <a:lnTo>
                  <a:pt x="4737" y="0"/>
                </a:lnTo>
                <a:lnTo>
                  <a:pt x="473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5" name="任意多边形 1144"/>
          <p:cNvSpPr/>
          <p:nvPr/>
        </p:nvSpPr>
        <p:spPr>
          <a:xfrm>
            <a:off x="7962840" y="2026800"/>
            <a:ext cx="1105200" cy="292680"/>
          </a:xfrm>
          <a:custGeom>
            <a:avLst/>
            <a:gdLst/>
            <a:ahLst/>
            <a:cxnLst/>
            <a:rect l="0" t="0" r="r" b="b"/>
            <a:pathLst>
              <a:path w="3070" h="813">
                <a:moveTo>
                  <a:pt x="0" y="0"/>
                </a:moveTo>
                <a:lnTo>
                  <a:pt x="3070" y="0"/>
                </a:lnTo>
                <a:lnTo>
                  <a:pt x="3070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6" name="任意多边形 1145"/>
          <p:cNvSpPr/>
          <p:nvPr/>
        </p:nvSpPr>
        <p:spPr>
          <a:xfrm>
            <a:off x="9067680" y="2026800"/>
            <a:ext cx="1248120" cy="292680"/>
          </a:xfrm>
          <a:custGeom>
            <a:avLst/>
            <a:gdLst/>
            <a:ahLst/>
            <a:cxnLst/>
            <a:rect l="0" t="0" r="r" b="b"/>
            <a:pathLst>
              <a:path w="3467" h="813">
                <a:moveTo>
                  <a:pt x="0" y="0"/>
                </a:moveTo>
                <a:lnTo>
                  <a:pt x="3467" y="0"/>
                </a:lnTo>
                <a:lnTo>
                  <a:pt x="346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7" name="任意多边形 1146"/>
          <p:cNvSpPr/>
          <p:nvPr/>
        </p:nvSpPr>
        <p:spPr>
          <a:xfrm>
            <a:off x="10315440" y="2026800"/>
            <a:ext cx="1114560" cy="292680"/>
          </a:xfrm>
          <a:custGeom>
            <a:avLst/>
            <a:gdLst/>
            <a:ahLst/>
            <a:cxnLst/>
            <a:rect l="0" t="0" r="r" b="b"/>
            <a:pathLst>
              <a:path w="3096" h="813">
                <a:moveTo>
                  <a:pt x="0" y="0"/>
                </a:moveTo>
                <a:lnTo>
                  <a:pt x="3096" y="0"/>
                </a:lnTo>
                <a:lnTo>
                  <a:pt x="3096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8" name="任意多边形 1147"/>
          <p:cNvSpPr/>
          <p:nvPr/>
        </p:nvSpPr>
        <p:spPr>
          <a:xfrm>
            <a:off x="6257880" y="2611440"/>
            <a:ext cx="1705320" cy="292680"/>
          </a:xfrm>
          <a:custGeom>
            <a:avLst/>
            <a:gdLst/>
            <a:ahLst/>
            <a:cxnLst/>
            <a:rect l="0" t="0" r="r" b="b"/>
            <a:pathLst>
              <a:path w="4737" h="813">
                <a:moveTo>
                  <a:pt x="0" y="0"/>
                </a:moveTo>
                <a:lnTo>
                  <a:pt x="4737" y="0"/>
                </a:lnTo>
                <a:lnTo>
                  <a:pt x="473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9" name="任意多边形 1148"/>
          <p:cNvSpPr/>
          <p:nvPr/>
        </p:nvSpPr>
        <p:spPr>
          <a:xfrm>
            <a:off x="7962840" y="2611440"/>
            <a:ext cx="1105200" cy="292680"/>
          </a:xfrm>
          <a:custGeom>
            <a:avLst/>
            <a:gdLst/>
            <a:ahLst/>
            <a:cxnLst/>
            <a:rect l="0" t="0" r="r" b="b"/>
            <a:pathLst>
              <a:path w="3070" h="813">
                <a:moveTo>
                  <a:pt x="0" y="0"/>
                </a:moveTo>
                <a:lnTo>
                  <a:pt x="3070" y="0"/>
                </a:lnTo>
                <a:lnTo>
                  <a:pt x="3070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0" name="任意多边形 1149"/>
          <p:cNvSpPr/>
          <p:nvPr/>
        </p:nvSpPr>
        <p:spPr>
          <a:xfrm>
            <a:off x="9067680" y="2611440"/>
            <a:ext cx="1248120" cy="292680"/>
          </a:xfrm>
          <a:custGeom>
            <a:avLst/>
            <a:gdLst/>
            <a:ahLst/>
            <a:cxnLst/>
            <a:rect l="0" t="0" r="r" b="b"/>
            <a:pathLst>
              <a:path w="3467" h="813">
                <a:moveTo>
                  <a:pt x="0" y="0"/>
                </a:moveTo>
                <a:lnTo>
                  <a:pt x="3467" y="0"/>
                </a:lnTo>
                <a:lnTo>
                  <a:pt x="346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1" name="任意多边形 1150"/>
          <p:cNvSpPr/>
          <p:nvPr/>
        </p:nvSpPr>
        <p:spPr>
          <a:xfrm>
            <a:off x="10315440" y="2611440"/>
            <a:ext cx="1114560" cy="292680"/>
          </a:xfrm>
          <a:custGeom>
            <a:avLst/>
            <a:gdLst/>
            <a:ahLst/>
            <a:cxnLst/>
            <a:rect l="0" t="0" r="r" b="b"/>
            <a:pathLst>
              <a:path w="3096" h="813">
                <a:moveTo>
                  <a:pt x="0" y="0"/>
                </a:moveTo>
                <a:lnTo>
                  <a:pt x="3096" y="0"/>
                </a:lnTo>
                <a:lnTo>
                  <a:pt x="3096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2" name="任意多边形 1151"/>
          <p:cNvSpPr/>
          <p:nvPr/>
        </p:nvSpPr>
        <p:spPr>
          <a:xfrm>
            <a:off x="6248160" y="1441800"/>
            <a:ext cx="10080" cy="299520"/>
          </a:xfrm>
          <a:custGeom>
            <a:avLst/>
            <a:gdLst/>
            <a:ahLst/>
            <a:cxnLst/>
            <a:rect l="0" t="0" r="r" b="b"/>
            <a:pathLst>
              <a:path w="28" h="832">
                <a:moveTo>
                  <a:pt x="0" y="0"/>
                </a:moveTo>
                <a:lnTo>
                  <a:pt x="28" y="0"/>
                </a:lnTo>
                <a:lnTo>
                  <a:pt x="28" y="832"/>
                </a:lnTo>
                <a:lnTo>
                  <a:pt x="0" y="83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3" name="任意多边形 1152"/>
          <p:cNvSpPr/>
          <p:nvPr/>
        </p:nvSpPr>
        <p:spPr>
          <a:xfrm>
            <a:off x="6248160" y="1441800"/>
            <a:ext cx="1715040" cy="7200"/>
          </a:xfrm>
          <a:custGeom>
            <a:avLst/>
            <a:gdLst/>
            <a:ahLst/>
            <a:cxnLst/>
            <a:rect l="0" t="0" r="r" b="b"/>
            <a:pathLst>
              <a:path w="4764" h="20">
                <a:moveTo>
                  <a:pt x="0" y="0"/>
                </a:moveTo>
                <a:lnTo>
                  <a:pt x="4764" y="0"/>
                </a:lnTo>
                <a:lnTo>
                  <a:pt x="4764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4" name="任意多边形 1153"/>
          <p:cNvSpPr/>
          <p:nvPr/>
        </p:nvSpPr>
        <p:spPr>
          <a:xfrm>
            <a:off x="7953120" y="1441800"/>
            <a:ext cx="10080" cy="299520"/>
          </a:xfrm>
          <a:custGeom>
            <a:avLst/>
            <a:gdLst/>
            <a:ahLst/>
            <a:cxnLst/>
            <a:rect l="0" t="0" r="r" b="b"/>
            <a:pathLst>
              <a:path w="28" h="832">
                <a:moveTo>
                  <a:pt x="0" y="0"/>
                </a:moveTo>
                <a:lnTo>
                  <a:pt x="28" y="0"/>
                </a:lnTo>
                <a:lnTo>
                  <a:pt x="28" y="832"/>
                </a:lnTo>
                <a:lnTo>
                  <a:pt x="0" y="83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5" name="任意多边形 1154"/>
          <p:cNvSpPr/>
          <p:nvPr/>
        </p:nvSpPr>
        <p:spPr>
          <a:xfrm>
            <a:off x="7962840" y="1441800"/>
            <a:ext cx="1114560" cy="7200"/>
          </a:xfrm>
          <a:custGeom>
            <a:avLst/>
            <a:gdLst/>
            <a:ahLst/>
            <a:cxnLst/>
            <a:rect l="0" t="0" r="r" b="b"/>
            <a:pathLst>
              <a:path w="3096" h="20">
                <a:moveTo>
                  <a:pt x="0" y="0"/>
                </a:moveTo>
                <a:lnTo>
                  <a:pt x="3096" y="0"/>
                </a:lnTo>
                <a:lnTo>
                  <a:pt x="3096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6" name="任意多边形 1155"/>
          <p:cNvSpPr/>
          <p:nvPr/>
        </p:nvSpPr>
        <p:spPr>
          <a:xfrm>
            <a:off x="9067680" y="1441800"/>
            <a:ext cx="9720" cy="299520"/>
          </a:xfrm>
          <a:custGeom>
            <a:avLst/>
            <a:gdLst/>
            <a:ahLst/>
            <a:cxnLst/>
            <a:rect l="0" t="0" r="r" b="b"/>
            <a:pathLst>
              <a:path w="27" h="832">
                <a:moveTo>
                  <a:pt x="0" y="0"/>
                </a:moveTo>
                <a:lnTo>
                  <a:pt x="27" y="0"/>
                </a:lnTo>
                <a:lnTo>
                  <a:pt x="27" y="832"/>
                </a:lnTo>
                <a:lnTo>
                  <a:pt x="0" y="83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7" name="任意多边形 1156"/>
          <p:cNvSpPr/>
          <p:nvPr/>
        </p:nvSpPr>
        <p:spPr>
          <a:xfrm>
            <a:off x="9077040" y="1441800"/>
            <a:ext cx="1248120" cy="7200"/>
          </a:xfrm>
          <a:custGeom>
            <a:avLst/>
            <a:gdLst/>
            <a:ahLst/>
            <a:cxnLst/>
            <a:rect l="0" t="0" r="r" b="b"/>
            <a:pathLst>
              <a:path w="3467" h="20">
                <a:moveTo>
                  <a:pt x="0" y="0"/>
                </a:moveTo>
                <a:lnTo>
                  <a:pt x="3467" y="0"/>
                </a:lnTo>
                <a:lnTo>
                  <a:pt x="3467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8" name="任意多边形 1157"/>
          <p:cNvSpPr/>
          <p:nvPr/>
        </p:nvSpPr>
        <p:spPr>
          <a:xfrm>
            <a:off x="10315440" y="1441800"/>
            <a:ext cx="9720" cy="299520"/>
          </a:xfrm>
          <a:custGeom>
            <a:avLst/>
            <a:gdLst/>
            <a:ahLst/>
            <a:cxnLst/>
            <a:rect l="0" t="0" r="r" b="b"/>
            <a:pathLst>
              <a:path w="27" h="832">
                <a:moveTo>
                  <a:pt x="0" y="0"/>
                </a:moveTo>
                <a:lnTo>
                  <a:pt x="27" y="0"/>
                </a:lnTo>
                <a:lnTo>
                  <a:pt x="27" y="832"/>
                </a:lnTo>
                <a:lnTo>
                  <a:pt x="0" y="83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9" name="任意多边形 1158"/>
          <p:cNvSpPr/>
          <p:nvPr/>
        </p:nvSpPr>
        <p:spPr>
          <a:xfrm>
            <a:off x="10324800" y="1441800"/>
            <a:ext cx="1105200" cy="7200"/>
          </a:xfrm>
          <a:custGeom>
            <a:avLst/>
            <a:gdLst/>
            <a:ahLst/>
            <a:cxnLst/>
            <a:rect l="0" t="0" r="r" b="b"/>
            <a:pathLst>
              <a:path w="3070" h="20">
                <a:moveTo>
                  <a:pt x="0" y="0"/>
                </a:moveTo>
                <a:lnTo>
                  <a:pt x="3070" y="0"/>
                </a:lnTo>
                <a:lnTo>
                  <a:pt x="307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0" name="任意多边形 1159"/>
          <p:cNvSpPr/>
          <p:nvPr/>
        </p:nvSpPr>
        <p:spPr>
          <a:xfrm>
            <a:off x="11420280" y="1441800"/>
            <a:ext cx="9720" cy="299520"/>
          </a:xfrm>
          <a:custGeom>
            <a:avLst/>
            <a:gdLst/>
            <a:ahLst/>
            <a:cxnLst/>
            <a:rect l="0" t="0" r="r" b="b"/>
            <a:pathLst>
              <a:path w="27" h="832">
                <a:moveTo>
                  <a:pt x="0" y="0"/>
                </a:moveTo>
                <a:lnTo>
                  <a:pt x="27" y="0"/>
                </a:lnTo>
                <a:lnTo>
                  <a:pt x="27" y="832"/>
                </a:lnTo>
                <a:lnTo>
                  <a:pt x="0" y="83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1" name="任意多边形 1160"/>
          <p:cNvSpPr/>
          <p:nvPr/>
        </p:nvSpPr>
        <p:spPr>
          <a:xfrm>
            <a:off x="6248160" y="1734120"/>
            <a:ext cx="1715040" cy="7200"/>
          </a:xfrm>
          <a:custGeom>
            <a:avLst/>
            <a:gdLst/>
            <a:ahLst/>
            <a:cxnLst/>
            <a:rect l="0" t="0" r="r" b="b"/>
            <a:pathLst>
              <a:path w="4764" h="20">
                <a:moveTo>
                  <a:pt x="0" y="0"/>
                </a:moveTo>
                <a:lnTo>
                  <a:pt x="4764" y="0"/>
                </a:lnTo>
                <a:lnTo>
                  <a:pt x="4764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2" name="任意多边形 1161"/>
          <p:cNvSpPr/>
          <p:nvPr/>
        </p:nvSpPr>
        <p:spPr>
          <a:xfrm>
            <a:off x="7962840" y="1734120"/>
            <a:ext cx="1114560" cy="7200"/>
          </a:xfrm>
          <a:custGeom>
            <a:avLst/>
            <a:gdLst/>
            <a:ahLst/>
            <a:cxnLst/>
            <a:rect l="0" t="0" r="r" b="b"/>
            <a:pathLst>
              <a:path w="3096" h="20">
                <a:moveTo>
                  <a:pt x="0" y="0"/>
                </a:moveTo>
                <a:lnTo>
                  <a:pt x="3096" y="0"/>
                </a:lnTo>
                <a:lnTo>
                  <a:pt x="3096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3" name="任意多边形 1162"/>
          <p:cNvSpPr/>
          <p:nvPr/>
        </p:nvSpPr>
        <p:spPr>
          <a:xfrm>
            <a:off x="9077040" y="1734120"/>
            <a:ext cx="1248120" cy="7200"/>
          </a:xfrm>
          <a:custGeom>
            <a:avLst/>
            <a:gdLst/>
            <a:ahLst/>
            <a:cxnLst/>
            <a:rect l="0" t="0" r="r" b="b"/>
            <a:pathLst>
              <a:path w="3467" h="20">
                <a:moveTo>
                  <a:pt x="0" y="0"/>
                </a:moveTo>
                <a:lnTo>
                  <a:pt x="3467" y="0"/>
                </a:lnTo>
                <a:lnTo>
                  <a:pt x="3467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4" name="任意多边形 1163"/>
          <p:cNvSpPr/>
          <p:nvPr/>
        </p:nvSpPr>
        <p:spPr>
          <a:xfrm>
            <a:off x="10324800" y="1734120"/>
            <a:ext cx="1105200" cy="7200"/>
          </a:xfrm>
          <a:custGeom>
            <a:avLst/>
            <a:gdLst/>
            <a:ahLst/>
            <a:cxnLst/>
            <a:rect l="0" t="0" r="r" b="b"/>
            <a:pathLst>
              <a:path w="3070" h="20">
                <a:moveTo>
                  <a:pt x="0" y="0"/>
                </a:moveTo>
                <a:lnTo>
                  <a:pt x="3070" y="0"/>
                </a:lnTo>
                <a:lnTo>
                  <a:pt x="307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5" name="任意多边形 1164"/>
          <p:cNvSpPr/>
          <p:nvPr/>
        </p:nvSpPr>
        <p:spPr>
          <a:xfrm>
            <a:off x="6248160" y="1740960"/>
            <a:ext cx="10080" cy="292680"/>
          </a:xfrm>
          <a:custGeom>
            <a:avLst/>
            <a:gdLst/>
            <a:ahLst/>
            <a:cxnLst/>
            <a:rect l="0" t="0" r="r" b="b"/>
            <a:pathLst>
              <a:path w="28" h="813">
                <a:moveTo>
                  <a:pt x="0" y="0"/>
                </a:moveTo>
                <a:lnTo>
                  <a:pt x="28" y="0"/>
                </a:lnTo>
                <a:lnTo>
                  <a:pt x="2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6" name="任意多边形 1165"/>
          <p:cNvSpPr/>
          <p:nvPr/>
        </p:nvSpPr>
        <p:spPr>
          <a:xfrm>
            <a:off x="7953120" y="1740960"/>
            <a:ext cx="10080" cy="292680"/>
          </a:xfrm>
          <a:custGeom>
            <a:avLst/>
            <a:gdLst/>
            <a:ahLst/>
            <a:cxnLst/>
            <a:rect l="0" t="0" r="r" b="b"/>
            <a:pathLst>
              <a:path w="28" h="813">
                <a:moveTo>
                  <a:pt x="0" y="0"/>
                </a:moveTo>
                <a:lnTo>
                  <a:pt x="28" y="0"/>
                </a:lnTo>
                <a:lnTo>
                  <a:pt x="2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7" name="任意多边形 1166"/>
          <p:cNvSpPr/>
          <p:nvPr/>
        </p:nvSpPr>
        <p:spPr>
          <a:xfrm>
            <a:off x="9067680" y="174096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8" name="任意多边形 1167"/>
          <p:cNvSpPr/>
          <p:nvPr/>
        </p:nvSpPr>
        <p:spPr>
          <a:xfrm>
            <a:off x="10315440" y="174096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9" name="任意多边形 1168"/>
          <p:cNvSpPr/>
          <p:nvPr/>
        </p:nvSpPr>
        <p:spPr>
          <a:xfrm>
            <a:off x="11420280" y="174096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0" name="任意多边形 1169"/>
          <p:cNvSpPr/>
          <p:nvPr/>
        </p:nvSpPr>
        <p:spPr>
          <a:xfrm>
            <a:off x="6248160" y="2033280"/>
            <a:ext cx="10080" cy="292680"/>
          </a:xfrm>
          <a:custGeom>
            <a:avLst/>
            <a:gdLst/>
            <a:ahLst/>
            <a:cxnLst/>
            <a:rect l="0" t="0" r="r" b="b"/>
            <a:pathLst>
              <a:path w="28" h="813">
                <a:moveTo>
                  <a:pt x="0" y="0"/>
                </a:moveTo>
                <a:lnTo>
                  <a:pt x="28" y="0"/>
                </a:lnTo>
                <a:lnTo>
                  <a:pt x="2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1" name="任意多边形 1170"/>
          <p:cNvSpPr/>
          <p:nvPr/>
        </p:nvSpPr>
        <p:spPr>
          <a:xfrm>
            <a:off x="6248160" y="2026800"/>
            <a:ext cx="1715040" cy="6840"/>
          </a:xfrm>
          <a:custGeom>
            <a:avLst/>
            <a:gdLst/>
            <a:ahLst/>
            <a:cxnLst/>
            <a:rect l="0" t="0" r="r" b="b"/>
            <a:pathLst>
              <a:path w="4764" h="19">
                <a:moveTo>
                  <a:pt x="0" y="0"/>
                </a:moveTo>
                <a:lnTo>
                  <a:pt x="4764" y="0"/>
                </a:lnTo>
                <a:lnTo>
                  <a:pt x="4764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2" name="任意多边形 1171"/>
          <p:cNvSpPr/>
          <p:nvPr/>
        </p:nvSpPr>
        <p:spPr>
          <a:xfrm>
            <a:off x="7953120" y="2033280"/>
            <a:ext cx="10080" cy="292680"/>
          </a:xfrm>
          <a:custGeom>
            <a:avLst/>
            <a:gdLst/>
            <a:ahLst/>
            <a:cxnLst/>
            <a:rect l="0" t="0" r="r" b="b"/>
            <a:pathLst>
              <a:path w="28" h="813">
                <a:moveTo>
                  <a:pt x="0" y="0"/>
                </a:moveTo>
                <a:lnTo>
                  <a:pt x="28" y="0"/>
                </a:lnTo>
                <a:lnTo>
                  <a:pt x="2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3" name="任意多边形 1172"/>
          <p:cNvSpPr/>
          <p:nvPr/>
        </p:nvSpPr>
        <p:spPr>
          <a:xfrm>
            <a:off x="7962840" y="2026800"/>
            <a:ext cx="1114560" cy="6840"/>
          </a:xfrm>
          <a:custGeom>
            <a:avLst/>
            <a:gdLst/>
            <a:ahLst/>
            <a:cxnLst/>
            <a:rect l="0" t="0" r="r" b="b"/>
            <a:pathLst>
              <a:path w="3096" h="19">
                <a:moveTo>
                  <a:pt x="0" y="0"/>
                </a:moveTo>
                <a:lnTo>
                  <a:pt x="3096" y="0"/>
                </a:lnTo>
                <a:lnTo>
                  <a:pt x="309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4" name="任意多边形 1173"/>
          <p:cNvSpPr/>
          <p:nvPr/>
        </p:nvSpPr>
        <p:spPr>
          <a:xfrm>
            <a:off x="9067680" y="203328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5" name="任意多边形 1174"/>
          <p:cNvSpPr/>
          <p:nvPr/>
        </p:nvSpPr>
        <p:spPr>
          <a:xfrm>
            <a:off x="9077040" y="2026800"/>
            <a:ext cx="1248120" cy="6840"/>
          </a:xfrm>
          <a:custGeom>
            <a:avLst/>
            <a:gdLst/>
            <a:ahLst/>
            <a:cxnLst/>
            <a:rect l="0" t="0" r="r" b="b"/>
            <a:pathLst>
              <a:path w="3467" h="19">
                <a:moveTo>
                  <a:pt x="0" y="0"/>
                </a:moveTo>
                <a:lnTo>
                  <a:pt x="3467" y="0"/>
                </a:lnTo>
                <a:lnTo>
                  <a:pt x="3467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6" name="任意多边形 1175"/>
          <p:cNvSpPr/>
          <p:nvPr/>
        </p:nvSpPr>
        <p:spPr>
          <a:xfrm>
            <a:off x="10315440" y="203328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7" name="任意多边形 1176"/>
          <p:cNvSpPr/>
          <p:nvPr/>
        </p:nvSpPr>
        <p:spPr>
          <a:xfrm>
            <a:off x="10324800" y="2026800"/>
            <a:ext cx="1105200" cy="6840"/>
          </a:xfrm>
          <a:custGeom>
            <a:avLst/>
            <a:gdLst/>
            <a:ahLst/>
            <a:cxnLst/>
            <a:rect l="0" t="0" r="r" b="b"/>
            <a:pathLst>
              <a:path w="3070" h="19">
                <a:moveTo>
                  <a:pt x="0" y="0"/>
                </a:moveTo>
                <a:lnTo>
                  <a:pt x="3070" y="0"/>
                </a:lnTo>
                <a:lnTo>
                  <a:pt x="3070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8" name="任意多边形 1177"/>
          <p:cNvSpPr/>
          <p:nvPr/>
        </p:nvSpPr>
        <p:spPr>
          <a:xfrm>
            <a:off x="11420280" y="203328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9" name="任意多边形 1178"/>
          <p:cNvSpPr/>
          <p:nvPr/>
        </p:nvSpPr>
        <p:spPr>
          <a:xfrm>
            <a:off x="6248160" y="2325600"/>
            <a:ext cx="10080" cy="292680"/>
          </a:xfrm>
          <a:custGeom>
            <a:avLst/>
            <a:gdLst/>
            <a:ahLst/>
            <a:cxnLst/>
            <a:rect l="0" t="0" r="r" b="b"/>
            <a:pathLst>
              <a:path w="28" h="813">
                <a:moveTo>
                  <a:pt x="0" y="0"/>
                </a:moveTo>
                <a:lnTo>
                  <a:pt x="28" y="0"/>
                </a:lnTo>
                <a:lnTo>
                  <a:pt x="2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0" name="任意多边形 1179"/>
          <p:cNvSpPr/>
          <p:nvPr/>
        </p:nvSpPr>
        <p:spPr>
          <a:xfrm>
            <a:off x="6248160" y="2319120"/>
            <a:ext cx="1715040" cy="6840"/>
          </a:xfrm>
          <a:custGeom>
            <a:avLst/>
            <a:gdLst/>
            <a:ahLst/>
            <a:cxnLst/>
            <a:rect l="0" t="0" r="r" b="b"/>
            <a:pathLst>
              <a:path w="4764" h="19">
                <a:moveTo>
                  <a:pt x="0" y="0"/>
                </a:moveTo>
                <a:lnTo>
                  <a:pt x="4764" y="0"/>
                </a:lnTo>
                <a:lnTo>
                  <a:pt x="4764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1" name="任意多边形 1180"/>
          <p:cNvSpPr/>
          <p:nvPr/>
        </p:nvSpPr>
        <p:spPr>
          <a:xfrm>
            <a:off x="7953120" y="2325600"/>
            <a:ext cx="10080" cy="292680"/>
          </a:xfrm>
          <a:custGeom>
            <a:avLst/>
            <a:gdLst/>
            <a:ahLst/>
            <a:cxnLst/>
            <a:rect l="0" t="0" r="r" b="b"/>
            <a:pathLst>
              <a:path w="28" h="813">
                <a:moveTo>
                  <a:pt x="0" y="0"/>
                </a:moveTo>
                <a:lnTo>
                  <a:pt x="28" y="0"/>
                </a:lnTo>
                <a:lnTo>
                  <a:pt x="2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2" name="任意多边形 1181"/>
          <p:cNvSpPr/>
          <p:nvPr/>
        </p:nvSpPr>
        <p:spPr>
          <a:xfrm>
            <a:off x="7962840" y="2319120"/>
            <a:ext cx="1114560" cy="6840"/>
          </a:xfrm>
          <a:custGeom>
            <a:avLst/>
            <a:gdLst/>
            <a:ahLst/>
            <a:cxnLst/>
            <a:rect l="0" t="0" r="r" b="b"/>
            <a:pathLst>
              <a:path w="3096" h="19">
                <a:moveTo>
                  <a:pt x="0" y="0"/>
                </a:moveTo>
                <a:lnTo>
                  <a:pt x="3096" y="0"/>
                </a:lnTo>
                <a:lnTo>
                  <a:pt x="309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3" name="任意多边形 1182"/>
          <p:cNvSpPr/>
          <p:nvPr/>
        </p:nvSpPr>
        <p:spPr>
          <a:xfrm>
            <a:off x="9067680" y="232560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4" name="任意多边形 1183"/>
          <p:cNvSpPr/>
          <p:nvPr/>
        </p:nvSpPr>
        <p:spPr>
          <a:xfrm>
            <a:off x="9077040" y="2319120"/>
            <a:ext cx="1248120" cy="6840"/>
          </a:xfrm>
          <a:custGeom>
            <a:avLst/>
            <a:gdLst/>
            <a:ahLst/>
            <a:cxnLst/>
            <a:rect l="0" t="0" r="r" b="b"/>
            <a:pathLst>
              <a:path w="3467" h="19">
                <a:moveTo>
                  <a:pt x="0" y="0"/>
                </a:moveTo>
                <a:lnTo>
                  <a:pt x="3467" y="0"/>
                </a:lnTo>
                <a:lnTo>
                  <a:pt x="3467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5" name="任意多边形 1184"/>
          <p:cNvSpPr/>
          <p:nvPr/>
        </p:nvSpPr>
        <p:spPr>
          <a:xfrm>
            <a:off x="10315440" y="232560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6" name="任意多边形 1185"/>
          <p:cNvSpPr/>
          <p:nvPr/>
        </p:nvSpPr>
        <p:spPr>
          <a:xfrm>
            <a:off x="10324800" y="2319120"/>
            <a:ext cx="1105200" cy="6840"/>
          </a:xfrm>
          <a:custGeom>
            <a:avLst/>
            <a:gdLst/>
            <a:ahLst/>
            <a:cxnLst/>
            <a:rect l="0" t="0" r="r" b="b"/>
            <a:pathLst>
              <a:path w="3070" h="19">
                <a:moveTo>
                  <a:pt x="0" y="0"/>
                </a:moveTo>
                <a:lnTo>
                  <a:pt x="3070" y="0"/>
                </a:lnTo>
                <a:lnTo>
                  <a:pt x="3070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7" name="任意多边形 1186"/>
          <p:cNvSpPr/>
          <p:nvPr/>
        </p:nvSpPr>
        <p:spPr>
          <a:xfrm>
            <a:off x="11420280" y="232560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8" name="任意多边形 1187"/>
          <p:cNvSpPr/>
          <p:nvPr/>
        </p:nvSpPr>
        <p:spPr>
          <a:xfrm>
            <a:off x="6248160" y="2617920"/>
            <a:ext cx="10080" cy="293040"/>
          </a:xfrm>
          <a:custGeom>
            <a:avLst/>
            <a:gdLst/>
            <a:ahLst/>
            <a:cxnLst/>
            <a:rect l="0" t="0" r="r" b="b"/>
            <a:pathLst>
              <a:path w="28" h="814">
                <a:moveTo>
                  <a:pt x="0" y="0"/>
                </a:moveTo>
                <a:lnTo>
                  <a:pt x="28" y="0"/>
                </a:lnTo>
                <a:lnTo>
                  <a:pt x="28" y="814"/>
                </a:lnTo>
                <a:lnTo>
                  <a:pt x="0" y="81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9" name="任意多边形 1188"/>
          <p:cNvSpPr/>
          <p:nvPr/>
        </p:nvSpPr>
        <p:spPr>
          <a:xfrm>
            <a:off x="6248160" y="2611440"/>
            <a:ext cx="1715040" cy="6840"/>
          </a:xfrm>
          <a:custGeom>
            <a:avLst/>
            <a:gdLst/>
            <a:ahLst/>
            <a:cxnLst/>
            <a:rect l="0" t="0" r="r" b="b"/>
            <a:pathLst>
              <a:path w="4764" h="19">
                <a:moveTo>
                  <a:pt x="0" y="0"/>
                </a:moveTo>
                <a:lnTo>
                  <a:pt x="4764" y="0"/>
                </a:lnTo>
                <a:lnTo>
                  <a:pt x="4764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0" name="任意多边形 1189"/>
          <p:cNvSpPr/>
          <p:nvPr/>
        </p:nvSpPr>
        <p:spPr>
          <a:xfrm>
            <a:off x="7953120" y="2617920"/>
            <a:ext cx="10080" cy="293040"/>
          </a:xfrm>
          <a:custGeom>
            <a:avLst/>
            <a:gdLst/>
            <a:ahLst/>
            <a:cxnLst/>
            <a:rect l="0" t="0" r="r" b="b"/>
            <a:pathLst>
              <a:path w="28" h="814">
                <a:moveTo>
                  <a:pt x="0" y="0"/>
                </a:moveTo>
                <a:lnTo>
                  <a:pt x="28" y="0"/>
                </a:lnTo>
                <a:lnTo>
                  <a:pt x="28" y="814"/>
                </a:lnTo>
                <a:lnTo>
                  <a:pt x="0" y="81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1" name="任意多边形 1190"/>
          <p:cNvSpPr/>
          <p:nvPr/>
        </p:nvSpPr>
        <p:spPr>
          <a:xfrm>
            <a:off x="7962840" y="2611440"/>
            <a:ext cx="1114560" cy="6840"/>
          </a:xfrm>
          <a:custGeom>
            <a:avLst/>
            <a:gdLst/>
            <a:ahLst/>
            <a:cxnLst/>
            <a:rect l="0" t="0" r="r" b="b"/>
            <a:pathLst>
              <a:path w="3096" h="19">
                <a:moveTo>
                  <a:pt x="0" y="0"/>
                </a:moveTo>
                <a:lnTo>
                  <a:pt x="3096" y="0"/>
                </a:lnTo>
                <a:lnTo>
                  <a:pt x="309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2" name="任意多边形 1191"/>
          <p:cNvSpPr/>
          <p:nvPr/>
        </p:nvSpPr>
        <p:spPr>
          <a:xfrm>
            <a:off x="9067680" y="2617920"/>
            <a:ext cx="9720" cy="293040"/>
          </a:xfrm>
          <a:custGeom>
            <a:avLst/>
            <a:gdLst/>
            <a:ahLst/>
            <a:cxnLst/>
            <a:rect l="0" t="0" r="r" b="b"/>
            <a:pathLst>
              <a:path w="27" h="814">
                <a:moveTo>
                  <a:pt x="0" y="0"/>
                </a:moveTo>
                <a:lnTo>
                  <a:pt x="27" y="0"/>
                </a:lnTo>
                <a:lnTo>
                  <a:pt x="27" y="814"/>
                </a:lnTo>
                <a:lnTo>
                  <a:pt x="0" y="81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3" name="任意多边形 1192"/>
          <p:cNvSpPr/>
          <p:nvPr/>
        </p:nvSpPr>
        <p:spPr>
          <a:xfrm>
            <a:off x="9077040" y="2611440"/>
            <a:ext cx="1248120" cy="6840"/>
          </a:xfrm>
          <a:custGeom>
            <a:avLst/>
            <a:gdLst/>
            <a:ahLst/>
            <a:cxnLst/>
            <a:rect l="0" t="0" r="r" b="b"/>
            <a:pathLst>
              <a:path w="3467" h="19">
                <a:moveTo>
                  <a:pt x="0" y="0"/>
                </a:moveTo>
                <a:lnTo>
                  <a:pt x="3467" y="0"/>
                </a:lnTo>
                <a:lnTo>
                  <a:pt x="3467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4" name="任意多边形 1193"/>
          <p:cNvSpPr/>
          <p:nvPr/>
        </p:nvSpPr>
        <p:spPr>
          <a:xfrm>
            <a:off x="10315440" y="2617920"/>
            <a:ext cx="9720" cy="293040"/>
          </a:xfrm>
          <a:custGeom>
            <a:avLst/>
            <a:gdLst/>
            <a:ahLst/>
            <a:cxnLst/>
            <a:rect l="0" t="0" r="r" b="b"/>
            <a:pathLst>
              <a:path w="27" h="814">
                <a:moveTo>
                  <a:pt x="0" y="0"/>
                </a:moveTo>
                <a:lnTo>
                  <a:pt x="27" y="0"/>
                </a:lnTo>
                <a:lnTo>
                  <a:pt x="27" y="814"/>
                </a:lnTo>
                <a:lnTo>
                  <a:pt x="0" y="81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5" name="任意多边形 1194"/>
          <p:cNvSpPr/>
          <p:nvPr/>
        </p:nvSpPr>
        <p:spPr>
          <a:xfrm>
            <a:off x="10324800" y="2611440"/>
            <a:ext cx="1105200" cy="6840"/>
          </a:xfrm>
          <a:custGeom>
            <a:avLst/>
            <a:gdLst/>
            <a:ahLst/>
            <a:cxnLst/>
            <a:rect l="0" t="0" r="r" b="b"/>
            <a:pathLst>
              <a:path w="3070" h="19">
                <a:moveTo>
                  <a:pt x="0" y="0"/>
                </a:moveTo>
                <a:lnTo>
                  <a:pt x="3070" y="0"/>
                </a:lnTo>
                <a:lnTo>
                  <a:pt x="3070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6" name="任意多边形 1195"/>
          <p:cNvSpPr/>
          <p:nvPr/>
        </p:nvSpPr>
        <p:spPr>
          <a:xfrm>
            <a:off x="11420280" y="2617920"/>
            <a:ext cx="9720" cy="293040"/>
          </a:xfrm>
          <a:custGeom>
            <a:avLst/>
            <a:gdLst/>
            <a:ahLst/>
            <a:cxnLst/>
            <a:rect l="0" t="0" r="r" b="b"/>
            <a:pathLst>
              <a:path w="27" h="814">
                <a:moveTo>
                  <a:pt x="0" y="0"/>
                </a:moveTo>
                <a:lnTo>
                  <a:pt x="27" y="0"/>
                </a:lnTo>
                <a:lnTo>
                  <a:pt x="27" y="814"/>
                </a:lnTo>
                <a:lnTo>
                  <a:pt x="0" y="81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7" name="任意多边形 1196"/>
          <p:cNvSpPr/>
          <p:nvPr/>
        </p:nvSpPr>
        <p:spPr>
          <a:xfrm>
            <a:off x="6248160" y="2903760"/>
            <a:ext cx="1715040" cy="7200"/>
          </a:xfrm>
          <a:custGeom>
            <a:avLst/>
            <a:gdLst/>
            <a:ahLst/>
            <a:cxnLst/>
            <a:rect l="0" t="0" r="r" b="b"/>
            <a:pathLst>
              <a:path w="4764" h="20">
                <a:moveTo>
                  <a:pt x="0" y="0"/>
                </a:moveTo>
                <a:lnTo>
                  <a:pt x="4764" y="0"/>
                </a:lnTo>
                <a:lnTo>
                  <a:pt x="4764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8" name="任意多边形 1197"/>
          <p:cNvSpPr/>
          <p:nvPr/>
        </p:nvSpPr>
        <p:spPr>
          <a:xfrm>
            <a:off x="7962840" y="2903760"/>
            <a:ext cx="1114560" cy="7200"/>
          </a:xfrm>
          <a:custGeom>
            <a:avLst/>
            <a:gdLst/>
            <a:ahLst/>
            <a:cxnLst/>
            <a:rect l="0" t="0" r="r" b="b"/>
            <a:pathLst>
              <a:path w="3096" h="20">
                <a:moveTo>
                  <a:pt x="0" y="0"/>
                </a:moveTo>
                <a:lnTo>
                  <a:pt x="3096" y="0"/>
                </a:lnTo>
                <a:lnTo>
                  <a:pt x="3096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9" name="任意多边形 1198"/>
          <p:cNvSpPr/>
          <p:nvPr/>
        </p:nvSpPr>
        <p:spPr>
          <a:xfrm>
            <a:off x="9077040" y="2903760"/>
            <a:ext cx="1248120" cy="7200"/>
          </a:xfrm>
          <a:custGeom>
            <a:avLst/>
            <a:gdLst/>
            <a:ahLst/>
            <a:cxnLst/>
            <a:rect l="0" t="0" r="r" b="b"/>
            <a:pathLst>
              <a:path w="3467" h="20">
                <a:moveTo>
                  <a:pt x="0" y="0"/>
                </a:moveTo>
                <a:lnTo>
                  <a:pt x="3467" y="0"/>
                </a:lnTo>
                <a:lnTo>
                  <a:pt x="3467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0" name="任意多边形 1199"/>
          <p:cNvSpPr/>
          <p:nvPr/>
        </p:nvSpPr>
        <p:spPr>
          <a:xfrm>
            <a:off x="10324800" y="2903760"/>
            <a:ext cx="1105200" cy="7200"/>
          </a:xfrm>
          <a:custGeom>
            <a:avLst/>
            <a:gdLst/>
            <a:ahLst/>
            <a:cxnLst/>
            <a:rect l="0" t="0" r="r" b="b"/>
            <a:pathLst>
              <a:path w="3070" h="20">
                <a:moveTo>
                  <a:pt x="0" y="0"/>
                </a:moveTo>
                <a:lnTo>
                  <a:pt x="3070" y="0"/>
                </a:lnTo>
                <a:lnTo>
                  <a:pt x="307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1" name="文本框 1200"/>
          <p:cNvSpPr txBox="1"/>
          <p:nvPr/>
        </p:nvSpPr>
        <p:spPr>
          <a:xfrm>
            <a:off x="4577040" y="6033600"/>
            <a:ext cx="2613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0~1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2" name="文本框 1201"/>
          <p:cNvSpPr txBox="1"/>
          <p:nvPr/>
        </p:nvSpPr>
        <p:spPr>
          <a:xfrm>
            <a:off x="6248520" y="1121400"/>
            <a:ext cx="1647000" cy="18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6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特征选择对模型性能的影响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3" name="文本框 1202"/>
          <p:cNvSpPr txBox="1"/>
          <p:nvPr/>
        </p:nvSpPr>
        <p:spPr>
          <a:xfrm>
            <a:off x="6764400" y="1517040"/>
            <a:ext cx="406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特征组合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4" name="文本框 1203"/>
          <p:cNvSpPr txBox="1"/>
          <p:nvPr/>
        </p:nvSpPr>
        <p:spPr>
          <a:xfrm>
            <a:off x="8067960" y="1521360"/>
            <a:ext cx="3765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1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SVM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5" name="文本框 1204"/>
          <p:cNvSpPr txBox="1"/>
          <p:nvPr/>
        </p:nvSpPr>
        <p:spPr>
          <a:xfrm>
            <a:off x="8448840" y="1517040"/>
            <a:ext cx="96804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准确率 决策树准确率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6" name="文本框 1205"/>
          <p:cNvSpPr txBox="1"/>
          <p:nvPr/>
        </p:nvSpPr>
        <p:spPr>
          <a:xfrm>
            <a:off x="10423440" y="1521360"/>
            <a:ext cx="3765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1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KNN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7" name="文本框 1206"/>
          <p:cNvSpPr txBox="1"/>
          <p:nvPr/>
        </p:nvSpPr>
        <p:spPr>
          <a:xfrm>
            <a:off x="10804320" y="1517040"/>
            <a:ext cx="3052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准确率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8" name="文本框 1207"/>
          <p:cNvSpPr txBox="1"/>
          <p:nvPr/>
        </p:nvSpPr>
        <p:spPr>
          <a:xfrm>
            <a:off x="6334200" y="1809360"/>
            <a:ext cx="406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所有特征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9" name="文本框 1208"/>
          <p:cNvSpPr txBox="1"/>
          <p:nvPr/>
        </p:nvSpPr>
        <p:spPr>
          <a:xfrm>
            <a:off x="8042400" y="181404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96.7%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0" name="文本框 1209"/>
          <p:cNvSpPr txBox="1"/>
          <p:nvPr/>
        </p:nvSpPr>
        <p:spPr>
          <a:xfrm>
            <a:off x="9150480" y="181404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94.4%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1" name="文本框 1210"/>
          <p:cNvSpPr txBox="1"/>
          <p:nvPr/>
        </p:nvSpPr>
        <p:spPr>
          <a:xfrm>
            <a:off x="10397880" y="181404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95.6%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2" name="文本框 1211"/>
          <p:cNvSpPr txBox="1"/>
          <p:nvPr/>
        </p:nvSpPr>
        <p:spPr>
          <a:xfrm>
            <a:off x="6334200" y="2102040"/>
            <a:ext cx="5083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仅花萼特征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3" name="文本框 1212"/>
          <p:cNvSpPr txBox="1"/>
          <p:nvPr/>
        </p:nvSpPr>
        <p:spPr>
          <a:xfrm>
            <a:off x="8042400" y="210636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82.2%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4" name="文本框 1213"/>
          <p:cNvSpPr txBox="1"/>
          <p:nvPr/>
        </p:nvSpPr>
        <p:spPr>
          <a:xfrm>
            <a:off x="9150480" y="210636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76.7%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5" name="文本框 1214"/>
          <p:cNvSpPr txBox="1"/>
          <p:nvPr/>
        </p:nvSpPr>
        <p:spPr>
          <a:xfrm>
            <a:off x="10397880" y="210636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78.9%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6" name="文本框 1215"/>
          <p:cNvSpPr txBox="1"/>
          <p:nvPr/>
        </p:nvSpPr>
        <p:spPr>
          <a:xfrm>
            <a:off x="6334200" y="2394360"/>
            <a:ext cx="5083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仅花瓣特征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7" name="文本框 1216"/>
          <p:cNvSpPr txBox="1"/>
          <p:nvPr/>
        </p:nvSpPr>
        <p:spPr>
          <a:xfrm>
            <a:off x="8042400" y="239868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97.8%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8" name="文本框 1217"/>
          <p:cNvSpPr txBox="1"/>
          <p:nvPr/>
        </p:nvSpPr>
        <p:spPr>
          <a:xfrm>
            <a:off x="9150480" y="239868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96.7%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9" name="文本框 1218"/>
          <p:cNvSpPr txBox="1"/>
          <p:nvPr/>
        </p:nvSpPr>
        <p:spPr>
          <a:xfrm>
            <a:off x="10397880" y="239868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97.8%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0" name="文本框 1219"/>
          <p:cNvSpPr txBox="1"/>
          <p:nvPr/>
        </p:nvSpPr>
        <p:spPr>
          <a:xfrm>
            <a:off x="6334200" y="2686680"/>
            <a:ext cx="406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花瓣特征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1" name="文本框 1220"/>
          <p:cNvSpPr txBox="1"/>
          <p:nvPr/>
        </p:nvSpPr>
        <p:spPr>
          <a:xfrm>
            <a:off x="7020000" y="2691000"/>
            <a:ext cx="1710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+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2" name="文本框 1221"/>
          <p:cNvSpPr txBox="1"/>
          <p:nvPr/>
        </p:nvSpPr>
        <p:spPr>
          <a:xfrm>
            <a:off x="7116480" y="2686680"/>
            <a:ext cx="406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花萼⻓度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3" name="文本框 1222"/>
          <p:cNvSpPr txBox="1"/>
          <p:nvPr/>
        </p:nvSpPr>
        <p:spPr>
          <a:xfrm>
            <a:off x="8042400" y="269100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98.9%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4" name="文本框 1223"/>
          <p:cNvSpPr txBox="1"/>
          <p:nvPr/>
        </p:nvSpPr>
        <p:spPr>
          <a:xfrm>
            <a:off x="9150480" y="269100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97.8%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5" name="文本框 1224"/>
          <p:cNvSpPr txBox="1"/>
          <p:nvPr/>
        </p:nvSpPr>
        <p:spPr>
          <a:xfrm>
            <a:off x="10397880" y="269100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98.9%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6" name="任意多边形 1225"/>
          <p:cNvSpPr/>
          <p:nvPr/>
        </p:nvSpPr>
        <p:spPr>
          <a:xfrm>
            <a:off x="6248160" y="3395520"/>
            <a:ext cx="228960" cy="159840"/>
          </a:xfrm>
          <a:custGeom>
            <a:avLst/>
            <a:gdLst/>
            <a:ahLst/>
            <a:cxnLst/>
            <a:rect l="0" t="0" r="r" b="b"/>
            <a:pathLst>
              <a:path w="636" h="444">
                <a:moveTo>
                  <a:pt x="636" y="223"/>
                </a:moveTo>
                <a:cubicBezTo>
                  <a:pt x="636" y="237"/>
                  <a:pt x="634" y="252"/>
                  <a:pt x="630" y="266"/>
                </a:cubicBezTo>
                <a:cubicBezTo>
                  <a:pt x="626" y="280"/>
                  <a:pt x="620" y="294"/>
                  <a:pt x="612" y="307"/>
                </a:cubicBezTo>
                <a:cubicBezTo>
                  <a:pt x="604" y="321"/>
                  <a:pt x="594" y="334"/>
                  <a:pt x="583" y="346"/>
                </a:cubicBezTo>
                <a:cubicBezTo>
                  <a:pt x="571" y="358"/>
                  <a:pt x="558" y="369"/>
                  <a:pt x="543" y="379"/>
                </a:cubicBezTo>
                <a:cubicBezTo>
                  <a:pt x="528" y="390"/>
                  <a:pt x="512" y="399"/>
                  <a:pt x="495" y="407"/>
                </a:cubicBezTo>
                <a:cubicBezTo>
                  <a:pt x="478" y="415"/>
                  <a:pt x="459" y="422"/>
                  <a:pt x="440" y="427"/>
                </a:cubicBezTo>
                <a:cubicBezTo>
                  <a:pt x="421" y="433"/>
                  <a:pt x="401" y="437"/>
                  <a:pt x="381" y="440"/>
                </a:cubicBezTo>
                <a:cubicBezTo>
                  <a:pt x="360" y="443"/>
                  <a:pt x="340" y="444"/>
                  <a:pt x="319" y="444"/>
                </a:cubicBezTo>
                <a:cubicBezTo>
                  <a:pt x="298" y="444"/>
                  <a:pt x="277" y="443"/>
                  <a:pt x="257" y="440"/>
                </a:cubicBezTo>
                <a:cubicBezTo>
                  <a:pt x="236" y="437"/>
                  <a:pt x="216" y="433"/>
                  <a:pt x="197" y="427"/>
                </a:cubicBezTo>
                <a:cubicBezTo>
                  <a:pt x="178" y="422"/>
                  <a:pt x="160" y="415"/>
                  <a:pt x="142" y="407"/>
                </a:cubicBezTo>
                <a:cubicBezTo>
                  <a:pt x="125" y="399"/>
                  <a:pt x="109" y="390"/>
                  <a:pt x="94" y="379"/>
                </a:cubicBezTo>
                <a:cubicBezTo>
                  <a:pt x="78" y="369"/>
                  <a:pt x="65" y="358"/>
                  <a:pt x="54" y="346"/>
                </a:cubicBezTo>
                <a:cubicBezTo>
                  <a:pt x="42" y="334"/>
                  <a:pt x="32" y="321"/>
                  <a:pt x="24" y="307"/>
                </a:cubicBezTo>
                <a:cubicBezTo>
                  <a:pt x="16" y="294"/>
                  <a:pt x="10" y="280"/>
                  <a:pt x="6" y="266"/>
                </a:cubicBezTo>
                <a:cubicBezTo>
                  <a:pt x="2" y="252"/>
                  <a:pt x="0" y="237"/>
                  <a:pt x="0" y="223"/>
                </a:cubicBezTo>
                <a:cubicBezTo>
                  <a:pt x="0" y="208"/>
                  <a:pt x="2" y="194"/>
                  <a:pt x="6" y="179"/>
                </a:cubicBezTo>
                <a:cubicBezTo>
                  <a:pt x="10" y="165"/>
                  <a:pt x="16" y="151"/>
                  <a:pt x="24" y="138"/>
                </a:cubicBezTo>
                <a:cubicBezTo>
                  <a:pt x="32" y="125"/>
                  <a:pt x="42" y="112"/>
                  <a:pt x="54" y="100"/>
                </a:cubicBezTo>
                <a:cubicBezTo>
                  <a:pt x="65" y="87"/>
                  <a:pt x="78" y="75"/>
                  <a:pt x="94" y="65"/>
                </a:cubicBezTo>
                <a:cubicBezTo>
                  <a:pt x="109" y="55"/>
                  <a:pt x="125" y="46"/>
                  <a:pt x="142" y="38"/>
                </a:cubicBezTo>
                <a:cubicBezTo>
                  <a:pt x="160" y="29"/>
                  <a:pt x="178" y="23"/>
                  <a:pt x="197" y="17"/>
                </a:cubicBezTo>
                <a:cubicBezTo>
                  <a:pt x="216" y="11"/>
                  <a:pt x="236" y="7"/>
                  <a:pt x="257" y="4"/>
                </a:cubicBezTo>
                <a:cubicBezTo>
                  <a:pt x="277" y="2"/>
                  <a:pt x="298" y="0"/>
                  <a:pt x="319" y="0"/>
                </a:cubicBezTo>
                <a:cubicBezTo>
                  <a:pt x="340" y="0"/>
                  <a:pt x="360" y="2"/>
                  <a:pt x="381" y="4"/>
                </a:cubicBezTo>
                <a:cubicBezTo>
                  <a:pt x="401" y="7"/>
                  <a:pt x="421" y="11"/>
                  <a:pt x="440" y="17"/>
                </a:cubicBezTo>
                <a:cubicBezTo>
                  <a:pt x="459" y="23"/>
                  <a:pt x="478" y="29"/>
                  <a:pt x="495" y="38"/>
                </a:cubicBezTo>
                <a:cubicBezTo>
                  <a:pt x="512" y="46"/>
                  <a:pt x="528" y="55"/>
                  <a:pt x="543" y="65"/>
                </a:cubicBezTo>
                <a:cubicBezTo>
                  <a:pt x="558" y="75"/>
                  <a:pt x="571" y="87"/>
                  <a:pt x="583" y="100"/>
                </a:cubicBezTo>
                <a:cubicBezTo>
                  <a:pt x="594" y="112"/>
                  <a:pt x="604" y="125"/>
                  <a:pt x="612" y="138"/>
                </a:cubicBezTo>
                <a:cubicBezTo>
                  <a:pt x="620" y="151"/>
                  <a:pt x="626" y="165"/>
                  <a:pt x="630" y="179"/>
                </a:cubicBezTo>
                <a:cubicBezTo>
                  <a:pt x="634" y="194"/>
                  <a:pt x="636" y="208"/>
                  <a:pt x="636" y="223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7" name="文本框 1226"/>
          <p:cNvSpPr txBox="1"/>
          <p:nvPr/>
        </p:nvSpPr>
        <p:spPr>
          <a:xfrm>
            <a:off x="6248520" y="3093840"/>
            <a:ext cx="5018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关键发现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8" name="文本框 1227"/>
          <p:cNvSpPr txBox="1"/>
          <p:nvPr/>
        </p:nvSpPr>
        <p:spPr>
          <a:xfrm>
            <a:off x="6303960" y="3397680"/>
            <a:ext cx="171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9" name="任意多边形 1228"/>
          <p:cNvSpPr/>
          <p:nvPr/>
        </p:nvSpPr>
        <p:spPr>
          <a:xfrm>
            <a:off x="6248160" y="3634920"/>
            <a:ext cx="228960" cy="159840"/>
          </a:xfrm>
          <a:custGeom>
            <a:avLst/>
            <a:gdLst/>
            <a:ahLst/>
            <a:cxnLst/>
            <a:rect l="0" t="0" r="r" b="b"/>
            <a:pathLst>
              <a:path w="636" h="444">
                <a:moveTo>
                  <a:pt x="636" y="221"/>
                </a:moveTo>
                <a:cubicBezTo>
                  <a:pt x="636" y="236"/>
                  <a:pt x="634" y="250"/>
                  <a:pt x="630" y="264"/>
                </a:cubicBezTo>
                <a:cubicBezTo>
                  <a:pt x="626" y="279"/>
                  <a:pt x="620" y="293"/>
                  <a:pt x="612" y="306"/>
                </a:cubicBezTo>
                <a:cubicBezTo>
                  <a:pt x="604" y="320"/>
                  <a:pt x="594" y="333"/>
                  <a:pt x="583" y="345"/>
                </a:cubicBezTo>
                <a:cubicBezTo>
                  <a:pt x="571" y="357"/>
                  <a:pt x="558" y="369"/>
                  <a:pt x="543" y="379"/>
                </a:cubicBezTo>
                <a:cubicBezTo>
                  <a:pt x="528" y="389"/>
                  <a:pt x="512" y="398"/>
                  <a:pt x="495" y="406"/>
                </a:cubicBezTo>
                <a:cubicBezTo>
                  <a:pt x="478" y="415"/>
                  <a:pt x="459" y="421"/>
                  <a:pt x="440" y="427"/>
                </a:cubicBezTo>
                <a:cubicBezTo>
                  <a:pt x="421" y="432"/>
                  <a:pt x="401" y="437"/>
                  <a:pt x="381" y="440"/>
                </a:cubicBezTo>
                <a:cubicBezTo>
                  <a:pt x="360" y="442"/>
                  <a:pt x="340" y="444"/>
                  <a:pt x="319" y="444"/>
                </a:cubicBezTo>
                <a:cubicBezTo>
                  <a:pt x="298" y="444"/>
                  <a:pt x="277" y="442"/>
                  <a:pt x="257" y="440"/>
                </a:cubicBezTo>
                <a:cubicBezTo>
                  <a:pt x="236" y="437"/>
                  <a:pt x="216" y="432"/>
                  <a:pt x="197" y="427"/>
                </a:cubicBezTo>
                <a:cubicBezTo>
                  <a:pt x="178" y="421"/>
                  <a:pt x="160" y="415"/>
                  <a:pt x="142" y="406"/>
                </a:cubicBezTo>
                <a:cubicBezTo>
                  <a:pt x="125" y="398"/>
                  <a:pt x="109" y="389"/>
                  <a:pt x="94" y="379"/>
                </a:cubicBezTo>
                <a:cubicBezTo>
                  <a:pt x="78" y="369"/>
                  <a:pt x="65" y="357"/>
                  <a:pt x="54" y="345"/>
                </a:cubicBezTo>
                <a:cubicBezTo>
                  <a:pt x="42" y="333"/>
                  <a:pt x="32" y="320"/>
                  <a:pt x="24" y="306"/>
                </a:cubicBezTo>
                <a:cubicBezTo>
                  <a:pt x="16" y="293"/>
                  <a:pt x="10" y="279"/>
                  <a:pt x="6" y="264"/>
                </a:cubicBezTo>
                <a:cubicBezTo>
                  <a:pt x="2" y="250"/>
                  <a:pt x="0" y="236"/>
                  <a:pt x="0" y="221"/>
                </a:cubicBezTo>
                <a:cubicBezTo>
                  <a:pt x="0" y="207"/>
                  <a:pt x="2" y="192"/>
                  <a:pt x="6" y="178"/>
                </a:cubicBezTo>
                <a:cubicBezTo>
                  <a:pt x="10" y="164"/>
                  <a:pt x="16" y="150"/>
                  <a:pt x="24" y="136"/>
                </a:cubicBezTo>
                <a:cubicBezTo>
                  <a:pt x="32" y="123"/>
                  <a:pt x="42" y="110"/>
                  <a:pt x="54" y="98"/>
                </a:cubicBezTo>
                <a:cubicBezTo>
                  <a:pt x="65" y="86"/>
                  <a:pt x="78" y="75"/>
                  <a:pt x="94" y="65"/>
                </a:cubicBezTo>
                <a:cubicBezTo>
                  <a:pt x="109" y="54"/>
                  <a:pt x="125" y="45"/>
                  <a:pt x="142" y="37"/>
                </a:cubicBezTo>
                <a:cubicBezTo>
                  <a:pt x="160" y="29"/>
                  <a:pt x="178" y="22"/>
                  <a:pt x="197" y="17"/>
                </a:cubicBezTo>
                <a:cubicBezTo>
                  <a:pt x="216" y="11"/>
                  <a:pt x="236" y="7"/>
                  <a:pt x="257" y="4"/>
                </a:cubicBezTo>
                <a:cubicBezTo>
                  <a:pt x="277" y="1"/>
                  <a:pt x="298" y="0"/>
                  <a:pt x="319" y="0"/>
                </a:cubicBezTo>
                <a:cubicBezTo>
                  <a:pt x="340" y="0"/>
                  <a:pt x="360" y="1"/>
                  <a:pt x="381" y="4"/>
                </a:cubicBezTo>
                <a:cubicBezTo>
                  <a:pt x="401" y="7"/>
                  <a:pt x="421" y="11"/>
                  <a:pt x="440" y="17"/>
                </a:cubicBezTo>
                <a:cubicBezTo>
                  <a:pt x="459" y="22"/>
                  <a:pt x="478" y="29"/>
                  <a:pt x="495" y="37"/>
                </a:cubicBezTo>
                <a:cubicBezTo>
                  <a:pt x="512" y="45"/>
                  <a:pt x="528" y="54"/>
                  <a:pt x="543" y="65"/>
                </a:cubicBezTo>
                <a:cubicBezTo>
                  <a:pt x="558" y="75"/>
                  <a:pt x="571" y="86"/>
                  <a:pt x="583" y="98"/>
                </a:cubicBezTo>
                <a:cubicBezTo>
                  <a:pt x="594" y="110"/>
                  <a:pt x="604" y="123"/>
                  <a:pt x="612" y="136"/>
                </a:cubicBezTo>
                <a:cubicBezTo>
                  <a:pt x="620" y="150"/>
                  <a:pt x="626" y="164"/>
                  <a:pt x="630" y="178"/>
                </a:cubicBezTo>
                <a:cubicBezTo>
                  <a:pt x="634" y="192"/>
                  <a:pt x="636" y="207"/>
                  <a:pt x="636" y="221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0" name="文本框 1229"/>
          <p:cNvSpPr txBox="1"/>
          <p:nvPr/>
        </p:nvSpPr>
        <p:spPr>
          <a:xfrm>
            <a:off x="6591240" y="3384360"/>
            <a:ext cx="1422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花瓣特征⽐花萼特征更具判别⼒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1" name="文本框 1230"/>
          <p:cNvSpPr txBox="1"/>
          <p:nvPr/>
        </p:nvSpPr>
        <p:spPr>
          <a:xfrm>
            <a:off x="6303960" y="3637080"/>
            <a:ext cx="171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2" name="文本框 1231"/>
          <p:cNvSpPr txBox="1"/>
          <p:nvPr/>
        </p:nvSpPr>
        <p:spPr>
          <a:xfrm>
            <a:off x="6591240" y="3623760"/>
            <a:ext cx="1320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适当特征组合可提升模型性能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3" name="任意多边形 1232"/>
          <p:cNvSpPr/>
          <p:nvPr/>
        </p:nvSpPr>
        <p:spPr>
          <a:xfrm>
            <a:off x="6248160" y="3873960"/>
            <a:ext cx="228960" cy="159840"/>
          </a:xfrm>
          <a:custGeom>
            <a:avLst/>
            <a:gdLst/>
            <a:ahLst/>
            <a:cxnLst/>
            <a:rect l="0" t="0" r="r" b="b"/>
            <a:pathLst>
              <a:path w="636" h="444">
                <a:moveTo>
                  <a:pt x="636" y="223"/>
                </a:moveTo>
                <a:cubicBezTo>
                  <a:pt x="636" y="237"/>
                  <a:pt x="634" y="252"/>
                  <a:pt x="630" y="266"/>
                </a:cubicBezTo>
                <a:cubicBezTo>
                  <a:pt x="626" y="280"/>
                  <a:pt x="620" y="294"/>
                  <a:pt x="612" y="308"/>
                </a:cubicBezTo>
                <a:cubicBezTo>
                  <a:pt x="604" y="321"/>
                  <a:pt x="594" y="334"/>
                  <a:pt x="583" y="346"/>
                </a:cubicBezTo>
                <a:cubicBezTo>
                  <a:pt x="571" y="358"/>
                  <a:pt x="558" y="369"/>
                  <a:pt x="543" y="379"/>
                </a:cubicBezTo>
                <a:cubicBezTo>
                  <a:pt x="528" y="390"/>
                  <a:pt x="512" y="399"/>
                  <a:pt x="495" y="407"/>
                </a:cubicBezTo>
                <a:cubicBezTo>
                  <a:pt x="478" y="415"/>
                  <a:pt x="459" y="422"/>
                  <a:pt x="440" y="427"/>
                </a:cubicBezTo>
                <a:cubicBezTo>
                  <a:pt x="421" y="433"/>
                  <a:pt x="401" y="437"/>
                  <a:pt x="381" y="440"/>
                </a:cubicBezTo>
                <a:cubicBezTo>
                  <a:pt x="360" y="443"/>
                  <a:pt x="340" y="444"/>
                  <a:pt x="319" y="444"/>
                </a:cubicBezTo>
                <a:cubicBezTo>
                  <a:pt x="298" y="444"/>
                  <a:pt x="277" y="443"/>
                  <a:pt x="257" y="440"/>
                </a:cubicBezTo>
                <a:cubicBezTo>
                  <a:pt x="236" y="437"/>
                  <a:pt x="216" y="433"/>
                  <a:pt x="197" y="427"/>
                </a:cubicBezTo>
                <a:cubicBezTo>
                  <a:pt x="178" y="422"/>
                  <a:pt x="160" y="415"/>
                  <a:pt x="142" y="407"/>
                </a:cubicBezTo>
                <a:cubicBezTo>
                  <a:pt x="125" y="399"/>
                  <a:pt x="109" y="390"/>
                  <a:pt x="94" y="379"/>
                </a:cubicBezTo>
                <a:cubicBezTo>
                  <a:pt x="78" y="369"/>
                  <a:pt x="65" y="358"/>
                  <a:pt x="54" y="346"/>
                </a:cubicBezTo>
                <a:cubicBezTo>
                  <a:pt x="42" y="334"/>
                  <a:pt x="32" y="321"/>
                  <a:pt x="24" y="308"/>
                </a:cubicBezTo>
                <a:cubicBezTo>
                  <a:pt x="16" y="294"/>
                  <a:pt x="10" y="280"/>
                  <a:pt x="6" y="266"/>
                </a:cubicBezTo>
                <a:cubicBezTo>
                  <a:pt x="2" y="252"/>
                  <a:pt x="0" y="237"/>
                  <a:pt x="0" y="223"/>
                </a:cubicBezTo>
                <a:cubicBezTo>
                  <a:pt x="0" y="208"/>
                  <a:pt x="2" y="194"/>
                  <a:pt x="6" y="180"/>
                </a:cubicBezTo>
                <a:cubicBezTo>
                  <a:pt x="10" y="165"/>
                  <a:pt x="16" y="151"/>
                  <a:pt x="24" y="138"/>
                </a:cubicBezTo>
                <a:cubicBezTo>
                  <a:pt x="32" y="125"/>
                  <a:pt x="42" y="112"/>
                  <a:pt x="54" y="100"/>
                </a:cubicBezTo>
                <a:cubicBezTo>
                  <a:pt x="65" y="87"/>
                  <a:pt x="78" y="75"/>
                  <a:pt x="94" y="65"/>
                </a:cubicBezTo>
                <a:cubicBezTo>
                  <a:pt x="109" y="55"/>
                  <a:pt x="125" y="46"/>
                  <a:pt x="142" y="38"/>
                </a:cubicBezTo>
                <a:cubicBezTo>
                  <a:pt x="160" y="30"/>
                  <a:pt x="178" y="23"/>
                  <a:pt x="197" y="17"/>
                </a:cubicBezTo>
                <a:cubicBezTo>
                  <a:pt x="216" y="12"/>
                  <a:pt x="236" y="7"/>
                  <a:pt x="257" y="5"/>
                </a:cubicBezTo>
                <a:cubicBezTo>
                  <a:pt x="277" y="2"/>
                  <a:pt x="298" y="0"/>
                  <a:pt x="319" y="0"/>
                </a:cubicBezTo>
                <a:cubicBezTo>
                  <a:pt x="340" y="0"/>
                  <a:pt x="360" y="2"/>
                  <a:pt x="381" y="5"/>
                </a:cubicBezTo>
                <a:cubicBezTo>
                  <a:pt x="401" y="7"/>
                  <a:pt x="421" y="12"/>
                  <a:pt x="440" y="17"/>
                </a:cubicBezTo>
                <a:cubicBezTo>
                  <a:pt x="459" y="23"/>
                  <a:pt x="478" y="30"/>
                  <a:pt x="495" y="38"/>
                </a:cubicBezTo>
                <a:cubicBezTo>
                  <a:pt x="512" y="46"/>
                  <a:pt x="528" y="55"/>
                  <a:pt x="543" y="65"/>
                </a:cubicBezTo>
                <a:cubicBezTo>
                  <a:pt x="558" y="75"/>
                  <a:pt x="571" y="87"/>
                  <a:pt x="583" y="100"/>
                </a:cubicBezTo>
                <a:cubicBezTo>
                  <a:pt x="594" y="112"/>
                  <a:pt x="604" y="125"/>
                  <a:pt x="612" y="138"/>
                </a:cubicBezTo>
                <a:cubicBezTo>
                  <a:pt x="620" y="151"/>
                  <a:pt x="626" y="165"/>
                  <a:pt x="630" y="180"/>
                </a:cubicBezTo>
                <a:cubicBezTo>
                  <a:pt x="634" y="194"/>
                  <a:pt x="636" y="208"/>
                  <a:pt x="636" y="223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4" name="文本框 1233"/>
          <p:cNvSpPr txBox="1"/>
          <p:nvPr/>
        </p:nvSpPr>
        <p:spPr>
          <a:xfrm>
            <a:off x="8270530" y="3628080"/>
            <a:ext cx="3672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2-3%</a:t>
            </a:r>
            <a:endParaRPr lang="en-US" sz="94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5" name="文本框 1234"/>
          <p:cNvSpPr txBox="1"/>
          <p:nvPr/>
        </p:nvSpPr>
        <p:spPr>
          <a:xfrm>
            <a:off x="6303960" y="3876120"/>
            <a:ext cx="171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6" name="文本框 1235"/>
          <p:cNvSpPr txBox="1"/>
          <p:nvPr/>
        </p:nvSpPr>
        <p:spPr>
          <a:xfrm>
            <a:off x="6591240" y="3862800"/>
            <a:ext cx="7113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特征选择可减少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7" name="文本框 1236"/>
          <p:cNvSpPr txBox="1"/>
          <p:nvPr/>
        </p:nvSpPr>
        <p:spPr>
          <a:xfrm>
            <a:off x="7493676" y="3867480"/>
            <a:ext cx="5364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20-30%</a:t>
            </a:r>
            <a:endParaRPr lang="en-US" sz="94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9" name="文本框 1238"/>
          <p:cNvSpPr txBox="1"/>
          <p:nvPr/>
        </p:nvSpPr>
        <p:spPr>
          <a:xfrm>
            <a:off x="7898136" y="3862800"/>
            <a:ext cx="406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训练时间</a:t>
            </a:r>
            <a:endParaRPr lang="en-US" sz="94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45" y="1379525"/>
            <a:ext cx="1539495" cy="50469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094" y="1761416"/>
            <a:ext cx="2949604" cy="82488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938" y="3200519"/>
            <a:ext cx="1619472" cy="49355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1537" y="2969567"/>
            <a:ext cx="3190753" cy="107287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2964569-A7BF-9F9D-903D-ACAF1DAB8944}"/>
              </a:ext>
            </a:extLst>
          </p:cNvPr>
          <p:cNvSpPr txBox="1"/>
          <p:nvPr/>
        </p:nvSpPr>
        <p:spPr>
          <a:xfrm>
            <a:off x="10905272" y="17246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任意多边形 125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3" name="任意多边形 1252"/>
          <p:cNvSpPr/>
          <p:nvPr/>
        </p:nvSpPr>
        <p:spPr>
          <a:xfrm>
            <a:off x="152280" y="102240"/>
            <a:ext cx="11887560" cy="646560"/>
          </a:xfrm>
          <a:custGeom>
            <a:avLst/>
            <a:gdLst/>
            <a:ahLst/>
            <a:cxnLst/>
            <a:rect l="0" t="0" r="r" b="b"/>
            <a:pathLst>
              <a:path w="33021" h="1796">
                <a:moveTo>
                  <a:pt x="0" y="0"/>
                </a:moveTo>
                <a:lnTo>
                  <a:pt x="33021" y="0"/>
                </a:lnTo>
                <a:lnTo>
                  <a:pt x="33021" y="1796"/>
                </a:lnTo>
                <a:lnTo>
                  <a:pt x="0" y="1796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6" name="任意多边形 1255"/>
          <p:cNvSpPr/>
          <p:nvPr/>
        </p:nvSpPr>
        <p:spPr>
          <a:xfrm>
            <a:off x="609360" y="3719229"/>
            <a:ext cx="5181840" cy="2661840"/>
          </a:xfrm>
          <a:custGeom>
            <a:avLst/>
            <a:gdLst/>
            <a:ahLst/>
            <a:cxnLst/>
            <a:rect l="0" t="0" r="r" b="b"/>
            <a:pathLst>
              <a:path w="14394" h="7394">
                <a:moveTo>
                  <a:pt x="0" y="7252"/>
                </a:moveTo>
                <a:lnTo>
                  <a:pt x="0" y="142"/>
                </a:lnTo>
                <a:cubicBezTo>
                  <a:pt x="0" y="133"/>
                  <a:pt x="1" y="124"/>
                  <a:pt x="4" y="115"/>
                </a:cubicBezTo>
                <a:cubicBezTo>
                  <a:pt x="7" y="105"/>
                  <a:pt x="11" y="97"/>
                  <a:pt x="16" y="88"/>
                </a:cubicBezTo>
                <a:cubicBezTo>
                  <a:pt x="21" y="79"/>
                  <a:pt x="28" y="71"/>
                  <a:pt x="36" y="63"/>
                </a:cubicBezTo>
                <a:cubicBezTo>
                  <a:pt x="43" y="56"/>
                  <a:pt x="52" y="48"/>
                  <a:pt x="62" y="42"/>
                </a:cubicBezTo>
                <a:cubicBezTo>
                  <a:pt x="72" y="35"/>
                  <a:pt x="82" y="29"/>
                  <a:pt x="94" y="24"/>
                </a:cubicBezTo>
                <a:cubicBezTo>
                  <a:pt x="105" y="19"/>
                  <a:pt x="118" y="15"/>
                  <a:pt x="130" y="11"/>
                </a:cubicBezTo>
                <a:cubicBezTo>
                  <a:pt x="143" y="7"/>
                  <a:pt x="157" y="5"/>
                  <a:pt x="170" y="3"/>
                </a:cubicBezTo>
                <a:cubicBezTo>
                  <a:pt x="184" y="1"/>
                  <a:pt x="198" y="0"/>
                  <a:pt x="211" y="0"/>
                </a:cubicBezTo>
                <a:lnTo>
                  <a:pt x="14182" y="0"/>
                </a:lnTo>
                <a:cubicBezTo>
                  <a:pt x="14196" y="0"/>
                  <a:pt x="14210" y="1"/>
                  <a:pt x="14224" y="3"/>
                </a:cubicBezTo>
                <a:cubicBezTo>
                  <a:pt x="14237" y="5"/>
                  <a:pt x="14251" y="7"/>
                  <a:pt x="14263" y="11"/>
                </a:cubicBezTo>
                <a:cubicBezTo>
                  <a:pt x="14276" y="15"/>
                  <a:pt x="14289" y="19"/>
                  <a:pt x="14300" y="24"/>
                </a:cubicBezTo>
                <a:cubicBezTo>
                  <a:pt x="14312" y="29"/>
                  <a:pt x="14322" y="35"/>
                  <a:pt x="14332" y="42"/>
                </a:cubicBezTo>
                <a:cubicBezTo>
                  <a:pt x="14342" y="48"/>
                  <a:pt x="14351" y="56"/>
                  <a:pt x="14358" y="63"/>
                </a:cubicBezTo>
                <a:cubicBezTo>
                  <a:pt x="14366" y="71"/>
                  <a:pt x="14373" y="79"/>
                  <a:pt x="14378" y="88"/>
                </a:cubicBezTo>
                <a:cubicBezTo>
                  <a:pt x="14383" y="97"/>
                  <a:pt x="14387" y="105"/>
                  <a:pt x="14390" y="115"/>
                </a:cubicBezTo>
                <a:cubicBezTo>
                  <a:pt x="14393" y="124"/>
                  <a:pt x="14394" y="133"/>
                  <a:pt x="14394" y="142"/>
                </a:cubicBezTo>
                <a:lnTo>
                  <a:pt x="14394" y="7252"/>
                </a:lnTo>
                <a:cubicBezTo>
                  <a:pt x="14394" y="7261"/>
                  <a:pt x="14393" y="7270"/>
                  <a:pt x="14390" y="7279"/>
                </a:cubicBezTo>
                <a:cubicBezTo>
                  <a:pt x="14387" y="7288"/>
                  <a:pt x="14383" y="7297"/>
                  <a:pt x="14378" y="7306"/>
                </a:cubicBezTo>
                <a:cubicBezTo>
                  <a:pt x="14373" y="7315"/>
                  <a:pt x="14366" y="7323"/>
                  <a:pt x="14358" y="7331"/>
                </a:cubicBezTo>
                <a:cubicBezTo>
                  <a:pt x="14351" y="7338"/>
                  <a:pt x="14342" y="7345"/>
                  <a:pt x="14332" y="7352"/>
                </a:cubicBezTo>
                <a:cubicBezTo>
                  <a:pt x="14322" y="7359"/>
                  <a:pt x="14312" y="7365"/>
                  <a:pt x="14300" y="7370"/>
                </a:cubicBezTo>
                <a:cubicBezTo>
                  <a:pt x="14289" y="7375"/>
                  <a:pt x="14276" y="7379"/>
                  <a:pt x="14263" y="7383"/>
                </a:cubicBezTo>
                <a:cubicBezTo>
                  <a:pt x="14251" y="7386"/>
                  <a:pt x="14237" y="7389"/>
                  <a:pt x="14224" y="7391"/>
                </a:cubicBezTo>
                <a:cubicBezTo>
                  <a:pt x="14210" y="7393"/>
                  <a:pt x="14196" y="7394"/>
                  <a:pt x="14182" y="7394"/>
                </a:cubicBezTo>
                <a:lnTo>
                  <a:pt x="211" y="7394"/>
                </a:lnTo>
                <a:cubicBezTo>
                  <a:pt x="198" y="7394"/>
                  <a:pt x="184" y="7393"/>
                  <a:pt x="170" y="7391"/>
                </a:cubicBezTo>
                <a:cubicBezTo>
                  <a:pt x="157" y="7389"/>
                  <a:pt x="143" y="7386"/>
                  <a:pt x="130" y="7383"/>
                </a:cubicBezTo>
                <a:cubicBezTo>
                  <a:pt x="118" y="7379"/>
                  <a:pt x="105" y="7375"/>
                  <a:pt x="94" y="7370"/>
                </a:cubicBezTo>
                <a:cubicBezTo>
                  <a:pt x="82" y="7365"/>
                  <a:pt x="72" y="7359"/>
                  <a:pt x="62" y="7352"/>
                </a:cubicBezTo>
                <a:cubicBezTo>
                  <a:pt x="52" y="7345"/>
                  <a:pt x="43" y="7338"/>
                  <a:pt x="36" y="7331"/>
                </a:cubicBezTo>
                <a:cubicBezTo>
                  <a:pt x="28" y="7323"/>
                  <a:pt x="21" y="7315"/>
                  <a:pt x="16" y="7306"/>
                </a:cubicBezTo>
                <a:cubicBezTo>
                  <a:pt x="11" y="7297"/>
                  <a:pt x="7" y="7288"/>
                  <a:pt x="4" y="7279"/>
                </a:cubicBezTo>
                <a:cubicBezTo>
                  <a:pt x="1" y="7270"/>
                  <a:pt x="0" y="7261"/>
                  <a:pt x="0" y="7252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7" name="文本框 1256"/>
          <p:cNvSpPr txBox="1"/>
          <p:nvPr/>
        </p:nvSpPr>
        <p:spPr>
          <a:xfrm>
            <a:off x="609480" y="262440"/>
            <a:ext cx="311580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11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过拟合防治：正则化技术详解</a:t>
            </a:r>
            <a:endParaRPr lang="en-US" sz="21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8" name="文本框 1257"/>
          <p:cNvSpPr txBox="1"/>
          <p:nvPr/>
        </p:nvSpPr>
        <p:spPr>
          <a:xfrm>
            <a:off x="762120" y="1085040"/>
            <a:ext cx="2674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1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L1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9" name="文本框 1258"/>
          <p:cNvSpPr txBox="1"/>
          <p:nvPr/>
        </p:nvSpPr>
        <p:spPr>
          <a:xfrm>
            <a:off x="1028880" y="1079280"/>
            <a:ext cx="412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1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正则化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260" name="图片 1259"/>
          <p:cNvPicPr/>
          <p:nvPr/>
        </p:nvPicPr>
        <p:blipFill>
          <a:blip r:embed="rId2"/>
          <a:stretch>
            <a:fillRect/>
          </a:stretch>
        </p:blipFill>
        <p:spPr>
          <a:xfrm>
            <a:off x="1971720" y="1388160"/>
            <a:ext cx="2457000" cy="122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1" name="文本框 1260"/>
          <p:cNvSpPr txBox="1"/>
          <p:nvPr/>
        </p:nvSpPr>
        <p:spPr>
          <a:xfrm>
            <a:off x="1714680" y="1085040"/>
            <a:ext cx="7689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1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(Lasso)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65" name="文本框 1264"/>
          <p:cNvSpPr txBox="1"/>
          <p:nvPr/>
        </p:nvSpPr>
        <p:spPr>
          <a:xfrm>
            <a:off x="762120" y="2828202"/>
            <a:ext cx="15372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效果：产⽣稀疏解，⾃动特征选择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66" name="文本框 1265"/>
          <p:cNvSpPr txBox="1"/>
          <p:nvPr/>
        </p:nvSpPr>
        <p:spPr>
          <a:xfrm>
            <a:off x="762120" y="3052122"/>
            <a:ext cx="184428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⼏何解释：菱形约束域，解常出现在顶点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67" name="文本框 1266"/>
          <p:cNvSpPr txBox="1"/>
          <p:nvPr/>
        </p:nvSpPr>
        <p:spPr>
          <a:xfrm>
            <a:off x="762120" y="3848760"/>
            <a:ext cx="2674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1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L2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68" name="文本框 1267"/>
          <p:cNvSpPr txBox="1"/>
          <p:nvPr/>
        </p:nvSpPr>
        <p:spPr>
          <a:xfrm>
            <a:off x="1028880" y="3843000"/>
            <a:ext cx="412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1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正则化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269" name="图片 1268"/>
          <p:cNvPicPr/>
          <p:nvPr/>
        </p:nvPicPr>
        <p:blipFill>
          <a:blip r:embed="rId3"/>
          <a:stretch>
            <a:fillRect/>
          </a:stretch>
        </p:blipFill>
        <p:spPr>
          <a:xfrm>
            <a:off x="2219400" y="4151880"/>
            <a:ext cx="1961640" cy="122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0" name="文本框 1269"/>
          <p:cNvSpPr txBox="1"/>
          <p:nvPr/>
        </p:nvSpPr>
        <p:spPr>
          <a:xfrm>
            <a:off x="1714680" y="3848760"/>
            <a:ext cx="7815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1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(Ridge)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4" name="文本框 1273"/>
          <p:cNvSpPr txBox="1"/>
          <p:nvPr/>
        </p:nvSpPr>
        <p:spPr>
          <a:xfrm>
            <a:off x="762120" y="5700978"/>
            <a:ext cx="15372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效果：约束权重⼤⼩，防⽌极端值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5" name="任意多边形 1274"/>
          <p:cNvSpPr/>
          <p:nvPr/>
        </p:nvSpPr>
        <p:spPr>
          <a:xfrm>
            <a:off x="6095880" y="952920"/>
            <a:ext cx="5486760" cy="5112000"/>
          </a:xfrm>
          <a:custGeom>
            <a:avLst/>
            <a:gdLst/>
            <a:ahLst/>
            <a:cxnLst/>
            <a:rect l="0" t="0" r="r" b="b"/>
            <a:pathLst>
              <a:path w="15241" h="14200">
                <a:moveTo>
                  <a:pt x="0" y="14058"/>
                </a:moveTo>
                <a:lnTo>
                  <a:pt x="0" y="142"/>
                </a:lnTo>
                <a:cubicBezTo>
                  <a:pt x="0" y="133"/>
                  <a:pt x="1" y="124"/>
                  <a:pt x="4" y="115"/>
                </a:cubicBezTo>
                <a:cubicBezTo>
                  <a:pt x="7" y="106"/>
                  <a:pt x="11" y="97"/>
                  <a:pt x="16" y="88"/>
                </a:cubicBezTo>
                <a:cubicBezTo>
                  <a:pt x="21" y="79"/>
                  <a:pt x="28" y="71"/>
                  <a:pt x="36" y="63"/>
                </a:cubicBezTo>
                <a:cubicBezTo>
                  <a:pt x="43" y="56"/>
                  <a:pt x="52" y="49"/>
                  <a:pt x="62" y="42"/>
                </a:cubicBezTo>
                <a:cubicBezTo>
                  <a:pt x="72" y="35"/>
                  <a:pt x="82" y="29"/>
                  <a:pt x="94" y="24"/>
                </a:cubicBezTo>
                <a:cubicBezTo>
                  <a:pt x="105" y="19"/>
                  <a:pt x="118" y="15"/>
                  <a:pt x="130" y="11"/>
                </a:cubicBezTo>
                <a:cubicBezTo>
                  <a:pt x="143" y="8"/>
                  <a:pt x="157" y="5"/>
                  <a:pt x="170" y="3"/>
                </a:cubicBezTo>
                <a:cubicBezTo>
                  <a:pt x="184" y="1"/>
                  <a:pt x="198" y="0"/>
                  <a:pt x="211" y="0"/>
                </a:cubicBezTo>
                <a:lnTo>
                  <a:pt x="15029" y="0"/>
                </a:lnTo>
                <a:cubicBezTo>
                  <a:pt x="15043" y="0"/>
                  <a:pt x="15057" y="1"/>
                  <a:pt x="15070" y="3"/>
                </a:cubicBezTo>
                <a:cubicBezTo>
                  <a:pt x="15084" y="5"/>
                  <a:pt x="15097" y="8"/>
                  <a:pt x="15110" y="11"/>
                </a:cubicBezTo>
                <a:cubicBezTo>
                  <a:pt x="15123" y="15"/>
                  <a:pt x="15135" y="19"/>
                  <a:pt x="15147" y="24"/>
                </a:cubicBezTo>
                <a:cubicBezTo>
                  <a:pt x="15158" y="29"/>
                  <a:pt x="15169" y="35"/>
                  <a:pt x="15179" y="42"/>
                </a:cubicBezTo>
                <a:cubicBezTo>
                  <a:pt x="15189" y="49"/>
                  <a:pt x="15197" y="56"/>
                  <a:pt x="15205" y="63"/>
                </a:cubicBezTo>
                <a:cubicBezTo>
                  <a:pt x="15213" y="71"/>
                  <a:pt x="15219" y="79"/>
                  <a:pt x="15225" y="88"/>
                </a:cubicBezTo>
                <a:cubicBezTo>
                  <a:pt x="15230" y="97"/>
                  <a:pt x="15234" y="106"/>
                  <a:pt x="15237" y="115"/>
                </a:cubicBezTo>
                <a:cubicBezTo>
                  <a:pt x="15239" y="124"/>
                  <a:pt x="15241" y="133"/>
                  <a:pt x="15241" y="142"/>
                </a:cubicBezTo>
                <a:lnTo>
                  <a:pt x="15241" y="14058"/>
                </a:lnTo>
                <a:cubicBezTo>
                  <a:pt x="15241" y="14067"/>
                  <a:pt x="15239" y="14076"/>
                  <a:pt x="15237" y="14086"/>
                </a:cubicBezTo>
                <a:cubicBezTo>
                  <a:pt x="15234" y="14095"/>
                  <a:pt x="15230" y="14104"/>
                  <a:pt x="15225" y="14112"/>
                </a:cubicBezTo>
                <a:cubicBezTo>
                  <a:pt x="15219" y="14121"/>
                  <a:pt x="15213" y="14129"/>
                  <a:pt x="15205" y="14137"/>
                </a:cubicBezTo>
                <a:cubicBezTo>
                  <a:pt x="15197" y="14145"/>
                  <a:pt x="15189" y="14152"/>
                  <a:pt x="15179" y="14158"/>
                </a:cubicBezTo>
                <a:cubicBezTo>
                  <a:pt x="15169" y="14165"/>
                  <a:pt x="15158" y="14171"/>
                  <a:pt x="15147" y="14176"/>
                </a:cubicBezTo>
                <a:cubicBezTo>
                  <a:pt x="15135" y="14181"/>
                  <a:pt x="15123" y="14186"/>
                  <a:pt x="15110" y="14189"/>
                </a:cubicBezTo>
                <a:cubicBezTo>
                  <a:pt x="15097" y="14193"/>
                  <a:pt x="15084" y="14195"/>
                  <a:pt x="15070" y="14197"/>
                </a:cubicBezTo>
                <a:cubicBezTo>
                  <a:pt x="15057" y="14199"/>
                  <a:pt x="15043" y="14200"/>
                  <a:pt x="15029" y="14200"/>
                </a:cubicBezTo>
                <a:lnTo>
                  <a:pt x="211" y="14200"/>
                </a:lnTo>
                <a:cubicBezTo>
                  <a:pt x="198" y="14200"/>
                  <a:pt x="184" y="14199"/>
                  <a:pt x="170" y="14197"/>
                </a:cubicBezTo>
                <a:cubicBezTo>
                  <a:pt x="157" y="14195"/>
                  <a:pt x="143" y="14193"/>
                  <a:pt x="130" y="14189"/>
                </a:cubicBezTo>
                <a:cubicBezTo>
                  <a:pt x="118" y="14186"/>
                  <a:pt x="105" y="14181"/>
                  <a:pt x="94" y="14176"/>
                </a:cubicBezTo>
                <a:cubicBezTo>
                  <a:pt x="82" y="14171"/>
                  <a:pt x="72" y="14165"/>
                  <a:pt x="62" y="14158"/>
                </a:cubicBezTo>
                <a:cubicBezTo>
                  <a:pt x="52" y="14152"/>
                  <a:pt x="43" y="14145"/>
                  <a:pt x="36" y="14137"/>
                </a:cubicBezTo>
                <a:cubicBezTo>
                  <a:pt x="28" y="14129"/>
                  <a:pt x="21" y="14121"/>
                  <a:pt x="16" y="14112"/>
                </a:cubicBezTo>
                <a:cubicBezTo>
                  <a:pt x="11" y="14104"/>
                  <a:pt x="7" y="14095"/>
                  <a:pt x="4" y="14086"/>
                </a:cubicBezTo>
                <a:cubicBezTo>
                  <a:pt x="1" y="14076"/>
                  <a:pt x="0" y="14067"/>
                  <a:pt x="0" y="14058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6" name="任意多边形 1275"/>
          <p:cNvSpPr/>
          <p:nvPr/>
        </p:nvSpPr>
        <p:spPr>
          <a:xfrm>
            <a:off x="6248160" y="1631160"/>
            <a:ext cx="5181840" cy="1382040"/>
          </a:xfrm>
          <a:custGeom>
            <a:avLst/>
            <a:gdLst/>
            <a:ahLst/>
            <a:cxnLst/>
            <a:rect l="0" t="0" r="r" b="b"/>
            <a:pathLst>
              <a:path w="14394" h="3839">
                <a:moveTo>
                  <a:pt x="0" y="3697"/>
                </a:moveTo>
                <a:lnTo>
                  <a:pt x="0" y="142"/>
                </a:lnTo>
                <a:cubicBezTo>
                  <a:pt x="0" y="133"/>
                  <a:pt x="2" y="124"/>
                  <a:pt x="4" y="114"/>
                </a:cubicBezTo>
                <a:cubicBezTo>
                  <a:pt x="7" y="105"/>
                  <a:pt x="11" y="96"/>
                  <a:pt x="16" y="88"/>
                </a:cubicBezTo>
                <a:cubicBezTo>
                  <a:pt x="22" y="79"/>
                  <a:pt x="28" y="71"/>
                  <a:pt x="36" y="63"/>
                </a:cubicBezTo>
                <a:cubicBezTo>
                  <a:pt x="44" y="55"/>
                  <a:pt x="52" y="48"/>
                  <a:pt x="62" y="42"/>
                </a:cubicBezTo>
                <a:cubicBezTo>
                  <a:pt x="72" y="35"/>
                  <a:pt x="83" y="29"/>
                  <a:pt x="94" y="24"/>
                </a:cubicBezTo>
                <a:cubicBezTo>
                  <a:pt x="106" y="19"/>
                  <a:pt x="118" y="14"/>
                  <a:pt x="131" y="11"/>
                </a:cubicBezTo>
                <a:cubicBezTo>
                  <a:pt x="144" y="7"/>
                  <a:pt x="157" y="5"/>
                  <a:pt x="171" y="3"/>
                </a:cubicBezTo>
                <a:cubicBezTo>
                  <a:pt x="184" y="1"/>
                  <a:pt x="198" y="0"/>
                  <a:pt x="212" y="0"/>
                </a:cubicBezTo>
                <a:lnTo>
                  <a:pt x="14183" y="0"/>
                </a:lnTo>
                <a:cubicBezTo>
                  <a:pt x="14197" y="0"/>
                  <a:pt x="14210" y="1"/>
                  <a:pt x="14224" y="3"/>
                </a:cubicBezTo>
                <a:cubicBezTo>
                  <a:pt x="14238" y="5"/>
                  <a:pt x="14251" y="7"/>
                  <a:pt x="14264" y="11"/>
                </a:cubicBezTo>
                <a:cubicBezTo>
                  <a:pt x="14277" y="14"/>
                  <a:pt x="14289" y="19"/>
                  <a:pt x="14300" y="24"/>
                </a:cubicBezTo>
                <a:cubicBezTo>
                  <a:pt x="14312" y="29"/>
                  <a:pt x="14323" y="35"/>
                  <a:pt x="14332" y="42"/>
                </a:cubicBezTo>
                <a:cubicBezTo>
                  <a:pt x="14342" y="48"/>
                  <a:pt x="14351" y="55"/>
                  <a:pt x="14359" y="63"/>
                </a:cubicBezTo>
                <a:cubicBezTo>
                  <a:pt x="14367" y="71"/>
                  <a:pt x="14373" y="79"/>
                  <a:pt x="14378" y="88"/>
                </a:cubicBezTo>
                <a:cubicBezTo>
                  <a:pt x="14384" y="96"/>
                  <a:pt x="14388" y="105"/>
                  <a:pt x="14390" y="114"/>
                </a:cubicBezTo>
                <a:cubicBezTo>
                  <a:pt x="14393" y="124"/>
                  <a:pt x="14394" y="133"/>
                  <a:pt x="14394" y="142"/>
                </a:cubicBezTo>
                <a:lnTo>
                  <a:pt x="14394" y="3697"/>
                </a:lnTo>
                <a:cubicBezTo>
                  <a:pt x="14394" y="3707"/>
                  <a:pt x="14393" y="3716"/>
                  <a:pt x="14390" y="3725"/>
                </a:cubicBezTo>
                <a:cubicBezTo>
                  <a:pt x="14388" y="3734"/>
                  <a:pt x="14384" y="3743"/>
                  <a:pt x="14378" y="3752"/>
                </a:cubicBezTo>
                <a:cubicBezTo>
                  <a:pt x="14373" y="3760"/>
                  <a:pt x="14367" y="3768"/>
                  <a:pt x="14359" y="3776"/>
                </a:cubicBezTo>
                <a:cubicBezTo>
                  <a:pt x="14351" y="3784"/>
                  <a:pt x="14342" y="3791"/>
                  <a:pt x="14332" y="3798"/>
                </a:cubicBezTo>
                <a:cubicBezTo>
                  <a:pt x="14323" y="3804"/>
                  <a:pt x="14312" y="3810"/>
                  <a:pt x="14300" y="3815"/>
                </a:cubicBezTo>
                <a:cubicBezTo>
                  <a:pt x="14289" y="3821"/>
                  <a:pt x="14277" y="3825"/>
                  <a:pt x="14264" y="3829"/>
                </a:cubicBezTo>
                <a:cubicBezTo>
                  <a:pt x="14251" y="3832"/>
                  <a:pt x="14238" y="3835"/>
                  <a:pt x="14224" y="3837"/>
                </a:cubicBezTo>
                <a:cubicBezTo>
                  <a:pt x="14210" y="3839"/>
                  <a:pt x="14197" y="3839"/>
                  <a:pt x="14183" y="3839"/>
                </a:cubicBezTo>
                <a:lnTo>
                  <a:pt x="212" y="3839"/>
                </a:lnTo>
                <a:cubicBezTo>
                  <a:pt x="198" y="3839"/>
                  <a:pt x="184" y="3839"/>
                  <a:pt x="171" y="3837"/>
                </a:cubicBezTo>
                <a:cubicBezTo>
                  <a:pt x="157" y="3835"/>
                  <a:pt x="144" y="3832"/>
                  <a:pt x="131" y="3829"/>
                </a:cubicBezTo>
                <a:cubicBezTo>
                  <a:pt x="118" y="3825"/>
                  <a:pt x="106" y="3821"/>
                  <a:pt x="94" y="3815"/>
                </a:cubicBezTo>
                <a:cubicBezTo>
                  <a:pt x="83" y="3810"/>
                  <a:pt x="72" y="3804"/>
                  <a:pt x="62" y="3798"/>
                </a:cubicBezTo>
                <a:cubicBezTo>
                  <a:pt x="52" y="3791"/>
                  <a:pt x="44" y="3784"/>
                  <a:pt x="36" y="3776"/>
                </a:cubicBezTo>
                <a:cubicBezTo>
                  <a:pt x="28" y="3768"/>
                  <a:pt x="22" y="3760"/>
                  <a:pt x="16" y="3752"/>
                </a:cubicBezTo>
                <a:cubicBezTo>
                  <a:pt x="11" y="3743"/>
                  <a:pt x="7" y="3734"/>
                  <a:pt x="4" y="3725"/>
                </a:cubicBezTo>
                <a:cubicBezTo>
                  <a:pt x="2" y="3716"/>
                  <a:pt x="0" y="3707"/>
                  <a:pt x="0" y="3697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7" name="任意多边形 1276"/>
          <p:cNvSpPr/>
          <p:nvPr/>
        </p:nvSpPr>
        <p:spPr>
          <a:xfrm>
            <a:off x="6248160" y="3409560"/>
            <a:ext cx="5181840" cy="1535760"/>
          </a:xfrm>
          <a:custGeom>
            <a:avLst/>
            <a:gdLst/>
            <a:ahLst/>
            <a:cxnLst/>
            <a:rect l="0" t="0" r="r" b="b"/>
            <a:pathLst>
              <a:path w="14394" h="4266">
                <a:moveTo>
                  <a:pt x="0" y="4124"/>
                </a:moveTo>
                <a:lnTo>
                  <a:pt x="0" y="142"/>
                </a:lnTo>
                <a:cubicBezTo>
                  <a:pt x="0" y="133"/>
                  <a:pt x="2" y="124"/>
                  <a:pt x="4" y="115"/>
                </a:cubicBezTo>
                <a:cubicBezTo>
                  <a:pt x="7" y="105"/>
                  <a:pt x="11" y="97"/>
                  <a:pt x="16" y="88"/>
                </a:cubicBezTo>
                <a:cubicBezTo>
                  <a:pt x="22" y="79"/>
                  <a:pt x="28" y="71"/>
                  <a:pt x="36" y="63"/>
                </a:cubicBezTo>
                <a:cubicBezTo>
                  <a:pt x="44" y="56"/>
                  <a:pt x="52" y="48"/>
                  <a:pt x="62" y="42"/>
                </a:cubicBezTo>
                <a:cubicBezTo>
                  <a:pt x="72" y="35"/>
                  <a:pt x="83" y="29"/>
                  <a:pt x="94" y="24"/>
                </a:cubicBezTo>
                <a:cubicBezTo>
                  <a:pt x="106" y="19"/>
                  <a:pt x="118" y="15"/>
                  <a:pt x="131" y="11"/>
                </a:cubicBezTo>
                <a:cubicBezTo>
                  <a:pt x="144" y="7"/>
                  <a:pt x="157" y="5"/>
                  <a:pt x="171" y="3"/>
                </a:cubicBezTo>
                <a:cubicBezTo>
                  <a:pt x="184" y="1"/>
                  <a:pt x="198" y="0"/>
                  <a:pt x="212" y="0"/>
                </a:cubicBezTo>
                <a:lnTo>
                  <a:pt x="14183" y="0"/>
                </a:lnTo>
                <a:cubicBezTo>
                  <a:pt x="14197" y="0"/>
                  <a:pt x="14210" y="1"/>
                  <a:pt x="14224" y="3"/>
                </a:cubicBezTo>
                <a:cubicBezTo>
                  <a:pt x="14238" y="5"/>
                  <a:pt x="14251" y="7"/>
                  <a:pt x="14264" y="11"/>
                </a:cubicBezTo>
                <a:cubicBezTo>
                  <a:pt x="14277" y="15"/>
                  <a:pt x="14289" y="19"/>
                  <a:pt x="14300" y="24"/>
                </a:cubicBezTo>
                <a:cubicBezTo>
                  <a:pt x="14312" y="29"/>
                  <a:pt x="14323" y="35"/>
                  <a:pt x="14332" y="42"/>
                </a:cubicBezTo>
                <a:cubicBezTo>
                  <a:pt x="14342" y="48"/>
                  <a:pt x="14351" y="56"/>
                  <a:pt x="14359" y="63"/>
                </a:cubicBezTo>
                <a:cubicBezTo>
                  <a:pt x="14367" y="71"/>
                  <a:pt x="14373" y="79"/>
                  <a:pt x="14378" y="88"/>
                </a:cubicBezTo>
                <a:cubicBezTo>
                  <a:pt x="14384" y="97"/>
                  <a:pt x="14388" y="105"/>
                  <a:pt x="14390" y="115"/>
                </a:cubicBezTo>
                <a:cubicBezTo>
                  <a:pt x="14393" y="124"/>
                  <a:pt x="14394" y="133"/>
                  <a:pt x="14394" y="142"/>
                </a:cubicBezTo>
                <a:lnTo>
                  <a:pt x="14394" y="4124"/>
                </a:lnTo>
                <a:cubicBezTo>
                  <a:pt x="14394" y="4133"/>
                  <a:pt x="14393" y="4143"/>
                  <a:pt x="14390" y="4152"/>
                </a:cubicBezTo>
                <a:cubicBezTo>
                  <a:pt x="14388" y="4161"/>
                  <a:pt x="14384" y="4170"/>
                  <a:pt x="14378" y="4178"/>
                </a:cubicBezTo>
                <a:cubicBezTo>
                  <a:pt x="14373" y="4187"/>
                  <a:pt x="14367" y="4195"/>
                  <a:pt x="14359" y="4203"/>
                </a:cubicBezTo>
                <a:cubicBezTo>
                  <a:pt x="14351" y="4211"/>
                  <a:pt x="14342" y="4218"/>
                  <a:pt x="14332" y="4224"/>
                </a:cubicBezTo>
                <a:cubicBezTo>
                  <a:pt x="14323" y="4231"/>
                  <a:pt x="14312" y="4237"/>
                  <a:pt x="14300" y="4242"/>
                </a:cubicBezTo>
                <a:cubicBezTo>
                  <a:pt x="14289" y="4247"/>
                  <a:pt x="14277" y="4252"/>
                  <a:pt x="14264" y="4255"/>
                </a:cubicBezTo>
                <a:cubicBezTo>
                  <a:pt x="14251" y="4259"/>
                  <a:pt x="14238" y="4262"/>
                  <a:pt x="14224" y="4263"/>
                </a:cubicBezTo>
                <a:cubicBezTo>
                  <a:pt x="14210" y="4265"/>
                  <a:pt x="14197" y="4266"/>
                  <a:pt x="14183" y="4266"/>
                </a:cubicBezTo>
                <a:lnTo>
                  <a:pt x="212" y="4266"/>
                </a:lnTo>
                <a:cubicBezTo>
                  <a:pt x="198" y="4266"/>
                  <a:pt x="184" y="4265"/>
                  <a:pt x="171" y="4263"/>
                </a:cubicBezTo>
                <a:cubicBezTo>
                  <a:pt x="157" y="4262"/>
                  <a:pt x="144" y="4259"/>
                  <a:pt x="131" y="4255"/>
                </a:cubicBezTo>
                <a:cubicBezTo>
                  <a:pt x="118" y="4252"/>
                  <a:pt x="106" y="4247"/>
                  <a:pt x="94" y="4242"/>
                </a:cubicBezTo>
                <a:cubicBezTo>
                  <a:pt x="83" y="4237"/>
                  <a:pt x="72" y="4231"/>
                  <a:pt x="62" y="4224"/>
                </a:cubicBezTo>
                <a:cubicBezTo>
                  <a:pt x="52" y="4218"/>
                  <a:pt x="44" y="4211"/>
                  <a:pt x="36" y="4203"/>
                </a:cubicBezTo>
                <a:cubicBezTo>
                  <a:pt x="28" y="4195"/>
                  <a:pt x="22" y="4187"/>
                  <a:pt x="16" y="4178"/>
                </a:cubicBezTo>
                <a:cubicBezTo>
                  <a:pt x="11" y="4170"/>
                  <a:pt x="7" y="4161"/>
                  <a:pt x="4" y="4152"/>
                </a:cubicBezTo>
                <a:cubicBezTo>
                  <a:pt x="2" y="4143"/>
                  <a:pt x="0" y="4133"/>
                  <a:pt x="0" y="4124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8" name="文本框 1277"/>
          <p:cNvSpPr txBox="1"/>
          <p:nvPr/>
        </p:nvSpPr>
        <p:spPr>
          <a:xfrm>
            <a:off x="762120" y="5924898"/>
            <a:ext cx="15372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⼏何解释：圆形约束域，解更平滑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9" name="文本框 1278"/>
          <p:cNvSpPr txBox="1"/>
          <p:nvPr/>
        </p:nvSpPr>
        <p:spPr>
          <a:xfrm>
            <a:off x="6248520" y="1085040"/>
            <a:ext cx="724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1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sklearn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0" name="文本框 1279"/>
          <p:cNvSpPr txBox="1"/>
          <p:nvPr/>
        </p:nvSpPr>
        <p:spPr>
          <a:xfrm>
            <a:off x="6972480" y="1079280"/>
            <a:ext cx="686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1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正则化应⽤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1" name="文本框 1280"/>
          <p:cNvSpPr txBox="1"/>
          <p:nvPr/>
        </p:nvSpPr>
        <p:spPr>
          <a:xfrm>
            <a:off x="6248520" y="1410120"/>
            <a:ext cx="80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线性回归正则化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2" name="文本框 1281"/>
          <p:cNvSpPr txBox="1"/>
          <p:nvPr/>
        </p:nvSpPr>
        <p:spPr>
          <a:xfrm>
            <a:off x="6400800" y="1750680"/>
            <a:ext cx="411624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from sklearn.linear_model import Ridge, Lasso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3" name="文本框 1282"/>
          <p:cNvSpPr txBox="1"/>
          <p:nvPr/>
        </p:nvSpPr>
        <p:spPr>
          <a:xfrm>
            <a:off x="6400800" y="1955520"/>
            <a:ext cx="3664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# L2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4" name="文本框 1283"/>
          <p:cNvSpPr txBox="1"/>
          <p:nvPr/>
        </p:nvSpPr>
        <p:spPr>
          <a:xfrm>
            <a:off x="6766560" y="1945800"/>
            <a:ext cx="27504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10" b="0" u="none" strike="noStrike">
                <a:solidFill>
                  <a:srgbClr val="86EFAC"/>
                </a:solidFill>
                <a:effectLst/>
                <a:uFillTx/>
                <a:latin typeface="NotoSansCJKsc"/>
                <a:ea typeface="NotoSansCJKsc"/>
              </a:rPr>
              <a:t>正则化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5" name="文本框 1284"/>
          <p:cNvSpPr txBox="1"/>
          <p:nvPr/>
        </p:nvSpPr>
        <p:spPr>
          <a:xfrm>
            <a:off x="7223760" y="1955520"/>
            <a:ext cx="6408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 (Ridge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6" name="文本框 1285"/>
          <p:cNvSpPr txBox="1"/>
          <p:nvPr/>
        </p:nvSpPr>
        <p:spPr>
          <a:xfrm>
            <a:off x="7863840" y="1945800"/>
            <a:ext cx="1836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10" b="0" u="none" strike="noStrike">
                <a:solidFill>
                  <a:srgbClr val="86EFAC"/>
                </a:solidFill>
                <a:effectLst/>
                <a:uFillTx/>
                <a:latin typeface="NotoSansCJKsc"/>
                <a:ea typeface="NotoSansCJKsc"/>
              </a:rPr>
              <a:t>回归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7" name="文本框 1286"/>
          <p:cNvSpPr txBox="1"/>
          <p:nvPr/>
        </p:nvSpPr>
        <p:spPr>
          <a:xfrm>
            <a:off x="8168760" y="1955520"/>
            <a:ext cx="1519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)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8" name="文本框 1287"/>
          <p:cNvSpPr txBox="1"/>
          <p:nvPr/>
        </p:nvSpPr>
        <p:spPr>
          <a:xfrm>
            <a:off x="6400800" y="2108880"/>
            <a:ext cx="292716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ridge = Ridge(alpha=0.5) # alpha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9" name="文本框 1288"/>
          <p:cNvSpPr txBox="1"/>
          <p:nvPr/>
        </p:nvSpPr>
        <p:spPr>
          <a:xfrm>
            <a:off x="9327240" y="2099160"/>
            <a:ext cx="5493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10" b="0" u="none" strike="noStrike">
                <a:solidFill>
                  <a:srgbClr val="86EFAC"/>
                </a:solidFill>
                <a:effectLst/>
                <a:uFillTx/>
                <a:latin typeface="NotoSansCJKsc"/>
                <a:ea typeface="NotoSansCJKsc"/>
              </a:rPr>
              <a:t>为正则化强度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0" name="文本框 1289"/>
          <p:cNvSpPr txBox="1"/>
          <p:nvPr/>
        </p:nvSpPr>
        <p:spPr>
          <a:xfrm>
            <a:off x="6400800" y="2262600"/>
            <a:ext cx="246996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ridge.fit(X_train, y_train)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1" name="文本框 1290"/>
          <p:cNvSpPr txBox="1"/>
          <p:nvPr/>
        </p:nvSpPr>
        <p:spPr>
          <a:xfrm>
            <a:off x="6400800" y="2467440"/>
            <a:ext cx="3664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# L1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2" name="文本框 1291"/>
          <p:cNvSpPr txBox="1"/>
          <p:nvPr/>
        </p:nvSpPr>
        <p:spPr>
          <a:xfrm>
            <a:off x="6766560" y="2457720"/>
            <a:ext cx="27504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10" b="0" u="none" strike="noStrike">
                <a:solidFill>
                  <a:srgbClr val="86EFAC"/>
                </a:solidFill>
                <a:effectLst/>
                <a:uFillTx/>
                <a:latin typeface="NotoSansCJKsc"/>
                <a:ea typeface="NotoSansCJKsc"/>
              </a:rPr>
              <a:t>正则化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3" name="文本框 1292"/>
          <p:cNvSpPr txBox="1"/>
          <p:nvPr/>
        </p:nvSpPr>
        <p:spPr>
          <a:xfrm>
            <a:off x="7223760" y="2467440"/>
            <a:ext cx="6408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 (Lasso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4" name="文本框 1293"/>
          <p:cNvSpPr txBox="1"/>
          <p:nvPr/>
        </p:nvSpPr>
        <p:spPr>
          <a:xfrm>
            <a:off x="7863840" y="2457720"/>
            <a:ext cx="1836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10" b="0" u="none" strike="noStrike">
                <a:solidFill>
                  <a:srgbClr val="86EFAC"/>
                </a:solidFill>
                <a:effectLst/>
                <a:uFillTx/>
                <a:latin typeface="NotoSansCJKsc"/>
                <a:ea typeface="NotoSansCJKsc"/>
              </a:rPr>
              <a:t>回归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5" name="文本框 1294"/>
          <p:cNvSpPr txBox="1"/>
          <p:nvPr/>
        </p:nvSpPr>
        <p:spPr>
          <a:xfrm>
            <a:off x="8168760" y="2467440"/>
            <a:ext cx="1519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)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6" name="文本框 1295"/>
          <p:cNvSpPr txBox="1"/>
          <p:nvPr/>
        </p:nvSpPr>
        <p:spPr>
          <a:xfrm>
            <a:off x="6400800" y="2620800"/>
            <a:ext cx="246996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lasso = Lasso(alpha=0.1) # 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7" name="文本框 1296"/>
          <p:cNvSpPr txBox="1"/>
          <p:nvPr/>
        </p:nvSpPr>
        <p:spPr>
          <a:xfrm>
            <a:off x="8870040" y="2611080"/>
            <a:ext cx="6408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10" b="0" u="none" strike="noStrike">
                <a:solidFill>
                  <a:srgbClr val="86EFAC"/>
                </a:solidFill>
                <a:effectLst/>
                <a:uFillTx/>
                <a:latin typeface="NotoSansCJKsc"/>
                <a:ea typeface="NotoSansCJKsc"/>
              </a:rPr>
              <a:t>可⾃动特征选择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8" name="文本框 1297"/>
          <p:cNvSpPr txBox="1"/>
          <p:nvPr/>
        </p:nvSpPr>
        <p:spPr>
          <a:xfrm>
            <a:off x="6400800" y="2774520"/>
            <a:ext cx="246996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lasso.fit(X_train, y_train)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9" name="文本框 1298"/>
          <p:cNvSpPr txBox="1"/>
          <p:nvPr/>
        </p:nvSpPr>
        <p:spPr>
          <a:xfrm>
            <a:off x="6248520" y="3188880"/>
            <a:ext cx="80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逻辑回归正则化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0" name="文本框 1299"/>
          <p:cNvSpPr txBox="1"/>
          <p:nvPr/>
        </p:nvSpPr>
        <p:spPr>
          <a:xfrm>
            <a:off x="6400800" y="3529080"/>
            <a:ext cx="46648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from sklearn.linear_model import LogisticRegression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1" name="文本框 1300"/>
          <p:cNvSpPr txBox="1"/>
          <p:nvPr/>
        </p:nvSpPr>
        <p:spPr>
          <a:xfrm>
            <a:off x="6400800" y="3733920"/>
            <a:ext cx="3664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# L2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2" name="文本框 1301"/>
          <p:cNvSpPr txBox="1"/>
          <p:nvPr/>
        </p:nvSpPr>
        <p:spPr>
          <a:xfrm>
            <a:off x="6766560" y="3724200"/>
            <a:ext cx="6408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10" b="0" u="none" strike="noStrike">
                <a:solidFill>
                  <a:srgbClr val="86EFAC"/>
                </a:solidFill>
                <a:effectLst/>
                <a:uFillTx/>
                <a:latin typeface="NotoSansCJKsc"/>
                <a:ea typeface="NotoSansCJKsc"/>
              </a:rPr>
              <a:t>正则化逻辑回归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3" name="文本框 1302"/>
          <p:cNvSpPr txBox="1"/>
          <p:nvPr/>
        </p:nvSpPr>
        <p:spPr>
          <a:xfrm>
            <a:off x="6400800" y="3887640"/>
            <a:ext cx="47563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log_reg_l2 = LogisticRegression(penalty='l2', C=1.0)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4" name="文本框 1303"/>
          <p:cNvSpPr txBox="1"/>
          <p:nvPr/>
        </p:nvSpPr>
        <p:spPr>
          <a:xfrm>
            <a:off x="6400800" y="4041000"/>
            <a:ext cx="292716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log_reg_l2.fit(X_train, y_train)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5" name="文本框 1304"/>
          <p:cNvSpPr txBox="1"/>
          <p:nvPr/>
        </p:nvSpPr>
        <p:spPr>
          <a:xfrm>
            <a:off x="6400800" y="4245840"/>
            <a:ext cx="3664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# L1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6" name="文本框 1305"/>
          <p:cNvSpPr txBox="1"/>
          <p:nvPr/>
        </p:nvSpPr>
        <p:spPr>
          <a:xfrm>
            <a:off x="6766560" y="4236120"/>
            <a:ext cx="6408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10" b="0" u="none" strike="noStrike">
                <a:solidFill>
                  <a:srgbClr val="86EFAC"/>
                </a:solidFill>
                <a:effectLst/>
                <a:uFillTx/>
                <a:latin typeface="NotoSansCJKsc"/>
                <a:ea typeface="NotoSansCJKsc"/>
              </a:rPr>
              <a:t>正则化逻辑回归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7" name="文本框 1306"/>
          <p:cNvSpPr txBox="1"/>
          <p:nvPr/>
        </p:nvSpPr>
        <p:spPr>
          <a:xfrm>
            <a:off x="6400800" y="4399200"/>
            <a:ext cx="411624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log_reg_l1 = LogisticRegression(penalty='l1',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8" name="文本框 1307"/>
          <p:cNvSpPr txBox="1"/>
          <p:nvPr/>
        </p:nvSpPr>
        <p:spPr>
          <a:xfrm>
            <a:off x="6400800" y="4552920"/>
            <a:ext cx="19213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solver='saga', C=0.5)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9" name="文本框 1308"/>
          <p:cNvSpPr txBox="1"/>
          <p:nvPr/>
        </p:nvSpPr>
        <p:spPr>
          <a:xfrm>
            <a:off x="6400800" y="4706280"/>
            <a:ext cx="292716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log_reg_l1.fit(X_train, y_train)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0" name="文本框 1309"/>
          <p:cNvSpPr txBox="1"/>
          <p:nvPr/>
        </p:nvSpPr>
        <p:spPr>
          <a:xfrm>
            <a:off x="6248520" y="5120640"/>
            <a:ext cx="80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正则化强度选择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1" name="文本框 1310"/>
          <p:cNvSpPr txBox="1"/>
          <p:nvPr/>
        </p:nvSpPr>
        <p:spPr>
          <a:xfrm>
            <a:off x="6248520" y="5360760"/>
            <a:ext cx="171000" cy="127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1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2" name="文本框 1311"/>
          <p:cNvSpPr txBox="1"/>
          <p:nvPr/>
        </p:nvSpPr>
        <p:spPr>
          <a:xfrm>
            <a:off x="6372360" y="5356440"/>
            <a:ext cx="3081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参数：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3" name="文本框 1312"/>
          <p:cNvSpPr txBox="1"/>
          <p:nvPr/>
        </p:nvSpPr>
        <p:spPr>
          <a:xfrm>
            <a:off x="6886440" y="5360760"/>
            <a:ext cx="493560" cy="127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sklearn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4" name="文本框 1313"/>
          <p:cNvSpPr txBox="1"/>
          <p:nvPr/>
        </p:nvSpPr>
        <p:spPr>
          <a:xfrm>
            <a:off x="7381800" y="5356440"/>
            <a:ext cx="1710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中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5" name="文本框 1314"/>
          <p:cNvSpPr txBox="1"/>
          <p:nvPr/>
        </p:nvSpPr>
        <p:spPr>
          <a:xfrm>
            <a:off x="7553160" y="5360760"/>
            <a:ext cx="433080" cy="127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C=1/α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6" name="文本框 1315"/>
          <p:cNvSpPr txBox="1"/>
          <p:nvPr/>
        </p:nvSpPr>
        <p:spPr>
          <a:xfrm>
            <a:off x="7987320" y="5356440"/>
            <a:ext cx="1710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，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7" name="文本框 1316"/>
          <p:cNvSpPr txBox="1"/>
          <p:nvPr/>
        </p:nvSpPr>
        <p:spPr>
          <a:xfrm>
            <a:off x="8158680" y="5360760"/>
            <a:ext cx="171000" cy="127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8" name="文本框 1317"/>
          <p:cNvSpPr txBox="1"/>
          <p:nvPr/>
        </p:nvSpPr>
        <p:spPr>
          <a:xfrm>
            <a:off x="8273160" y="5356440"/>
            <a:ext cx="7178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越⼩正则化越强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9" name="文本框 1318"/>
          <p:cNvSpPr txBox="1"/>
          <p:nvPr/>
        </p:nvSpPr>
        <p:spPr>
          <a:xfrm>
            <a:off x="6248520" y="5580360"/>
            <a:ext cx="7178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⽹格搜索：使⽤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20" name="文本框 1319"/>
          <p:cNvSpPr txBox="1"/>
          <p:nvPr/>
        </p:nvSpPr>
        <p:spPr>
          <a:xfrm>
            <a:off x="7448400" y="5584680"/>
            <a:ext cx="1015200" cy="127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GridSearchCV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21" name="文本框 1320"/>
          <p:cNvSpPr txBox="1"/>
          <p:nvPr/>
        </p:nvSpPr>
        <p:spPr>
          <a:xfrm>
            <a:off x="8467560" y="5580360"/>
            <a:ext cx="92268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寻找最优正则化强度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22" name="文本框 1321"/>
          <p:cNvSpPr txBox="1"/>
          <p:nvPr/>
        </p:nvSpPr>
        <p:spPr>
          <a:xfrm>
            <a:off x="6248520" y="5804280"/>
            <a:ext cx="7178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经验值：通常从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23" name="文本框 1322"/>
          <p:cNvSpPr txBox="1"/>
          <p:nvPr/>
        </p:nvSpPr>
        <p:spPr>
          <a:xfrm>
            <a:off x="7448400" y="5808600"/>
            <a:ext cx="1494360" cy="127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0.001, 0.01, 0.1, 1, 10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25" name="文本框 1324"/>
          <p:cNvSpPr txBox="1"/>
          <p:nvPr/>
        </p:nvSpPr>
        <p:spPr>
          <a:xfrm>
            <a:off x="8948880" y="5804280"/>
            <a:ext cx="3081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中搜索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D6B156-1128-1A5E-C744-7F836F9C7768}"/>
              </a:ext>
            </a:extLst>
          </p:cNvPr>
          <p:cNvSpPr txBox="1"/>
          <p:nvPr/>
        </p:nvSpPr>
        <p:spPr>
          <a:xfrm>
            <a:off x="10905272" y="17246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任意多边形 13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36" name="任意多边形 1335"/>
          <p:cNvSpPr/>
          <p:nvPr/>
        </p:nvSpPr>
        <p:spPr>
          <a:xfrm>
            <a:off x="152280" y="107640"/>
            <a:ext cx="11887560" cy="6750360"/>
          </a:xfrm>
          <a:custGeom>
            <a:avLst/>
            <a:gdLst/>
            <a:ahLst/>
            <a:cxnLst/>
            <a:rect l="0" t="0" r="r" b="b"/>
            <a:pathLst>
              <a:path w="33021" h="18751">
                <a:moveTo>
                  <a:pt x="0" y="0"/>
                </a:moveTo>
                <a:lnTo>
                  <a:pt x="33021" y="0"/>
                </a:lnTo>
                <a:lnTo>
                  <a:pt x="33021" y="18751"/>
                </a:lnTo>
                <a:lnTo>
                  <a:pt x="0" y="187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37" name="任意多边形 1336"/>
          <p:cNvSpPr/>
          <p:nvPr/>
        </p:nvSpPr>
        <p:spPr>
          <a:xfrm>
            <a:off x="152280" y="107640"/>
            <a:ext cx="11887560" cy="680760"/>
          </a:xfrm>
          <a:custGeom>
            <a:avLst/>
            <a:gdLst/>
            <a:ahLst/>
            <a:cxnLst/>
            <a:rect l="0" t="0" r="r" b="b"/>
            <a:pathLst>
              <a:path w="33021" h="1891">
                <a:moveTo>
                  <a:pt x="0" y="0"/>
                </a:moveTo>
                <a:lnTo>
                  <a:pt x="33021" y="0"/>
                </a:lnTo>
                <a:lnTo>
                  <a:pt x="33021" y="1891"/>
                </a:lnTo>
                <a:lnTo>
                  <a:pt x="0" y="1891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39" name="任意多边形 1338"/>
          <p:cNvSpPr/>
          <p:nvPr/>
        </p:nvSpPr>
        <p:spPr>
          <a:xfrm>
            <a:off x="628560" y="1394280"/>
            <a:ext cx="5162760" cy="1145520"/>
          </a:xfrm>
          <a:custGeom>
            <a:avLst/>
            <a:gdLst/>
            <a:ahLst/>
            <a:cxnLst/>
            <a:rect l="0" t="0" r="r" b="b"/>
            <a:pathLst>
              <a:path w="14341" h="3182">
                <a:moveTo>
                  <a:pt x="0" y="3182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3"/>
                </a:cubicBezTo>
                <a:cubicBezTo>
                  <a:pt x="14184" y="5"/>
                  <a:pt x="14198" y="8"/>
                  <a:pt x="14210" y="12"/>
                </a:cubicBezTo>
                <a:cubicBezTo>
                  <a:pt x="14223" y="15"/>
                  <a:pt x="14236" y="20"/>
                  <a:pt x="14247" y="25"/>
                </a:cubicBezTo>
                <a:cubicBezTo>
                  <a:pt x="14259" y="31"/>
                  <a:pt x="14269" y="37"/>
                  <a:pt x="14279" y="44"/>
                </a:cubicBezTo>
                <a:cubicBezTo>
                  <a:pt x="14289" y="51"/>
                  <a:pt x="14298" y="58"/>
                  <a:pt x="14305" y="67"/>
                </a:cubicBezTo>
                <a:cubicBezTo>
                  <a:pt x="14313" y="75"/>
                  <a:pt x="14320" y="83"/>
                  <a:pt x="14325" y="93"/>
                </a:cubicBezTo>
                <a:cubicBezTo>
                  <a:pt x="14330" y="102"/>
                  <a:pt x="14334" y="111"/>
                  <a:pt x="14337" y="121"/>
                </a:cubicBezTo>
                <a:cubicBezTo>
                  <a:pt x="14340" y="130"/>
                  <a:pt x="14341" y="140"/>
                  <a:pt x="14341" y="150"/>
                </a:cubicBezTo>
                <a:lnTo>
                  <a:pt x="14341" y="3033"/>
                </a:lnTo>
                <a:cubicBezTo>
                  <a:pt x="14341" y="3042"/>
                  <a:pt x="14340" y="3052"/>
                  <a:pt x="14337" y="3062"/>
                </a:cubicBezTo>
                <a:cubicBezTo>
                  <a:pt x="14334" y="3072"/>
                  <a:pt x="14330" y="3081"/>
                  <a:pt x="14325" y="3090"/>
                </a:cubicBezTo>
                <a:cubicBezTo>
                  <a:pt x="14320" y="3099"/>
                  <a:pt x="14313" y="3108"/>
                  <a:pt x="14305" y="3116"/>
                </a:cubicBezTo>
                <a:cubicBezTo>
                  <a:pt x="14298" y="3124"/>
                  <a:pt x="14289" y="3132"/>
                  <a:pt x="14279" y="3139"/>
                </a:cubicBezTo>
                <a:cubicBezTo>
                  <a:pt x="14269" y="3145"/>
                  <a:pt x="14259" y="3152"/>
                  <a:pt x="14247" y="3157"/>
                </a:cubicBezTo>
                <a:cubicBezTo>
                  <a:pt x="14236" y="3163"/>
                  <a:pt x="14223" y="3167"/>
                  <a:pt x="14210" y="3171"/>
                </a:cubicBezTo>
                <a:cubicBezTo>
                  <a:pt x="14198" y="3175"/>
                  <a:pt x="14184" y="3178"/>
                  <a:pt x="14171" y="3179"/>
                </a:cubicBezTo>
                <a:cubicBezTo>
                  <a:pt x="14157" y="3181"/>
                  <a:pt x="14143" y="3182"/>
                  <a:pt x="14129" y="3182"/>
                </a:cubicBezTo>
                <a:lnTo>
                  <a:pt x="0" y="3182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0" name="任意多边形 1339"/>
          <p:cNvSpPr/>
          <p:nvPr/>
        </p:nvSpPr>
        <p:spPr>
          <a:xfrm>
            <a:off x="609480" y="1394280"/>
            <a:ext cx="38520" cy="1145520"/>
          </a:xfrm>
          <a:custGeom>
            <a:avLst/>
            <a:gdLst/>
            <a:ahLst/>
            <a:cxnLst/>
            <a:rect l="0" t="0" r="r" b="b"/>
            <a:pathLst>
              <a:path w="107" h="3182">
                <a:moveTo>
                  <a:pt x="0" y="0"/>
                </a:moveTo>
                <a:lnTo>
                  <a:pt x="107" y="0"/>
                </a:lnTo>
                <a:lnTo>
                  <a:pt x="107" y="3182"/>
                </a:lnTo>
                <a:lnTo>
                  <a:pt x="0" y="318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1" name="任意多边形 1340"/>
          <p:cNvSpPr/>
          <p:nvPr/>
        </p:nvSpPr>
        <p:spPr>
          <a:xfrm>
            <a:off x="624366" y="2647440"/>
            <a:ext cx="5162760" cy="1145520"/>
          </a:xfrm>
          <a:custGeom>
            <a:avLst/>
            <a:gdLst/>
            <a:ahLst/>
            <a:cxnLst/>
            <a:rect l="0" t="0" r="r" b="b"/>
            <a:pathLst>
              <a:path w="14341" h="3182">
                <a:moveTo>
                  <a:pt x="0" y="3182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3"/>
                </a:cubicBezTo>
                <a:cubicBezTo>
                  <a:pt x="14184" y="5"/>
                  <a:pt x="14198" y="7"/>
                  <a:pt x="14210" y="11"/>
                </a:cubicBezTo>
                <a:cubicBezTo>
                  <a:pt x="14223" y="15"/>
                  <a:pt x="14236" y="20"/>
                  <a:pt x="14247" y="25"/>
                </a:cubicBezTo>
                <a:cubicBezTo>
                  <a:pt x="14259" y="30"/>
                  <a:pt x="14269" y="37"/>
                  <a:pt x="14279" y="44"/>
                </a:cubicBezTo>
                <a:cubicBezTo>
                  <a:pt x="14289" y="51"/>
                  <a:pt x="14298" y="58"/>
                  <a:pt x="14305" y="66"/>
                </a:cubicBezTo>
                <a:cubicBezTo>
                  <a:pt x="14313" y="74"/>
                  <a:pt x="14320" y="83"/>
                  <a:pt x="14325" y="92"/>
                </a:cubicBezTo>
                <a:cubicBezTo>
                  <a:pt x="14330" y="101"/>
                  <a:pt x="14334" y="111"/>
                  <a:pt x="14337" y="120"/>
                </a:cubicBezTo>
                <a:cubicBezTo>
                  <a:pt x="14340" y="130"/>
                  <a:pt x="14341" y="140"/>
                  <a:pt x="14341" y="149"/>
                </a:cubicBezTo>
                <a:lnTo>
                  <a:pt x="14341" y="3032"/>
                </a:lnTo>
                <a:cubicBezTo>
                  <a:pt x="14341" y="3042"/>
                  <a:pt x="14340" y="3052"/>
                  <a:pt x="14337" y="3062"/>
                </a:cubicBezTo>
                <a:cubicBezTo>
                  <a:pt x="14334" y="3071"/>
                  <a:pt x="14330" y="3081"/>
                  <a:pt x="14325" y="3090"/>
                </a:cubicBezTo>
                <a:cubicBezTo>
                  <a:pt x="14320" y="3099"/>
                  <a:pt x="14313" y="3107"/>
                  <a:pt x="14305" y="3115"/>
                </a:cubicBezTo>
                <a:cubicBezTo>
                  <a:pt x="14298" y="3124"/>
                  <a:pt x="14289" y="3131"/>
                  <a:pt x="14279" y="3138"/>
                </a:cubicBezTo>
                <a:cubicBezTo>
                  <a:pt x="14269" y="3145"/>
                  <a:pt x="14259" y="3151"/>
                  <a:pt x="14247" y="3157"/>
                </a:cubicBezTo>
                <a:cubicBezTo>
                  <a:pt x="14236" y="3162"/>
                  <a:pt x="14223" y="3167"/>
                  <a:pt x="14210" y="3171"/>
                </a:cubicBezTo>
                <a:cubicBezTo>
                  <a:pt x="14198" y="3174"/>
                  <a:pt x="14184" y="3177"/>
                  <a:pt x="14171" y="3179"/>
                </a:cubicBezTo>
                <a:cubicBezTo>
                  <a:pt x="14157" y="3181"/>
                  <a:pt x="14143" y="3182"/>
                  <a:pt x="14129" y="3182"/>
                </a:cubicBezTo>
                <a:lnTo>
                  <a:pt x="0" y="3182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2" name="任意多边形 1341"/>
          <p:cNvSpPr/>
          <p:nvPr/>
        </p:nvSpPr>
        <p:spPr>
          <a:xfrm>
            <a:off x="609480" y="2647440"/>
            <a:ext cx="38520" cy="1145520"/>
          </a:xfrm>
          <a:custGeom>
            <a:avLst/>
            <a:gdLst/>
            <a:ahLst/>
            <a:cxnLst/>
            <a:rect l="0" t="0" r="r" b="b"/>
            <a:pathLst>
              <a:path w="107" h="3182">
                <a:moveTo>
                  <a:pt x="0" y="0"/>
                </a:moveTo>
                <a:lnTo>
                  <a:pt x="107" y="0"/>
                </a:lnTo>
                <a:lnTo>
                  <a:pt x="107" y="3182"/>
                </a:lnTo>
                <a:lnTo>
                  <a:pt x="0" y="318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3" name="任意多边形 1342"/>
          <p:cNvSpPr/>
          <p:nvPr/>
        </p:nvSpPr>
        <p:spPr>
          <a:xfrm>
            <a:off x="637113" y="3895434"/>
            <a:ext cx="5162760" cy="1145880"/>
          </a:xfrm>
          <a:custGeom>
            <a:avLst/>
            <a:gdLst/>
            <a:ahLst/>
            <a:cxnLst/>
            <a:rect l="0" t="0" r="r" b="b"/>
            <a:pathLst>
              <a:path w="14341" h="3183">
                <a:moveTo>
                  <a:pt x="0" y="3183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3"/>
                </a:cubicBezTo>
                <a:cubicBezTo>
                  <a:pt x="14184" y="5"/>
                  <a:pt x="14198" y="8"/>
                  <a:pt x="14210" y="12"/>
                </a:cubicBezTo>
                <a:cubicBezTo>
                  <a:pt x="14223" y="16"/>
                  <a:pt x="14236" y="20"/>
                  <a:pt x="14247" y="26"/>
                </a:cubicBezTo>
                <a:cubicBezTo>
                  <a:pt x="14259" y="31"/>
                  <a:pt x="14269" y="37"/>
                  <a:pt x="14279" y="44"/>
                </a:cubicBezTo>
                <a:cubicBezTo>
                  <a:pt x="14289" y="51"/>
                  <a:pt x="14298" y="59"/>
                  <a:pt x="14305" y="67"/>
                </a:cubicBezTo>
                <a:cubicBezTo>
                  <a:pt x="14313" y="75"/>
                  <a:pt x="14320" y="84"/>
                  <a:pt x="14325" y="93"/>
                </a:cubicBezTo>
                <a:cubicBezTo>
                  <a:pt x="14330" y="102"/>
                  <a:pt x="14334" y="111"/>
                  <a:pt x="14337" y="121"/>
                </a:cubicBezTo>
                <a:cubicBezTo>
                  <a:pt x="14340" y="131"/>
                  <a:pt x="14341" y="140"/>
                  <a:pt x="14341" y="150"/>
                </a:cubicBezTo>
                <a:lnTo>
                  <a:pt x="14341" y="3033"/>
                </a:lnTo>
                <a:cubicBezTo>
                  <a:pt x="14341" y="3043"/>
                  <a:pt x="14340" y="3053"/>
                  <a:pt x="14337" y="3062"/>
                </a:cubicBezTo>
                <a:cubicBezTo>
                  <a:pt x="14334" y="3072"/>
                  <a:pt x="14330" y="3081"/>
                  <a:pt x="14325" y="3090"/>
                </a:cubicBezTo>
                <a:cubicBezTo>
                  <a:pt x="14320" y="3099"/>
                  <a:pt x="14313" y="3108"/>
                  <a:pt x="14305" y="3116"/>
                </a:cubicBezTo>
                <a:cubicBezTo>
                  <a:pt x="14298" y="3124"/>
                  <a:pt x="14289" y="3132"/>
                  <a:pt x="14279" y="3139"/>
                </a:cubicBezTo>
                <a:cubicBezTo>
                  <a:pt x="14269" y="3146"/>
                  <a:pt x="14259" y="3152"/>
                  <a:pt x="14247" y="3157"/>
                </a:cubicBezTo>
                <a:cubicBezTo>
                  <a:pt x="14236" y="3163"/>
                  <a:pt x="14223" y="3167"/>
                  <a:pt x="14210" y="3171"/>
                </a:cubicBezTo>
                <a:cubicBezTo>
                  <a:pt x="14198" y="3175"/>
                  <a:pt x="14184" y="3178"/>
                  <a:pt x="14171" y="3180"/>
                </a:cubicBezTo>
                <a:cubicBezTo>
                  <a:pt x="14157" y="3182"/>
                  <a:pt x="14143" y="3183"/>
                  <a:pt x="14129" y="3183"/>
                </a:cubicBezTo>
                <a:lnTo>
                  <a:pt x="0" y="3183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4" name="任意多边形 1343"/>
          <p:cNvSpPr/>
          <p:nvPr/>
        </p:nvSpPr>
        <p:spPr>
          <a:xfrm>
            <a:off x="609480" y="3900240"/>
            <a:ext cx="38520" cy="1145880"/>
          </a:xfrm>
          <a:custGeom>
            <a:avLst/>
            <a:gdLst/>
            <a:ahLst/>
            <a:cxnLst/>
            <a:rect l="0" t="0" r="r" b="b"/>
            <a:pathLst>
              <a:path w="107" h="3183">
                <a:moveTo>
                  <a:pt x="0" y="0"/>
                </a:moveTo>
                <a:lnTo>
                  <a:pt x="107" y="0"/>
                </a:lnTo>
                <a:lnTo>
                  <a:pt x="107" y="3183"/>
                </a:lnTo>
                <a:lnTo>
                  <a:pt x="0" y="3183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5" name="任意多边形 1344"/>
          <p:cNvSpPr/>
          <p:nvPr/>
        </p:nvSpPr>
        <p:spPr>
          <a:xfrm>
            <a:off x="628560" y="5153400"/>
            <a:ext cx="5162760" cy="1145520"/>
          </a:xfrm>
          <a:custGeom>
            <a:avLst/>
            <a:gdLst/>
            <a:ahLst/>
            <a:cxnLst/>
            <a:rect l="0" t="0" r="r" b="b"/>
            <a:pathLst>
              <a:path w="14341" h="3182">
                <a:moveTo>
                  <a:pt x="0" y="3182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3"/>
                </a:cubicBezTo>
                <a:cubicBezTo>
                  <a:pt x="14184" y="5"/>
                  <a:pt x="14198" y="8"/>
                  <a:pt x="14210" y="11"/>
                </a:cubicBezTo>
                <a:cubicBezTo>
                  <a:pt x="14223" y="15"/>
                  <a:pt x="14236" y="20"/>
                  <a:pt x="14247" y="25"/>
                </a:cubicBezTo>
                <a:cubicBezTo>
                  <a:pt x="14259" y="31"/>
                  <a:pt x="14269" y="37"/>
                  <a:pt x="14279" y="44"/>
                </a:cubicBezTo>
                <a:cubicBezTo>
                  <a:pt x="14289" y="51"/>
                  <a:pt x="14298" y="58"/>
                  <a:pt x="14305" y="67"/>
                </a:cubicBezTo>
                <a:cubicBezTo>
                  <a:pt x="14313" y="75"/>
                  <a:pt x="14320" y="83"/>
                  <a:pt x="14325" y="92"/>
                </a:cubicBezTo>
                <a:cubicBezTo>
                  <a:pt x="14330" y="102"/>
                  <a:pt x="14334" y="111"/>
                  <a:pt x="14337" y="121"/>
                </a:cubicBezTo>
                <a:cubicBezTo>
                  <a:pt x="14340" y="130"/>
                  <a:pt x="14341" y="140"/>
                  <a:pt x="14341" y="150"/>
                </a:cubicBezTo>
                <a:lnTo>
                  <a:pt x="14341" y="3032"/>
                </a:lnTo>
                <a:cubicBezTo>
                  <a:pt x="14341" y="3041"/>
                  <a:pt x="14340" y="3051"/>
                  <a:pt x="14337" y="3061"/>
                </a:cubicBezTo>
                <a:cubicBezTo>
                  <a:pt x="14334" y="3070"/>
                  <a:pt x="14330" y="3080"/>
                  <a:pt x="14325" y="3089"/>
                </a:cubicBezTo>
                <a:cubicBezTo>
                  <a:pt x="14320" y="3098"/>
                  <a:pt x="14313" y="3107"/>
                  <a:pt x="14305" y="3115"/>
                </a:cubicBezTo>
                <a:cubicBezTo>
                  <a:pt x="14298" y="3123"/>
                  <a:pt x="14289" y="3131"/>
                  <a:pt x="14279" y="3137"/>
                </a:cubicBezTo>
                <a:cubicBezTo>
                  <a:pt x="14269" y="3144"/>
                  <a:pt x="14259" y="3151"/>
                  <a:pt x="14247" y="3156"/>
                </a:cubicBezTo>
                <a:cubicBezTo>
                  <a:pt x="14236" y="3162"/>
                  <a:pt x="14223" y="3166"/>
                  <a:pt x="14210" y="3170"/>
                </a:cubicBezTo>
                <a:cubicBezTo>
                  <a:pt x="14198" y="3174"/>
                  <a:pt x="14184" y="3177"/>
                  <a:pt x="14171" y="3178"/>
                </a:cubicBezTo>
                <a:cubicBezTo>
                  <a:pt x="14157" y="3180"/>
                  <a:pt x="14143" y="3182"/>
                  <a:pt x="14129" y="3182"/>
                </a:cubicBezTo>
                <a:lnTo>
                  <a:pt x="0" y="3182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6" name="任意多边形 1345"/>
          <p:cNvSpPr/>
          <p:nvPr/>
        </p:nvSpPr>
        <p:spPr>
          <a:xfrm>
            <a:off x="609480" y="5153400"/>
            <a:ext cx="38520" cy="1145520"/>
          </a:xfrm>
          <a:custGeom>
            <a:avLst/>
            <a:gdLst/>
            <a:ahLst/>
            <a:cxnLst/>
            <a:rect l="0" t="0" r="r" b="b"/>
            <a:pathLst>
              <a:path w="107" h="3182">
                <a:moveTo>
                  <a:pt x="0" y="0"/>
                </a:moveTo>
                <a:lnTo>
                  <a:pt x="107" y="0"/>
                </a:lnTo>
                <a:lnTo>
                  <a:pt x="107" y="3182"/>
                </a:lnTo>
                <a:lnTo>
                  <a:pt x="0" y="318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7" name="文本框 1346"/>
          <p:cNvSpPr txBox="1"/>
          <p:nvPr/>
        </p:nvSpPr>
        <p:spPr>
          <a:xfrm>
            <a:off x="609480" y="276480"/>
            <a:ext cx="2876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23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案例实战：信⽤卡欺诈检测</a:t>
            </a:r>
            <a:endParaRPr lang="en-US" sz="22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8" name="任意多边形 1347"/>
          <p:cNvSpPr/>
          <p:nvPr/>
        </p:nvSpPr>
        <p:spPr>
          <a:xfrm>
            <a:off x="799920" y="1502280"/>
            <a:ext cx="305280" cy="215640"/>
          </a:xfrm>
          <a:custGeom>
            <a:avLst/>
            <a:gdLst/>
            <a:ahLst/>
            <a:cxnLst/>
            <a:rect l="0" t="0" r="r" b="b"/>
            <a:pathLst>
              <a:path w="848" h="599">
                <a:moveTo>
                  <a:pt x="848" y="299"/>
                </a:moveTo>
                <a:cubicBezTo>
                  <a:pt x="848" y="320"/>
                  <a:pt x="845" y="339"/>
                  <a:pt x="840" y="358"/>
                </a:cubicBezTo>
                <a:cubicBezTo>
                  <a:pt x="834" y="378"/>
                  <a:pt x="826" y="396"/>
                  <a:pt x="815" y="415"/>
                </a:cubicBezTo>
                <a:cubicBezTo>
                  <a:pt x="805" y="433"/>
                  <a:pt x="792" y="450"/>
                  <a:pt x="776" y="466"/>
                </a:cubicBezTo>
                <a:cubicBezTo>
                  <a:pt x="761" y="483"/>
                  <a:pt x="743" y="498"/>
                  <a:pt x="723" y="512"/>
                </a:cubicBezTo>
                <a:cubicBezTo>
                  <a:pt x="703" y="526"/>
                  <a:pt x="682" y="538"/>
                  <a:pt x="659" y="549"/>
                </a:cubicBezTo>
                <a:cubicBezTo>
                  <a:pt x="635" y="560"/>
                  <a:pt x="611" y="569"/>
                  <a:pt x="585" y="577"/>
                </a:cubicBezTo>
                <a:cubicBezTo>
                  <a:pt x="560" y="584"/>
                  <a:pt x="533" y="590"/>
                  <a:pt x="506" y="594"/>
                </a:cubicBezTo>
                <a:cubicBezTo>
                  <a:pt x="479" y="597"/>
                  <a:pt x="451" y="599"/>
                  <a:pt x="423" y="599"/>
                </a:cubicBezTo>
                <a:cubicBezTo>
                  <a:pt x="396" y="599"/>
                  <a:pt x="368" y="597"/>
                  <a:pt x="341" y="594"/>
                </a:cubicBezTo>
                <a:cubicBezTo>
                  <a:pt x="313" y="590"/>
                  <a:pt x="287" y="584"/>
                  <a:pt x="261" y="577"/>
                </a:cubicBezTo>
                <a:cubicBezTo>
                  <a:pt x="236" y="569"/>
                  <a:pt x="211" y="560"/>
                  <a:pt x="188" y="549"/>
                </a:cubicBezTo>
                <a:cubicBezTo>
                  <a:pt x="165" y="538"/>
                  <a:pt x="144" y="526"/>
                  <a:pt x="124" y="512"/>
                </a:cubicBezTo>
                <a:cubicBezTo>
                  <a:pt x="104" y="498"/>
                  <a:pt x="87" y="483"/>
                  <a:pt x="71" y="466"/>
                </a:cubicBezTo>
                <a:cubicBezTo>
                  <a:pt x="56" y="450"/>
                  <a:pt x="43" y="433"/>
                  <a:pt x="32" y="415"/>
                </a:cubicBezTo>
                <a:cubicBezTo>
                  <a:pt x="22" y="396"/>
                  <a:pt x="14" y="378"/>
                  <a:pt x="8" y="358"/>
                </a:cubicBezTo>
                <a:cubicBezTo>
                  <a:pt x="3" y="339"/>
                  <a:pt x="0" y="320"/>
                  <a:pt x="0" y="299"/>
                </a:cubicBezTo>
                <a:cubicBezTo>
                  <a:pt x="0" y="279"/>
                  <a:pt x="3" y="260"/>
                  <a:pt x="8" y="241"/>
                </a:cubicBezTo>
                <a:cubicBezTo>
                  <a:pt x="14" y="221"/>
                  <a:pt x="22" y="203"/>
                  <a:pt x="32" y="184"/>
                </a:cubicBezTo>
                <a:cubicBezTo>
                  <a:pt x="43" y="166"/>
                  <a:pt x="56" y="149"/>
                  <a:pt x="71" y="133"/>
                </a:cubicBezTo>
                <a:cubicBezTo>
                  <a:pt x="87" y="116"/>
                  <a:pt x="104" y="101"/>
                  <a:pt x="124" y="87"/>
                </a:cubicBezTo>
                <a:cubicBezTo>
                  <a:pt x="144" y="73"/>
                  <a:pt x="165" y="61"/>
                  <a:pt x="188" y="50"/>
                </a:cubicBezTo>
                <a:cubicBezTo>
                  <a:pt x="211" y="39"/>
                  <a:pt x="236" y="30"/>
                  <a:pt x="261" y="22"/>
                </a:cubicBezTo>
                <a:cubicBezTo>
                  <a:pt x="287" y="15"/>
                  <a:pt x="313" y="9"/>
                  <a:pt x="341" y="5"/>
                </a:cubicBezTo>
                <a:cubicBezTo>
                  <a:pt x="368" y="1"/>
                  <a:pt x="396" y="0"/>
                  <a:pt x="423" y="0"/>
                </a:cubicBezTo>
                <a:cubicBezTo>
                  <a:pt x="451" y="0"/>
                  <a:pt x="479" y="1"/>
                  <a:pt x="506" y="5"/>
                </a:cubicBezTo>
                <a:cubicBezTo>
                  <a:pt x="533" y="9"/>
                  <a:pt x="560" y="15"/>
                  <a:pt x="585" y="22"/>
                </a:cubicBezTo>
                <a:cubicBezTo>
                  <a:pt x="611" y="30"/>
                  <a:pt x="635" y="39"/>
                  <a:pt x="659" y="50"/>
                </a:cubicBezTo>
                <a:cubicBezTo>
                  <a:pt x="682" y="61"/>
                  <a:pt x="703" y="73"/>
                  <a:pt x="723" y="87"/>
                </a:cubicBezTo>
                <a:cubicBezTo>
                  <a:pt x="743" y="101"/>
                  <a:pt x="761" y="116"/>
                  <a:pt x="776" y="133"/>
                </a:cubicBezTo>
                <a:cubicBezTo>
                  <a:pt x="792" y="149"/>
                  <a:pt x="805" y="166"/>
                  <a:pt x="815" y="184"/>
                </a:cubicBezTo>
                <a:cubicBezTo>
                  <a:pt x="826" y="203"/>
                  <a:pt x="834" y="221"/>
                  <a:pt x="840" y="241"/>
                </a:cubicBezTo>
                <a:cubicBezTo>
                  <a:pt x="845" y="260"/>
                  <a:pt x="848" y="279"/>
                  <a:pt x="848" y="299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9" name="文本框 1348"/>
          <p:cNvSpPr txBox="1"/>
          <p:nvPr/>
        </p:nvSpPr>
        <p:spPr>
          <a:xfrm>
            <a:off x="609480" y="1030680"/>
            <a:ext cx="1615827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全流程实现步骤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0" name="文本框 1349"/>
          <p:cNvSpPr txBox="1"/>
          <p:nvPr/>
        </p:nvSpPr>
        <p:spPr>
          <a:xfrm>
            <a:off x="914400" y="1547640"/>
            <a:ext cx="64120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1" name="文本框 1350"/>
          <p:cNvSpPr txBox="1"/>
          <p:nvPr/>
        </p:nvSpPr>
        <p:spPr>
          <a:xfrm>
            <a:off x="1219320" y="1526400"/>
            <a:ext cx="718145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数据清洗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2" name="文本框 1351"/>
          <p:cNvSpPr txBox="1"/>
          <p:nvPr/>
        </p:nvSpPr>
        <p:spPr>
          <a:xfrm>
            <a:off x="1219320" y="1798560"/>
            <a:ext cx="8015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3" name="文本框 1352"/>
          <p:cNvSpPr txBox="1"/>
          <p:nvPr/>
        </p:nvSpPr>
        <p:spPr>
          <a:xfrm>
            <a:off x="1321920" y="1793880"/>
            <a:ext cx="201978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处理缺失值：时间字段填充中位数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4" name="文本框 1353"/>
          <p:cNvSpPr txBox="1"/>
          <p:nvPr/>
        </p:nvSpPr>
        <p:spPr>
          <a:xfrm>
            <a:off x="1219320" y="2034360"/>
            <a:ext cx="8015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5" name="文本框 1354"/>
          <p:cNvSpPr txBox="1"/>
          <p:nvPr/>
        </p:nvSpPr>
        <p:spPr>
          <a:xfrm>
            <a:off x="1321920" y="2029680"/>
            <a:ext cx="134652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异常值处理：删除⾦额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6" name="文本框 1355"/>
          <p:cNvSpPr txBox="1"/>
          <p:nvPr/>
        </p:nvSpPr>
        <p:spPr>
          <a:xfrm>
            <a:off x="2709435" y="2034360"/>
            <a:ext cx="20999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&gt;10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7" name="文本框 1356"/>
          <p:cNvSpPr txBox="1"/>
          <p:nvPr/>
        </p:nvSpPr>
        <p:spPr>
          <a:xfrm>
            <a:off x="2948274" y="2029680"/>
            <a:ext cx="807913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万美元的交易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8" name="文本框 1357"/>
          <p:cNvSpPr txBox="1"/>
          <p:nvPr/>
        </p:nvSpPr>
        <p:spPr>
          <a:xfrm>
            <a:off x="1219320" y="2270160"/>
            <a:ext cx="8015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9" name="文本框 1358"/>
          <p:cNvSpPr txBox="1"/>
          <p:nvPr/>
        </p:nvSpPr>
        <p:spPr>
          <a:xfrm>
            <a:off x="1321920" y="2265480"/>
            <a:ext cx="175047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特征转换：时间戳分解为⼩时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0" name="文本框 1359"/>
          <p:cNvSpPr txBox="1"/>
          <p:nvPr/>
        </p:nvSpPr>
        <p:spPr>
          <a:xfrm>
            <a:off x="3093846" y="2270160"/>
            <a:ext cx="3687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/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1" name="任意多边形 1360"/>
          <p:cNvSpPr/>
          <p:nvPr/>
        </p:nvSpPr>
        <p:spPr>
          <a:xfrm>
            <a:off x="799920" y="2755080"/>
            <a:ext cx="305280" cy="216000"/>
          </a:xfrm>
          <a:custGeom>
            <a:avLst/>
            <a:gdLst/>
            <a:ahLst/>
            <a:cxnLst/>
            <a:rect l="0" t="0" r="r" b="b"/>
            <a:pathLst>
              <a:path w="848" h="600">
                <a:moveTo>
                  <a:pt x="848" y="300"/>
                </a:moveTo>
                <a:cubicBezTo>
                  <a:pt x="848" y="319"/>
                  <a:pt x="845" y="339"/>
                  <a:pt x="840" y="358"/>
                </a:cubicBezTo>
                <a:cubicBezTo>
                  <a:pt x="834" y="377"/>
                  <a:pt x="826" y="396"/>
                  <a:pt x="815" y="414"/>
                </a:cubicBezTo>
                <a:cubicBezTo>
                  <a:pt x="805" y="433"/>
                  <a:pt x="792" y="451"/>
                  <a:pt x="776" y="467"/>
                </a:cubicBezTo>
                <a:cubicBezTo>
                  <a:pt x="761" y="483"/>
                  <a:pt x="743" y="498"/>
                  <a:pt x="723" y="512"/>
                </a:cubicBezTo>
                <a:cubicBezTo>
                  <a:pt x="703" y="526"/>
                  <a:pt x="682" y="539"/>
                  <a:pt x="659" y="550"/>
                </a:cubicBezTo>
                <a:cubicBezTo>
                  <a:pt x="635" y="560"/>
                  <a:pt x="611" y="570"/>
                  <a:pt x="585" y="577"/>
                </a:cubicBezTo>
                <a:cubicBezTo>
                  <a:pt x="560" y="585"/>
                  <a:pt x="533" y="590"/>
                  <a:pt x="506" y="594"/>
                </a:cubicBezTo>
                <a:cubicBezTo>
                  <a:pt x="479" y="598"/>
                  <a:pt x="451" y="600"/>
                  <a:pt x="423" y="600"/>
                </a:cubicBezTo>
                <a:cubicBezTo>
                  <a:pt x="396" y="600"/>
                  <a:pt x="368" y="598"/>
                  <a:pt x="341" y="594"/>
                </a:cubicBezTo>
                <a:cubicBezTo>
                  <a:pt x="313" y="590"/>
                  <a:pt x="287" y="585"/>
                  <a:pt x="261" y="577"/>
                </a:cubicBezTo>
                <a:cubicBezTo>
                  <a:pt x="236" y="570"/>
                  <a:pt x="211" y="560"/>
                  <a:pt x="188" y="550"/>
                </a:cubicBezTo>
                <a:cubicBezTo>
                  <a:pt x="165" y="539"/>
                  <a:pt x="144" y="526"/>
                  <a:pt x="124" y="512"/>
                </a:cubicBezTo>
                <a:cubicBezTo>
                  <a:pt x="104" y="498"/>
                  <a:pt x="87" y="483"/>
                  <a:pt x="71" y="467"/>
                </a:cubicBezTo>
                <a:cubicBezTo>
                  <a:pt x="56" y="451"/>
                  <a:pt x="43" y="433"/>
                  <a:pt x="32" y="414"/>
                </a:cubicBezTo>
                <a:cubicBezTo>
                  <a:pt x="22" y="396"/>
                  <a:pt x="14" y="377"/>
                  <a:pt x="8" y="358"/>
                </a:cubicBezTo>
                <a:cubicBezTo>
                  <a:pt x="3" y="339"/>
                  <a:pt x="0" y="319"/>
                  <a:pt x="0" y="300"/>
                </a:cubicBezTo>
                <a:cubicBezTo>
                  <a:pt x="0" y="280"/>
                  <a:pt x="3" y="260"/>
                  <a:pt x="8" y="241"/>
                </a:cubicBezTo>
                <a:cubicBezTo>
                  <a:pt x="14" y="222"/>
                  <a:pt x="22" y="203"/>
                  <a:pt x="32" y="185"/>
                </a:cubicBezTo>
                <a:cubicBezTo>
                  <a:pt x="43" y="167"/>
                  <a:pt x="56" y="150"/>
                  <a:pt x="71" y="133"/>
                </a:cubicBezTo>
                <a:cubicBezTo>
                  <a:pt x="87" y="117"/>
                  <a:pt x="104" y="102"/>
                  <a:pt x="124" y="88"/>
                </a:cubicBezTo>
                <a:cubicBezTo>
                  <a:pt x="144" y="74"/>
                  <a:pt x="165" y="62"/>
                  <a:pt x="188" y="51"/>
                </a:cubicBezTo>
                <a:cubicBezTo>
                  <a:pt x="211" y="40"/>
                  <a:pt x="236" y="30"/>
                  <a:pt x="261" y="23"/>
                </a:cubicBezTo>
                <a:cubicBezTo>
                  <a:pt x="287" y="15"/>
                  <a:pt x="313" y="10"/>
                  <a:pt x="341" y="6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6"/>
                </a:cubicBezTo>
                <a:cubicBezTo>
                  <a:pt x="533" y="10"/>
                  <a:pt x="560" y="15"/>
                  <a:pt x="585" y="23"/>
                </a:cubicBezTo>
                <a:cubicBezTo>
                  <a:pt x="611" y="30"/>
                  <a:pt x="635" y="40"/>
                  <a:pt x="659" y="51"/>
                </a:cubicBezTo>
                <a:cubicBezTo>
                  <a:pt x="682" y="62"/>
                  <a:pt x="703" y="74"/>
                  <a:pt x="723" y="88"/>
                </a:cubicBezTo>
                <a:cubicBezTo>
                  <a:pt x="743" y="102"/>
                  <a:pt x="761" y="117"/>
                  <a:pt x="776" y="133"/>
                </a:cubicBezTo>
                <a:cubicBezTo>
                  <a:pt x="792" y="150"/>
                  <a:pt x="805" y="167"/>
                  <a:pt x="815" y="185"/>
                </a:cubicBezTo>
                <a:cubicBezTo>
                  <a:pt x="826" y="203"/>
                  <a:pt x="834" y="222"/>
                  <a:pt x="840" y="241"/>
                </a:cubicBezTo>
                <a:cubicBezTo>
                  <a:pt x="845" y="260"/>
                  <a:pt x="848" y="280"/>
                  <a:pt x="848" y="300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2" name="文本框 1361"/>
          <p:cNvSpPr txBox="1"/>
          <p:nvPr/>
        </p:nvSpPr>
        <p:spPr>
          <a:xfrm>
            <a:off x="3158141" y="2265480"/>
            <a:ext cx="26930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星期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3" name="文本框 1362"/>
          <p:cNvSpPr txBox="1"/>
          <p:nvPr/>
        </p:nvSpPr>
        <p:spPr>
          <a:xfrm>
            <a:off x="914400" y="2800800"/>
            <a:ext cx="64120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4" name="文本框 1363"/>
          <p:cNvSpPr txBox="1"/>
          <p:nvPr/>
        </p:nvSpPr>
        <p:spPr>
          <a:xfrm>
            <a:off x="1219320" y="2779560"/>
            <a:ext cx="718145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特征⼯程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5" name="文本框 1364"/>
          <p:cNvSpPr txBox="1"/>
          <p:nvPr/>
        </p:nvSpPr>
        <p:spPr>
          <a:xfrm>
            <a:off x="1219320" y="3051360"/>
            <a:ext cx="8015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6" name="文本框 1365"/>
          <p:cNvSpPr txBox="1"/>
          <p:nvPr/>
        </p:nvSpPr>
        <p:spPr>
          <a:xfrm>
            <a:off x="1321920" y="3047040"/>
            <a:ext cx="1077218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标准化：⾦额字段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7" name="文本框 1366"/>
          <p:cNvSpPr txBox="1"/>
          <p:nvPr/>
        </p:nvSpPr>
        <p:spPr>
          <a:xfrm>
            <a:off x="2416686" y="3051360"/>
            <a:ext cx="41036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Z-score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8" name="文本框 1367"/>
          <p:cNvSpPr txBox="1"/>
          <p:nvPr/>
        </p:nvSpPr>
        <p:spPr>
          <a:xfrm>
            <a:off x="2856600" y="3047040"/>
            <a:ext cx="26930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转换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9" name="文本框 1368"/>
          <p:cNvSpPr txBox="1"/>
          <p:nvPr/>
        </p:nvSpPr>
        <p:spPr>
          <a:xfrm>
            <a:off x="1219320" y="3287160"/>
            <a:ext cx="8015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0" name="文本框 1369"/>
          <p:cNvSpPr txBox="1"/>
          <p:nvPr/>
        </p:nvSpPr>
        <p:spPr>
          <a:xfrm>
            <a:off x="1321920" y="3282840"/>
            <a:ext cx="1481175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特征衍⽣：交易频率统计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1" name="文本框 1370"/>
          <p:cNvSpPr txBox="1"/>
          <p:nvPr/>
        </p:nvSpPr>
        <p:spPr>
          <a:xfrm>
            <a:off x="1219320" y="3522960"/>
            <a:ext cx="343043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PCA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2" name="文本框 1371"/>
          <p:cNvSpPr txBox="1"/>
          <p:nvPr/>
        </p:nvSpPr>
        <p:spPr>
          <a:xfrm>
            <a:off x="1655640" y="3518640"/>
            <a:ext cx="403957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降维：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3" name="文本框 1372"/>
          <p:cNvSpPr txBox="1"/>
          <p:nvPr/>
        </p:nvSpPr>
        <p:spPr>
          <a:xfrm>
            <a:off x="2056832" y="3522960"/>
            <a:ext cx="44242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V1-V28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4" name="文本框 1373"/>
          <p:cNvSpPr txBox="1"/>
          <p:nvPr/>
        </p:nvSpPr>
        <p:spPr>
          <a:xfrm>
            <a:off x="2526149" y="3518640"/>
            <a:ext cx="53860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特征降⾄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5" name="文本框 1374"/>
          <p:cNvSpPr txBox="1"/>
          <p:nvPr/>
        </p:nvSpPr>
        <p:spPr>
          <a:xfrm>
            <a:off x="3098706" y="3522960"/>
            <a:ext cx="13465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10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6" name="任意多边形 1375"/>
          <p:cNvSpPr/>
          <p:nvPr/>
        </p:nvSpPr>
        <p:spPr>
          <a:xfrm>
            <a:off x="799920" y="4008240"/>
            <a:ext cx="305280" cy="216000"/>
          </a:xfrm>
          <a:custGeom>
            <a:avLst/>
            <a:gdLst/>
            <a:ahLst/>
            <a:cxnLst/>
            <a:rect l="0" t="0" r="r" b="b"/>
            <a:pathLst>
              <a:path w="848" h="600">
                <a:moveTo>
                  <a:pt x="848" y="299"/>
                </a:moveTo>
                <a:cubicBezTo>
                  <a:pt x="848" y="319"/>
                  <a:pt x="845" y="338"/>
                  <a:pt x="840" y="358"/>
                </a:cubicBezTo>
                <a:cubicBezTo>
                  <a:pt x="834" y="377"/>
                  <a:pt x="826" y="396"/>
                  <a:pt x="815" y="414"/>
                </a:cubicBezTo>
                <a:cubicBezTo>
                  <a:pt x="805" y="432"/>
                  <a:pt x="792" y="449"/>
                  <a:pt x="776" y="466"/>
                </a:cubicBezTo>
                <a:cubicBezTo>
                  <a:pt x="761" y="482"/>
                  <a:pt x="743" y="497"/>
                  <a:pt x="723" y="511"/>
                </a:cubicBezTo>
                <a:cubicBezTo>
                  <a:pt x="703" y="525"/>
                  <a:pt x="682" y="538"/>
                  <a:pt x="659" y="549"/>
                </a:cubicBezTo>
                <a:cubicBezTo>
                  <a:pt x="635" y="560"/>
                  <a:pt x="611" y="569"/>
                  <a:pt x="585" y="577"/>
                </a:cubicBezTo>
                <a:cubicBezTo>
                  <a:pt x="560" y="584"/>
                  <a:pt x="533" y="590"/>
                  <a:pt x="506" y="594"/>
                </a:cubicBezTo>
                <a:cubicBezTo>
                  <a:pt x="479" y="598"/>
                  <a:pt x="451" y="600"/>
                  <a:pt x="423" y="600"/>
                </a:cubicBezTo>
                <a:cubicBezTo>
                  <a:pt x="396" y="600"/>
                  <a:pt x="368" y="598"/>
                  <a:pt x="341" y="594"/>
                </a:cubicBezTo>
                <a:cubicBezTo>
                  <a:pt x="313" y="590"/>
                  <a:pt x="287" y="584"/>
                  <a:pt x="261" y="577"/>
                </a:cubicBezTo>
                <a:cubicBezTo>
                  <a:pt x="236" y="569"/>
                  <a:pt x="211" y="560"/>
                  <a:pt x="188" y="549"/>
                </a:cubicBezTo>
                <a:cubicBezTo>
                  <a:pt x="165" y="538"/>
                  <a:pt x="144" y="525"/>
                  <a:pt x="124" y="511"/>
                </a:cubicBezTo>
                <a:cubicBezTo>
                  <a:pt x="104" y="497"/>
                  <a:pt x="87" y="482"/>
                  <a:pt x="71" y="466"/>
                </a:cubicBezTo>
                <a:cubicBezTo>
                  <a:pt x="56" y="449"/>
                  <a:pt x="43" y="432"/>
                  <a:pt x="32" y="414"/>
                </a:cubicBezTo>
                <a:cubicBezTo>
                  <a:pt x="22" y="396"/>
                  <a:pt x="14" y="377"/>
                  <a:pt x="8" y="358"/>
                </a:cubicBezTo>
                <a:cubicBezTo>
                  <a:pt x="3" y="338"/>
                  <a:pt x="0" y="319"/>
                  <a:pt x="0" y="299"/>
                </a:cubicBezTo>
                <a:cubicBezTo>
                  <a:pt x="0" y="280"/>
                  <a:pt x="3" y="260"/>
                  <a:pt x="8" y="241"/>
                </a:cubicBezTo>
                <a:cubicBezTo>
                  <a:pt x="14" y="222"/>
                  <a:pt x="22" y="203"/>
                  <a:pt x="32" y="185"/>
                </a:cubicBezTo>
                <a:cubicBezTo>
                  <a:pt x="43" y="166"/>
                  <a:pt x="56" y="149"/>
                  <a:pt x="71" y="133"/>
                </a:cubicBezTo>
                <a:cubicBezTo>
                  <a:pt x="87" y="117"/>
                  <a:pt x="104" y="101"/>
                  <a:pt x="124" y="88"/>
                </a:cubicBezTo>
                <a:cubicBezTo>
                  <a:pt x="144" y="74"/>
                  <a:pt x="165" y="61"/>
                  <a:pt x="188" y="50"/>
                </a:cubicBezTo>
                <a:cubicBezTo>
                  <a:pt x="211" y="39"/>
                  <a:pt x="236" y="30"/>
                  <a:pt x="261" y="23"/>
                </a:cubicBezTo>
                <a:cubicBezTo>
                  <a:pt x="287" y="15"/>
                  <a:pt x="313" y="9"/>
                  <a:pt x="341" y="6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6"/>
                </a:cubicBezTo>
                <a:cubicBezTo>
                  <a:pt x="533" y="9"/>
                  <a:pt x="560" y="15"/>
                  <a:pt x="585" y="23"/>
                </a:cubicBezTo>
                <a:cubicBezTo>
                  <a:pt x="611" y="30"/>
                  <a:pt x="635" y="39"/>
                  <a:pt x="659" y="50"/>
                </a:cubicBezTo>
                <a:cubicBezTo>
                  <a:pt x="682" y="61"/>
                  <a:pt x="703" y="74"/>
                  <a:pt x="723" y="88"/>
                </a:cubicBezTo>
                <a:cubicBezTo>
                  <a:pt x="743" y="101"/>
                  <a:pt x="761" y="117"/>
                  <a:pt x="776" y="133"/>
                </a:cubicBezTo>
                <a:cubicBezTo>
                  <a:pt x="792" y="149"/>
                  <a:pt x="805" y="166"/>
                  <a:pt x="815" y="185"/>
                </a:cubicBezTo>
                <a:cubicBezTo>
                  <a:pt x="826" y="203"/>
                  <a:pt x="834" y="222"/>
                  <a:pt x="840" y="241"/>
                </a:cubicBezTo>
                <a:cubicBezTo>
                  <a:pt x="845" y="260"/>
                  <a:pt x="848" y="280"/>
                  <a:pt x="848" y="299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7" name="文本框 1376"/>
          <p:cNvSpPr txBox="1"/>
          <p:nvPr/>
        </p:nvSpPr>
        <p:spPr>
          <a:xfrm>
            <a:off x="3241058" y="3518640"/>
            <a:ext cx="13465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维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8" name="文本框 1377"/>
          <p:cNvSpPr txBox="1"/>
          <p:nvPr/>
        </p:nvSpPr>
        <p:spPr>
          <a:xfrm>
            <a:off x="914400" y="4053960"/>
            <a:ext cx="64120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9" name="文本框 1378"/>
          <p:cNvSpPr txBox="1"/>
          <p:nvPr/>
        </p:nvSpPr>
        <p:spPr>
          <a:xfrm>
            <a:off x="1219320" y="4032360"/>
            <a:ext cx="1256754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类别不平衡处理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0" name="文本框 1379"/>
          <p:cNvSpPr txBox="1"/>
          <p:nvPr/>
        </p:nvSpPr>
        <p:spPr>
          <a:xfrm>
            <a:off x="1219320" y="4304520"/>
            <a:ext cx="53700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SMOTE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1" name="文本框 1380"/>
          <p:cNvSpPr txBox="1"/>
          <p:nvPr/>
        </p:nvSpPr>
        <p:spPr>
          <a:xfrm>
            <a:off x="1903320" y="4300200"/>
            <a:ext cx="1481175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过采样：少数类样本合成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2" name="文本框 1381"/>
          <p:cNvSpPr txBox="1"/>
          <p:nvPr/>
        </p:nvSpPr>
        <p:spPr>
          <a:xfrm>
            <a:off x="1219320" y="4540320"/>
            <a:ext cx="8015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3" name="文本框 1382"/>
          <p:cNvSpPr txBox="1"/>
          <p:nvPr/>
        </p:nvSpPr>
        <p:spPr>
          <a:xfrm>
            <a:off x="1321920" y="4535640"/>
            <a:ext cx="201978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代价敏感学习：欺诈样本权重提⾼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4" name="文本框 1383"/>
          <p:cNvSpPr txBox="1"/>
          <p:nvPr/>
        </p:nvSpPr>
        <p:spPr>
          <a:xfrm>
            <a:off x="3340088" y="4540320"/>
            <a:ext cx="13465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50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5" name="文本框 1384"/>
          <p:cNvSpPr txBox="1"/>
          <p:nvPr/>
        </p:nvSpPr>
        <p:spPr>
          <a:xfrm>
            <a:off x="3494676" y="4535640"/>
            <a:ext cx="13465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倍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6" name="文本框 1385"/>
          <p:cNvSpPr txBox="1"/>
          <p:nvPr/>
        </p:nvSpPr>
        <p:spPr>
          <a:xfrm>
            <a:off x="1219320" y="4776120"/>
            <a:ext cx="8015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7" name="任意多边形 1386"/>
          <p:cNvSpPr/>
          <p:nvPr/>
        </p:nvSpPr>
        <p:spPr>
          <a:xfrm>
            <a:off x="799920" y="5261040"/>
            <a:ext cx="305280" cy="216000"/>
          </a:xfrm>
          <a:custGeom>
            <a:avLst/>
            <a:gdLst/>
            <a:ahLst/>
            <a:cxnLst/>
            <a:rect l="0" t="0" r="r" b="b"/>
            <a:pathLst>
              <a:path w="848" h="600">
                <a:moveTo>
                  <a:pt x="848" y="301"/>
                </a:moveTo>
                <a:cubicBezTo>
                  <a:pt x="848" y="321"/>
                  <a:pt x="845" y="340"/>
                  <a:pt x="840" y="359"/>
                </a:cubicBezTo>
                <a:cubicBezTo>
                  <a:pt x="834" y="379"/>
                  <a:pt x="826" y="397"/>
                  <a:pt x="815" y="415"/>
                </a:cubicBezTo>
                <a:cubicBezTo>
                  <a:pt x="805" y="434"/>
                  <a:pt x="792" y="451"/>
                  <a:pt x="776" y="467"/>
                </a:cubicBezTo>
                <a:cubicBezTo>
                  <a:pt x="761" y="484"/>
                  <a:pt x="743" y="499"/>
                  <a:pt x="723" y="513"/>
                </a:cubicBezTo>
                <a:cubicBezTo>
                  <a:pt x="703" y="527"/>
                  <a:pt x="682" y="539"/>
                  <a:pt x="659" y="550"/>
                </a:cubicBezTo>
                <a:cubicBezTo>
                  <a:pt x="635" y="561"/>
                  <a:pt x="611" y="570"/>
                  <a:pt x="585" y="578"/>
                </a:cubicBezTo>
                <a:cubicBezTo>
                  <a:pt x="560" y="585"/>
                  <a:pt x="533" y="591"/>
                  <a:pt x="506" y="595"/>
                </a:cubicBezTo>
                <a:cubicBezTo>
                  <a:pt x="479" y="598"/>
                  <a:pt x="451" y="600"/>
                  <a:pt x="423" y="600"/>
                </a:cubicBezTo>
                <a:cubicBezTo>
                  <a:pt x="396" y="600"/>
                  <a:pt x="368" y="598"/>
                  <a:pt x="341" y="595"/>
                </a:cubicBezTo>
                <a:cubicBezTo>
                  <a:pt x="313" y="591"/>
                  <a:pt x="287" y="585"/>
                  <a:pt x="261" y="578"/>
                </a:cubicBezTo>
                <a:cubicBezTo>
                  <a:pt x="236" y="570"/>
                  <a:pt x="211" y="561"/>
                  <a:pt x="188" y="550"/>
                </a:cubicBezTo>
                <a:cubicBezTo>
                  <a:pt x="165" y="539"/>
                  <a:pt x="144" y="527"/>
                  <a:pt x="124" y="513"/>
                </a:cubicBezTo>
                <a:cubicBezTo>
                  <a:pt x="104" y="499"/>
                  <a:pt x="87" y="484"/>
                  <a:pt x="71" y="467"/>
                </a:cubicBezTo>
                <a:cubicBezTo>
                  <a:pt x="56" y="451"/>
                  <a:pt x="43" y="434"/>
                  <a:pt x="32" y="415"/>
                </a:cubicBezTo>
                <a:cubicBezTo>
                  <a:pt x="22" y="397"/>
                  <a:pt x="14" y="379"/>
                  <a:pt x="8" y="359"/>
                </a:cubicBezTo>
                <a:cubicBezTo>
                  <a:pt x="3" y="340"/>
                  <a:pt x="0" y="321"/>
                  <a:pt x="0" y="301"/>
                </a:cubicBezTo>
                <a:cubicBezTo>
                  <a:pt x="0" y="281"/>
                  <a:pt x="3" y="262"/>
                  <a:pt x="8" y="242"/>
                </a:cubicBezTo>
                <a:cubicBezTo>
                  <a:pt x="14" y="223"/>
                  <a:pt x="22" y="204"/>
                  <a:pt x="32" y="186"/>
                </a:cubicBezTo>
                <a:cubicBezTo>
                  <a:pt x="43" y="168"/>
                  <a:pt x="56" y="151"/>
                  <a:pt x="71" y="135"/>
                </a:cubicBezTo>
                <a:cubicBezTo>
                  <a:pt x="87" y="118"/>
                  <a:pt x="104" y="103"/>
                  <a:pt x="124" y="89"/>
                </a:cubicBezTo>
                <a:cubicBezTo>
                  <a:pt x="144" y="75"/>
                  <a:pt x="165" y="63"/>
                  <a:pt x="188" y="52"/>
                </a:cubicBezTo>
                <a:cubicBezTo>
                  <a:pt x="211" y="41"/>
                  <a:pt x="236" y="31"/>
                  <a:pt x="261" y="23"/>
                </a:cubicBezTo>
                <a:cubicBezTo>
                  <a:pt x="287" y="16"/>
                  <a:pt x="313" y="10"/>
                  <a:pt x="341" y="6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6"/>
                </a:cubicBezTo>
                <a:cubicBezTo>
                  <a:pt x="533" y="10"/>
                  <a:pt x="560" y="16"/>
                  <a:pt x="585" y="23"/>
                </a:cubicBezTo>
                <a:cubicBezTo>
                  <a:pt x="611" y="31"/>
                  <a:pt x="635" y="41"/>
                  <a:pt x="659" y="52"/>
                </a:cubicBezTo>
                <a:cubicBezTo>
                  <a:pt x="682" y="63"/>
                  <a:pt x="703" y="75"/>
                  <a:pt x="723" y="89"/>
                </a:cubicBezTo>
                <a:cubicBezTo>
                  <a:pt x="743" y="103"/>
                  <a:pt x="761" y="118"/>
                  <a:pt x="776" y="135"/>
                </a:cubicBezTo>
                <a:cubicBezTo>
                  <a:pt x="792" y="151"/>
                  <a:pt x="805" y="168"/>
                  <a:pt x="815" y="186"/>
                </a:cubicBezTo>
                <a:cubicBezTo>
                  <a:pt x="826" y="204"/>
                  <a:pt x="834" y="223"/>
                  <a:pt x="840" y="242"/>
                </a:cubicBezTo>
                <a:cubicBezTo>
                  <a:pt x="845" y="262"/>
                  <a:pt x="848" y="281"/>
                  <a:pt x="848" y="301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8" name="文本框 1387"/>
          <p:cNvSpPr txBox="1"/>
          <p:nvPr/>
        </p:nvSpPr>
        <p:spPr>
          <a:xfrm>
            <a:off x="1321920" y="4771440"/>
            <a:ext cx="175047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异常检测算法：隔离森林辅助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9" name="文本框 1388"/>
          <p:cNvSpPr txBox="1"/>
          <p:nvPr/>
        </p:nvSpPr>
        <p:spPr>
          <a:xfrm>
            <a:off x="914400" y="5306760"/>
            <a:ext cx="64120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0" name="文本框 1389"/>
          <p:cNvSpPr txBox="1"/>
          <p:nvPr/>
        </p:nvSpPr>
        <p:spPr>
          <a:xfrm>
            <a:off x="1219320" y="5285520"/>
            <a:ext cx="718145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模型部署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1" name="文本框 1390"/>
          <p:cNvSpPr txBox="1"/>
          <p:nvPr/>
        </p:nvSpPr>
        <p:spPr>
          <a:xfrm>
            <a:off x="1219320" y="5557680"/>
            <a:ext cx="62356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Flask API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2" name="文本框 1391"/>
          <p:cNvSpPr txBox="1"/>
          <p:nvPr/>
        </p:nvSpPr>
        <p:spPr>
          <a:xfrm>
            <a:off x="2003400" y="5553000"/>
            <a:ext cx="121187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：实时交易检测接⼝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3" name="文本框 1392"/>
          <p:cNvSpPr txBox="1"/>
          <p:nvPr/>
        </p:nvSpPr>
        <p:spPr>
          <a:xfrm>
            <a:off x="1219320" y="5793480"/>
            <a:ext cx="8015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4" name="文本框 1393"/>
          <p:cNvSpPr txBox="1"/>
          <p:nvPr/>
        </p:nvSpPr>
        <p:spPr>
          <a:xfrm>
            <a:off x="1321920" y="5788800"/>
            <a:ext cx="94256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模型监控：精度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5" name="文本框 1394"/>
          <p:cNvSpPr txBox="1"/>
          <p:nvPr/>
        </p:nvSpPr>
        <p:spPr>
          <a:xfrm>
            <a:off x="2291466" y="5793480"/>
            <a:ext cx="32220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&lt;95%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6" name="文本框 1395"/>
          <p:cNvSpPr txBox="1"/>
          <p:nvPr/>
        </p:nvSpPr>
        <p:spPr>
          <a:xfrm>
            <a:off x="2652255" y="5788800"/>
            <a:ext cx="673261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时⾃动告警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7" name="文本框 1396"/>
          <p:cNvSpPr txBox="1"/>
          <p:nvPr/>
        </p:nvSpPr>
        <p:spPr>
          <a:xfrm>
            <a:off x="1219320" y="6029280"/>
            <a:ext cx="8015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8" name="任意多边形 1397"/>
          <p:cNvSpPr/>
          <p:nvPr/>
        </p:nvSpPr>
        <p:spPr>
          <a:xfrm>
            <a:off x="6100560" y="1397520"/>
            <a:ext cx="5477400" cy="1718280"/>
          </a:xfrm>
          <a:custGeom>
            <a:avLst/>
            <a:gdLst/>
            <a:ahLst/>
            <a:cxnLst/>
            <a:rect l="0" t="0" r="r" b="b"/>
            <a:pathLst>
              <a:path w="15215" h="4773" fill="none">
                <a:moveTo>
                  <a:pt x="0" y="4633"/>
                </a:moveTo>
                <a:lnTo>
                  <a:pt x="0" y="141"/>
                </a:lnTo>
                <a:cubicBezTo>
                  <a:pt x="0" y="132"/>
                  <a:pt x="1" y="122"/>
                  <a:pt x="4" y="113"/>
                </a:cubicBezTo>
                <a:cubicBezTo>
                  <a:pt x="6" y="104"/>
                  <a:pt x="10" y="96"/>
                  <a:pt x="15" y="87"/>
                </a:cubicBezTo>
                <a:cubicBezTo>
                  <a:pt x="20" y="79"/>
                  <a:pt x="26" y="71"/>
                  <a:pt x="34" y="63"/>
                </a:cubicBezTo>
                <a:cubicBezTo>
                  <a:pt x="41" y="55"/>
                  <a:pt x="49" y="48"/>
                  <a:pt x="58" y="42"/>
                </a:cubicBezTo>
                <a:cubicBezTo>
                  <a:pt x="67" y="35"/>
                  <a:pt x="77" y="29"/>
                  <a:pt x="88" y="24"/>
                </a:cubicBezTo>
                <a:cubicBezTo>
                  <a:pt x="99" y="19"/>
                  <a:pt x="111" y="15"/>
                  <a:pt x="123" y="11"/>
                </a:cubicBezTo>
                <a:cubicBezTo>
                  <a:pt x="135" y="8"/>
                  <a:pt x="147" y="5"/>
                  <a:pt x="160" y="3"/>
                </a:cubicBezTo>
                <a:cubicBezTo>
                  <a:pt x="173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3"/>
                </a:cubicBezTo>
                <a:cubicBezTo>
                  <a:pt x="15068" y="5"/>
                  <a:pt x="15080" y="8"/>
                  <a:pt x="15092" y="11"/>
                </a:cubicBezTo>
                <a:cubicBezTo>
                  <a:pt x="15104" y="15"/>
                  <a:pt x="15116" y="19"/>
                  <a:pt x="15126" y="24"/>
                </a:cubicBezTo>
                <a:cubicBezTo>
                  <a:pt x="15137" y="29"/>
                  <a:pt x="15147" y="35"/>
                  <a:pt x="15156" y="42"/>
                </a:cubicBezTo>
                <a:cubicBezTo>
                  <a:pt x="15166" y="48"/>
                  <a:pt x="15174" y="55"/>
                  <a:pt x="15181" y="63"/>
                </a:cubicBezTo>
                <a:cubicBezTo>
                  <a:pt x="15188" y="71"/>
                  <a:pt x="15195" y="79"/>
                  <a:pt x="15199" y="87"/>
                </a:cubicBezTo>
                <a:cubicBezTo>
                  <a:pt x="15204" y="96"/>
                  <a:pt x="15208" y="104"/>
                  <a:pt x="15211" y="113"/>
                </a:cubicBezTo>
                <a:cubicBezTo>
                  <a:pt x="15213" y="122"/>
                  <a:pt x="15215" y="132"/>
                  <a:pt x="15215" y="141"/>
                </a:cubicBezTo>
                <a:lnTo>
                  <a:pt x="15215" y="4633"/>
                </a:lnTo>
                <a:cubicBezTo>
                  <a:pt x="15215" y="4642"/>
                  <a:pt x="15213" y="4651"/>
                  <a:pt x="15211" y="4660"/>
                </a:cubicBezTo>
                <a:cubicBezTo>
                  <a:pt x="15208" y="4669"/>
                  <a:pt x="15204" y="4678"/>
                  <a:pt x="15199" y="4687"/>
                </a:cubicBezTo>
                <a:cubicBezTo>
                  <a:pt x="15195" y="4695"/>
                  <a:pt x="15188" y="4703"/>
                  <a:pt x="15181" y="4711"/>
                </a:cubicBezTo>
                <a:cubicBezTo>
                  <a:pt x="15174" y="4719"/>
                  <a:pt x="15166" y="4726"/>
                  <a:pt x="15156" y="4732"/>
                </a:cubicBezTo>
                <a:cubicBezTo>
                  <a:pt x="15147" y="4739"/>
                  <a:pt x="15137" y="4745"/>
                  <a:pt x="15126" y="4750"/>
                </a:cubicBezTo>
                <a:cubicBezTo>
                  <a:pt x="15116" y="4755"/>
                  <a:pt x="15104" y="4759"/>
                  <a:pt x="15092" y="4763"/>
                </a:cubicBezTo>
                <a:cubicBezTo>
                  <a:pt x="15080" y="4766"/>
                  <a:pt x="15068" y="4769"/>
                  <a:pt x="15055" y="4771"/>
                </a:cubicBezTo>
                <a:cubicBezTo>
                  <a:pt x="15042" y="4772"/>
                  <a:pt x="15029" y="4773"/>
                  <a:pt x="15016" y="4773"/>
                </a:cubicBezTo>
                <a:lnTo>
                  <a:pt x="198" y="4773"/>
                </a:lnTo>
                <a:cubicBezTo>
                  <a:pt x="185" y="4773"/>
                  <a:pt x="173" y="4772"/>
                  <a:pt x="160" y="4771"/>
                </a:cubicBezTo>
                <a:cubicBezTo>
                  <a:pt x="147" y="4769"/>
                  <a:pt x="135" y="4766"/>
                  <a:pt x="123" y="4763"/>
                </a:cubicBezTo>
                <a:cubicBezTo>
                  <a:pt x="111" y="4759"/>
                  <a:pt x="99" y="4755"/>
                  <a:pt x="88" y="4750"/>
                </a:cubicBezTo>
                <a:cubicBezTo>
                  <a:pt x="77" y="4745"/>
                  <a:pt x="67" y="4739"/>
                  <a:pt x="58" y="4732"/>
                </a:cubicBezTo>
                <a:cubicBezTo>
                  <a:pt x="49" y="4726"/>
                  <a:pt x="41" y="4719"/>
                  <a:pt x="34" y="4711"/>
                </a:cubicBezTo>
                <a:cubicBezTo>
                  <a:pt x="26" y="4703"/>
                  <a:pt x="20" y="4695"/>
                  <a:pt x="15" y="4687"/>
                </a:cubicBezTo>
                <a:cubicBezTo>
                  <a:pt x="10" y="4678"/>
                  <a:pt x="6" y="4669"/>
                  <a:pt x="4" y="4660"/>
                </a:cubicBezTo>
                <a:cubicBezTo>
                  <a:pt x="1" y="4651"/>
                  <a:pt x="0" y="4642"/>
                  <a:pt x="0" y="4633"/>
                </a:cubicBezTo>
              </a:path>
            </a:pathLst>
          </a:custGeom>
          <a:ln w="7920">
            <a:solidFill>
              <a:srgbClr val="E5E7EB"/>
            </a:solidFill>
            <a:miter/>
          </a:ln>
        </p:spPr>
        <p:txBody>
          <a:bodyPr lIns="3960" tIns="3960" rIns="3960" bIns="39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9" name="任意多边形 1398"/>
          <p:cNvSpPr/>
          <p:nvPr/>
        </p:nvSpPr>
        <p:spPr>
          <a:xfrm>
            <a:off x="6105240" y="3671280"/>
            <a:ext cx="2076840" cy="297000"/>
          </a:xfrm>
          <a:custGeom>
            <a:avLst/>
            <a:gdLst/>
            <a:ahLst/>
            <a:cxnLst/>
            <a:rect l="0" t="0" r="r" b="b"/>
            <a:pathLst>
              <a:path w="5769" h="825">
                <a:moveTo>
                  <a:pt x="0" y="0"/>
                </a:moveTo>
                <a:lnTo>
                  <a:pt x="5769" y="0"/>
                </a:lnTo>
                <a:lnTo>
                  <a:pt x="5769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0" name="任意多边形 1399"/>
          <p:cNvSpPr/>
          <p:nvPr/>
        </p:nvSpPr>
        <p:spPr>
          <a:xfrm>
            <a:off x="8181720" y="3671280"/>
            <a:ext cx="1124280" cy="297000"/>
          </a:xfrm>
          <a:custGeom>
            <a:avLst/>
            <a:gdLst/>
            <a:ahLst/>
            <a:cxnLst/>
            <a:rect l="0" t="0" r="r" b="b"/>
            <a:pathLst>
              <a:path w="3123" h="825">
                <a:moveTo>
                  <a:pt x="0" y="0"/>
                </a:moveTo>
                <a:lnTo>
                  <a:pt x="3123" y="0"/>
                </a:lnTo>
                <a:lnTo>
                  <a:pt x="3123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1" name="任意多边形 1400"/>
          <p:cNvSpPr/>
          <p:nvPr/>
        </p:nvSpPr>
        <p:spPr>
          <a:xfrm>
            <a:off x="9305640" y="3671280"/>
            <a:ext cx="1124280" cy="297000"/>
          </a:xfrm>
          <a:custGeom>
            <a:avLst/>
            <a:gdLst/>
            <a:ahLst/>
            <a:cxnLst/>
            <a:rect l="0" t="0" r="r" b="b"/>
            <a:pathLst>
              <a:path w="3123" h="825">
                <a:moveTo>
                  <a:pt x="0" y="0"/>
                </a:moveTo>
                <a:lnTo>
                  <a:pt x="3123" y="0"/>
                </a:lnTo>
                <a:lnTo>
                  <a:pt x="3123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2" name="任意多边形 1401"/>
          <p:cNvSpPr/>
          <p:nvPr/>
        </p:nvSpPr>
        <p:spPr>
          <a:xfrm>
            <a:off x="10429560" y="3671280"/>
            <a:ext cx="1153080" cy="297000"/>
          </a:xfrm>
          <a:custGeom>
            <a:avLst/>
            <a:gdLst/>
            <a:ahLst/>
            <a:cxnLst/>
            <a:rect l="0" t="0" r="r" b="b"/>
            <a:pathLst>
              <a:path w="3203" h="825">
                <a:moveTo>
                  <a:pt x="0" y="0"/>
                </a:moveTo>
                <a:lnTo>
                  <a:pt x="3203" y="0"/>
                </a:lnTo>
                <a:lnTo>
                  <a:pt x="3203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3" name="任意多边形 1402"/>
          <p:cNvSpPr/>
          <p:nvPr/>
        </p:nvSpPr>
        <p:spPr>
          <a:xfrm>
            <a:off x="6105240" y="4264200"/>
            <a:ext cx="2076840" cy="296640"/>
          </a:xfrm>
          <a:custGeom>
            <a:avLst/>
            <a:gdLst/>
            <a:ahLst/>
            <a:cxnLst/>
            <a:rect l="0" t="0" r="r" b="b"/>
            <a:pathLst>
              <a:path w="5769" h="824">
                <a:moveTo>
                  <a:pt x="0" y="0"/>
                </a:moveTo>
                <a:lnTo>
                  <a:pt x="5769" y="0"/>
                </a:lnTo>
                <a:lnTo>
                  <a:pt x="5769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4" name="任意多边形 1403"/>
          <p:cNvSpPr/>
          <p:nvPr/>
        </p:nvSpPr>
        <p:spPr>
          <a:xfrm>
            <a:off x="8181720" y="4264200"/>
            <a:ext cx="1124280" cy="296640"/>
          </a:xfrm>
          <a:custGeom>
            <a:avLst/>
            <a:gdLst/>
            <a:ahLst/>
            <a:cxnLst/>
            <a:rect l="0" t="0" r="r" b="b"/>
            <a:pathLst>
              <a:path w="3123" h="824">
                <a:moveTo>
                  <a:pt x="0" y="0"/>
                </a:moveTo>
                <a:lnTo>
                  <a:pt x="3123" y="0"/>
                </a:lnTo>
                <a:lnTo>
                  <a:pt x="3123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5" name="任意多边形 1404"/>
          <p:cNvSpPr/>
          <p:nvPr/>
        </p:nvSpPr>
        <p:spPr>
          <a:xfrm>
            <a:off x="9305640" y="4264200"/>
            <a:ext cx="1124280" cy="296640"/>
          </a:xfrm>
          <a:custGeom>
            <a:avLst/>
            <a:gdLst/>
            <a:ahLst/>
            <a:cxnLst/>
            <a:rect l="0" t="0" r="r" b="b"/>
            <a:pathLst>
              <a:path w="3123" h="824">
                <a:moveTo>
                  <a:pt x="0" y="0"/>
                </a:moveTo>
                <a:lnTo>
                  <a:pt x="3123" y="0"/>
                </a:lnTo>
                <a:lnTo>
                  <a:pt x="3123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6" name="任意多边形 1405"/>
          <p:cNvSpPr/>
          <p:nvPr/>
        </p:nvSpPr>
        <p:spPr>
          <a:xfrm>
            <a:off x="10429560" y="4264200"/>
            <a:ext cx="1153080" cy="296640"/>
          </a:xfrm>
          <a:custGeom>
            <a:avLst/>
            <a:gdLst/>
            <a:ahLst/>
            <a:cxnLst/>
            <a:rect l="0" t="0" r="r" b="b"/>
            <a:pathLst>
              <a:path w="3203" h="824">
                <a:moveTo>
                  <a:pt x="0" y="0"/>
                </a:moveTo>
                <a:lnTo>
                  <a:pt x="3203" y="0"/>
                </a:lnTo>
                <a:lnTo>
                  <a:pt x="3203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7" name="任意多边形 1406"/>
          <p:cNvSpPr/>
          <p:nvPr/>
        </p:nvSpPr>
        <p:spPr>
          <a:xfrm>
            <a:off x="6105240" y="4857120"/>
            <a:ext cx="2076840" cy="296640"/>
          </a:xfrm>
          <a:custGeom>
            <a:avLst/>
            <a:gdLst/>
            <a:ahLst/>
            <a:cxnLst/>
            <a:rect l="0" t="0" r="r" b="b"/>
            <a:pathLst>
              <a:path w="5769" h="824">
                <a:moveTo>
                  <a:pt x="0" y="0"/>
                </a:moveTo>
                <a:lnTo>
                  <a:pt x="5769" y="0"/>
                </a:lnTo>
                <a:lnTo>
                  <a:pt x="5769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8" name="任意多边形 1407"/>
          <p:cNvSpPr/>
          <p:nvPr/>
        </p:nvSpPr>
        <p:spPr>
          <a:xfrm>
            <a:off x="8181720" y="4857120"/>
            <a:ext cx="1124280" cy="296640"/>
          </a:xfrm>
          <a:custGeom>
            <a:avLst/>
            <a:gdLst/>
            <a:ahLst/>
            <a:cxnLst/>
            <a:rect l="0" t="0" r="r" b="b"/>
            <a:pathLst>
              <a:path w="3123" h="824">
                <a:moveTo>
                  <a:pt x="0" y="0"/>
                </a:moveTo>
                <a:lnTo>
                  <a:pt x="3123" y="0"/>
                </a:lnTo>
                <a:lnTo>
                  <a:pt x="3123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9" name="任意多边形 1408"/>
          <p:cNvSpPr/>
          <p:nvPr/>
        </p:nvSpPr>
        <p:spPr>
          <a:xfrm>
            <a:off x="9305640" y="4857120"/>
            <a:ext cx="1124280" cy="296640"/>
          </a:xfrm>
          <a:custGeom>
            <a:avLst/>
            <a:gdLst/>
            <a:ahLst/>
            <a:cxnLst/>
            <a:rect l="0" t="0" r="r" b="b"/>
            <a:pathLst>
              <a:path w="3123" h="824">
                <a:moveTo>
                  <a:pt x="0" y="0"/>
                </a:moveTo>
                <a:lnTo>
                  <a:pt x="3123" y="0"/>
                </a:lnTo>
                <a:lnTo>
                  <a:pt x="3123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0" name="任意多边形 1409"/>
          <p:cNvSpPr/>
          <p:nvPr/>
        </p:nvSpPr>
        <p:spPr>
          <a:xfrm>
            <a:off x="10429560" y="4857120"/>
            <a:ext cx="1153080" cy="296640"/>
          </a:xfrm>
          <a:custGeom>
            <a:avLst/>
            <a:gdLst/>
            <a:ahLst/>
            <a:cxnLst/>
            <a:rect l="0" t="0" r="r" b="b"/>
            <a:pathLst>
              <a:path w="3203" h="824">
                <a:moveTo>
                  <a:pt x="0" y="0"/>
                </a:moveTo>
                <a:lnTo>
                  <a:pt x="3203" y="0"/>
                </a:lnTo>
                <a:lnTo>
                  <a:pt x="3203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1" name="任意多边形 1410"/>
          <p:cNvSpPr/>
          <p:nvPr/>
        </p:nvSpPr>
        <p:spPr>
          <a:xfrm>
            <a:off x="6095880" y="3671280"/>
            <a:ext cx="9720" cy="303480"/>
          </a:xfrm>
          <a:custGeom>
            <a:avLst/>
            <a:gdLst/>
            <a:ahLst/>
            <a:cxnLst/>
            <a:rect l="0" t="0" r="r" b="b"/>
            <a:pathLst>
              <a:path w="27" h="843">
                <a:moveTo>
                  <a:pt x="0" y="0"/>
                </a:moveTo>
                <a:lnTo>
                  <a:pt x="27" y="0"/>
                </a:lnTo>
                <a:lnTo>
                  <a:pt x="27" y="843"/>
                </a:lnTo>
                <a:lnTo>
                  <a:pt x="0" y="84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2" name="任意多边形 1411"/>
          <p:cNvSpPr/>
          <p:nvPr/>
        </p:nvSpPr>
        <p:spPr>
          <a:xfrm>
            <a:off x="6095880" y="3671280"/>
            <a:ext cx="2095920" cy="7200"/>
          </a:xfrm>
          <a:custGeom>
            <a:avLst/>
            <a:gdLst/>
            <a:ahLst/>
            <a:cxnLst/>
            <a:rect l="0" t="0" r="r" b="b"/>
            <a:pathLst>
              <a:path w="5822" h="20">
                <a:moveTo>
                  <a:pt x="0" y="0"/>
                </a:moveTo>
                <a:lnTo>
                  <a:pt x="5822" y="0"/>
                </a:lnTo>
                <a:lnTo>
                  <a:pt x="5822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3" name="任意多边形 1412"/>
          <p:cNvSpPr/>
          <p:nvPr/>
        </p:nvSpPr>
        <p:spPr>
          <a:xfrm>
            <a:off x="8181720" y="3671280"/>
            <a:ext cx="10080" cy="303480"/>
          </a:xfrm>
          <a:custGeom>
            <a:avLst/>
            <a:gdLst/>
            <a:ahLst/>
            <a:cxnLst/>
            <a:rect l="0" t="0" r="r" b="b"/>
            <a:pathLst>
              <a:path w="28" h="843">
                <a:moveTo>
                  <a:pt x="0" y="0"/>
                </a:moveTo>
                <a:lnTo>
                  <a:pt x="28" y="0"/>
                </a:lnTo>
                <a:lnTo>
                  <a:pt x="28" y="843"/>
                </a:lnTo>
                <a:lnTo>
                  <a:pt x="0" y="84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4" name="任意多边形 1413"/>
          <p:cNvSpPr/>
          <p:nvPr/>
        </p:nvSpPr>
        <p:spPr>
          <a:xfrm>
            <a:off x="8191440" y="3671280"/>
            <a:ext cx="1114560" cy="7200"/>
          </a:xfrm>
          <a:custGeom>
            <a:avLst/>
            <a:gdLst/>
            <a:ahLst/>
            <a:cxnLst/>
            <a:rect l="0" t="0" r="r" b="b"/>
            <a:pathLst>
              <a:path w="3096" h="20">
                <a:moveTo>
                  <a:pt x="0" y="0"/>
                </a:moveTo>
                <a:lnTo>
                  <a:pt x="3096" y="0"/>
                </a:lnTo>
                <a:lnTo>
                  <a:pt x="3096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5" name="任意多边形 1414"/>
          <p:cNvSpPr/>
          <p:nvPr/>
        </p:nvSpPr>
        <p:spPr>
          <a:xfrm>
            <a:off x="9296280" y="3671280"/>
            <a:ext cx="9720" cy="303480"/>
          </a:xfrm>
          <a:custGeom>
            <a:avLst/>
            <a:gdLst/>
            <a:ahLst/>
            <a:cxnLst/>
            <a:rect l="0" t="0" r="r" b="b"/>
            <a:pathLst>
              <a:path w="27" h="843">
                <a:moveTo>
                  <a:pt x="0" y="0"/>
                </a:moveTo>
                <a:lnTo>
                  <a:pt x="27" y="0"/>
                </a:lnTo>
                <a:lnTo>
                  <a:pt x="27" y="843"/>
                </a:lnTo>
                <a:lnTo>
                  <a:pt x="0" y="84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6" name="任意多边形 1415"/>
          <p:cNvSpPr/>
          <p:nvPr/>
        </p:nvSpPr>
        <p:spPr>
          <a:xfrm>
            <a:off x="9305640" y="3671280"/>
            <a:ext cx="1124280" cy="7200"/>
          </a:xfrm>
          <a:custGeom>
            <a:avLst/>
            <a:gdLst/>
            <a:ahLst/>
            <a:cxnLst/>
            <a:rect l="0" t="0" r="r" b="b"/>
            <a:pathLst>
              <a:path w="3123" h="20">
                <a:moveTo>
                  <a:pt x="0" y="0"/>
                </a:moveTo>
                <a:lnTo>
                  <a:pt x="3123" y="0"/>
                </a:lnTo>
                <a:lnTo>
                  <a:pt x="3123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7" name="任意多边形 1416"/>
          <p:cNvSpPr/>
          <p:nvPr/>
        </p:nvSpPr>
        <p:spPr>
          <a:xfrm>
            <a:off x="10420200" y="3671280"/>
            <a:ext cx="9720" cy="303480"/>
          </a:xfrm>
          <a:custGeom>
            <a:avLst/>
            <a:gdLst/>
            <a:ahLst/>
            <a:cxnLst/>
            <a:rect l="0" t="0" r="r" b="b"/>
            <a:pathLst>
              <a:path w="27" h="843">
                <a:moveTo>
                  <a:pt x="0" y="0"/>
                </a:moveTo>
                <a:lnTo>
                  <a:pt x="27" y="0"/>
                </a:lnTo>
                <a:lnTo>
                  <a:pt x="27" y="843"/>
                </a:lnTo>
                <a:lnTo>
                  <a:pt x="0" y="84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8" name="任意多边形 1417"/>
          <p:cNvSpPr/>
          <p:nvPr/>
        </p:nvSpPr>
        <p:spPr>
          <a:xfrm>
            <a:off x="10429560" y="3671280"/>
            <a:ext cx="1153080" cy="7200"/>
          </a:xfrm>
          <a:custGeom>
            <a:avLst/>
            <a:gdLst/>
            <a:ahLst/>
            <a:cxnLst/>
            <a:rect l="0" t="0" r="r" b="b"/>
            <a:pathLst>
              <a:path w="3203" h="20">
                <a:moveTo>
                  <a:pt x="0" y="0"/>
                </a:moveTo>
                <a:lnTo>
                  <a:pt x="3203" y="0"/>
                </a:lnTo>
                <a:lnTo>
                  <a:pt x="3203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9" name="任意多边形 1418"/>
          <p:cNvSpPr/>
          <p:nvPr/>
        </p:nvSpPr>
        <p:spPr>
          <a:xfrm>
            <a:off x="11572560" y="3671280"/>
            <a:ext cx="10080" cy="303480"/>
          </a:xfrm>
          <a:custGeom>
            <a:avLst/>
            <a:gdLst/>
            <a:ahLst/>
            <a:cxnLst/>
            <a:rect l="0" t="0" r="r" b="b"/>
            <a:pathLst>
              <a:path w="28" h="843">
                <a:moveTo>
                  <a:pt x="0" y="0"/>
                </a:moveTo>
                <a:lnTo>
                  <a:pt x="28" y="0"/>
                </a:lnTo>
                <a:lnTo>
                  <a:pt x="28" y="843"/>
                </a:lnTo>
                <a:lnTo>
                  <a:pt x="0" y="84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0" name="任意多边形 1419"/>
          <p:cNvSpPr/>
          <p:nvPr/>
        </p:nvSpPr>
        <p:spPr>
          <a:xfrm>
            <a:off x="6095880" y="3967920"/>
            <a:ext cx="2095920" cy="6840"/>
          </a:xfrm>
          <a:custGeom>
            <a:avLst/>
            <a:gdLst/>
            <a:ahLst/>
            <a:cxnLst/>
            <a:rect l="0" t="0" r="r" b="b"/>
            <a:pathLst>
              <a:path w="5822" h="19">
                <a:moveTo>
                  <a:pt x="0" y="0"/>
                </a:moveTo>
                <a:lnTo>
                  <a:pt x="5822" y="0"/>
                </a:lnTo>
                <a:lnTo>
                  <a:pt x="5822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1" name="任意多边形 1420"/>
          <p:cNvSpPr/>
          <p:nvPr/>
        </p:nvSpPr>
        <p:spPr>
          <a:xfrm>
            <a:off x="8191440" y="3967920"/>
            <a:ext cx="1114560" cy="6840"/>
          </a:xfrm>
          <a:custGeom>
            <a:avLst/>
            <a:gdLst/>
            <a:ahLst/>
            <a:cxnLst/>
            <a:rect l="0" t="0" r="r" b="b"/>
            <a:pathLst>
              <a:path w="3096" h="19">
                <a:moveTo>
                  <a:pt x="0" y="0"/>
                </a:moveTo>
                <a:lnTo>
                  <a:pt x="3096" y="0"/>
                </a:lnTo>
                <a:lnTo>
                  <a:pt x="309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2" name="任意多边形 1421"/>
          <p:cNvSpPr/>
          <p:nvPr/>
        </p:nvSpPr>
        <p:spPr>
          <a:xfrm>
            <a:off x="9305640" y="3967920"/>
            <a:ext cx="1124280" cy="6840"/>
          </a:xfrm>
          <a:custGeom>
            <a:avLst/>
            <a:gdLst/>
            <a:ahLst/>
            <a:cxnLst/>
            <a:rect l="0" t="0" r="r" b="b"/>
            <a:pathLst>
              <a:path w="3123" h="19">
                <a:moveTo>
                  <a:pt x="0" y="0"/>
                </a:moveTo>
                <a:lnTo>
                  <a:pt x="3123" y="0"/>
                </a:lnTo>
                <a:lnTo>
                  <a:pt x="3123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3" name="任意多边形 1422"/>
          <p:cNvSpPr/>
          <p:nvPr/>
        </p:nvSpPr>
        <p:spPr>
          <a:xfrm>
            <a:off x="10429560" y="3967920"/>
            <a:ext cx="1153080" cy="6840"/>
          </a:xfrm>
          <a:custGeom>
            <a:avLst/>
            <a:gdLst/>
            <a:ahLst/>
            <a:cxnLst/>
            <a:rect l="0" t="0" r="r" b="b"/>
            <a:pathLst>
              <a:path w="3203" h="19">
                <a:moveTo>
                  <a:pt x="0" y="0"/>
                </a:moveTo>
                <a:lnTo>
                  <a:pt x="3203" y="0"/>
                </a:lnTo>
                <a:lnTo>
                  <a:pt x="3203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4" name="任意多边形 1423"/>
          <p:cNvSpPr/>
          <p:nvPr/>
        </p:nvSpPr>
        <p:spPr>
          <a:xfrm>
            <a:off x="6095880" y="3974400"/>
            <a:ext cx="9720" cy="297000"/>
          </a:xfrm>
          <a:custGeom>
            <a:avLst/>
            <a:gdLst/>
            <a:ahLst/>
            <a:cxnLst/>
            <a:rect l="0" t="0" r="r" b="b"/>
            <a:pathLst>
              <a:path w="27" h="825">
                <a:moveTo>
                  <a:pt x="0" y="0"/>
                </a:moveTo>
                <a:lnTo>
                  <a:pt x="27" y="0"/>
                </a:lnTo>
                <a:lnTo>
                  <a:pt x="27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5" name="任意多边形 1424"/>
          <p:cNvSpPr/>
          <p:nvPr/>
        </p:nvSpPr>
        <p:spPr>
          <a:xfrm>
            <a:off x="8181720" y="3974400"/>
            <a:ext cx="10080" cy="297000"/>
          </a:xfrm>
          <a:custGeom>
            <a:avLst/>
            <a:gdLst/>
            <a:ahLst/>
            <a:cxnLst/>
            <a:rect l="0" t="0" r="r" b="b"/>
            <a:pathLst>
              <a:path w="28" h="825">
                <a:moveTo>
                  <a:pt x="0" y="0"/>
                </a:moveTo>
                <a:lnTo>
                  <a:pt x="28" y="0"/>
                </a:lnTo>
                <a:lnTo>
                  <a:pt x="28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6" name="任意多边形 1425"/>
          <p:cNvSpPr/>
          <p:nvPr/>
        </p:nvSpPr>
        <p:spPr>
          <a:xfrm>
            <a:off x="9296280" y="3974400"/>
            <a:ext cx="9720" cy="297000"/>
          </a:xfrm>
          <a:custGeom>
            <a:avLst/>
            <a:gdLst/>
            <a:ahLst/>
            <a:cxnLst/>
            <a:rect l="0" t="0" r="r" b="b"/>
            <a:pathLst>
              <a:path w="27" h="825">
                <a:moveTo>
                  <a:pt x="0" y="0"/>
                </a:moveTo>
                <a:lnTo>
                  <a:pt x="27" y="0"/>
                </a:lnTo>
                <a:lnTo>
                  <a:pt x="27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7" name="任意多边形 1426"/>
          <p:cNvSpPr/>
          <p:nvPr/>
        </p:nvSpPr>
        <p:spPr>
          <a:xfrm>
            <a:off x="10420200" y="3974400"/>
            <a:ext cx="9720" cy="297000"/>
          </a:xfrm>
          <a:custGeom>
            <a:avLst/>
            <a:gdLst/>
            <a:ahLst/>
            <a:cxnLst/>
            <a:rect l="0" t="0" r="r" b="b"/>
            <a:pathLst>
              <a:path w="27" h="825">
                <a:moveTo>
                  <a:pt x="0" y="0"/>
                </a:moveTo>
                <a:lnTo>
                  <a:pt x="27" y="0"/>
                </a:lnTo>
                <a:lnTo>
                  <a:pt x="27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8" name="任意多边形 1427"/>
          <p:cNvSpPr/>
          <p:nvPr/>
        </p:nvSpPr>
        <p:spPr>
          <a:xfrm>
            <a:off x="11572560" y="3974400"/>
            <a:ext cx="10080" cy="297000"/>
          </a:xfrm>
          <a:custGeom>
            <a:avLst/>
            <a:gdLst/>
            <a:ahLst/>
            <a:cxnLst/>
            <a:rect l="0" t="0" r="r" b="b"/>
            <a:pathLst>
              <a:path w="28" h="825">
                <a:moveTo>
                  <a:pt x="0" y="0"/>
                </a:moveTo>
                <a:lnTo>
                  <a:pt x="28" y="0"/>
                </a:lnTo>
                <a:lnTo>
                  <a:pt x="28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9" name="任意多边形 1428"/>
          <p:cNvSpPr/>
          <p:nvPr/>
        </p:nvSpPr>
        <p:spPr>
          <a:xfrm>
            <a:off x="6095880" y="4271040"/>
            <a:ext cx="9720" cy="296640"/>
          </a:xfrm>
          <a:custGeom>
            <a:avLst/>
            <a:gdLst/>
            <a:ahLst/>
            <a:cxnLst/>
            <a:rect l="0" t="0" r="r" b="b"/>
            <a:pathLst>
              <a:path w="27" h="824">
                <a:moveTo>
                  <a:pt x="0" y="0"/>
                </a:moveTo>
                <a:lnTo>
                  <a:pt x="27" y="0"/>
                </a:lnTo>
                <a:lnTo>
                  <a:pt x="27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0" name="任意多边形 1429"/>
          <p:cNvSpPr/>
          <p:nvPr/>
        </p:nvSpPr>
        <p:spPr>
          <a:xfrm>
            <a:off x="6095880" y="4264200"/>
            <a:ext cx="2095920" cy="7200"/>
          </a:xfrm>
          <a:custGeom>
            <a:avLst/>
            <a:gdLst/>
            <a:ahLst/>
            <a:cxnLst/>
            <a:rect l="0" t="0" r="r" b="b"/>
            <a:pathLst>
              <a:path w="5822" h="20">
                <a:moveTo>
                  <a:pt x="0" y="0"/>
                </a:moveTo>
                <a:lnTo>
                  <a:pt x="5822" y="0"/>
                </a:lnTo>
                <a:lnTo>
                  <a:pt x="5822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1" name="任意多边形 1430"/>
          <p:cNvSpPr/>
          <p:nvPr/>
        </p:nvSpPr>
        <p:spPr>
          <a:xfrm>
            <a:off x="8181720" y="4271040"/>
            <a:ext cx="10080" cy="296640"/>
          </a:xfrm>
          <a:custGeom>
            <a:avLst/>
            <a:gdLst/>
            <a:ahLst/>
            <a:cxnLst/>
            <a:rect l="0" t="0" r="r" b="b"/>
            <a:pathLst>
              <a:path w="28" h="824">
                <a:moveTo>
                  <a:pt x="0" y="0"/>
                </a:moveTo>
                <a:lnTo>
                  <a:pt x="28" y="0"/>
                </a:lnTo>
                <a:lnTo>
                  <a:pt x="28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2" name="任意多边形 1431"/>
          <p:cNvSpPr/>
          <p:nvPr/>
        </p:nvSpPr>
        <p:spPr>
          <a:xfrm>
            <a:off x="8191440" y="4264200"/>
            <a:ext cx="1114560" cy="7200"/>
          </a:xfrm>
          <a:custGeom>
            <a:avLst/>
            <a:gdLst/>
            <a:ahLst/>
            <a:cxnLst/>
            <a:rect l="0" t="0" r="r" b="b"/>
            <a:pathLst>
              <a:path w="3096" h="20">
                <a:moveTo>
                  <a:pt x="0" y="0"/>
                </a:moveTo>
                <a:lnTo>
                  <a:pt x="3096" y="0"/>
                </a:lnTo>
                <a:lnTo>
                  <a:pt x="3096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3" name="任意多边形 1432"/>
          <p:cNvSpPr/>
          <p:nvPr/>
        </p:nvSpPr>
        <p:spPr>
          <a:xfrm>
            <a:off x="9296280" y="4271040"/>
            <a:ext cx="9720" cy="296640"/>
          </a:xfrm>
          <a:custGeom>
            <a:avLst/>
            <a:gdLst/>
            <a:ahLst/>
            <a:cxnLst/>
            <a:rect l="0" t="0" r="r" b="b"/>
            <a:pathLst>
              <a:path w="27" h="824">
                <a:moveTo>
                  <a:pt x="0" y="0"/>
                </a:moveTo>
                <a:lnTo>
                  <a:pt x="27" y="0"/>
                </a:lnTo>
                <a:lnTo>
                  <a:pt x="27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4" name="任意多边形 1433"/>
          <p:cNvSpPr/>
          <p:nvPr/>
        </p:nvSpPr>
        <p:spPr>
          <a:xfrm>
            <a:off x="9305640" y="4264200"/>
            <a:ext cx="1124280" cy="7200"/>
          </a:xfrm>
          <a:custGeom>
            <a:avLst/>
            <a:gdLst/>
            <a:ahLst/>
            <a:cxnLst/>
            <a:rect l="0" t="0" r="r" b="b"/>
            <a:pathLst>
              <a:path w="3123" h="20">
                <a:moveTo>
                  <a:pt x="0" y="0"/>
                </a:moveTo>
                <a:lnTo>
                  <a:pt x="3123" y="0"/>
                </a:lnTo>
                <a:lnTo>
                  <a:pt x="3123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5" name="任意多边形 1434"/>
          <p:cNvSpPr/>
          <p:nvPr/>
        </p:nvSpPr>
        <p:spPr>
          <a:xfrm>
            <a:off x="10420200" y="4271040"/>
            <a:ext cx="9720" cy="296640"/>
          </a:xfrm>
          <a:custGeom>
            <a:avLst/>
            <a:gdLst/>
            <a:ahLst/>
            <a:cxnLst/>
            <a:rect l="0" t="0" r="r" b="b"/>
            <a:pathLst>
              <a:path w="27" h="824">
                <a:moveTo>
                  <a:pt x="0" y="0"/>
                </a:moveTo>
                <a:lnTo>
                  <a:pt x="27" y="0"/>
                </a:lnTo>
                <a:lnTo>
                  <a:pt x="27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6" name="任意多边形 1435"/>
          <p:cNvSpPr/>
          <p:nvPr/>
        </p:nvSpPr>
        <p:spPr>
          <a:xfrm>
            <a:off x="10429560" y="4264200"/>
            <a:ext cx="1153080" cy="7200"/>
          </a:xfrm>
          <a:custGeom>
            <a:avLst/>
            <a:gdLst/>
            <a:ahLst/>
            <a:cxnLst/>
            <a:rect l="0" t="0" r="r" b="b"/>
            <a:pathLst>
              <a:path w="3203" h="20">
                <a:moveTo>
                  <a:pt x="0" y="0"/>
                </a:moveTo>
                <a:lnTo>
                  <a:pt x="3203" y="0"/>
                </a:lnTo>
                <a:lnTo>
                  <a:pt x="3203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7" name="任意多边形 1436"/>
          <p:cNvSpPr/>
          <p:nvPr/>
        </p:nvSpPr>
        <p:spPr>
          <a:xfrm>
            <a:off x="11572560" y="4271040"/>
            <a:ext cx="10080" cy="296640"/>
          </a:xfrm>
          <a:custGeom>
            <a:avLst/>
            <a:gdLst/>
            <a:ahLst/>
            <a:cxnLst/>
            <a:rect l="0" t="0" r="r" b="b"/>
            <a:pathLst>
              <a:path w="28" h="824">
                <a:moveTo>
                  <a:pt x="0" y="0"/>
                </a:moveTo>
                <a:lnTo>
                  <a:pt x="28" y="0"/>
                </a:lnTo>
                <a:lnTo>
                  <a:pt x="28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8" name="任意多边形 1437"/>
          <p:cNvSpPr/>
          <p:nvPr/>
        </p:nvSpPr>
        <p:spPr>
          <a:xfrm>
            <a:off x="6095880" y="4567320"/>
            <a:ext cx="9720" cy="296640"/>
          </a:xfrm>
          <a:custGeom>
            <a:avLst/>
            <a:gdLst/>
            <a:ahLst/>
            <a:cxnLst/>
            <a:rect l="0" t="0" r="r" b="b"/>
            <a:pathLst>
              <a:path w="27" h="824">
                <a:moveTo>
                  <a:pt x="0" y="0"/>
                </a:moveTo>
                <a:lnTo>
                  <a:pt x="27" y="0"/>
                </a:lnTo>
                <a:lnTo>
                  <a:pt x="27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9" name="任意多边形 1438"/>
          <p:cNvSpPr/>
          <p:nvPr/>
        </p:nvSpPr>
        <p:spPr>
          <a:xfrm>
            <a:off x="6095880" y="4560480"/>
            <a:ext cx="2095920" cy="7200"/>
          </a:xfrm>
          <a:custGeom>
            <a:avLst/>
            <a:gdLst/>
            <a:ahLst/>
            <a:cxnLst/>
            <a:rect l="0" t="0" r="r" b="b"/>
            <a:pathLst>
              <a:path w="5822" h="20">
                <a:moveTo>
                  <a:pt x="0" y="0"/>
                </a:moveTo>
                <a:lnTo>
                  <a:pt x="5822" y="0"/>
                </a:lnTo>
                <a:lnTo>
                  <a:pt x="5822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0" name="任意多边形 1439"/>
          <p:cNvSpPr/>
          <p:nvPr/>
        </p:nvSpPr>
        <p:spPr>
          <a:xfrm>
            <a:off x="8181720" y="4567320"/>
            <a:ext cx="10080" cy="296640"/>
          </a:xfrm>
          <a:custGeom>
            <a:avLst/>
            <a:gdLst/>
            <a:ahLst/>
            <a:cxnLst/>
            <a:rect l="0" t="0" r="r" b="b"/>
            <a:pathLst>
              <a:path w="28" h="824">
                <a:moveTo>
                  <a:pt x="0" y="0"/>
                </a:moveTo>
                <a:lnTo>
                  <a:pt x="28" y="0"/>
                </a:lnTo>
                <a:lnTo>
                  <a:pt x="28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1" name="任意多边形 1440"/>
          <p:cNvSpPr/>
          <p:nvPr/>
        </p:nvSpPr>
        <p:spPr>
          <a:xfrm>
            <a:off x="8191440" y="4560480"/>
            <a:ext cx="1114560" cy="7200"/>
          </a:xfrm>
          <a:custGeom>
            <a:avLst/>
            <a:gdLst/>
            <a:ahLst/>
            <a:cxnLst/>
            <a:rect l="0" t="0" r="r" b="b"/>
            <a:pathLst>
              <a:path w="3096" h="20">
                <a:moveTo>
                  <a:pt x="0" y="0"/>
                </a:moveTo>
                <a:lnTo>
                  <a:pt x="3096" y="0"/>
                </a:lnTo>
                <a:lnTo>
                  <a:pt x="3096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2" name="任意多边形 1441"/>
          <p:cNvSpPr/>
          <p:nvPr/>
        </p:nvSpPr>
        <p:spPr>
          <a:xfrm>
            <a:off x="9296280" y="4567320"/>
            <a:ext cx="9720" cy="296640"/>
          </a:xfrm>
          <a:custGeom>
            <a:avLst/>
            <a:gdLst/>
            <a:ahLst/>
            <a:cxnLst/>
            <a:rect l="0" t="0" r="r" b="b"/>
            <a:pathLst>
              <a:path w="27" h="824">
                <a:moveTo>
                  <a:pt x="0" y="0"/>
                </a:moveTo>
                <a:lnTo>
                  <a:pt x="27" y="0"/>
                </a:lnTo>
                <a:lnTo>
                  <a:pt x="27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3" name="任意多边形 1442"/>
          <p:cNvSpPr/>
          <p:nvPr/>
        </p:nvSpPr>
        <p:spPr>
          <a:xfrm>
            <a:off x="9305640" y="4560480"/>
            <a:ext cx="1124280" cy="7200"/>
          </a:xfrm>
          <a:custGeom>
            <a:avLst/>
            <a:gdLst/>
            <a:ahLst/>
            <a:cxnLst/>
            <a:rect l="0" t="0" r="r" b="b"/>
            <a:pathLst>
              <a:path w="3123" h="20">
                <a:moveTo>
                  <a:pt x="0" y="0"/>
                </a:moveTo>
                <a:lnTo>
                  <a:pt x="3123" y="0"/>
                </a:lnTo>
                <a:lnTo>
                  <a:pt x="3123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4" name="任意多边形 1443"/>
          <p:cNvSpPr/>
          <p:nvPr/>
        </p:nvSpPr>
        <p:spPr>
          <a:xfrm>
            <a:off x="10420200" y="4567320"/>
            <a:ext cx="9720" cy="296640"/>
          </a:xfrm>
          <a:custGeom>
            <a:avLst/>
            <a:gdLst/>
            <a:ahLst/>
            <a:cxnLst/>
            <a:rect l="0" t="0" r="r" b="b"/>
            <a:pathLst>
              <a:path w="27" h="824">
                <a:moveTo>
                  <a:pt x="0" y="0"/>
                </a:moveTo>
                <a:lnTo>
                  <a:pt x="27" y="0"/>
                </a:lnTo>
                <a:lnTo>
                  <a:pt x="27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5" name="任意多边形 1444"/>
          <p:cNvSpPr/>
          <p:nvPr/>
        </p:nvSpPr>
        <p:spPr>
          <a:xfrm>
            <a:off x="10429560" y="4560480"/>
            <a:ext cx="1153080" cy="7200"/>
          </a:xfrm>
          <a:custGeom>
            <a:avLst/>
            <a:gdLst/>
            <a:ahLst/>
            <a:cxnLst/>
            <a:rect l="0" t="0" r="r" b="b"/>
            <a:pathLst>
              <a:path w="3203" h="20">
                <a:moveTo>
                  <a:pt x="0" y="0"/>
                </a:moveTo>
                <a:lnTo>
                  <a:pt x="3203" y="0"/>
                </a:lnTo>
                <a:lnTo>
                  <a:pt x="3203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6" name="任意多边形 1445"/>
          <p:cNvSpPr/>
          <p:nvPr/>
        </p:nvSpPr>
        <p:spPr>
          <a:xfrm>
            <a:off x="11572560" y="4567320"/>
            <a:ext cx="10080" cy="296640"/>
          </a:xfrm>
          <a:custGeom>
            <a:avLst/>
            <a:gdLst/>
            <a:ahLst/>
            <a:cxnLst/>
            <a:rect l="0" t="0" r="r" b="b"/>
            <a:pathLst>
              <a:path w="28" h="824">
                <a:moveTo>
                  <a:pt x="0" y="0"/>
                </a:moveTo>
                <a:lnTo>
                  <a:pt x="28" y="0"/>
                </a:lnTo>
                <a:lnTo>
                  <a:pt x="28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7" name="任意多边形 1446"/>
          <p:cNvSpPr/>
          <p:nvPr/>
        </p:nvSpPr>
        <p:spPr>
          <a:xfrm>
            <a:off x="6095880" y="4863600"/>
            <a:ext cx="9720" cy="297000"/>
          </a:xfrm>
          <a:custGeom>
            <a:avLst/>
            <a:gdLst/>
            <a:ahLst/>
            <a:cxnLst/>
            <a:rect l="0" t="0" r="r" b="b"/>
            <a:pathLst>
              <a:path w="27" h="825">
                <a:moveTo>
                  <a:pt x="0" y="0"/>
                </a:moveTo>
                <a:lnTo>
                  <a:pt x="27" y="0"/>
                </a:lnTo>
                <a:lnTo>
                  <a:pt x="27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8" name="任意多边形 1447"/>
          <p:cNvSpPr/>
          <p:nvPr/>
        </p:nvSpPr>
        <p:spPr>
          <a:xfrm>
            <a:off x="6095880" y="4857120"/>
            <a:ext cx="2095920" cy="6840"/>
          </a:xfrm>
          <a:custGeom>
            <a:avLst/>
            <a:gdLst/>
            <a:ahLst/>
            <a:cxnLst/>
            <a:rect l="0" t="0" r="r" b="b"/>
            <a:pathLst>
              <a:path w="5822" h="19">
                <a:moveTo>
                  <a:pt x="0" y="0"/>
                </a:moveTo>
                <a:lnTo>
                  <a:pt x="5822" y="0"/>
                </a:lnTo>
                <a:lnTo>
                  <a:pt x="5822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9" name="任意多边形 1448"/>
          <p:cNvSpPr/>
          <p:nvPr/>
        </p:nvSpPr>
        <p:spPr>
          <a:xfrm>
            <a:off x="8181720" y="4863600"/>
            <a:ext cx="10080" cy="297000"/>
          </a:xfrm>
          <a:custGeom>
            <a:avLst/>
            <a:gdLst/>
            <a:ahLst/>
            <a:cxnLst/>
            <a:rect l="0" t="0" r="r" b="b"/>
            <a:pathLst>
              <a:path w="28" h="825">
                <a:moveTo>
                  <a:pt x="0" y="0"/>
                </a:moveTo>
                <a:lnTo>
                  <a:pt x="28" y="0"/>
                </a:lnTo>
                <a:lnTo>
                  <a:pt x="28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0" name="任意多边形 1449"/>
          <p:cNvSpPr/>
          <p:nvPr/>
        </p:nvSpPr>
        <p:spPr>
          <a:xfrm>
            <a:off x="8191440" y="4857120"/>
            <a:ext cx="1114560" cy="6840"/>
          </a:xfrm>
          <a:custGeom>
            <a:avLst/>
            <a:gdLst/>
            <a:ahLst/>
            <a:cxnLst/>
            <a:rect l="0" t="0" r="r" b="b"/>
            <a:pathLst>
              <a:path w="3096" h="19">
                <a:moveTo>
                  <a:pt x="0" y="0"/>
                </a:moveTo>
                <a:lnTo>
                  <a:pt x="3096" y="0"/>
                </a:lnTo>
                <a:lnTo>
                  <a:pt x="309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1" name="任意多边形 1450"/>
          <p:cNvSpPr/>
          <p:nvPr/>
        </p:nvSpPr>
        <p:spPr>
          <a:xfrm>
            <a:off x="9296280" y="4863600"/>
            <a:ext cx="9720" cy="297000"/>
          </a:xfrm>
          <a:custGeom>
            <a:avLst/>
            <a:gdLst/>
            <a:ahLst/>
            <a:cxnLst/>
            <a:rect l="0" t="0" r="r" b="b"/>
            <a:pathLst>
              <a:path w="27" h="825">
                <a:moveTo>
                  <a:pt x="0" y="0"/>
                </a:moveTo>
                <a:lnTo>
                  <a:pt x="27" y="0"/>
                </a:lnTo>
                <a:lnTo>
                  <a:pt x="27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2" name="任意多边形 1451"/>
          <p:cNvSpPr/>
          <p:nvPr/>
        </p:nvSpPr>
        <p:spPr>
          <a:xfrm>
            <a:off x="9305640" y="4857120"/>
            <a:ext cx="1124280" cy="6840"/>
          </a:xfrm>
          <a:custGeom>
            <a:avLst/>
            <a:gdLst/>
            <a:ahLst/>
            <a:cxnLst/>
            <a:rect l="0" t="0" r="r" b="b"/>
            <a:pathLst>
              <a:path w="3123" h="19">
                <a:moveTo>
                  <a:pt x="0" y="0"/>
                </a:moveTo>
                <a:lnTo>
                  <a:pt x="3123" y="0"/>
                </a:lnTo>
                <a:lnTo>
                  <a:pt x="3123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3" name="任意多边形 1452"/>
          <p:cNvSpPr/>
          <p:nvPr/>
        </p:nvSpPr>
        <p:spPr>
          <a:xfrm>
            <a:off x="10420200" y="4863600"/>
            <a:ext cx="9720" cy="297000"/>
          </a:xfrm>
          <a:custGeom>
            <a:avLst/>
            <a:gdLst/>
            <a:ahLst/>
            <a:cxnLst/>
            <a:rect l="0" t="0" r="r" b="b"/>
            <a:pathLst>
              <a:path w="27" h="825">
                <a:moveTo>
                  <a:pt x="0" y="0"/>
                </a:moveTo>
                <a:lnTo>
                  <a:pt x="27" y="0"/>
                </a:lnTo>
                <a:lnTo>
                  <a:pt x="27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4" name="任意多边形 1453"/>
          <p:cNvSpPr/>
          <p:nvPr/>
        </p:nvSpPr>
        <p:spPr>
          <a:xfrm>
            <a:off x="10429560" y="4857120"/>
            <a:ext cx="1153080" cy="6840"/>
          </a:xfrm>
          <a:custGeom>
            <a:avLst/>
            <a:gdLst/>
            <a:ahLst/>
            <a:cxnLst/>
            <a:rect l="0" t="0" r="r" b="b"/>
            <a:pathLst>
              <a:path w="3203" h="19">
                <a:moveTo>
                  <a:pt x="0" y="0"/>
                </a:moveTo>
                <a:lnTo>
                  <a:pt x="3203" y="0"/>
                </a:lnTo>
                <a:lnTo>
                  <a:pt x="3203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5" name="任意多边形 1454"/>
          <p:cNvSpPr/>
          <p:nvPr/>
        </p:nvSpPr>
        <p:spPr>
          <a:xfrm>
            <a:off x="11572560" y="4863600"/>
            <a:ext cx="10080" cy="297000"/>
          </a:xfrm>
          <a:custGeom>
            <a:avLst/>
            <a:gdLst/>
            <a:ahLst/>
            <a:cxnLst/>
            <a:rect l="0" t="0" r="r" b="b"/>
            <a:pathLst>
              <a:path w="28" h="825">
                <a:moveTo>
                  <a:pt x="0" y="0"/>
                </a:moveTo>
                <a:lnTo>
                  <a:pt x="28" y="0"/>
                </a:lnTo>
                <a:lnTo>
                  <a:pt x="28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6" name="任意多边形 1455"/>
          <p:cNvSpPr/>
          <p:nvPr/>
        </p:nvSpPr>
        <p:spPr>
          <a:xfrm>
            <a:off x="6095880" y="5153400"/>
            <a:ext cx="2095920" cy="7200"/>
          </a:xfrm>
          <a:custGeom>
            <a:avLst/>
            <a:gdLst/>
            <a:ahLst/>
            <a:cxnLst/>
            <a:rect l="0" t="0" r="r" b="b"/>
            <a:pathLst>
              <a:path w="5822" h="20">
                <a:moveTo>
                  <a:pt x="0" y="0"/>
                </a:moveTo>
                <a:lnTo>
                  <a:pt x="5822" y="0"/>
                </a:lnTo>
                <a:lnTo>
                  <a:pt x="5822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7" name="任意多边形 1456"/>
          <p:cNvSpPr/>
          <p:nvPr/>
        </p:nvSpPr>
        <p:spPr>
          <a:xfrm>
            <a:off x="8191440" y="5153400"/>
            <a:ext cx="1114560" cy="7200"/>
          </a:xfrm>
          <a:custGeom>
            <a:avLst/>
            <a:gdLst/>
            <a:ahLst/>
            <a:cxnLst/>
            <a:rect l="0" t="0" r="r" b="b"/>
            <a:pathLst>
              <a:path w="3096" h="20">
                <a:moveTo>
                  <a:pt x="0" y="0"/>
                </a:moveTo>
                <a:lnTo>
                  <a:pt x="3096" y="0"/>
                </a:lnTo>
                <a:lnTo>
                  <a:pt x="3096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8" name="任意多边形 1457"/>
          <p:cNvSpPr/>
          <p:nvPr/>
        </p:nvSpPr>
        <p:spPr>
          <a:xfrm>
            <a:off x="9305640" y="5153400"/>
            <a:ext cx="1124280" cy="7200"/>
          </a:xfrm>
          <a:custGeom>
            <a:avLst/>
            <a:gdLst/>
            <a:ahLst/>
            <a:cxnLst/>
            <a:rect l="0" t="0" r="r" b="b"/>
            <a:pathLst>
              <a:path w="3123" h="20">
                <a:moveTo>
                  <a:pt x="0" y="0"/>
                </a:moveTo>
                <a:lnTo>
                  <a:pt x="3123" y="0"/>
                </a:lnTo>
                <a:lnTo>
                  <a:pt x="3123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9" name="任意多边形 1458"/>
          <p:cNvSpPr/>
          <p:nvPr/>
        </p:nvSpPr>
        <p:spPr>
          <a:xfrm>
            <a:off x="10429560" y="5153400"/>
            <a:ext cx="1153080" cy="7200"/>
          </a:xfrm>
          <a:custGeom>
            <a:avLst/>
            <a:gdLst/>
            <a:ahLst/>
            <a:cxnLst/>
            <a:rect l="0" t="0" r="r" b="b"/>
            <a:pathLst>
              <a:path w="3203" h="20">
                <a:moveTo>
                  <a:pt x="0" y="0"/>
                </a:moveTo>
                <a:lnTo>
                  <a:pt x="3203" y="0"/>
                </a:lnTo>
                <a:lnTo>
                  <a:pt x="3203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0" name="文本框 1459"/>
          <p:cNvSpPr txBox="1"/>
          <p:nvPr/>
        </p:nvSpPr>
        <p:spPr>
          <a:xfrm>
            <a:off x="1321920" y="6024600"/>
            <a:ext cx="175047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在线学习：每周增量更新模型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461" name="图片 1460"/>
          <p:cNvPicPr/>
          <p:nvPr/>
        </p:nvPicPr>
        <p:blipFill>
          <a:blip r:embed="rId2"/>
          <a:stretch>
            <a:fillRect/>
          </a:stretch>
        </p:blipFill>
        <p:spPr>
          <a:xfrm>
            <a:off x="7715160" y="1401120"/>
            <a:ext cx="2247480" cy="171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2" name="文本框 1461"/>
          <p:cNvSpPr txBox="1"/>
          <p:nvPr/>
        </p:nvSpPr>
        <p:spPr>
          <a:xfrm>
            <a:off x="6095880" y="1030680"/>
            <a:ext cx="11210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欺诈检测流程图</a:t>
            </a:r>
            <a:endParaRPr lang="en-US" sz="14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3" name="文本框 1462"/>
          <p:cNvSpPr txBox="1"/>
          <p:nvPr/>
        </p:nvSpPr>
        <p:spPr>
          <a:xfrm>
            <a:off x="6095880" y="3307680"/>
            <a:ext cx="17611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不平衡问题解决⽅案效果</a:t>
            </a:r>
            <a:endParaRPr lang="en-US" sz="14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4" name="文本框 1463"/>
          <p:cNvSpPr txBox="1"/>
          <p:nvPr/>
        </p:nvSpPr>
        <p:spPr>
          <a:xfrm>
            <a:off x="6799680" y="3747600"/>
            <a:ext cx="4140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6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处理⽅法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5" name="文本框 1464"/>
          <p:cNvSpPr txBox="1"/>
          <p:nvPr/>
        </p:nvSpPr>
        <p:spPr>
          <a:xfrm>
            <a:off x="8487360" y="3747600"/>
            <a:ext cx="3106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6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召回率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6" name="文本框 1465"/>
          <p:cNvSpPr txBox="1"/>
          <p:nvPr/>
        </p:nvSpPr>
        <p:spPr>
          <a:xfrm>
            <a:off x="9607680" y="3747600"/>
            <a:ext cx="3106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6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精确率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7" name="文本框 1466"/>
          <p:cNvSpPr txBox="1"/>
          <p:nvPr/>
        </p:nvSpPr>
        <p:spPr>
          <a:xfrm>
            <a:off x="10734840" y="3752280"/>
            <a:ext cx="19188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1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F1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8" name="文本框 1467"/>
          <p:cNvSpPr txBox="1"/>
          <p:nvPr/>
        </p:nvSpPr>
        <p:spPr>
          <a:xfrm>
            <a:off x="10925280" y="3747600"/>
            <a:ext cx="20736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6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分数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9" name="文本框 1468"/>
          <p:cNvSpPr txBox="1"/>
          <p:nvPr/>
        </p:nvSpPr>
        <p:spPr>
          <a:xfrm>
            <a:off x="6181560" y="4043880"/>
            <a:ext cx="53860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原始数据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0" name="文本框 1469"/>
          <p:cNvSpPr txBox="1"/>
          <p:nvPr/>
        </p:nvSpPr>
        <p:spPr>
          <a:xfrm>
            <a:off x="8265240" y="404856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0.62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1" name="文本框 1470"/>
          <p:cNvSpPr txBox="1"/>
          <p:nvPr/>
        </p:nvSpPr>
        <p:spPr>
          <a:xfrm>
            <a:off x="9385560" y="404856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0.85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2" name="文本框 1471"/>
          <p:cNvSpPr txBox="1"/>
          <p:nvPr/>
        </p:nvSpPr>
        <p:spPr>
          <a:xfrm>
            <a:off x="10506240" y="404856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0.72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3" name="文本框 1472"/>
          <p:cNvSpPr txBox="1"/>
          <p:nvPr/>
        </p:nvSpPr>
        <p:spPr>
          <a:xfrm>
            <a:off x="6181560" y="4344840"/>
            <a:ext cx="45685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SMOTE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4" name="文本框 1473"/>
          <p:cNvSpPr txBox="1"/>
          <p:nvPr/>
        </p:nvSpPr>
        <p:spPr>
          <a:xfrm>
            <a:off x="6762960" y="4340520"/>
            <a:ext cx="3106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6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过采样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5" name="文本框 1474"/>
          <p:cNvSpPr txBox="1"/>
          <p:nvPr/>
        </p:nvSpPr>
        <p:spPr>
          <a:xfrm>
            <a:off x="8265240" y="434484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0.78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6" name="文本框 1475"/>
          <p:cNvSpPr txBox="1"/>
          <p:nvPr/>
        </p:nvSpPr>
        <p:spPr>
          <a:xfrm>
            <a:off x="9385560" y="434484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0.82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7" name="文本框 1476"/>
          <p:cNvSpPr txBox="1"/>
          <p:nvPr/>
        </p:nvSpPr>
        <p:spPr>
          <a:xfrm>
            <a:off x="10506240" y="434484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0.80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8" name="文本框 1477"/>
          <p:cNvSpPr txBox="1"/>
          <p:nvPr/>
        </p:nvSpPr>
        <p:spPr>
          <a:xfrm>
            <a:off x="6181560" y="4636800"/>
            <a:ext cx="807913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代价敏感学习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9" name="文本框 1478"/>
          <p:cNvSpPr txBox="1"/>
          <p:nvPr/>
        </p:nvSpPr>
        <p:spPr>
          <a:xfrm>
            <a:off x="8265240" y="464148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0.75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0" name="文本框 1479"/>
          <p:cNvSpPr txBox="1"/>
          <p:nvPr/>
        </p:nvSpPr>
        <p:spPr>
          <a:xfrm>
            <a:off x="9385560" y="464148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0.91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1" name="文本框 1480"/>
          <p:cNvSpPr txBox="1"/>
          <p:nvPr/>
        </p:nvSpPr>
        <p:spPr>
          <a:xfrm>
            <a:off x="10506240" y="464148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0.82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2" name="文本框 1481"/>
          <p:cNvSpPr txBox="1"/>
          <p:nvPr/>
        </p:nvSpPr>
        <p:spPr>
          <a:xfrm>
            <a:off x="6181560" y="4933440"/>
            <a:ext cx="53860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组合⽅法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3" name="文本框 1482"/>
          <p:cNvSpPr txBox="1"/>
          <p:nvPr/>
        </p:nvSpPr>
        <p:spPr>
          <a:xfrm>
            <a:off x="8265240" y="493776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0.83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4" name="文本框 1483"/>
          <p:cNvSpPr txBox="1"/>
          <p:nvPr/>
        </p:nvSpPr>
        <p:spPr>
          <a:xfrm>
            <a:off x="9385560" y="493776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0.89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6" name="文本框 1485"/>
          <p:cNvSpPr txBox="1"/>
          <p:nvPr/>
        </p:nvSpPr>
        <p:spPr>
          <a:xfrm>
            <a:off x="10506240" y="493776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0.86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7041E1-E4B5-429F-7DF7-0E9AB5E772BA}"/>
              </a:ext>
            </a:extLst>
          </p:cNvPr>
          <p:cNvSpPr txBox="1"/>
          <p:nvPr/>
        </p:nvSpPr>
        <p:spPr>
          <a:xfrm>
            <a:off x="10905272" y="17246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任意多边形 149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97" name="任意多边形 1496"/>
          <p:cNvSpPr/>
          <p:nvPr/>
        </p:nvSpPr>
        <p:spPr>
          <a:xfrm>
            <a:off x="152280" y="128160"/>
            <a:ext cx="11887560" cy="6729840"/>
          </a:xfrm>
          <a:custGeom>
            <a:avLst/>
            <a:gdLst/>
            <a:ahLst/>
            <a:cxnLst/>
            <a:rect l="0" t="0" r="r" b="b"/>
            <a:pathLst>
              <a:path w="33021" h="18694">
                <a:moveTo>
                  <a:pt x="0" y="0"/>
                </a:moveTo>
                <a:lnTo>
                  <a:pt x="33021" y="0"/>
                </a:lnTo>
                <a:lnTo>
                  <a:pt x="33021" y="18694"/>
                </a:lnTo>
                <a:lnTo>
                  <a:pt x="0" y="186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98" name="任意多边形 1497"/>
          <p:cNvSpPr/>
          <p:nvPr/>
        </p:nvSpPr>
        <p:spPr>
          <a:xfrm>
            <a:off x="152280" y="128160"/>
            <a:ext cx="11887560" cy="811440"/>
          </a:xfrm>
          <a:custGeom>
            <a:avLst/>
            <a:gdLst/>
            <a:ahLst/>
            <a:cxnLst/>
            <a:rect l="0" t="0" r="r" b="b"/>
            <a:pathLst>
              <a:path w="33021" h="2254">
                <a:moveTo>
                  <a:pt x="0" y="0"/>
                </a:moveTo>
                <a:lnTo>
                  <a:pt x="33021" y="0"/>
                </a:lnTo>
                <a:lnTo>
                  <a:pt x="33021" y="2254"/>
                </a:lnTo>
                <a:lnTo>
                  <a:pt x="0" y="2254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99" name="任意多边形 1498"/>
          <p:cNvSpPr/>
          <p:nvPr/>
        </p:nvSpPr>
        <p:spPr>
          <a:xfrm>
            <a:off x="152280" y="939240"/>
            <a:ext cx="11887560" cy="5702040"/>
          </a:xfrm>
          <a:custGeom>
            <a:avLst/>
            <a:gdLst/>
            <a:ahLst/>
            <a:cxnLst/>
            <a:rect l="0" t="0" r="r" b="b"/>
            <a:pathLst>
              <a:path w="33021" h="15839">
                <a:moveTo>
                  <a:pt x="0" y="0"/>
                </a:moveTo>
                <a:lnTo>
                  <a:pt x="33021" y="0"/>
                </a:lnTo>
                <a:lnTo>
                  <a:pt x="33021" y="15839"/>
                </a:lnTo>
                <a:lnTo>
                  <a:pt x="0" y="1583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0" name="任意多边形 1499"/>
          <p:cNvSpPr/>
          <p:nvPr/>
        </p:nvSpPr>
        <p:spPr>
          <a:xfrm>
            <a:off x="628560" y="1726200"/>
            <a:ext cx="5315040" cy="803520"/>
          </a:xfrm>
          <a:custGeom>
            <a:avLst/>
            <a:gdLst/>
            <a:ahLst/>
            <a:cxnLst/>
            <a:rect l="0" t="0" r="r" b="b"/>
            <a:pathLst>
              <a:path w="14764" h="2232">
                <a:moveTo>
                  <a:pt x="0" y="2232"/>
                </a:moveTo>
                <a:lnTo>
                  <a:pt x="0" y="0"/>
                </a:lnTo>
                <a:lnTo>
                  <a:pt x="14553" y="0"/>
                </a:lnTo>
                <a:cubicBezTo>
                  <a:pt x="14567" y="0"/>
                  <a:pt x="14580" y="2"/>
                  <a:pt x="14594" y="4"/>
                </a:cubicBezTo>
                <a:cubicBezTo>
                  <a:pt x="14608" y="6"/>
                  <a:pt x="14621" y="10"/>
                  <a:pt x="14634" y="14"/>
                </a:cubicBezTo>
                <a:cubicBezTo>
                  <a:pt x="14647" y="19"/>
                  <a:pt x="14659" y="24"/>
                  <a:pt x="14670" y="31"/>
                </a:cubicBezTo>
                <a:cubicBezTo>
                  <a:pt x="14682" y="37"/>
                  <a:pt x="14693" y="44"/>
                  <a:pt x="14703" y="53"/>
                </a:cubicBezTo>
                <a:cubicBezTo>
                  <a:pt x="14712" y="61"/>
                  <a:pt x="14721" y="70"/>
                  <a:pt x="14729" y="80"/>
                </a:cubicBezTo>
                <a:cubicBezTo>
                  <a:pt x="14737" y="90"/>
                  <a:pt x="14743" y="100"/>
                  <a:pt x="14748" y="111"/>
                </a:cubicBezTo>
                <a:cubicBezTo>
                  <a:pt x="14754" y="121"/>
                  <a:pt x="14758" y="133"/>
                  <a:pt x="14760" y="144"/>
                </a:cubicBezTo>
                <a:cubicBezTo>
                  <a:pt x="14763" y="156"/>
                  <a:pt x="14764" y="167"/>
                  <a:pt x="14764" y="179"/>
                </a:cubicBezTo>
                <a:lnTo>
                  <a:pt x="14764" y="2054"/>
                </a:lnTo>
                <a:cubicBezTo>
                  <a:pt x="14764" y="2065"/>
                  <a:pt x="14763" y="2077"/>
                  <a:pt x="14760" y="2088"/>
                </a:cubicBezTo>
                <a:cubicBezTo>
                  <a:pt x="14758" y="2100"/>
                  <a:pt x="14754" y="2111"/>
                  <a:pt x="14748" y="2122"/>
                </a:cubicBezTo>
                <a:cubicBezTo>
                  <a:pt x="14743" y="2133"/>
                  <a:pt x="14737" y="2143"/>
                  <a:pt x="14729" y="2153"/>
                </a:cubicBezTo>
                <a:cubicBezTo>
                  <a:pt x="14721" y="2163"/>
                  <a:pt x="14712" y="2172"/>
                  <a:pt x="14703" y="2180"/>
                </a:cubicBezTo>
                <a:cubicBezTo>
                  <a:pt x="14693" y="2188"/>
                  <a:pt x="14682" y="2196"/>
                  <a:pt x="14670" y="2202"/>
                </a:cubicBezTo>
                <a:cubicBezTo>
                  <a:pt x="14659" y="2209"/>
                  <a:pt x="14647" y="2214"/>
                  <a:pt x="14634" y="2219"/>
                </a:cubicBezTo>
                <a:cubicBezTo>
                  <a:pt x="14621" y="2223"/>
                  <a:pt x="14608" y="2226"/>
                  <a:pt x="14594" y="2229"/>
                </a:cubicBezTo>
                <a:cubicBezTo>
                  <a:pt x="14580" y="2231"/>
                  <a:pt x="14567" y="2232"/>
                  <a:pt x="14553" y="2232"/>
                </a:cubicBezTo>
                <a:lnTo>
                  <a:pt x="0" y="2232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1" name="任意多边形 1500"/>
          <p:cNvSpPr/>
          <p:nvPr/>
        </p:nvSpPr>
        <p:spPr>
          <a:xfrm>
            <a:off x="609480" y="1726200"/>
            <a:ext cx="38520" cy="803520"/>
          </a:xfrm>
          <a:custGeom>
            <a:avLst/>
            <a:gdLst/>
            <a:ahLst/>
            <a:cxnLst/>
            <a:rect l="0" t="0" r="r" b="b"/>
            <a:pathLst>
              <a:path w="107" h="2232">
                <a:moveTo>
                  <a:pt x="0" y="0"/>
                </a:moveTo>
                <a:lnTo>
                  <a:pt x="107" y="0"/>
                </a:lnTo>
                <a:lnTo>
                  <a:pt x="107" y="2232"/>
                </a:lnTo>
                <a:lnTo>
                  <a:pt x="0" y="223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2" name="任意多边形 1501"/>
          <p:cNvSpPr/>
          <p:nvPr/>
        </p:nvSpPr>
        <p:spPr>
          <a:xfrm>
            <a:off x="628560" y="2657880"/>
            <a:ext cx="5315040" cy="803520"/>
          </a:xfrm>
          <a:custGeom>
            <a:avLst/>
            <a:gdLst/>
            <a:ahLst/>
            <a:cxnLst/>
            <a:rect l="0" t="0" r="r" b="b"/>
            <a:pathLst>
              <a:path w="14764" h="2232">
                <a:moveTo>
                  <a:pt x="0" y="2232"/>
                </a:moveTo>
                <a:lnTo>
                  <a:pt x="0" y="0"/>
                </a:lnTo>
                <a:lnTo>
                  <a:pt x="14553" y="0"/>
                </a:lnTo>
                <a:cubicBezTo>
                  <a:pt x="14567" y="0"/>
                  <a:pt x="14580" y="1"/>
                  <a:pt x="14594" y="3"/>
                </a:cubicBezTo>
                <a:cubicBezTo>
                  <a:pt x="14608" y="6"/>
                  <a:pt x="14621" y="9"/>
                  <a:pt x="14634" y="14"/>
                </a:cubicBezTo>
                <a:cubicBezTo>
                  <a:pt x="14647" y="18"/>
                  <a:pt x="14659" y="24"/>
                  <a:pt x="14670" y="30"/>
                </a:cubicBezTo>
                <a:cubicBezTo>
                  <a:pt x="14682" y="37"/>
                  <a:pt x="14693" y="44"/>
                  <a:pt x="14703" y="52"/>
                </a:cubicBezTo>
                <a:cubicBezTo>
                  <a:pt x="14712" y="61"/>
                  <a:pt x="14721" y="70"/>
                  <a:pt x="14729" y="79"/>
                </a:cubicBezTo>
                <a:cubicBezTo>
                  <a:pt x="14737" y="89"/>
                  <a:pt x="14743" y="99"/>
                  <a:pt x="14748" y="110"/>
                </a:cubicBezTo>
                <a:cubicBezTo>
                  <a:pt x="14754" y="121"/>
                  <a:pt x="14758" y="132"/>
                  <a:pt x="14760" y="144"/>
                </a:cubicBezTo>
                <a:cubicBezTo>
                  <a:pt x="14763" y="155"/>
                  <a:pt x="14764" y="167"/>
                  <a:pt x="14764" y="179"/>
                </a:cubicBezTo>
                <a:lnTo>
                  <a:pt x="14764" y="2053"/>
                </a:lnTo>
                <a:cubicBezTo>
                  <a:pt x="14764" y="2065"/>
                  <a:pt x="14763" y="2077"/>
                  <a:pt x="14760" y="2088"/>
                </a:cubicBezTo>
                <a:cubicBezTo>
                  <a:pt x="14758" y="2100"/>
                  <a:pt x="14754" y="2111"/>
                  <a:pt x="14748" y="2122"/>
                </a:cubicBezTo>
                <a:cubicBezTo>
                  <a:pt x="14743" y="2132"/>
                  <a:pt x="14737" y="2143"/>
                  <a:pt x="14729" y="2152"/>
                </a:cubicBezTo>
                <a:cubicBezTo>
                  <a:pt x="14721" y="2162"/>
                  <a:pt x="14712" y="2171"/>
                  <a:pt x="14703" y="2179"/>
                </a:cubicBezTo>
                <a:cubicBezTo>
                  <a:pt x="14693" y="2188"/>
                  <a:pt x="14682" y="2195"/>
                  <a:pt x="14670" y="2202"/>
                </a:cubicBezTo>
                <a:cubicBezTo>
                  <a:pt x="14659" y="2208"/>
                  <a:pt x="14647" y="2214"/>
                  <a:pt x="14634" y="2218"/>
                </a:cubicBezTo>
                <a:cubicBezTo>
                  <a:pt x="14621" y="2223"/>
                  <a:pt x="14608" y="2226"/>
                  <a:pt x="14594" y="2228"/>
                </a:cubicBezTo>
                <a:cubicBezTo>
                  <a:pt x="14580" y="2231"/>
                  <a:pt x="14567" y="2232"/>
                  <a:pt x="14553" y="2232"/>
                </a:cubicBezTo>
                <a:lnTo>
                  <a:pt x="0" y="2232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3" name="任意多边形 1502"/>
          <p:cNvSpPr/>
          <p:nvPr/>
        </p:nvSpPr>
        <p:spPr>
          <a:xfrm>
            <a:off x="609480" y="2657880"/>
            <a:ext cx="38520" cy="803520"/>
          </a:xfrm>
          <a:custGeom>
            <a:avLst/>
            <a:gdLst/>
            <a:ahLst/>
            <a:cxnLst/>
            <a:rect l="0" t="0" r="r" b="b"/>
            <a:pathLst>
              <a:path w="107" h="2232">
                <a:moveTo>
                  <a:pt x="0" y="0"/>
                </a:moveTo>
                <a:lnTo>
                  <a:pt x="107" y="0"/>
                </a:lnTo>
                <a:lnTo>
                  <a:pt x="107" y="2232"/>
                </a:lnTo>
                <a:lnTo>
                  <a:pt x="0" y="223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4" name="任意多边形 1503"/>
          <p:cNvSpPr/>
          <p:nvPr/>
        </p:nvSpPr>
        <p:spPr>
          <a:xfrm>
            <a:off x="628560" y="3589560"/>
            <a:ext cx="5315040" cy="803160"/>
          </a:xfrm>
          <a:custGeom>
            <a:avLst/>
            <a:gdLst/>
            <a:ahLst/>
            <a:cxnLst/>
            <a:rect l="0" t="0" r="r" b="b"/>
            <a:pathLst>
              <a:path w="14764" h="2231">
                <a:moveTo>
                  <a:pt x="0" y="2231"/>
                </a:moveTo>
                <a:lnTo>
                  <a:pt x="0" y="0"/>
                </a:lnTo>
                <a:lnTo>
                  <a:pt x="14553" y="0"/>
                </a:lnTo>
                <a:cubicBezTo>
                  <a:pt x="14567" y="0"/>
                  <a:pt x="14580" y="1"/>
                  <a:pt x="14594" y="3"/>
                </a:cubicBezTo>
                <a:cubicBezTo>
                  <a:pt x="14608" y="5"/>
                  <a:pt x="14621" y="9"/>
                  <a:pt x="14634" y="13"/>
                </a:cubicBezTo>
                <a:cubicBezTo>
                  <a:pt x="14647" y="18"/>
                  <a:pt x="14659" y="23"/>
                  <a:pt x="14670" y="30"/>
                </a:cubicBezTo>
                <a:cubicBezTo>
                  <a:pt x="14682" y="36"/>
                  <a:pt x="14693" y="44"/>
                  <a:pt x="14703" y="52"/>
                </a:cubicBezTo>
                <a:cubicBezTo>
                  <a:pt x="14712" y="60"/>
                  <a:pt x="14721" y="70"/>
                  <a:pt x="14729" y="80"/>
                </a:cubicBezTo>
                <a:cubicBezTo>
                  <a:pt x="14737" y="90"/>
                  <a:pt x="14743" y="100"/>
                  <a:pt x="14748" y="111"/>
                </a:cubicBezTo>
                <a:cubicBezTo>
                  <a:pt x="14754" y="122"/>
                  <a:pt x="14758" y="133"/>
                  <a:pt x="14760" y="144"/>
                </a:cubicBezTo>
                <a:cubicBezTo>
                  <a:pt x="14763" y="156"/>
                  <a:pt x="14764" y="167"/>
                  <a:pt x="14764" y="179"/>
                </a:cubicBezTo>
                <a:lnTo>
                  <a:pt x="14764" y="2053"/>
                </a:lnTo>
                <a:cubicBezTo>
                  <a:pt x="14764" y="2065"/>
                  <a:pt x="14763" y="2076"/>
                  <a:pt x="14760" y="2088"/>
                </a:cubicBezTo>
                <a:cubicBezTo>
                  <a:pt x="14758" y="2099"/>
                  <a:pt x="14754" y="2110"/>
                  <a:pt x="14748" y="2121"/>
                </a:cubicBezTo>
                <a:cubicBezTo>
                  <a:pt x="14743" y="2132"/>
                  <a:pt x="14737" y="2142"/>
                  <a:pt x="14729" y="2152"/>
                </a:cubicBezTo>
                <a:cubicBezTo>
                  <a:pt x="14721" y="2162"/>
                  <a:pt x="14712" y="2171"/>
                  <a:pt x="14703" y="2179"/>
                </a:cubicBezTo>
                <a:cubicBezTo>
                  <a:pt x="14693" y="2187"/>
                  <a:pt x="14682" y="2195"/>
                  <a:pt x="14670" y="2201"/>
                </a:cubicBezTo>
                <a:cubicBezTo>
                  <a:pt x="14659" y="2208"/>
                  <a:pt x="14647" y="2213"/>
                  <a:pt x="14634" y="2218"/>
                </a:cubicBezTo>
                <a:cubicBezTo>
                  <a:pt x="14621" y="2222"/>
                  <a:pt x="14608" y="2226"/>
                  <a:pt x="14594" y="2228"/>
                </a:cubicBezTo>
                <a:cubicBezTo>
                  <a:pt x="14580" y="2230"/>
                  <a:pt x="14567" y="2231"/>
                  <a:pt x="14553" y="2231"/>
                </a:cubicBezTo>
                <a:lnTo>
                  <a:pt x="0" y="2231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5" name="任意多边形 1504"/>
          <p:cNvSpPr/>
          <p:nvPr/>
        </p:nvSpPr>
        <p:spPr>
          <a:xfrm>
            <a:off x="609480" y="3589560"/>
            <a:ext cx="38520" cy="803160"/>
          </a:xfrm>
          <a:custGeom>
            <a:avLst/>
            <a:gdLst/>
            <a:ahLst/>
            <a:cxnLst/>
            <a:rect l="0" t="0" r="r" b="b"/>
            <a:pathLst>
              <a:path w="107" h="2231">
                <a:moveTo>
                  <a:pt x="0" y="0"/>
                </a:moveTo>
                <a:lnTo>
                  <a:pt x="107" y="0"/>
                </a:lnTo>
                <a:lnTo>
                  <a:pt x="107" y="2231"/>
                </a:lnTo>
                <a:lnTo>
                  <a:pt x="0" y="2231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6" name="任意多边形 1505"/>
          <p:cNvSpPr/>
          <p:nvPr/>
        </p:nvSpPr>
        <p:spPr>
          <a:xfrm>
            <a:off x="628560" y="4520880"/>
            <a:ext cx="5315040" cy="803520"/>
          </a:xfrm>
          <a:custGeom>
            <a:avLst/>
            <a:gdLst/>
            <a:ahLst/>
            <a:cxnLst/>
            <a:rect l="0" t="0" r="r" b="b"/>
            <a:pathLst>
              <a:path w="14764" h="2232">
                <a:moveTo>
                  <a:pt x="0" y="2232"/>
                </a:moveTo>
                <a:lnTo>
                  <a:pt x="0" y="0"/>
                </a:lnTo>
                <a:lnTo>
                  <a:pt x="14553" y="0"/>
                </a:lnTo>
                <a:cubicBezTo>
                  <a:pt x="14567" y="0"/>
                  <a:pt x="14580" y="1"/>
                  <a:pt x="14594" y="4"/>
                </a:cubicBezTo>
                <a:cubicBezTo>
                  <a:pt x="14608" y="6"/>
                  <a:pt x="14621" y="9"/>
                  <a:pt x="14634" y="14"/>
                </a:cubicBezTo>
                <a:cubicBezTo>
                  <a:pt x="14647" y="18"/>
                  <a:pt x="14659" y="24"/>
                  <a:pt x="14670" y="30"/>
                </a:cubicBezTo>
                <a:cubicBezTo>
                  <a:pt x="14682" y="37"/>
                  <a:pt x="14693" y="44"/>
                  <a:pt x="14703" y="52"/>
                </a:cubicBezTo>
                <a:cubicBezTo>
                  <a:pt x="14712" y="61"/>
                  <a:pt x="14721" y="70"/>
                  <a:pt x="14729" y="80"/>
                </a:cubicBezTo>
                <a:cubicBezTo>
                  <a:pt x="14737" y="89"/>
                  <a:pt x="14743" y="100"/>
                  <a:pt x="14748" y="110"/>
                </a:cubicBezTo>
                <a:cubicBezTo>
                  <a:pt x="14754" y="121"/>
                  <a:pt x="14758" y="132"/>
                  <a:pt x="14760" y="144"/>
                </a:cubicBezTo>
                <a:cubicBezTo>
                  <a:pt x="14763" y="155"/>
                  <a:pt x="14764" y="167"/>
                  <a:pt x="14764" y="179"/>
                </a:cubicBezTo>
                <a:lnTo>
                  <a:pt x="14764" y="2053"/>
                </a:lnTo>
                <a:cubicBezTo>
                  <a:pt x="14764" y="2065"/>
                  <a:pt x="14763" y="2077"/>
                  <a:pt x="14760" y="2088"/>
                </a:cubicBezTo>
                <a:cubicBezTo>
                  <a:pt x="14758" y="2100"/>
                  <a:pt x="14754" y="2111"/>
                  <a:pt x="14748" y="2122"/>
                </a:cubicBezTo>
                <a:cubicBezTo>
                  <a:pt x="14743" y="2133"/>
                  <a:pt x="14737" y="2143"/>
                  <a:pt x="14729" y="2153"/>
                </a:cubicBezTo>
                <a:cubicBezTo>
                  <a:pt x="14721" y="2162"/>
                  <a:pt x="14712" y="2171"/>
                  <a:pt x="14703" y="2180"/>
                </a:cubicBezTo>
                <a:cubicBezTo>
                  <a:pt x="14693" y="2188"/>
                  <a:pt x="14682" y="2195"/>
                  <a:pt x="14670" y="2202"/>
                </a:cubicBezTo>
                <a:cubicBezTo>
                  <a:pt x="14659" y="2208"/>
                  <a:pt x="14647" y="2214"/>
                  <a:pt x="14634" y="2218"/>
                </a:cubicBezTo>
                <a:cubicBezTo>
                  <a:pt x="14621" y="2223"/>
                  <a:pt x="14608" y="2226"/>
                  <a:pt x="14594" y="2228"/>
                </a:cubicBezTo>
                <a:cubicBezTo>
                  <a:pt x="14580" y="2231"/>
                  <a:pt x="14567" y="2232"/>
                  <a:pt x="14553" y="2232"/>
                </a:cubicBezTo>
                <a:lnTo>
                  <a:pt x="0" y="2232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7" name="任意多边形 1506"/>
          <p:cNvSpPr/>
          <p:nvPr/>
        </p:nvSpPr>
        <p:spPr>
          <a:xfrm>
            <a:off x="609480" y="4520880"/>
            <a:ext cx="38520" cy="803520"/>
          </a:xfrm>
          <a:custGeom>
            <a:avLst/>
            <a:gdLst/>
            <a:ahLst/>
            <a:cxnLst/>
            <a:rect l="0" t="0" r="r" b="b"/>
            <a:pathLst>
              <a:path w="107" h="2232">
                <a:moveTo>
                  <a:pt x="0" y="0"/>
                </a:moveTo>
                <a:lnTo>
                  <a:pt x="107" y="0"/>
                </a:lnTo>
                <a:lnTo>
                  <a:pt x="107" y="2232"/>
                </a:lnTo>
                <a:lnTo>
                  <a:pt x="0" y="223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8" name="任意多边形 1507"/>
          <p:cNvSpPr/>
          <p:nvPr/>
        </p:nvSpPr>
        <p:spPr>
          <a:xfrm>
            <a:off x="628560" y="5452560"/>
            <a:ext cx="5315040" cy="803160"/>
          </a:xfrm>
          <a:custGeom>
            <a:avLst/>
            <a:gdLst/>
            <a:ahLst/>
            <a:cxnLst/>
            <a:rect l="0" t="0" r="r" b="b"/>
            <a:pathLst>
              <a:path w="14764" h="2231">
                <a:moveTo>
                  <a:pt x="0" y="2231"/>
                </a:moveTo>
                <a:lnTo>
                  <a:pt x="0" y="0"/>
                </a:lnTo>
                <a:lnTo>
                  <a:pt x="14553" y="0"/>
                </a:lnTo>
                <a:cubicBezTo>
                  <a:pt x="14567" y="0"/>
                  <a:pt x="14580" y="1"/>
                  <a:pt x="14594" y="3"/>
                </a:cubicBezTo>
                <a:cubicBezTo>
                  <a:pt x="14608" y="6"/>
                  <a:pt x="14621" y="9"/>
                  <a:pt x="14634" y="13"/>
                </a:cubicBezTo>
                <a:cubicBezTo>
                  <a:pt x="14647" y="18"/>
                  <a:pt x="14659" y="23"/>
                  <a:pt x="14670" y="30"/>
                </a:cubicBezTo>
                <a:cubicBezTo>
                  <a:pt x="14682" y="36"/>
                  <a:pt x="14693" y="44"/>
                  <a:pt x="14703" y="52"/>
                </a:cubicBezTo>
                <a:cubicBezTo>
                  <a:pt x="14712" y="60"/>
                  <a:pt x="14721" y="69"/>
                  <a:pt x="14729" y="79"/>
                </a:cubicBezTo>
                <a:cubicBezTo>
                  <a:pt x="14737" y="89"/>
                  <a:pt x="14743" y="99"/>
                  <a:pt x="14748" y="110"/>
                </a:cubicBezTo>
                <a:cubicBezTo>
                  <a:pt x="14754" y="121"/>
                  <a:pt x="14758" y="132"/>
                  <a:pt x="14760" y="143"/>
                </a:cubicBezTo>
                <a:cubicBezTo>
                  <a:pt x="14763" y="155"/>
                  <a:pt x="14764" y="167"/>
                  <a:pt x="14764" y="178"/>
                </a:cubicBezTo>
                <a:lnTo>
                  <a:pt x="14764" y="2053"/>
                </a:lnTo>
                <a:cubicBezTo>
                  <a:pt x="14764" y="2065"/>
                  <a:pt x="14763" y="2076"/>
                  <a:pt x="14760" y="2088"/>
                </a:cubicBezTo>
                <a:cubicBezTo>
                  <a:pt x="14758" y="2099"/>
                  <a:pt x="14754" y="2110"/>
                  <a:pt x="14748" y="2121"/>
                </a:cubicBezTo>
                <a:cubicBezTo>
                  <a:pt x="14743" y="2132"/>
                  <a:pt x="14737" y="2142"/>
                  <a:pt x="14729" y="2152"/>
                </a:cubicBezTo>
                <a:cubicBezTo>
                  <a:pt x="14721" y="2162"/>
                  <a:pt x="14712" y="2171"/>
                  <a:pt x="14703" y="2179"/>
                </a:cubicBezTo>
                <a:cubicBezTo>
                  <a:pt x="14693" y="2188"/>
                  <a:pt x="14682" y="2195"/>
                  <a:pt x="14670" y="2201"/>
                </a:cubicBezTo>
                <a:cubicBezTo>
                  <a:pt x="14659" y="2208"/>
                  <a:pt x="14647" y="2213"/>
                  <a:pt x="14634" y="2218"/>
                </a:cubicBezTo>
                <a:cubicBezTo>
                  <a:pt x="14621" y="2222"/>
                  <a:pt x="14608" y="2226"/>
                  <a:pt x="14594" y="2228"/>
                </a:cubicBezTo>
                <a:cubicBezTo>
                  <a:pt x="14580" y="2230"/>
                  <a:pt x="14567" y="2231"/>
                  <a:pt x="14553" y="2231"/>
                </a:cubicBezTo>
                <a:lnTo>
                  <a:pt x="0" y="2231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9" name="任意多边形 1508"/>
          <p:cNvSpPr/>
          <p:nvPr/>
        </p:nvSpPr>
        <p:spPr>
          <a:xfrm>
            <a:off x="609480" y="5452560"/>
            <a:ext cx="38520" cy="803160"/>
          </a:xfrm>
          <a:custGeom>
            <a:avLst/>
            <a:gdLst/>
            <a:ahLst/>
            <a:cxnLst/>
            <a:rect l="0" t="0" r="r" b="b"/>
            <a:pathLst>
              <a:path w="107" h="2231">
                <a:moveTo>
                  <a:pt x="0" y="0"/>
                </a:moveTo>
                <a:lnTo>
                  <a:pt x="107" y="0"/>
                </a:lnTo>
                <a:lnTo>
                  <a:pt x="107" y="2231"/>
                </a:lnTo>
                <a:lnTo>
                  <a:pt x="0" y="2231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0" name="文本框 1509"/>
          <p:cNvSpPr txBox="1"/>
          <p:nvPr/>
        </p:nvSpPr>
        <p:spPr>
          <a:xfrm>
            <a:off x="609480" y="329400"/>
            <a:ext cx="21654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66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常⻅错误与调试技巧</a:t>
            </a:r>
            <a:endParaRPr lang="en-US" sz="26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1" name="任意多边形 1510"/>
          <p:cNvSpPr/>
          <p:nvPr/>
        </p:nvSpPr>
        <p:spPr>
          <a:xfrm>
            <a:off x="799920" y="1854720"/>
            <a:ext cx="305280" cy="257400"/>
          </a:xfrm>
          <a:custGeom>
            <a:avLst/>
            <a:gdLst/>
            <a:ahLst/>
            <a:cxnLst/>
            <a:rect l="0" t="0" r="r" b="b"/>
            <a:pathLst>
              <a:path w="848" h="715">
                <a:moveTo>
                  <a:pt x="848" y="358"/>
                </a:moveTo>
                <a:cubicBezTo>
                  <a:pt x="848" y="382"/>
                  <a:pt x="845" y="405"/>
                  <a:pt x="840" y="428"/>
                </a:cubicBezTo>
                <a:cubicBezTo>
                  <a:pt x="834" y="451"/>
                  <a:pt x="826" y="473"/>
                  <a:pt x="815" y="495"/>
                </a:cubicBezTo>
                <a:cubicBezTo>
                  <a:pt x="805" y="517"/>
                  <a:pt x="792" y="537"/>
                  <a:pt x="776" y="557"/>
                </a:cubicBezTo>
                <a:cubicBezTo>
                  <a:pt x="761" y="576"/>
                  <a:pt x="743" y="594"/>
                  <a:pt x="723" y="611"/>
                </a:cubicBezTo>
                <a:cubicBezTo>
                  <a:pt x="703" y="627"/>
                  <a:pt x="682" y="642"/>
                  <a:pt x="659" y="655"/>
                </a:cubicBezTo>
                <a:cubicBezTo>
                  <a:pt x="635" y="668"/>
                  <a:pt x="611" y="679"/>
                  <a:pt x="585" y="688"/>
                </a:cubicBezTo>
                <a:cubicBezTo>
                  <a:pt x="560" y="697"/>
                  <a:pt x="533" y="704"/>
                  <a:pt x="506" y="708"/>
                </a:cubicBezTo>
                <a:cubicBezTo>
                  <a:pt x="479" y="713"/>
                  <a:pt x="451" y="715"/>
                  <a:pt x="423" y="715"/>
                </a:cubicBezTo>
                <a:cubicBezTo>
                  <a:pt x="396" y="715"/>
                  <a:pt x="368" y="713"/>
                  <a:pt x="341" y="708"/>
                </a:cubicBezTo>
                <a:cubicBezTo>
                  <a:pt x="313" y="704"/>
                  <a:pt x="287" y="697"/>
                  <a:pt x="261" y="688"/>
                </a:cubicBezTo>
                <a:cubicBezTo>
                  <a:pt x="236" y="679"/>
                  <a:pt x="211" y="668"/>
                  <a:pt x="188" y="655"/>
                </a:cubicBezTo>
                <a:cubicBezTo>
                  <a:pt x="165" y="642"/>
                  <a:pt x="144" y="627"/>
                  <a:pt x="124" y="611"/>
                </a:cubicBezTo>
                <a:cubicBezTo>
                  <a:pt x="104" y="594"/>
                  <a:pt x="87" y="576"/>
                  <a:pt x="71" y="557"/>
                </a:cubicBezTo>
                <a:cubicBezTo>
                  <a:pt x="56" y="537"/>
                  <a:pt x="43" y="517"/>
                  <a:pt x="32" y="495"/>
                </a:cubicBezTo>
                <a:cubicBezTo>
                  <a:pt x="22" y="473"/>
                  <a:pt x="14" y="451"/>
                  <a:pt x="8" y="428"/>
                </a:cubicBezTo>
                <a:cubicBezTo>
                  <a:pt x="3" y="405"/>
                  <a:pt x="0" y="382"/>
                  <a:pt x="0" y="358"/>
                </a:cubicBezTo>
                <a:cubicBezTo>
                  <a:pt x="0" y="335"/>
                  <a:pt x="3" y="312"/>
                  <a:pt x="8" y="289"/>
                </a:cubicBezTo>
                <a:cubicBezTo>
                  <a:pt x="14" y="266"/>
                  <a:pt x="22" y="243"/>
                  <a:pt x="32" y="222"/>
                </a:cubicBezTo>
                <a:cubicBezTo>
                  <a:pt x="43" y="200"/>
                  <a:pt x="56" y="178"/>
                  <a:pt x="71" y="159"/>
                </a:cubicBezTo>
                <a:cubicBezTo>
                  <a:pt x="87" y="140"/>
                  <a:pt x="104" y="121"/>
                  <a:pt x="124" y="105"/>
                </a:cubicBezTo>
                <a:cubicBezTo>
                  <a:pt x="144" y="88"/>
                  <a:pt x="165" y="74"/>
                  <a:pt x="188" y="61"/>
                </a:cubicBezTo>
                <a:cubicBezTo>
                  <a:pt x="211" y="47"/>
                  <a:pt x="236" y="37"/>
                  <a:pt x="261" y="28"/>
                </a:cubicBezTo>
                <a:cubicBezTo>
                  <a:pt x="287" y="19"/>
                  <a:pt x="313" y="12"/>
                  <a:pt x="341" y="7"/>
                </a:cubicBezTo>
                <a:cubicBezTo>
                  <a:pt x="368" y="3"/>
                  <a:pt x="396" y="0"/>
                  <a:pt x="423" y="0"/>
                </a:cubicBezTo>
                <a:cubicBezTo>
                  <a:pt x="451" y="0"/>
                  <a:pt x="479" y="3"/>
                  <a:pt x="506" y="7"/>
                </a:cubicBezTo>
                <a:cubicBezTo>
                  <a:pt x="533" y="12"/>
                  <a:pt x="560" y="19"/>
                  <a:pt x="585" y="28"/>
                </a:cubicBezTo>
                <a:cubicBezTo>
                  <a:pt x="611" y="37"/>
                  <a:pt x="635" y="47"/>
                  <a:pt x="659" y="61"/>
                </a:cubicBezTo>
                <a:cubicBezTo>
                  <a:pt x="682" y="74"/>
                  <a:pt x="703" y="88"/>
                  <a:pt x="723" y="105"/>
                </a:cubicBezTo>
                <a:cubicBezTo>
                  <a:pt x="743" y="121"/>
                  <a:pt x="761" y="140"/>
                  <a:pt x="776" y="159"/>
                </a:cubicBezTo>
                <a:cubicBezTo>
                  <a:pt x="792" y="178"/>
                  <a:pt x="805" y="200"/>
                  <a:pt x="815" y="222"/>
                </a:cubicBezTo>
                <a:cubicBezTo>
                  <a:pt x="826" y="243"/>
                  <a:pt x="834" y="266"/>
                  <a:pt x="840" y="289"/>
                </a:cubicBezTo>
                <a:cubicBezTo>
                  <a:pt x="845" y="312"/>
                  <a:pt x="848" y="335"/>
                  <a:pt x="848" y="358"/>
                </a:cubicBezTo>
                <a:close/>
              </a:path>
            </a:pathLst>
          </a:custGeom>
          <a:solidFill>
            <a:srgbClr val="EF44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2" name="文本框 1511"/>
          <p:cNvSpPr txBox="1"/>
          <p:nvPr/>
        </p:nvSpPr>
        <p:spPr>
          <a:xfrm>
            <a:off x="609480" y="1228680"/>
            <a:ext cx="16012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77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模型训练⼗⼤典型问题</a:t>
            </a:r>
            <a:endParaRPr lang="en-US" sz="17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3" name="文本框 1512"/>
          <p:cNvSpPr txBox="1"/>
          <p:nvPr/>
        </p:nvSpPr>
        <p:spPr>
          <a:xfrm>
            <a:off x="914400" y="1909080"/>
            <a:ext cx="1519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4" name="文本框 1513"/>
          <p:cNvSpPr txBox="1"/>
          <p:nvPr/>
        </p:nvSpPr>
        <p:spPr>
          <a:xfrm>
            <a:off x="1219320" y="1883880"/>
            <a:ext cx="50544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数据泄露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5" name="任意多边形 1514"/>
          <p:cNvSpPr/>
          <p:nvPr/>
        </p:nvSpPr>
        <p:spPr>
          <a:xfrm>
            <a:off x="799920" y="2786400"/>
            <a:ext cx="305280" cy="257400"/>
          </a:xfrm>
          <a:custGeom>
            <a:avLst/>
            <a:gdLst/>
            <a:ahLst/>
            <a:cxnLst/>
            <a:rect l="0" t="0" r="r" b="b"/>
            <a:pathLst>
              <a:path w="848" h="715">
                <a:moveTo>
                  <a:pt x="848" y="357"/>
                </a:moveTo>
                <a:cubicBezTo>
                  <a:pt x="848" y="380"/>
                  <a:pt x="845" y="404"/>
                  <a:pt x="840" y="426"/>
                </a:cubicBezTo>
                <a:cubicBezTo>
                  <a:pt x="834" y="449"/>
                  <a:pt x="826" y="473"/>
                  <a:pt x="815" y="494"/>
                </a:cubicBezTo>
                <a:cubicBezTo>
                  <a:pt x="805" y="516"/>
                  <a:pt x="792" y="537"/>
                  <a:pt x="776" y="556"/>
                </a:cubicBezTo>
                <a:cubicBezTo>
                  <a:pt x="761" y="576"/>
                  <a:pt x="743" y="594"/>
                  <a:pt x="723" y="610"/>
                </a:cubicBezTo>
                <a:cubicBezTo>
                  <a:pt x="703" y="627"/>
                  <a:pt x="682" y="642"/>
                  <a:pt x="659" y="655"/>
                </a:cubicBezTo>
                <a:cubicBezTo>
                  <a:pt x="635" y="668"/>
                  <a:pt x="611" y="679"/>
                  <a:pt x="585" y="688"/>
                </a:cubicBezTo>
                <a:cubicBezTo>
                  <a:pt x="560" y="697"/>
                  <a:pt x="533" y="703"/>
                  <a:pt x="506" y="708"/>
                </a:cubicBezTo>
                <a:cubicBezTo>
                  <a:pt x="479" y="712"/>
                  <a:pt x="451" y="715"/>
                  <a:pt x="423" y="715"/>
                </a:cubicBezTo>
                <a:cubicBezTo>
                  <a:pt x="396" y="715"/>
                  <a:pt x="368" y="712"/>
                  <a:pt x="341" y="708"/>
                </a:cubicBezTo>
                <a:cubicBezTo>
                  <a:pt x="313" y="703"/>
                  <a:pt x="287" y="697"/>
                  <a:pt x="261" y="688"/>
                </a:cubicBezTo>
                <a:cubicBezTo>
                  <a:pt x="236" y="679"/>
                  <a:pt x="211" y="668"/>
                  <a:pt x="188" y="655"/>
                </a:cubicBezTo>
                <a:cubicBezTo>
                  <a:pt x="165" y="642"/>
                  <a:pt x="144" y="627"/>
                  <a:pt x="124" y="610"/>
                </a:cubicBezTo>
                <a:cubicBezTo>
                  <a:pt x="104" y="594"/>
                  <a:pt x="87" y="576"/>
                  <a:pt x="71" y="556"/>
                </a:cubicBezTo>
                <a:cubicBezTo>
                  <a:pt x="56" y="537"/>
                  <a:pt x="43" y="516"/>
                  <a:pt x="32" y="494"/>
                </a:cubicBezTo>
                <a:cubicBezTo>
                  <a:pt x="22" y="473"/>
                  <a:pt x="14" y="449"/>
                  <a:pt x="8" y="426"/>
                </a:cubicBezTo>
                <a:cubicBezTo>
                  <a:pt x="3" y="404"/>
                  <a:pt x="0" y="380"/>
                  <a:pt x="0" y="357"/>
                </a:cubicBezTo>
                <a:cubicBezTo>
                  <a:pt x="0" y="333"/>
                  <a:pt x="3" y="310"/>
                  <a:pt x="8" y="287"/>
                </a:cubicBezTo>
                <a:cubicBezTo>
                  <a:pt x="14" y="264"/>
                  <a:pt x="22" y="242"/>
                  <a:pt x="32" y="220"/>
                </a:cubicBezTo>
                <a:cubicBezTo>
                  <a:pt x="43" y="199"/>
                  <a:pt x="56" y="178"/>
                  <a:pt x="71" y="159"/>
                </a:cubicBezTo>
                <a:cubicBezTo>
                  <a:pt x="87" y="139"/>
                  <a:pt x="104" y="121"/>
                  <a:pt x="124" y="104"/>
                </a:cubicBezTo>
                <a:cubicBezTo>
                  <a:pt x="144" y="88"/>
                  <a:pt x="165" y="73"/>
                  <a:pt x="188" y="60"/>
                </a:cubicBezTo>
                <a:cubicBezTo>
                  <a:pt x="211" y="47"/>
                  <a:pt x="236" y="36"/>
                  <a:pt x="261" y="27"/>
                </a:cubicBezTo>
                <a:cubicBezTo>
                  <a:pt x="287" y="18"/>
                  <a:pt x="313" y="11"/>
                  <a:pt x="341" y="7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7"/>
                </a:cubicBezTo>
                <a:cubicBezTo>
                  <a:pt x="533" y="11"/>
                  <a:pt x="560" y="18"/>
                  <a:pt x="585" y="27"/>
                </a:cubicBezTo>
                <a:cubicBezTo>
                  <a:pt x="611" y="36"/>
                  <a:pt x="635" y="47"/>
                  <a:pt x="659" y="60"/>
                </a:cubicBezTo>
                <a:cubicBezTo>
                  <a:pt x="682" y="73"/>
                  <a:pt x="703" y="88"/>
                  <a:pt x="723" y="104"/>
                </a:cubicBezTo>
                <a:cubicBezTo>
                  <a:pt x="743" y="121"/>
                  <a:pt x="761" y="139"/>
                  <a:pt x="776" y="159"/>
                </a:cubicBezTo>
                <a:cubicBezTo>
                  <a:pt x="792" y="178"/>
                  <a:pt x="805" y="199"/>
                  <a:pt x="815" y="220"/>
                </a:cubicBezTo>
                <a:cubicBezTo>
                  <a:pt x="826" y="242"/>
                  <a:pt x="834" y="264"/>
                  <a:pt x="840" y="287"/>
                </a:cubicBezTo>
                <a:cubicBezTo>
                  <a:pt x="845" y="310"/>
                  <a:pt x="848" y="333"/>
                  <a:pt x="848" y="357"/>
                </a:cubicBezTo>
                <a:close/>
              </a:path>
            </a:pathLst>
          </a:custGeom>
          <a:solidFill>
            <a:srgbClr val="EF44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6" name="文本框 1515"/>
          <p:cNvSpPr txBox="1"/>
          <p:nvPr/>
        </p:nvSpPr>
        <p:spPr>
          <a:xfrm>
            <a:off x="1219320" y="2202840"/>
            <a:ext cx="20674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测试集信息混⼊训练过程，导致评估结果虚⾼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7" name="文本框 1516"/>
          <p:cNvSpPr txBox="1"/>
          <p:nvPr/>
        </p:nvSpPr>
        <p:spPr>
          <a:xfrm>
            <a:off x="914400" y="2840760"/>
            <a:ext cx="1519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8" name="文本框 1517"/>
          <p:cNvSpPr txBox="1"/>
          <p:nvPr/>
        </p:nvSpPr>
        <p:spPr>
          <a:xfrm>
            <a:off x="1219320" y="2815200"/>
            <a:ext cx="63180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特征共线性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9" name="任意多边形 1518"/>
          <p:cNvSpPr/>
          <p:nvPr/>
        </p:nvSpPr>
        <p:spPr>
          <a:xfrm>
            <a:off x="799920" y="3718080"/>
            <a:ext cx="305280" cy="257040"/>
          </a:xfrm>
          <a:custGeom>
            <a:avLst/>
            <a:gdLst/>
            <a:ahLst/>
            <a:cxnLst/>
            <a:rect l="0" t="0" r="r" b="b"/>
            <a:pathLst>
              <a:path w="848" h="714">
                <a:moveTo>
                  <a:pt x="848" y="357"/>
                </a:moveTo>
                <a:cubicBezTo>
                  <a:pt x="848" y="381"/>
                  <a:pt x="845" y="404"/>
                  <a:pt x="840" y="427"/>
                </a:cubicBezTo>
                <a:cubicBezTo>
                  <a:pt x="834" y="450"/>
                  <a:pt x="826" y="472"/>
                  <a:pt x="815" y="494"/>
                </a:cubicBezTo>
                <a:cubicBezTo>
                  <a:pt x="805" y="516"/>
                  <a:pt x="792" y="536"/>
                  <a:pt x="776" y="556"/>
                </a:cubicBezTo>
                <a:cubicBezTo>
                  <a:pt x="761" y="575"/>
                  <a:pt x="743" y="593"/>
                  <a:pt x="723" y="610"/>
                </a:cubicBezTo>
                <a:cubicBezTo>
                  <a:pt x="703" y="626"/>
                  <a:pt x="682" y="641"/>
                  <a:pt x="659" y="654"/>
                </a:cubicBezTo>
                <a:cubicBezTo>
                  <a:pt x="635" y="667"/>
                  <a:pt x="611" y="678"/>
                  <a:pt x="585" y="687"/>
                </a:cubicBezTo>
                <a:cubicBezTo>
                  <a:pt x="560" y="696"/>
                  <a:pt x="533" y="703"/>
                  <a:pt x="506" y="708"/>
                </a:cubicBezTo>
                <a:cubicBezTo>
                  <a:pt x="479" y="712"/>
                  <a:pt x="451" y="714"/>
                  <a:pt x="423" y="714"/>
                </a:cubicBezTo>
                <a:cubicBezTo>
                  <a:pt x="396" y="714"/>
                  <a:pt x="368" y="712"/>
                  <a:pt x="341" y="708"/>
                </a:cubicBezTo>
                <a:cubicBezTo>
                  <a:pt x="313" y="703"/>
                  <a:pt x="287" y="696"/>
                  <a:pt x="261" y="687"/>
                </a:cubicBezTo>
                <a:cubicBezTo>
                  <a:pt x="236" y="678"/>
                  <a:pt x="211" y="667"/>
                  <a:pt x="188" y="654"/>
                </a:cubicBezTo>
                <a:cubicBezTo>
                  <a:pt x="165" y="641"/>
                  <a:pt x="144" y="626"/>
                  <a:pt x="124" y="610"/>
                </a:cubicBezTo>
                <a:cubicBezTo>
                  <a:pt x="104" y="593"/>
                  <a:pt x="87" y="575"/>
                  <a:pt x="71" y="556"/>
                </a:cubicBezTo>
                <a:cubicBezTo>
                  <a:pt x="56" y="536"/>
                  <a:pt x="43" y="516"/>
                  <a:pt x="32" y="494"/>
                </a:cubicBezTo>
                <a:cubicBezTo>
                  <a:pt x="22" y="472"/>
                  <a:pt x="14" y="450"/>
                  <a:pt x="8" y="427"/>
                </a:cubicBezTo>
                <a:cubicBezTo>
                  <a:pt x="3" y="404"/>
                  <a:pt x="0" y="381"/>
                  <a:pt x="0" y="357"/>
                </a:cubicBezTo>
                <a:cubicBezTo>
                  <a:pt x="0" y="334"/>
                  <a:pt x="3" y="311"/>
                  <a:pt x="8" y="288"/>
                </a:cubicBezTo>
                <a:cubicBezTo>
                  <a:pt x="14" y="265"/>
                  <a:pt x="22" y="243"/>
                  <a:pt x="32" y="221"/>
                </a:cubicBezTo>
                <a:cubicBezTo>
                  <a:pt x="43" y="199"/>
                  <a:pt x="56" y="179"/>
                  <a:pt x="71" y="159"/>
                </a:cubicBezTo>
                <a:cubicBezTo>
                  <a:pt x="87" y="140"/>
                  <a:pt x="104" y="122"/>
                  <a:pt x="124" y="105"/>
                </a:cubicBezTo>
                <a:cubicBezTo>
                  <a:pt x="144" y="89"/>
                  <a:pt x="165" y="74"/>
                  <a:pt x="188" y="61"/>
                </a:cubicBezTo>
                <a:cubicBezTo>
                  <a:pt x="211" y="48"/>
                  <a:pt x="236" y="37"/>
                  <a:pt x="261" y="28"/>
                </a:cubicBezTo>
                <a:cubicBezTo>
                  <a:pt x="287" y="19"/>
                  <a:pt x="313" y="12"/>
                  <a:pt x="341" y="6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6"/>
                </a:cubicBezTo>
                <a:cubicBezTo>
                  <a:pt x="533" y="12"/>
                  <a:pt x="560" y="19"/>
                  <a:pt x="585" y="28"/>
                </a:cubicBezTo>
                <a:cubicBezTo>
                  <a:pt x="611" y="37"/>
                  <a:pt x="635" y="48"/>
                  <a:pt x="659" y="61"/>
                </a:cubicBezTo>
                <a:cubicBezTo>
                  <a:pt x="682" y="74"/>
                  <a:pt x="703" y="89"/>
                  <a:pt x="723" y="105"/>
                </a:cubicBezTo>
                <a:cubicBezTo>
                  <a:pt x="743" y="122"/>
                  <a:pt x="761" y="140"/>
                  <a:pt x="776" y="159"/>
                </a:cubicBezTo>
                <a:cubicBezTo>
                  <a:pt x="792" y="179"/>
                  <a:pt x="805" y="199"/>
                  <a:pt x="815" y="221"/>
                </a:cubicBezTo>
                <a:cubicBezTo>
                  <a:pt x="826" y="243"/>
                  <a:pt x="834" y="265"/>
                  <a:pt x="840" y="288"/>
                </a:cubicBezTo>
                <a:cubicBezTo>
                  <a:pt x="845" y="311"/>
                  <a:pt x="848" y="334"/>
                  <a:pt x="848" y="357"/>
                </a:cubicBezTo>
                <a:close/>
              </a:path>
            </a:pathLst>
          </a:custGeom>
          <a:solidFill>
            <a:srgbClr val="EF44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0" name="文本框 1519"/>
          <p:cNvSpPr txBox="1"/>
          <p:nvPr/>
        </p:nvSpPr>
        <p:spPr>
          <a:xfrm>
            <a:off x="1219320" y="3134160"/>
            <a:ext cx="1550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⾼度相关特征导致模型系数不稳定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1" name="文本框 1520"/>
          <p:cNvSpPr txBox="1"/>
          <p:nvPr/>
        </p:nvSpPr>
        <p:spPr>
          <a:xfrm>
            <a:off x="914400" y="3772080"/>
            <a:ext cx="1519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2" name="文本框 1521"/>
          <p:cNvSpPr txBox="1"/>
          <p:nvPr/>
        </p:nvSpPr>
        <p:spPr>
          <a:xfrm>
            <a:off x="1219320" y="3746880"/>
            <a:ext cx="63180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类别不平衡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3" name="任意多边形 1522"/>
          <p:cNvSpPr/>
          <p:nvPr/>
        </p:nvSpPr>
        <p:spPr>
          <a:xfrm>
            <a:off x="799920" y="4649400"/>
            <a:ext cx="305280" cy="257400"/>
          </a:xfrm>
          <a:custGeom>
            <a:avLst/>
            <a:gdLst/>
            <a:ahLst/>
            <a:cxnLst/>
            <a:rect l="0" t="0" r="r" b="b"/>
            <a:pathLst>
              <a:path w="848" h="715">
                <a:moveTo>
                  <a:pt x="848" y="358"/>
                </a:moveTo>
                <a:cubicBezTo>
                  <a:pt x="848" y="381"/>
                  <a:pt x="845" y="405"/>
                  <a:pt x="840" y="428"/>
                </a:cubicBezTo>
                <a:cubicBezTo>
                  <a:pt x="834" y="451"/>
                  <a:pt x="826" y="473"/>
                  <a:pt x="815" y="495"/>
                </a:cubicBezTo>
                <a:cubicBezTo>
                  <a:pt x="805" y="516"/>
                  <a:pt x="792" y="537"/>
                  <a:pt x="776" y="556"/>
                </a:cubicBezTo>
                <a:cubicBezTo>
                  <a:pt x="761" y="576"/>
                  <a:pt x="743" y="594"/>
                  <a:pt x="723" y="610"/>
                </a:cubicBezTo>
                <a:cubicBezTo>
                  <a:pt x="703" y="627"/>
                  <a:pt x="682" y="642"/>
                  <a:pt x="659" y="655"/>
                </a:cubicBezTo>
                <a:cubicBezTo>
                  <a:pt x="635" y="668"/>
                  <a:pt x="611" y="679"/>
                  <a:pt x="585" y="688"/>
                </a:cubicBezTo>
                <a:cubicBezTo>
                  <a:pt x="560" y="697"/>
                  <a:pt x="533" y="704"/>
                  <a:pt x="506" y="708"/>
                </a:cubicBezTo>
                <a:cubicBezTo>
                  <a:pt x="479" y="713"/>
                  <a:pt x="451" y="715"/>
                  <a:pt x="423" y="715"/>
                </a:cubicBezTo>
                <a:cubicBezTo>
                  <a:pt x="396" y="715"/>
                  <a:pt x="368" y="713"/>
                  <a:pt x="341" y="708"/>
                </a:cubicBezTo>
                <a:cubicBezTo>
                  <a:pt x="313" y="704"/>
                  <a:pt x="287" y="697"/>
                  <a:pt x="261" y="688"/>
                </a:cubicBezTo>
                <a:cubicBezTo>
                  <a:pt x="236" y="679"/>
                  <a:pt x="211" y="668"/>
                  <a:pt x="188" y="655"/>
                </a:cubicBezTo>
                <a:cubicBezTo>
                  <a:pt x="165" y="642"/>
                  <a:pt x="144" y="627"/>
                  <a:pt x="124" y="610"/>
                </a:cubicBezTo>
                <a:cubicBezTo>
                  <a:pt x="104" y="594"/>
                  <a:pt x="87" y="576"/>
                  <a:pt x="71" y="556"/>
                </a:cubicBezTo>
                <a:cubicBezTo>
                  <a:pt x="56" y="537"/>
                  <a:pt x="43" y="516"/>
                  <a:pt x="32" y="495"/>
                </a:cubicBezTo>
                <a:cubicBezTo>
                  <a:pt x="22" y="473"/>
                  <a:pt x="14" y="451"/>
                  <a:pt x="8" y="428"/>
                </a:cubicBezTo>
                <a:cubicBezTo>
                  <a:pt x="3" y="405"/>
                  <a:pt x="0" y="381"/>
                  <a:pt x="0" y="358"/>
                </a:cubicBezTo>
                <a:cubicBezTo>
                  <a:pt x="0" y="335"/>
                  <a:pt x="3" y="311"/>
                  <a:pt x="8" y="288"/>
                </a:cubicBezTo>
                <a:cubicBezTo>
                  <a:pt x="14" y="264"/>
                  <a:pt x="22" y="242"/>
                  <a:pt x="32" y="220"/>
                </a:cubicBezTo>
                <a:cubicBezTo>
                  <a:pt x="43" y="199"/>
                  <a:pt x="56" y="178"/>
                  <a:pt x="71" y="159"/>
                </a:cubicBezTo>
                <a:cubicBezTo>
                  <a:pt x="87" y="139"/>
                  <a:pt x="104" y="121"/>
                  <a:pt x="124" y="105"/>
                </a:cubicBezTo>
                <a:cubicBezTo>
                  <a:pt x="144" y="88"/>
                  <a:pt x="165" y="73"/>
                  <a:pt x="188" y="60"/>
                </a:cubicBezTo>
                <a:cubicBezTo>
                  <a:pt x="211" y="47"/>
                  <a:pt x="236" y="36"/>
                  <a:pt x="261" y="27"/>
                </a:cubicBezTo>
                <a:cubicBezTo>
                  <a:pt x="287" y="18"/>
                  <a:pt x="313" y="12"/>
                  <a:pt x="341" y="7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7"/>
                </a:cubicBezTo>
                <a:cubicBezTo>
                  <a:pt x="533" y="12"/>
                  <a:pt x="560" y="18"/>
                  <a:pt x="585" y="27"/>
                </a:cubicBezTo>
                <a:cubicBezTo>
                  <a:pt x="611" y="36"/>
                  <a:pt x="635" y="47"/>
                  <a:pt x="659" y="60"/>
                </a:cubicBezTo>
                <a:cubicBezTo>
                  <a:pt x="682" y="73"/>
                  <a:pt x="703" y="88"/>
                  <a:pt x="723" y="105"/>
                </a:cubicBezTo>
                <a:cubicBezTo>
                  <a:pt x="743" y="121"/>
                  <a:pt x="761" y="139"/>
                  <a:pt x="776" y="159"/>
                </a:cubicBezTo>
                <a:cubicBezTo>
                  <a:pt x="792" y="178"/>
                  <a:pt x="805" y="199"/>
                  <a:pt x="815" y="220"/>
                </a:cubicBezTo>
                <a:cubicBezTo>
                  <a:pt x="826" y="242"/>
                  <a:pt x="834" y="264"/>
                  <a:pt x="840" y="288"/>
                </a:cubicBezTo>
                <a:cubicBezTo>
                  <a:pt x="845" y="311"/>
                  <a:pt x="848" y="335"/>
                  <a:pt x="848" y="358"/>
                </a:cubicBezTo>
                <a:close/>
              </a:path>
            </a:pathLst>
          </a:custGeom>
          <a:solidFill>
            <a:srgbClr val="EF44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4" name="文本框 1523"/>
          <p:cNvSpPr txBox="1"/>
          <p:nvPr/>
        </p:nvSpPr>
        <p:spPr>
          <a:xfrm>
            <a:off x="1219320" y="4065840"/>
            <a:ext cx="1550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少数类样本不⾜，模型偏向多数类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5" name="文本框 1524"/>
          <p:cNvSpPr txBox="1"/>
          <p:nvPr/>
        </p:nvSpPr>
        <p:spPr>
          <a:xfrm>
            <a:off x="914400" y="4703760"/>
            <a:ext cx="1519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4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6" name="文本框 1525"/>
          <p:cNvSpPr txBox="1"/>
          <p:nvPr/>
        </p:nvSpPr>
        <p:spPr>
          <a:xfrm>
            <a:off x="1219320" y="4678560"/>
            <a:ext cx="75780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特征缩放缺失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7" name="文本框 1526"/>
          <p:cNvSpPr txBox="1"/>
          <p:nvPr/>
        </p:nvSpPr>
        <p:spPr>
          <a:xfrm>
            <a:off x="1219320" y="4997160"/>
            <a:ext cx="414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未标准化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8" name="文本框 1527"/>
          <p:cNvSpPr txBox="1"/>
          <p:nvPr/>
        </p:nvSpPr>
        <p:spPr>
          <a:xfrm>
            <a:off x="1905120" y="500256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/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9" name="任意多边形 1528"/>
          <p:cNvSpPr/>
          <p:nvPr/>
        </p:nvSpPr>
        <p:spPr>
          <a:xfrm>
            <a:off x="799920" y="5581080"/>
            <a:ext cx="305280" cy="257400"/>
          </a:xfrm>
          <a:custGeom>
            <a:avLst/>
            <a:gdLst/>
            <a:ahLst/>
            <a:cxnLst/>
            <a:rect l="0" t="0" r="r" b="b"/>
            <a:pathLst>
              <a:path w="848" h="715">
                <a:moveTo>
                  <a:pt x="848" y="357"/>
                </a:moveTo>
                <a:cubicBezTo>
                  <a:pt x="848" y="380"/>
                  <a:pt x="845" y="403"/>
                  <a:pt x="840" y="426"/>
                </a:cubicBezTo>
                <a:cubicBezTo>
                  <a:pt x="834" y="449"/>
                  <a:pt x="826" y="472"/>
                  <a:pt x="815" y="493"/>
                </a:cubicBezTo>
                <a:cubicBezTo>
                  <a:pt x="805" y="515"/>
                  <a:pt x="792" y="535"/>
                  <a:pt x="776" y="556"/>
                </a:cubicBezTo>
                <a:cubicBezTo>
                  <a:pt x="761" y="575"/>
                  <a:pt x="743" y="593"/>
                  <a:pt x="723" y="610"/>
                </a:cubicBezTo>
                <a:cubicBezTo>
                  <a:pt x="703" y="627"/>
                  <a:pt x="682" y="641"/>
                  <a:pt x="659" y="654"/>
                </a:cubicBezTo>
                <a:cubicBezTo>
                  <a:pt x="635" y="667"/>
                  <a:pt x="611" y="678"/>
                  <a:pt x="585" y="687"/>
                </a:cubicBezTo>
                <a:cubicBezTo>
                  <a:pt x="560" y="696"/>
                  <a:pt x="533" y="703"/>
                  <a:pt x="506" y="708"/>
                </a:cubicBezTo>
                <a:cubicBezTo>
                  <a:pt x="479" y="712"/>
                  <a:pt x="451" y="715"/>
                  <a:pt x="423" y="715"/>
                </a:cubicBezTo>
                <a:cubicBezTo>
                  <a:pt x="396" y="715"/>
                  <a:pt x="368" y="712"/>
                  <a:pt x="341" y="708"/>
                </a:cubicBezTo>
                <a:cubicBezTo>
                  <a:pt x="313" y="703"/>
                  <a:pt x="287" y="696"/>
                  <a:pt x="261" y="687"/>
                </a:cubicBezTo>
                <a:cubicBezTo>
                  <a:pt x="236" y="678"/>
                  <a:pt x="211" y="667"/>
                  <a:pt x="188" y="654"/>
                </a:cubicBezTo>
                <a:cubicBezTo>
                  <a:pt x="165" y="641"/>
                  <a:pt x="144" y="627"/>
                  <a:pt x="124" y="610"/>
                </a:cubicBezTo>
                <a:cubicBezTo>
                  <a:pt x="104" y="593"/>
                  <a:pt x="87" y="575"/>
                  <a:pt x="71" y="556"/>
                </a:cubicBezTo>
                <a:cubicBezTo>
                  <a:pt x="56" y="535"/>
                  <a:pt x="43" y="515"/>
                  <a:pt x="32" y="493"/>
                </a:cubicBezTo>
                <a:cubicBezTo>
                  <a:pt x="22" y="472"/>
                  <a:pt x="14" y="449"/>
                  <a:pt x="8" y="426"/>
                </a:cubicBezTo>
                <a:cubicBezTo>
                  <a:pt x="3" y="403"/>
                  <a:pt x="0" y="380"/>
                  <a:pt x="0" y="357"/>
                </a:cubicBezTo>
                <a:cubicBezTo>
                  <a:pt x="0" y="333"/>
                  <a:pt x="3" y="310"/>
                  <a:pt x="8" y="287"/>
                </a:cubicBezTo>
                <a:cubicBezTo>
                  <a:pt x="14" y="264"/>
                  <a:pt x="22" y="242"/>
                  <a:pt x="32" y="220"/>
                </a:cubicBezTo>
                <a:cubicBezTo>
                  <a:pt x="43" y="198"/>
                  <a:pt x="56" y="178"/>
                  <a:pt x="71" y="158"/>
                </a:cubicBezTo>
                <a:cubicBezTo>
                  <a:pt x="87" y="139"/>
                  <a:pt x="104" y="121"/>
                  <a:pt x="124" y="104"/>
                </a:cubicBezTo>
                <a:cubicBezTo>
                  <a:pt x="144" y="88"/>
                  <a:pt x="165" y="73"/>
                  <a:pt x="188" y="60"/>
                </a:cubicBezTo>
                <a:cubicBezTo>
                  <a:pt x="211" y="47"/>
                  <a:pt x="236" y="36"/>
                  <a:pt x="261" y="27"/>
                </a:cubicBezTo>
                <a:cubicBezTo>
                  <a:pt x="287" y="18"/>
                  <a:pt x="313" y="11"/>
                  <a:pt x="341" y="7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7"/>
                </a:cubicBezTo>
                <a:cubicBezTo>
                  <a:pt x="533" y="11"/>
                  <a:pt x="560" y="18"/>
                  <a:pt x="585" y="27"/>
                </a:cubicBezTo>
                <a:cubicBezTo>
                  <a:pt x="611" y="36"/>
                  <a:pt x="635" y="47"/>
                  <a:pt x="659" y="60"/>
                </a:cubicBezTo>
                <a:cubicBezTo>
                  <a:pt x="682" y="73"/>
                  <a:pt x="703" y="88"/>
                  <a:pt x="723" y="104"/>
                </a:cubicBezTo>
                <a:cubicBezTo>
                  <a:pt x="743" y="121"/>
                  <a:pt x="761" y="139"/>
                  <a:pt x="776" y="158"/>
                </a:cubicBezTo>
                <a:cubicBezTo>
                  <a:pt x="792" y="178"/>
                  <a:pt x="805" y="198"/>
                  <a:pt x="815" y="220"/>
                </a:cubicBezTo>
                <a:cubicBezTo>
                  <a:pt x="826" y="242"/>
                  <a:pt x="834" y="264"/>
                  <a:pt x="840" y="287"/>
                </a:cubicBezTo>
                <a:cubicBezTo>
                  <a:pt x="845" y="310"/>
                  <a:pt x="848" y="333"/>
                  <a:pt x="848" y="357"/>
                </a:cubicBezTo>
                <a:close/>
              </a:path>
            </a:pathLst>
          </a:custGeom>
          <a:solidFill>
            <a:srgbClr val="EF44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0" name="文本框 1529"/>
          <p:cNvSpPr txBox="1"/>
          <p:nvPr/>
        </p:nvSpPr>
        <p:spPr>
          <a:xfrm>
            <a:off x="1952640" y="4997160"/>
            <a:ext cx="1240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归⼀化导致距离类算法失效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1" name="文本框 1530"/>
          <p:cNvSpPr txBox="1"/>
          <p:nvPr/>
        </p:nvSpPr>
        <p:spPr>
          <a:xfrm>
            <a:off x="914400" y="5635440"/>
            <a:ext cx="1519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5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2" name="文本框 1531"/>
          <p:cNvSpPr txBox="1"/>
          <p:nvPr/>
        </p:nvSpPr>
        <p:spPr>
          <a:xfrm>
            <a:off x="1219320" y="5609880"/>
            <a:ext cx="37944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过拟合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3" name="任意多边形 1532"/>
          <p:cNvSpPr/>
          <p:nvPr/>
        </p:nvSpPr>
        <p:spPr>
          <a:xfrm>
            <a:off x="6267240" y="1726200"/>
            <a:ext cx="5315400" cy="1365840"/>
          </a:xfrm>
          <a:custGeom>
            <a:avLst/>
            <a:gdLst/>
            <a:ahLst/>
            <a:cxnLst/>
            <a:rect l="0" t="0" r="r" b="b"/>
            <a:pathLst>
              <a:path w="14765" h="3794">
                <a:moveTo>
                  <a:pt x="0" y="3794"/>
                </a:moveTo>
                <a:lnTo>
                  <a:pt x="0" y="0"/>
                </a:lnTo>
                <a:lnTo>
                  <a:pt x="14553" y="0"/>
                </a:lnTo>
                <a:cubicBezTo>
                  <a:pt x="14567" y="0"/>
                  <a:pt x="14581" y="2"/>
                  <a:pt x="14594" y="4"/>
                </a:cubicBezTo>
                <a:cubicBezTo>
                  <a:pt x="14608" y="6"/>
                  <a:pt x="14621" y="10"/>
                  <a:pt x="14634" y="14"/>
                </a:cubicBezTo>
                <a:cubicBezTo>
                  <a:pt x="14647" y="19"/>
                  <a:pt x="14659" y="24"/>
                  <a:pt x="14671" y="31"/>
                </a:cubicBezTo>
                <a:cubicBezTo>
                  <a:pt x="14682" y="37"/>
                  <a:pt x="14693" y="44"/>
                  <a:pt x="14703" y="53"/>
                </a:cubicBezTo>
                <a:cubicBezTo>
                  <a:pt x="14713" y="61"/>
                  <a:pt x="14721" y="70"/>
                  <a:pt x="14729" y="80"/>
                </a:cubicBezTo>
                <a:cubicBezTo>
                  <a:pt x="14737" y="90"/>
                  <a:pt x="14743" y="100"/>
                  <a:pt x="14749" y="111"/>
                </a:cubicBezTo>
                <a:cubicBezTo>
                  <a:pt x="14754" y="121"/>
                  <a:pt x="14758" y="133"/>
                  <a:pt x="14761" y="144"/>
                </a:cubicBezTo>
                <a:cubicBezTo>
                  <a:pt x="14763" y="156"/>
                  <a:pt x="14765" y="167"/>
                  <a:pt x="14765" y="179"/>
                </a:cubicBezTo>
                <a:lnTo>
                  <a:pt x="14765" y="3615"/>
                </a:lnTo>
                <a:cubicBezTo>
                  <a:pt x="14765" y="3627"/>
                  <a:pt x="14763" y="3638"/>
                  <a:pt x="14761" y="3650"/>
                </a:cubicBezTo>
                <a:cubicBezTo>
                  <a:pt x="14758" y="3661"/>
                  <a:pt x="14754" y="3673"/>
                  <a:pt x="14749" y="3683"/>
                </a:cubicBezTo>
                <a:cubicBezTo>
                  <a:pt x="14743" y="3694"/>
                  <a:pt x="14737" y="3705"/>
                  <a:pt x="14729" y="3714"/>
                </a:cubicBezTo>
                <a:cubicBezTo>
                  <a:pt x="14721" y="3724"/>
                  <a:pt x="14713" y="3733"/>
                  <a:pt x="14703" y="3741"/>
                </a:cubicBezTo>
                <a:cubicBezTo>
                  <a:pt x="14693" y="3750"/>
                  <a:pt x="14682" y="3757"/>
                  <a:pt x="14671" y="3764"/>
                </a:cubicBezTo>
                <a:cubicBezTo>
                  <a:pt x="14659" y="3770"/>
                  <a:pt x="14647" y="3776"/>
                  <a:pt x="14634" y="3780"/>
                </a:cubicBezTo>
                <a:cubicBezTo>
                  <a:pt x="14621" y="3785"/>
                  <a:pt x="14608" y="3788"/>
                  <a:pt x="14594" y="3790"/>
                </a:cubicBezTo>
                <a:cubicBezTo>
                  <a:pt x="14581" y="3792"/>
                  <a:pt x="14567" y="3794"/>
                  <a:pt x="14553" y="3794"/>
                </a:cubicBezTo>
                <a:lnTo>
                  <a:pt x="0" y="3794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4" name="任意多边形 1533"/>
          <p:cNvSpPr/>
          <p:nvPr/>
        </p:nvSpPr>
        <p:spPr>
          <a:xfrm>
            <a:off x="6248160" y="1726200"/>
            <a:ext cx="38520" cy="1365840"/>
          </a:xfrm>
          <a:custGeom>
            <a:avLst/>
            <a:gdLst/>
            <a:ahLst/>
            <a:cxnLst/>
            <a:rect l="0" t="0" r="r" b="b"/>
            <a:pathLst>
              <a:path w="107" h="3794">
                <a:moveTo>
                  <a:pt x="0" y="0"/>
                </a:moveTo>
                <a:lnTo>
                  <a:pt x="107" y="0"/>
                </a:lnTo>
                <a:lnTo>
                  <a:pt x="107" y="3794"/>
                </a:lnTo>
                <a:lnTo>
                  <a:pt x="0" y="3794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5" name="任意多边形 1534"/>
          <p:cNvSpPr/>
          <p:nvPr/>
        </p:nvSpPr>
        <p:spPr>
          <a:xfrm>
            <a:off x="6267240" y="3220200"/>
            <a:ext cx="5315400" cy="1365480"/>
          </a:xfrm>
          <a:custGeom>
            <a:avLst/>
            <a:gdLst/>
            <a:ahLst/>
            <a:cxnLst/>
            <a:rect l="0" t="0" r="r" b="b"/>
            <a:pathLst>
              <a:path w="14765" h="3793">
                <a:moveTo>
                  <a:pt x="0" y="3793"/>
                </a:moveTo>
                <a:lnTo>
                  <a:pt x="0" y="0"/>
                </a:lnTo>
                <a:lnTo>
                  <a:pt x="14553" y="0"/>
                </a:lnTo>
                <a:cubicBezTo>
                  <a:pt x="14567" y="0"/>
                  <a:pt x="14581" y="1"/>
                  <a:pt x="14594" y="3"/>
                </a:cubicBezTo>
                <a:cubicBezTo>
                  <a:pt x="14608" y="5"/>
                  <a:pt x="14621" y="9"/>
                  <a:pt x="14634" y="13"/>
                </a:cubicBezTo>
                <a:cubicBezTo>
                  <a:pt x="14647" y="18"/>
                  <a:pt x="14659" y="23"/>
                  <a:pt x="14671" y="30"/>
                </a:cubicBezTo>
                <a:cubicBezTo>
                  <a:pt x="14682" y="36"/>
                  <a:pt x="14693" y="44"/>
                  <a:pt x="14703" y="52"/>
                </a:cubicBezTo>
                <a:cubicBezTo>
                  <a:pt x="14713" y="60"/>
                  <a:pt x="14721" y="69"/>
                  <a:pt x="14729" y="79"/>
                </a:cubicBezTo>
                <a:cubicBezTo>
                  <a:pt x="14737" y="89"/>
                  <a:pt x="14743" y="99"/>
                  <a:pt x="14749" y="110"/>
                </a:cubicBezTo>
                <a:cubicBezTo>
                  <a:pt x="14754" y="121"/>
                  <a:pt x="14758" y="132"/>
                  <a:pt x="14761" y="143"/>
                </a:cubicBezTo>
                <a:cubicBezTo>
                  <a:pt x="14763" y="155"/>
                  <a:pt x="14765" y="166"/>
                  <a:pt x="14765" y="178"/>
                </a:cubicBezTo>
                <a:lnTo>
                  <a:pt x="14765" y="3614"/>
                </a:lnTo>
                <a:cubicBezTo>
                  <a:pt x="14765" y="3626"/>
                  <a:pt x="14763" y="3638"/>
                  <a:pt x="14761" y="3649"/>
                </a:cubicBezTo>
                <a:cubicBezTo>
                  <a:pt x="14758" y="3661"/>
                  <a:pt x="14754" y="3672"/>
                  <a:pt x="14749" y="3683"/>
                </a:cubicBezTo>
                <a:cubicBezTo>
                  <a:pt x="14743" y="3693"/>
                  <a:pt x="14737" y="3704"/>
                  <a:pt x="14729" y="3713"/>
                </a:cubicBezTo>
                <a:cubicBezTo>
                  <a:pt x="14721" y="3723"/>
                  <a:pt x="14713" y="3732"/>
                  <a:pt x="14703" y="3740"/>
                </a:cubicBezTo>
                <a:cubicBezTo>
                  <a:pt x="14693" y="3749"/>
                  <a:pt x="14682" y="3756"/>
                  <a:pt x="14671" y="3763"/>
                </a:cubicBezTo>
                <a:cubicBezTo>
                  <a:pt x="14659" y="3769"/>
                  <a:pt x="14647" y="3775"/>
                  <a:pt x="14634" y="3779"/>
                </a:cubicBezTo>
                <a:cubicBezTo>
                  <a:pt x="14621" y="3784"/>
                  <a:pt x="14608" y="3787"/>
                  <a:pt x="14594" y="3789"/>
                </a:cubicBezTo>
                <a:cubicBezTo>
                  <a:pt x="14581" y="3792"/>
                  <a:pt x="14567" y="3793"/>
                  <a:pt x="14553" y="3793"/>
                </a:cubicBezTo>
                <a:lnTo>
                  <a:pt x="0" y="3793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6" name="任意多边形 1535"/>
          <p:cNvSpPr/>
          <p:nvPr/>
        </p:nvSpPr>
        <p:spPr>
          <a:xfrm>
            <a:off x="6248160" y="3220200"/>
            <a:ext cx="38520" cy="1365480"/>
          </a:xfrm>
          <a:custGeom>
            <a:avLst/>
            <a:gdLst/>
            <a:ahLst/>
            <a:cxnLst/>
            <a:rect l="0" t="0" r="r" b="b"/>
            <a:pathLst>
              <a:path w="107" h="3793">
                <a:moveTo>
                  <a:pt x="0" y="0"/>
                </a:moveTo>
                <a:lnTo>
                  <a:pt x="107" y="0"/>
                </a:lnTo>
                <a:lnTo>
                  <a:pt x="107" y="3793"/>
                </a:lnTo>
                <a:lnTo>
                  <a:pt x="0" y="3793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7" name="任意多边形 1536"/>
          <p:cNvSpPr/>
          <p:nvPr/>
        </p:nvSpPr>
        <p:spPr>
          <a:xfrm>
            <a:off x="6267240" y="4713840"/>
            <a:ext cx="5315400" cy="1397520"/>
          </a:xfrm>
          <a:custGeom>
            <a:avLst/>
            <a:gdLst/>
            <a:ahLst/>
            <a:cxnLst/>
            <a:rect l="0" t="0" r="r" b="b"/>
            <a:pathLst>
              <a:path w="14765" h="3882">
                <a:moveTo>
                  <a:pt x="0" y="3882"/>
                </a:moveTo>
                <a:lnTo>
                  <a:pt x="0" y="0"/>
                </a:lnTo>
                <a:lnTo>
                  <a:pt x="14553" y="0"/>
                </a:lnTo>
                <a:cubicBezTo>
                  <a:pt x="14567" y="0"/>
                  <a:pt x="14581" y="1"/>
                  <a:pt x="14594" y="3"/>
                </a:cubicBezTo>
                <a:cubicBezTo>
                  <a:pt x="14608" y="5"/>
                  <a:pt x="14621" y="9"/>
                  <a:pt x="14634" y="13"/>
                </a:cubicBezTo>
                <a:cubicBezTo>
                  <a:pt x="14647" y="18"/>
                  <a:pt x="14659" y="23"/>
                  <a:pt x="14671" y="30"/>
                </a:cubicBezTo>
                <a:cubicBezTo>
                  <a:pt x="14682" y="36"/>
                  <a:pt x="14693" y="44"/>
                  <a:pt x="14703" y="52"/>
                </a:cubicBezTo>
                <a:cubicBezTo>
                  <a:pt x="14713" y="60"/>
                  <a:pt x="14721" y="69"/>
                  <a:pt x="14729" y="79"/>
                </a:cubicBezTo>
                <a:cubicBezTo>
                  <a:pt x="14737" y="89"/>
                  <a:pt x="14743" y="99"/>
                  <a:pt x="14749" y="110"/>
                </a:cubicBezTo>
                <a:cubicBezTo>
                  <a:pt x="14754" y="121"/>
                  <a:pt x="14758" y="132"/>
                  <a:pt x="14761" y="143"/>
                </a:cubicBezTo>
                <a:cubicBezTo>
                  <a:pt x="14763" y="155"/>
                  <a:pt x="14765" y="166"/>
                  <a:pt x="14765" y="178"/>
                </a:cubicBezTo>
                <a:lnTo>
                  <a:pt x="14765" y="3704"/>
                </a:lnTo>
                <a:cubicBezTo>
                  <a:pt x="14765" y="3715"/>
                  <a:pt x="14763" y="3727"/>
                  <a:pt x="14761" y="3738"/>
                </a:cubicBezTo>
                <a:cubicBezTo>
                  <a:pt x="14758" y="3750"/>
                  <a:pt x="14754" y="3761"/>
                  <a:pt x="14749" y="3772"/>
                </a:cubicBezTo>
                <a:cubicBezTo>
                  <a:pt x="14743" y="3783"/>
                  <a:pt x="14737" y="3793"/>
                  <a:pt x="14729" y="3803"/>
                </a:cubicBezTo>
                <a:cubicBezTo>
                  <a:pt x="14721" y="3812"/>
                  <a:pt x="14713" y="3821"/>
                  <a:pt x="14703" y="3830"/>
                </a:cubicBezTo>
                <a:cubicBezTo>
                  <a:pt x="14693" y="3838"/>
                  <a:pt x="14682" y="3845"/>
                  <a:pt x="14671" y="3852"/>
                </a:cubicBezTo>
                <a:cubicBezTo>
                  <a:pt x="14659" y="3858"/>
                  <a:pt x="14647" y="3864"/>
                  <a:pt x="14634" y="3868"/>
                </a:cubicBezTo>
                <a:cubicBezTo>
                  <a:pt x="14621" y="3873"/>
                  <a:pt x="14608" y="3876"/>
                  <a:pt x="14594" y="3879"/>
                </a:cubicBezTo>
                <a:cubicBezTo>
                  <a:pt x="14581" y="3881"/>
                  <a:pt x="14567" y="3882"/>
                  <a:pt x="14553" y="3882"/>
                </a:cubicBezTo>
                <a:lnTo>
                  <a:pt x="0" y="3882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8" name="任意多边形 1537"/>
          <p:cNvSpPr/>
          <p:nvPr/>
        </p:nvSpPr>
        <p:spPr>
          <a:xfrm>
            <a:off x="6248160" y="4713840"/>
            <a:ext cx="38520" cy="1397520"/>
          </a:xfrm>
          <a:custGeom>
            <a:avLst/>
            <a:gdLst/>
            <a:ahLst/>
            <a:cxnLst/>
            <a:rect l="0" t="0" r="r" b="b"/>
            <a:pathLst>
              <a:path w="107" h="3882">
                <a:moveTo>
                  <a:pt x="0" y="0"/>
                </a:moveTo>
                <a:lnTo>
                  <a:pt x="107" y="0"/>
                </a:lnTo>
                <a:lnTo>
                  <a:pt x="107" y="3882"/>
                </a:lnTo>
                <a:lnTo>
                  <a:pt x="0" y="388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539" name="图片 1538"/>
          <p:cNvPicPr/>
          <p:nvPr/>
        </p:nvPicPr>
        <p:blipFill>
          <a:blip r:embed="rId2"/>
          <a:stretch>
            <a:fillRect/>
          </a:stretch>
        </p:blipFill>
        <p:spPr>
          <a:xfrm>
            <a:off x="10066789" y="4678560"/>
            <a:ext cx="1362851" cy="91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0" name="文本框 1539"/>
          <p:cNvSpPr txBox="1"/>
          <p:nvPr/>
        </p:nvSpPr>
        <p:spPr>
          <a:xfrm>
            <a:off x="1219320" y="5928840"/>
            <a:ext cx="1447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训练集表现优异，测试集表现差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1" name="任意多边形 1540"/>
          <p:cNvSpPr/>
          <p:nvPr/>
        </p:nvSpPr>
        <p:spPr>
          <a:xfrm>
            <a:off x="6438600" y="1854720"/>
            <a:ext cx="305280" cy="257400"/>
          </a:xfrm>
          <a:custGeom>
            <a:avLst/>
            <a:gdLst/>
            <a:ahLst/>
            <a:cxnLst/>
            <a:rect l="0" t="0" r="r" b="b"/>
            <a:pathLst>
              <a:path w="848" h="715">
                <a:moveTo>
                  <a:pt x="848" y="358"/>
                </a:moveTo>
                <a:cubicBezTo>
                  <a:pt x="848" y="382"/>
                  <a:pt x="845" y="405"/>
                  <a:pt x="840" y="428"/>
                </a:cubicBezTo>
                <a:cubicBezTo>
                  <a:pt x="834" y="451"/>
                  <a:pt x="826" y="473"/>
                  <a:pt x="816" y="495"/>
                </a:cubicBezTo>
                <a:cubicBezTo>
                  <a:pt x="805" y="517"/>
                  <a:pt x="792" y="537"/>
                  <a:pt x="777" y="557"/>
                </a:cubicBezTo>
                <a:cubicBezTo>
                  <a:pt x="761" y="576"/>
                  <a:pt x="744" y="594"/>
                  <a:pt x="724" y="611"/>
                </a:cubicBezTo>
                <a:cubicBezTo>
                  <a:pt x="704" y="627"/>
                  <a:pt x="683" y="642"/>
                  <a:pt x="660" y="655"/>
                </a:cubicBezTo>
                <a:cubicBezTo>
                  <a:pt x="637" y="668"/>
                  <a:pt x="612" y="679"/>
                  <a:pt x="587" y="688"/>
                </a:cubicBezTo>
                <a:cubicBezTo>
                  <a:pt x="561" y="697"/>
                  <a:pt x="535" y="704"/>
                  <a:pt x="507" y="708"/>
                </a:cubicBezTo>
                <a:cubicBezTo>
                  <a:pt x="480" y="713"/>
                  <a:pt x="452" y="715"/>
                  <a:pt x="425" y="715"/>
                </a:cubicBezTo>
                <a:cubicBezTo>
                  <a:pt x="397" y="715"/>
                  <a:pt x="369" y="713"/>
                  <a:pt x="342" y="708"/>
                </a:cubicBezTo>
                <a:cubicBezTo>
                  <a:pt x="315" y="704"/>
                  <a:pt x="287" y="697"/>
                  <a:pt x="262" y="688"/>
                </a:cubicBezTo>
                <a:cubicBezTo>
                  <a:pt x="236" y="679"/>
                  <a:pt x="212" y="668"/>
                  <a:pt x="188" y="655"/>
                </a:cubicBezTo>
                <a:cubicBezTo>
                  <a:pt x="165" y="642"/>
                  <a:pt x="144" y="627"/>
                  <a:pt x="124" y="611"/>
                </a:cubicBezTo>
                <a:cubicBezTo>
                  <a:pt x="105" y="594"/>
                  <a:pt x="87" y="576"/>
                  <a:pt x="72" y="557"/>
                </a:cubicBezTo>
                <a:cubicBezTo>
                  <a:pt x="56" y="537"/>
                  <a:pt x="43" y="517"/>
                  <a:pt x="33" y="495"/>
                </a:cubicBezTo>
                <a:cubicBezTo>
                  <a:pt x="22" y="473"/>
                  <a:pt x="14" y="451"/>
                  <a:pt x="8" y="428"/>
                </a:cubicBezTo>
                <a:cubicBezTo>
                  <a:pt x="3" y="405"/>
                  <a:pt x="0" y="382"/>
                  <a:pt x="0" y="358"/>
                </a:cubicBezTo>
                <a:cubicBezTo>
                  <a:pt x="0" y="335"/>
                  <a:pt x="3" y="312"/>
                  <a:pt x="8" y="289"/>
                </a:cubicBezTo>
                <a:cubicBezTo>
                  <a:pt x="14" y="266"/>
                  <a:pt x="22" y="243"/>
                  <a:pt x="33" y="222"/>
                </a:cubicBezTo>
                <a:cubicBezTo>
                  <a:pt x="43" y="200"/>
                  <a:pt x="56" y="178"/>
                  <a:pt x="72" y="159"/>
                </a:cubicBezTo>
                <a:cubicBezTo>
                  <a:pt x="87" y="140"/>
                  <a:pt x="105" y="121"/>
                  <a:pt x="124" y="105"/>
                </a:cubicBezTo>
                <a:cubicBezTo>
                  <a:pt x="144" y="88"/>
                  <a:pt x="165" y="74"/>
                  <a:pt x="188" y="61"/>
                </a:cubicBezTo>
                <a:cubicBezTo>
                  <a:pt x="212" y="47"/>
                  <a:pt x="236" y="37"/>
                  <a:pt x="262" y="28"/>
                </a:cubicBezTo>
                <a:cubicBezTo>
                  <a:pt x="287" y="19"/>
                  <a:pt x="315" y="12"/>
                  <a:pt x="342" y="7"/>
                </a:cubicBezTo>
                <a:cubicBezTo>
                  <a:pt x="369" y="3"/>
                  <a:pt x="397" y="0"/>
                  <a:pt x="425" y="0"/>
                </a:cubicBezTo>
                <a:cubicBezTo>
                  <a:pt x="452" y="0"/>
                  <a:pt x="480" y="3"/>
                  <a:pt x="507" y="7"/>
                </a:cubicBezTo>
                <a:cubicBezTo>
                  <a:pt x="535" y="12"/>
                  <a:pt x="561" y="19"/>
                  <a:pt x="587" y="28"/>
                </a:cubicBezTo>
                <a:cubicBezTo>
                  <a:pt x="612" y="37"/>
                  <a:pt x="637" y="47"/>
                  <a:pt x="660" y="61"/>
                </a:cubicBezTo>
                <a:cubicBezTo>
                  <a:pt x="683" y="74"/>
                  <a:pt x="704" y="88"/>
                  <a:pt x="724" y="105"/>
                </a:cubicBezTo>
                <a:cubicBezTo>
                  <a:pt x="744" y="121"/>
                  <a:pt x="761" y="140"/>
                  <a:pt x="777" y="159"/>
                </a:cubicBezTo>
                <a:cubicBezTo>
                  <a:pt x="792" y="178"/>
                  <a:pt x="805" y="200"/>
                  <a:pt x="816" y="222"/>
                </a:cubicBezTo>
                <a:cubicBezTo>
                  <a:pt x="826" y="243"/>
                  <a:pt x="834" y="266"/>
                  <a:pt x="840" y="289"/>
                </a:cubicBezTo>
                <a:cubicBezTo>
                  <a:pt x="845" y="312"/>
                  <a:pt x="848" y="335"/>
                  <a:pt x="848" y="358"/>
                </a:cubicBezTo>
                <a:close/>
              </a:path>
            </a:pathLst>
          </a:custGeom>
          <a:solidFill>
            <a:srgbClr val="22C55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2" name="文本框 1541"/>
          <p:cNvSpPr txBox="1"/>
          <p:nvPr/>
        </p:nvSpPr>
        <p:spPr>
          <a:xfrm>
            <a:off x="6248520" y="1228680"/>
            <a:ext cx="11210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77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诊断与解决⽅案</a:t>
            </a:r>
            <a:endParaRPr lang="en-US" sz="17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3" name="文本框 1542"/>
          <p:cNvSpPr txBox="1"/>
          <p:nvPr/>
        </p:nvSpPr>
        <p:spPr>
          <a:xfrm>
            <a:off x="6553080" y="1909080"/>
            <a:ext cx="1519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4" name="文本框 1543"/>
          <p:cNvSpPr txBox="1"/>
          <p:nvPr/>
        </p:nvSpPr>
        <p:spPr>
          <a:xfrm>
            <a:off x="6858000" y="1883880"/>
            <a:ext cx="75780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数据泄露诊断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5" name="文本框 1544"/>
          <p:cNvSpPr txBox="1"/>
          <p:nvPr/>
        </p:nvSpPr>
        <p:spPr>
          <a:xfrm>
            <a:off x="6858000" y="220824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6" name="文本框 1545"/>
          <p:cNvSpPr txBox="1"/>
          <p:nvPr/>
        </p:nvSpPr>
        <p:spPr>
          <a:xfrm>
            <a:off x="6960960" y="2202840"/>
            <a:ext cx="1240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检查特征是否包含未来信息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7" name="文本框 1546"/>
          <p:cNvSpPr txBox="1"/>
          <p:nvPr/>
        </p:nvSpPr>
        <p:spPr>
          <a:xfrm>
            <a:off x="6858000" y="248904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8" name="文本框 1547"/>
          <p:cNvSpPr txBox="1"/>
          <p:nvPr/>
        </p:nvSpPr>
        <p:spPr>
          <a:xfrm>
            <a:off x="6960960" y="2483640"/>
            <a:ext cx="1240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确保预处理在训练集上完成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9" name="文本框 1548"/>
          <p:cNvSpPr txBox="1"/>
          <p:nvPr/>
        </p:nvSpPr>
        <p:spPr>
          <a:xfrm>
            <a:off x="6858000" y="277020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0" name="文本框 1549"/>
          <p:cNvSpPr txBox="1"/>
          <p:nvPr/>
        </p:nvSpPr>
        <p:spPr>
          <a:xfrm>
            <a:off x="6960960" y="2764800"/>
            <a:ext cx="414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使⽤管道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1" name="文本框 1550"/>
          <p:cNvSpPr txBox="1"/>
          <p:nvPr/>
        </p:nvSpPr>
        <p:spPr>
          <a:xfrm>
            <a:off x="7646760" y="2770200"/>
            <a:ext cx="6796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(Pipeline)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2" name="任意多边形 1551"/>
          <p:cNvSpPr/>
          <p:nvPr/>
        </p:nvSpPr>
        <p:spPr>
          <a:xfrm>
            <a:off x="6438600" y="3348360"/>
            <a:ext cx="305280" cy="257400"/>
          </a:xfrm>
          <a:custGeom>
            <a:avLst/>
            <a:gdLst/>
            <a:ahLst/>
            <a:cxnLst/>
            <a:rect l="0" t="0" r="r" b="b"/>
            <a:pathLst>
              <a:path w="848" h="715">
                <a:moveTo>
                  <a:pt x="848" y="358"/>
                </a:moveTo>
                <a:cubicBezTo>
                  <a:pt x="848" y="382"/>
                  <a:pt x="845" y="405"/>
                  <a:pt x="840" y="428"/>
                </a:cubicBezTo>
                <a:cubicBezTo>
                  <a:pt x="834" y="451"/>
                  <a:pt x="826" y="473"/>
                  <a:pt x="816" y="495"/>
                </a:cubicBezTo>
                <a:cubicBezTo>
                  <a:pt x="805" y="517"/>
                  <a:pt x="792" y="537"/>
                  <a:pt x="777" y="557"/>
                </a:cubicBezTo>
                <a:cubicBezTo>
                  <a:pt x="761" y="576"/>
                  <a:pt x="744" y="594"/>
                  <a:pt x="724" y="611"/>
                </a:cubicBezTo>
                <a:cubicBezTo>
                  <a:pt x="704" y="627"/>
                  <a:pt x="683" y="642"/>
                  <a:pt x="660" y="655"/>
                </a:cubicBezTo>
                <a:cubicBezTo>
                  <a:pt x="637" y="668"/>
                  <a:pt x="612" y="679"/>
                  <a:pt x="587" y="688"/>
                </a:cubicBezTo>
                <a:cubicBezTo>
                  <a:pt x="561" y="697"/>
                  <a:pt x="535" y="704"/>
                  <a:pt x="507" y="708"/>
                </a:cubicBezTo>
                <a:cubicBezTo>
                  <a:pt x="480" y="713"/>
                  <a:pt x="452" y="715"/>
                  <a:pt x="425" y="715"/>
                </a:cubicBezTo>
                <a:cubicBezTo>
                  <a:pt x="397" y="715"/>
                  <a:pt x="369" y="713"/>
                  <a:pt x="342" y="708"/>
                </a:cubicBezTo>
                <a:cubicBezTo>
                  <a:pt x="315" y="704"/>
                  <a:pt x="287" y="697"/>
                  <a:pt x="262" y="688"/>
                </a:cubicBezTo>
                <a:cubicBezTo>
                  <a:pt x="236" y="679"/>
                  <a:pt x="212" y="668"/>
                  <a:pt x="188" y="655"/>
                </a:cubicBezTo>
                <a:cubicBezTo>
                  <a:pt x="165" y="642"/>
                  <a:pt x="144" y="627"/>
                  <a:pt x="124" y="611"/>
                </a:cubicBezTo>
                <a:cubicBezTo>
                  <a:pt x="105" y="594"/>
                  <a:pt x="87" y="576"/>
                  <a:pt x="72" y="557"/>
                </a:cubicBezTo>
                <a:cubicBezTo>
                  <a:pt x="56" y="537"/>
                  <a:pt x="43" y="517"/>
                  <a:pt x="33" y="495"/>
                </a:cubicBezTo>
                <a:cubicBezTo>
                  <a:pt x="22" y="473"/>
                  <a:pt x="14" y="451"/>
                  <a:pt x="8" y="428"/>
                </a:cubicBezTo>
                <a:cubicBezTo>
                  <a:pt x="3" y="405"/>
                  <a:pt x="0" y="382"/>
                  <a:pt x="0" y="358"/>
                </a:cubicBezTo>
                <a:cubicBezTo>
                  <a:pt x="0" y="335"/>
                  <a:pt x="3" y="311"/>
                  <a:pt x="8" y="288"/>
                </a:cubicBezTo>
                <a:cubicBezTo>
                  <a:pt x="14" y="265"/>
                  <a:pt x="22" y="242"/>
                  <a:pt x="33" y="221"/>
                </a:cubicBezTo>
                <a:cubicBezTo>
                  <a:pt x="43" y="199"/>
                  <a:pt x="56" y="179"/>
                  <a:pt x="72" y="159"/>
                </a:cubicBezTo>
                <a:cubicBezTo>
                  <a:pt x="87" y="140"/>
                  <a:pt x="105" y="122"/>
                  <a:pt x="124" y="105"/>
                </a:cubicBezTo>
                <a:cubicBezTo>
                  <a:pt x="144" y="88"/>
                  <a:pt x="165" y="74"/>
                  <a:pt x="188" y="61"/>
                </a:cubicBezTo>
                <a:cubicBezTo>
                  <a:pt x="212" y="48"/>
                  <a:pt x="236" y="37"/>
                  <a:pt x="262" y="28"/>
                </a:cubicBezTo>
                <a:cubicBezTo>
                  <a:pt x="287" y="19"/>
                  <a:pt x="315" y="12"/>
                  <a:pt x="342" y="7"/>
                </a:cubicBezTo>
                <a:cubicBezTo>
                  <a:pt x="369" y="3"/>
                  <a:pt x="397" y="0"/>
                  <a:pt x="425" y="0"/>
                </a:cubicBezTo>
                <a:cubicBezTo>
                  <a:pt x="452" y="0"/>
                  <a:pt x="480" y="3"/>
                  <a:pt x="507" y="7"/>
                </a:cubicBezTo>
                <a:cubicBezTo>
                  <a:pt x="535" y="12"/>
                  <a:pt x="561" y="19"/>
                  <a:pt x="587" y="28"/>
                </a:cubicBezTo>
                <a:cubicBezTo>
                  <a:pt x="612" y="37"/>
                  <a:pt x="637" y="48"/>
                  <a:pt x="660" y="61"/>
                </a:cubicBezTo>
                <a:cubicBezTo>
                  <a:pt x="683" y="74"/>
                  <a:pt x="704" y="88"/>
                  <a:pt x="724" y="105"/>
                </a:cubicBezTo>
                <a:cubicBezTo>
                  <a:pt x="744" y="122"/>
                  <a:pt x="761" y="140"/>
                  <a:pt x="777" y="159"/>
                </a:cubicBezTo>
                <a:cubicBezTo>
                  <a:pt x="792" y="179"/>
                  <a:pt x="805" y="199"/>
                  <a:pt x="816" y="221"/>
                </a:cubicBezTo>
                <a:cubicBezTo>
                  <a:pt x="826" y="242"/>
                  <a:pt x="834" y="265"/>
                  <a:pt x="840" y="288"/>
                </a:cubicBezTo>
                <a:cubicBezTo>
                  <a:pt x="845" y="311"/>
                  <a:pt x="848" y="335"/>
                  <a:pt x="848" y="358"/>
                </a:cubicBezTo>
                <a:close/>
              </a:path>
            </a:pathLst>
          </a:custGeom>
          <a:solidFill>
            <a:srgbClr val="22C55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3" name="文本框 1552"/>
          <p:cNvSpPr txBox="1"/>
          <p:nvPr/>
        </p:nvSpPr>
        <p:spPr>
          <a:xfrm>
            <a:off x="8322840" y="2764800"/>
            <a:ext cx="414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防⽌泄露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4" name="文本框 1553"/>
          <p:cNvSpPr txBox="1"/>
          <p:nvPr/>
        </p:nvSpPr>
        <p:spPr>
          <a:xfrm>
            <a:off x="6553080" y="3402720"/>
            <a:ext cx="1519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5" name="文本框 1554"/>
          <p:cNvSpPr txBox="1"/>
          <p:nvPr/>
        </p:nvSpPr>
        <p:spPr>
          <a:xfrm>
            <a:off x="6858000" y="3377520"/>
            <a:ext cx="88416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共线性解决⽅案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6" name="文本框 1555"/>
          <p:cNvSpPr txBox="1"/>
          <p:nvPr/>
        </p:nvSpPr>
        <p:spPr>
          <a:xfrm>
            <a:off x="6858000" y="370188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7" name="文本框 1556"/>
          <p:cNvSpPr txBox="1"/>
          <p:nvPr/>
        </p:nvSpPr>
        <p:spPr>
          <a:xfrm>
            <a:off x="6960960" y="3696480"/>
            <a:ext cx="1034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计算特征相关系数矩阵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8" name="文本框 1557"/>
          <p:cNvSpPr txBox="1"/>
          <p:nvPr/>
        </p:nvSpPr>
        <p:spPr>
          <a:xfrm>
            <a:off x="6858000" y="398268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9" name="文本框 1558"/>
          <p:cNvSpPr txBox="1"/>
          <p:nvPr/>
        </p:nvSpPr>
        <p:spPr>
          <a:xfrm>
            <a:off x="6960960" y="3977280"/>
            <a:ext cx="207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使⽤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0" name="文本框 1559"/>
          <p:cNvSpPr txBox="1"/>
          <p:nvPr/>
        </p:nvSpPr>
        <p:spPr>
          <a:xfrm>
            <a:off x="7303680" y="3982680"/>
            <a:ext cx="3355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VIF(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1" name="文本框 1560"/>
          <p:cNvSpPr txBox="1"/>
          <p:nvPr/>
        </p:nvSpPr>
        <p:spPr>
          <a:xfrm>
            <a:off x="7637040" y="3977280"/>
            <a:ext cx="620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⽅差膨胀因⼦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2" name="文本框 1561"/>
          <p:cNvSpPr txBox="1"/>
          <p:nvPr/>
        </p:nvSpPr>
        <p:spPr>
          <a:xfrm>
            <a:off x="8665920" y="398268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)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3" name="文本框 1562"/>
          <p:cNvSpPr txBox="1"/>
          <p:nvPr/>
        </p:nvSpPr>
        <p:spPr>
          <a:xfrm>
            <a:off x="8722800" y="3977280"/>
            <a:ext cx="207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检测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4" name="文本框 1563"/>
          <p:cNvSpPr txBox="1"/>
          <p:nvPr/>
        </p:nvSpPr>
        <p:spPr>
          <a:xfrm>
            <a:off x="6858000" y="426384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5" name="文本框 1564"/>
          <p:cNvSpPr txBox="1"/>
          <p:nvPr/>
        </p:nvSpPr>
        <p:spPr>
          <a:xfrm>
            <a:off x="6960960" y="4258440"/>
            <a:ext cx="207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应⽤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6" name="文本框 1565"/>
          <p:cNvSpPr txBox="1"/>
          <p:nvPr/>
        </p:nvSpPr>
        <p:spPr>
          <a:xfrm>
            <a:off x="7303680" y="4263840"/>
            <a:ext cx="335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PCA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7" name="任意多边形 1566"/>
          <p:cNvSpPr/>
          <p:nvPr/>
        </p:nvSpPr>
        <p:spPr>
          <a:xfrm>
            <a:off x="6438600" y="4842000"/>
            <a:ext cx="305280" cy="257400"/>
          </a:xfrm>
          <a:custGeom>
            <a:avLst/>
            <a:gdLst/>
            <a:ahLst/>
            <a:cxnLst/>
            <a:rect l="0" t="0" r="r" b="b"/>
            <a:pathLst>
              <a:path w="848" h="715">
                <a:moveTo>
                  <a:pt x="848" y="357"/>
                </a:moveTo>
                <a:cubicBezTo>
                  <a:pt x="848" y="381"/>
                  <a:pt x="845" y="404"/>
                  <a:pt x="840" y="427"/>
                </a:cubicBezTo>
                <a:cubicBezTo>
                  <a:pt x="834" y="450"/>
                  <a:pt x="826" y="473"/>
                  <a:pt x="816" y="495"/>
                </a:cubicBezTo>
                <a:cubicBezTo>
                  <a:pt x="805" y="517"/>
                  <a:pt x="792" y="537"/>
                  <a:pt x="777" y="557"/>
                </a:cubicBezTo>
                <a:cubicBezTo>
                  <a:pt x="761" y="576"/>
                  <a:pt x="744" y="594"/>
                  <a:pt x="724" y="611"/>
                </a:cubicBezTo>
                <a:cubicBezTo>
                  <a:pt x="704" y="627"/>
                  <a:pt x="683" y="642"/>
                  <a:pt x="660" y="655"/>
                </a:cubicBezTo>
                <a:cubicBezTo>
                  <a:pt x="637" y="668"/>
                  <a:pt x="612" y="679"/>
                  <a:pt x="587" y="688"/>
                </a:cubicBezTo>
                <a:cubicBezTo>
                  <a:pt x="561" y="697"/>
                  <a:pt x="535" y="704"/>
                  <a:pt x="507" y="708"/>
                </a:cubicBezTo>
                <a:cubicBezTo>
                  <a:pt x="480" y="713"/>
                  <a:pt x="452" y="715"/>
                  <a:pt x="425" y="715"/>
                </a:cubicBezTo>
                <a:cubicBezTo>
                  <a:pt x="397" y="715"/>
                  <a:pt x="369" y="713"/>
                  <a:pt x="342" y="708"/>
                </a:cubicBezTo>
                <a:cubicBezTo>
                  <a:pt x="315" y="704"/>
                  <a:pt x="287" y="697"/>
                  <a:pt x="262" y="688"/>
                </a:cubicBezTo>
                <a:cubicBezTo>
                  <a:pt x="236" y="679"/>
                  <a:pt x="212" y="668"/>
                  <a:pt x="188" y="655"/>
                </a:cubicBezTo>
                <a:cubicBezTo>
                  <a:pt x="165" y="642"/>
                  <a:pt x="144" y="627"/>
                  <a:pt x="124" y="611"/>
                </a:cubicBezTo>
                <a:cubicBezTo>
                  <a:pt x="105" y="594"/>
                  <a:pt x="87" y="576"/>
                  <a:pt x="72" y="557"/>
                </a:cubicBezTo>
                <a:cubicBezTo>
                  <a:pt x="56" y="537"/>
                  <a:pt x="43" y="517"/>
                  <a:pt x="33" y="495"/>
                </a:cubicBezTo>
                <a:cubicBezTo>
                  <a:pt x="22" y="473"/>
                  <a:pt x="14" y="450"/>
                  <a:pt x="8" y="427"/>
                </a:cubicBezTo>
                <a:cubicBezTo>
                  <a:pt x="3" y="404"/>
                  <a:pt x="0" y="381"/>
                  <a:pt x="0" y="357"/>
                </a:cubicBezTo>
                <a:cubicBezTo>
                  <a:pt x="0" y="334"/>
                  <a:pt x="3" y="311"/>
                  <a:pt x="8" y="288"/>
                </a:cubicBezTo>
                <a:cubicBezTo>
                  <a:pt x="14" y="265"/>
                  <a:pt x="22" y="242"/>
                  <a:pt x="33" y="221"/>
                </a:cubicBezTo>
                <a:cubicBezTo>
                  <a:pt x="43" y="199"/>
                  <a:pt x="56" y="179"/>
                  <a:pt x="72" y="159"/>
                </a:cubicBezTo>
                <a:cubicBezTo>
                  <a:pt x="87" y="140"/>
                  <a:pt x="105" y="122"/>
                  <a:pt x="124" y="105"/>
                </a:cubicBezTo>
                <a:cubicBezTo>
                  <a:pt x="144" y="88"/>
                  <a:pt x="165" y="74"/>
                  <a:pt x="188" y="61"/>
                </a:cubicBezTo>
                <a:cubicBezTo>
                  <a:pt x="212" y="48"/>
                  <a:pt x="236" y="37"/>
                  <a:pt x="262" y="28"/>
                </a:cubicBezTo>
                <a:cubicBezTo>
                  <a:pt x="287" y="19"/>
                  <a:pt x="315" y="12"/>
                  <a:pt x="342" y="7"/>
                </a:cubicBezTo>
                <a:cubicBezTo>
                  <a:pt x="369" y="3"/>
                  <a:pt x="397" y="0"/>
                  <a:pt x="425" y="0"/>
                </a:cubicBezTo>
                <a:cubicBezTo>
                  <a:pt x="452" y="0"/>
                  <a:pt x="480" y="3"/>
                  <a:pt x="507" y="7"/>
                </a:cubicBezTo>
                <a:cubicBezTo>
                  <a:pt x="535" y="12"/>
                  <a:pt x="561" y="19"/>
                  <a:pt x="587" y="28"/>
                </a:cubicBezTo>
                <a:cubicBezTo>
                  <a:pt x="612" y="37"/>
                  <a:pt x="637" y="48"/>
                  <a:pt x="660" y="61"/>
                </a:cubicBezTo>
                <a:cubicBezTo>
                  <a:pt x="683" y="74"/>
                  <a:pt x="704" y="88"/>
                  <a:pt x="724" y="105"/>
                </a:cubicBezTo>
                <a:cubicBezTo>
                  <a:pt x="744" y="122"/>
                  <a:pt x="761" y="140"/>
                  <a:pt x="777" y="159"/>
                </a:cubicBezTo>
                <a:cubicBezTo>
                  <a:pt x="792" y="179"/>
                  <a:pt x="805" y="199"/>
                  <a:pt x="816" y="221"/>
                </a:cubicBezTo>
                <a:cubicBezTo>
                  <a:pt x="826" y="242"/>
                  <a:pt x="834" y="265"/>
                  <a:pt x="840" y="288"/>
                </a:cubicBezTo>
                <a:cubicBezTo>
                  <a:pt x="845" y="311"/>
                  <a:pt x="848" y="334"/>
                  <a:pt x="848" y="357"/>
                </a:cubicBezTo>
                <a:close/>
              </a:path>
            </a:pathLst>
          </a:custGeom>
          <a:solidFill>
            <a:srgbClr val="22C55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8" name="文本框 1567"/>
          <p:cNvSpPr txBox="1"/>
          <p:nvPr/>
        </p:nvSpPr>
        <p:spPr>
          <a:xfrm>
            <a:off x="7637400" y="4258440"/>
            <a:ext cx="723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降维或特征选择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9" name="文本框 1568"/>
          <p:cNvSpPr txBox="1"/>
          <p:nvPr/>
        </p:nvSpPr>
        <p:spPr>
          <a:xfrm>
            <a:off x="6553080" y="4896360"/>
            <a:ext cx="1519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0" name="文本框 1569"/>
          <p:cNvSpPr txBox="1"/>
          <p:nvPr/>
        </p:nvSpPr>
        <p:spPr>
          <a:xfrm>
            <a:off x="6858000" y="4871160"/>
            <a:ext cx="50544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调试⼯具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1" name="文本框 1570"/>
          <p:cNvSpPr txBox="1"/>
          <p:nvPr/>
        </p:nvSpPr>
        <p:spPr>
          <a:xfrm>
            <a:off x="6858000" y="5227560"/>
            <a:ext cx="5443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SHAP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2" name="文本框 1571"/>
          <p:cNvSpPr txBox="1"/>
          <p:nvPr/>
        </p:nvSpPr>
        <p:spPr>
          <a:xfrm>
            <a:off x="7399080" y="5222160"/>
            <a:ext cx="827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值分析特征重要性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3" name="文本框 1572"/>
          <p:cNvSpPr txBox="1"/>
          <p:nvPr/>
        </p:nvSpPr>
        <p:spPr>
          <a:xfrm>
            <a:off x="6858000" y="550872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4" name="文本框 1573"/>
          <p:cNvSpPr txBox="1"/>
          <p:nvPr/>
        </p:nvSpPr>
        <p:spPr>
          <a:xfrm>
            <a:off x="6960960" y="5503320"/>
            <a:ext cx="827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学习曲线诊断偏差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5" name="文本框 1574"/>
          <p:cNvSpPr txBox="1"/>
          <p:nvPr/>
        </p:nvSpPr>
        <p:spPr>
          <a:xfrm>
            <a:off x="8332560" y="550872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/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6" name="文本框 1575"/>
          <p:cNvSpPr txBox="1"/>
          <p:nvPr/>
        </p:nvSpPr>
        <p:spPr>
          <a:xfrm>
            <a:off x="8380080" y="5503320"/>
            <a:ext cx="207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⽅差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7" name="文本框 1576"/>
          <p:cNvSpPr txBox="1"/>
          <p:nvPr/>
        </p:nvSpPr>
        <p:spPr>
          <a:xfrm>
            <a:off x="6858000" y="578952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9" name="文本框 1578"/>
          <p:cNvSpPr txBox="1"/>
          <p:nvPr/>
        </p:nvSpPr>
        <p:spPr>
          <a:xfrm>
            <a:off x="6960960" y="5784120"/>
            <a:ext cx="1034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混淆矩阵分析错误类型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3102C6-EAD2-7132-2B59-F85C9F432DBC}"/>
              </a:ext>
            </a:extLst>
          </p:cNvPr>
          <p:cNvSpPr txBox="1"/>
          <p:nvPr/>
        </p:nvSpPr>
        <p:spPr>
          <a:xfrm>
            <a:off x="10883265" y="216963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任意多边形 158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0" name="任意多边形 1589"/>
          <p:cNvSpPr/>
          <p:nvPr/>
        </p:nvSpPr>
        <p:spPr>
          <a:xfrm>
            <a:off x="152280" y="112320"/>
            <a:ext cx="11887560" cy="6745680"/>
          </a:xfrm>
          <a:custGeom>
            <a:avLst/>
            <a:gdLst/>
            <a:ahLst/>
            <a:cxnLst/>
            <a:rect l="0" t="0" r="r" b="b"/>
            <a:pathLst>
              <a:path w="33021" h="18738">
                <a:moveTo>
                  <a:pt x="0" y="0"/>
                </a:moveTo>
                <a:lnTo>
                  <a:pt x="33021" y="0"/>
                </a:lnTo>
                <a:lnTo>
                  <a:pt x="33021" y="18738"/>
                </a:lnTo>
                <a:lnTo>
                  <a:pt x="0" y="187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1" name="任意多边形 1590"/>
          <p:cNvSpPr/>
          <p:nvPr/>
        </p:nvSpPr>
        <p:spPr>
          <a:xfrm>
            <a:off x="152280" y="112320"/>
            <a:ext cx="11887560" cy="710640"/>
          </a:xfrm>
          <a:custGeom>
            <a:avLst/>
            <a:gdLst/>
            <a:ahLst/>
            <a:cxnLst/>
            <a:rect l="0" t="0" r="r" b="b"/>
            <a:pathLst>
              <a:path w="33021" h="1974">
                <a:moveTo>
                  <a:pt x="0" y="0"/>
                </a:moveTo>
                <a:lnTo>
                  <a:pt x="33021" y="0"/>
                </a:lnTo>
                <a:lnTo>
                  <a:pt x="33021" y="1974"/>
                </a:lnTo>
                <a:lnTo>
                  <a:pt x="0" y="1974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2" name="任意多边形 1591"/>
          <p:cNvSpPr/>
          <p:nvPr/>
        </p:nvSpPr>
        <p:spPr>
          <a:xfrm>
            <a:off x="152280" y="822600"/>
            <a:ext cx="11887560" cy="5845680"/>
          </a:xfrm>
          <a:custGeom>
            <a:avLst/>
            <a:gdLst/>
            <a:ahLst/>
            <a:cxnLst/>
            <a:rect l="0" t="0" r="r" b="b"/>
            <a:pathLst>
              <a:path w="33021" h="16238">
                <a:moveTo>
                  <a:pt x="0" y="0"/>
                </a:moveTo>
                <a:lnTo>
                  <a:pt x="33021" y="0"/>
                </a:lnTo>
                <a:lnTo>
                  <a:pt x="33021" y="16238"/>
                </a:lnTo>
                <a:lnTo>
                  <a:pt x="0" y="1623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3" name="任意多边形 1592"/>
          <p:cNvSpPr/>
          <p:nvPr/>
        </p:nvSpPr>
        <p:spPr>
          <a:xfrm>
            <a:off x="609480" y="3748680"/>
            <a:ext cx="10973160" cy="2694600"/>
          </a:xfrm>
          <a:custGeom>
            <a:avLst/>
            <a:gdLst/>
            <a:ahLst/>
            <a:cxnLst/>
            <a:rect l="0" t="0" r="r" b="b"/>
            <a:pathLst>
              <a:path w="30481" h="7485">
                <a:moveTo>
                  <a:pt x="0" y="7328"/>
                </a:moveTo>
                <a:lnTo>
                  <a:pt x="0" y="157"/>
                </a:lnTo>
                <a:cubicBezTo>
                  <a:pt x="0" y="147"/>
                  <a:pt x="1" y="136"/>
                  <a:pt x="4" y="126"/>
                </a:cubicBezTo>
                <a:cubicBezTo>
                  <a:pt x="7" y="116"/>
                  <a:pt x="11" y="106"/>
                  <a:pt x="16" y="97"/>
                </a:cubicBezTo>
                <a:cubicBezTo>
                  <a:pt x="21" y="88"/>
                  <a:pt x="28" y="79"/>
                  <a:pt x="36" y="70"/>
                </a:cubicBezTo>
                <a:cubicBezTo>
                  <a:pt x="43" y="61"/>
                  <a:pt x="52" y="54"/>
                  <a:pt x="62" y="46"/>
                </a:cubicBezTo>
                <a:cubicBezTo>
                  <a:pt x="72" y="39"/>
                  <a:pt x="82" y="33"/>
                  <a:pt x="94" y="27"/>
                </a:cubicBezTo>
                <a:cubicBezTo>
                  <a:pt x="105" y="21"/>
                  <a:pt x="118" y="16"/>
                  <a:pt x="130" y="12"/>
                </a:cubicBezTo>
                <a:cubicBezTo>
                  <a:pt x="143" y="8"/>
                  <a:pt x="157" y="6"/>
                  <a:pt x="170" y="4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4"/>
                </a:cubicBezTo>
                <a:cubicBezTo>
                  <a:pt x="30324" y="6"/>
                  <a:pt x="30337" y="8"/>
                  <a:pt x="30350" y="12"/>
                </a:cubicBezTo>
                <a:cubicBezTo>
                  <a:pt x="30363" y="16"/>
                  <a:pt x="30375" y="21"/>
                  <a:pt x="30387" y="27"/>
                </a:cubicBezTo>
                <a:cubicBezTo>
                  <a:pt x="30398" y="33"/>
                  <a:pt x="30409" y="39"/>
                  <a:pt x="30419" y="46"/>
                </a:cubicBezTo>
                <a:cubicBezTo>
                  <a:pt x="30429" y="54"/>
                  <a:pt x="30437" y="61"/>
                  <a:pt x="30445" y="70"/>
                </a:cubicBezTo>
                <a:cubicBezTo>
                  <a:pt x="30453" y="79"/>
                  <a:pt x="30459" y="88"/>
                  <a:pt x="30465" y="97"/>
                </a:cubicBezTo>
                <a:cubicBezTo>
                  <a:pt x="30470" y="106"/>
                  <a:pt x="30474" y="116"/>
                  <a:pt x="30477" y="126"/>
                </a:cubicBezTo>
                <a:cubicBezTo>
                  <a:pt x="30479" y="136"/>
                  <a:pt x="30481" y="147"/>
                  <a:pt x="30481" y="157"/>
                </a:cubicBezTo>
                <a:lnTo>
                  <a:pt x="30481" y="7328"/>
                </a:lnTo>
                <a:cubicBezTo>
                  <a:pt x="30481" y="7339"/>
                  <a:pt x="30479" y="7349"/>
                  <a:pt x="30477" y="7359"/>
                </a:cubicBezTo>
                <a:cubicBezTo>
                  <a:pt x="30474" y="7369"/>
                  <a:pt x="30470" y="7379"/>
                  <a:pt x="30465" y="7388"/>
                </a:cubicBezTo>
                <a:cubicBezTo>
                  <a:pt x="30459" y="7398"/>
                  <a:pt x="30453" y="7407"/>
                  <a:pt x="30445" y="7415"/>
                </a:cubicBezTo>
                <a:cubicBezTo>
                  <a:pt x="30437" y="7424"/>
                  <a:pt x="30429" y="7432"/>
                  <a:pt x="30419" y="7439"/>
                </a:cubicBezTo>
                <a:cubicBezTo>
                  <a:pt x="30409" y="7446"/>
                  <a:pt x="30398" y="7453"/>
                  <a:pt x="30387" y="7458"/>
                </a:cubicBezTo>
                <a:cubicBezTo>
                  <a:pt x="30375" y="7464"/>
                  <a:pt x="30363" y="7469"/>
                  <a:pt x="30350" y="7473"/>
                </a:cubicBezTo>
                <a:cubicBezTo>
                  <a:pt x="30337" y="7477"/>
                  <a:pt x="30324" y="7480"/>
                  <a:pt x="30310" y="7482"/>
                </a:cubicBezTo>
                <a:cubicBezTo>
                  <a:pt x="30297" y="7484"/>
                  <a:pt x="30283" y="7485"/>
                  <a:pt x="30269" y="7485"/>
                </a:cubicBezTo>
                <a:lnTo>
                  <a:pt x="211" y="7485"/>
                </a:lnTo>
                <a:cubicBezTo>
                  <a:pt x="198" y="7485"/>
                  <a:pt x="184" y="7484"/>
                  <a:pt x="170" y="7482"/>
                </a:cubicBezTo>
                <a:cubicBezTo>
                  <a:pt x="157" y="7480"/>
                  <a:pt x="143" y="7477"/>
                  <a:pt x="130" y="7473"/>
                </a:cubicBezTo>
                <a:cubicBezTo>
                  <a:pt x="118" y="7469"/>
                  <a:pt x="105" y="7464"/>
                  <a:pt x="94" y="7458"/>
                </a:cubicBezTo>
                <a:cubicBezTo>
                  <a:pt x="82" y="7453"/>
                  <a:pt x="72" y="7446"/>
                  <a:pt x="62" y="7439"/>
                </a:cubicBezTo>
                <a:cubicBezTo>
                  <a:pt x="52" y="7432"/>
                  <a:pt x="43" y="7424"/>
                  <a:pt x="36" y="7415"/>
                </a:cubicBezTo>
                <a:cubicBezTo>
                  <a:pt x="28" y="7407"/>
                  <a:pt x="21" y="7398"/>
                  <a:pt x="16" y="7388"/>
                </a:cubicBezTo>
                <a:cubicBezTo>
                  <a:pt x="11" y="7379"/>
                  <a:pt x="7" y="7369"/>
                  <a:pt x="4" y="7359"/>
                </a:cubicBezTo>
                <a:cubicBezTo>
                  <a:pt x="1" y="7349"/>
                  <a:pt x="0" y="7339"/>
                  <a:pt x="0" y="732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4" name="任意多边形 1593"/>
          <p:cNvSpPr/>
          <p:nvPr/>
        </p:nvSpPr>
        <p:spPr>
          <a:xfrm>
            <a:off x="609480" y="1062000"/>
            <a:ext cx="3457800" cy="2405880"/>
          </a:xfrm>
          <a:custGeom>
            <a:avLst/>
            <a:gdLst/>
            <a:ahLst/>
            <a:cxnLst/>
            <a:rect l="0" t="0" r="r" b="b"/>
            <a:pathLst>
              <a:path w="9605" h="6683">
                <a:moveTo>
                  <a:pt x="0" y="6527"/>
                </a:moveTo>
                <a:lnTo>
                  <a:pt x="0" y="117"/>
                </a:lnTo>
                <a:cubicBezTo>
                  <a:pt x="0" y="109"/>
                  <a:pt x="1" y="102"/>
                  <a:pt x="4" y="94"/>
                </a:cubicBezTo>
                <a:cubicBezTo>
                  <a:pt x="7" y="87"/>
                  <a:pt x="11" y="79"/>
                  <a:pt x="16" y="72"/>
                </a:cubicBezTo>
                <a:cubicBezTo>
                  <a:pt x="21" y="65"/>
                  <a:pt x="28" y="58"/>
                  <a:pt x="36" y="52"/>
                </a:cubicBezTo>
                <a:cubicBezTo>
                  <a:pt x="43" y="46"/>
                  <a:pt x="52" y="40"/>
                  <a:pt x="62" y="34"/>
                </a:cubicBezTo>
                <a:cubicBezTo>
                  <a:pt x="72" y="29"/>
                  <a:pt x="82" y="24"/>
                  <a:pt x="94" y="20"/>
                </a:cubicBezTo>
                <a:cubicBezTo>
                  <a:pt x="105" y="15"/>
                  <a:pt x="118" y="12"/>
                  <a:pt x="130" y="9"/>
                </a:cubicBezTo>
                <a:cubicBezTo>
                  <a:pt x="143" y="6"/>
                  <a:pt x="157" y="4"/>
                  <a:pt x="170" y="2"/>
                </a:cubicBezTo>
                <a:cubicBezTo>
                  <a:pt x="184" y="1"/>
                  <a:pt x="198" y="0"/>
                  <a:pt x="211" y="0"/>
                </a:cubicBezTo>
                <a:lnTo>
                  <a:pt x="9394" y="0"/>
                </a:lnTo>
                <a:cubicBezTo>
                  <a:pt x="9407" y="0"/>
                  <a:pt x="9421" y="1"/>
                  <a:pt x="9435" y="2"/>
                </a:cubicBezTo>
                <a:cubicBezTo>
                  <a:pt x="9448" y="4"/>
                  <a:pt x="9462" y="6"/>
                  <a:pt x="9475" y="9"/>
                </a:cubicBezTo>
                <a:cubicBezTo>
                  <a:pt x="9487" y="12"/>
                  <a:pt x="9500" y="15"/>
                  <a:pt x="9511" y="20"/>
                </a:cubicBezTo>
                <a:cubicBezTo>
                  <a:pt x="9523" y="24"/>
                  <a:pt x="9533" y="29"/>
                  <a:pt x="9543" y="34"/>
                </a:cubicBezTo>
                <a:cubicBezTo>
                  <a:pt x="9553" y="40"/>
                  <a:pt x="9562" y="46"/>
                  <a:pt x="9570" y="52"/>
                </a:cubicBezTo>
                <a:cubicBezTo>
                  <a:pt x="9577" y="58"/>
                  <a:pt x="9584" y="65"/>
                  <a:pt x="9589" y="72"/>
                </a:cubicBezTo>
                <a:cubicBezTo>
                  <a:pt x="9594" y="79"/>
                  <a:pt x="9598" y="87"/>
                  <a:pt x="9601" y="94"/>
                </a:cubicBezTo>
                <a:cubicBezTo>
                  <a:pt x="9604" y="102"/>
                  <a:pt x="9605" y="109"/>
                  <a:pt x="9605" y="117"/>
                </a:cubicBezTo>
                <a:lnTo>
                  <a:pt x="9605" y="6527"/>
                </a:lnTo>
                <a:cubicBezTo>
                  <a:pt x="9605" y="6537"/>
                  <a:pt x="9604" y="6547"/>
                  <a:pt x="9601" y="6557"/>
                </a:cubicBezTo>
                <a:cubicBezTo>
                  <a:pt x="9598" y="6567"/>
                  <a:pt x="9594" y="6577"/>
                  <a:pt x="9589" y="6586"/>
                </a:cubicBezTo>
                <a:cubicBezTo>
                  <a:pt x="9584" y="6596"/>
                  <a:pt x="9577" y="6605"/>
                  <a:pt x="9570" y="6613"/>
                </a:cubicBezTo>
                <a:cubicBezTo>
                  <a:pt x="9562" y="6622"/>
                  <a:pt x="9553" y="6630"/>
                  <a:pt x="9543" y="6637"/>
                </a:cubicBezTo>
                <a:cubicBezTo>
                  <a:pt x="9533" y="6644"/>
                  <a:pt x="9523" y="6651"/>
                  <a:pt x="9511" y="6657"/>
                </a:cubicBezTo>
                <a:cubicBezTo>
                  <a:pt x="9500" y="6662"/>
                  <a:pt x="9487" y="6667"/>
                  <a:pt x="9475" y="6671"/>
                </a:cubicBezTo>
                <a:cubicBezTo>
                  <a:pt x="9462" y="6675"/>
                  <a:pt x="9448" y="6678"/>
                  <a:pt x="9435" y="6680"/>
                </a:cubicBezTo>
                <a:cubicBezTo>
                  <a:pt x="9421" y="6682"/>
                  <a:pt x="9407" y="6683"/>
                  <a:pt x="9394" y="6683"/>
                </a:cubicBezTo>
                <a:lnTo>
                  <a:pt x="211" y="6683"/>
                </a:lnTo>
                <a:cubicBezTo>
                  <a:pt x="198" y="6683"/>
                  <a:pt x="184" y="6682"/>
                  <a:pt x="170" y="6680"/>
                </a:cubicBezTo>
                <a:cubicBezTo>
                  <a:pt x="157" y="6678"/>
                  <a:pt x="143" y="6675"/>
                  <a:pt x="130" y="6671"/>
                </a:cubicBezTo>
                <a:cubicBezTo>
                  <a:pt x="118" y="6667"/>
                  <a:pt x="105" y="6662"/>
                  <a:pt x="94" y="6657"/>
                </a:cubicBezTo>
                <a:cubicBezTo>
                  <a:pt x="82" y="6651"/>
                  <a:pt x="72" y="6644"/>
                  <a:pt x="62" y="6637"/>
                </a:cubicBezTo>
                <a:cubicBezTo>
                  <a:pt x="52" y="6630"/>
                  <a:pt x="43" y="6622"/>
                  <a:pt x="36" y="6613"/>
                </a:cubicBezTo>
                <a:cubicBezTo>
                  <a:pt x="28" y="6605"/>
                  <a:pt x="21" y="6596"/>
                  <a:pt x="16" y="6586"/>
                </a:cubicBezTo>
                <a:cubicBezTo>
                  <a:pt x="11" y="6577"/>
                  <a:pt x="7" y="6567"/>
                  <a:pt x="4" y="6557"/>
                </a:cubicBezTo>
                <a:cubicBezTo>
                  <a:pt x="1" y="6547"/>
                  <a:pt x="0" y="6537"/>
                  <a:pt x="0" y="65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5" name="任意多边形 1594"/>
          <p:cNvSpPr/>
          <p:nvPr/>
        </p:nvSpPr>
        <p:spPr>
          <a:xfrm>
            <a:off x="609480" y="1047960"/>
            <a:ext cx="3457800" cy="56520"/>
          </a:xfrm>
          <a:custGeom>
            <a:avLst/>
            <a:gdLst/>
            <a:ahLst/>
            <a:cxnLst/>
            <a:rect l="0" t="0" r="r" b="b"/>
            <a:pathLst>
              <a:path w="9605" h="157">
                <a:moveTo>
                  <a:pt x="0" y="0"/>
                </a:moveTo>
                <a:lnTo>
                  <a:pt x="9605" y="0"/>
                </a:lnTo>
                <a:lnTo>
                  <a:pt x="9605" y="157"/>
                </a:lnTo>
                <a:lnTo>
                  <a:pt x="0" y="157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8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6" name="任意多边形 1595"/>
          <p:cNvSpPr/>
          <p:nvPr/>
        </p:nvSpPr>
        <p:spPr>
          <a:xfrm>
            <a:off x="838080" y="1251720"/>
            <a:ext cx="381240" cy="281880"/>
          </a:xfrm>
          <a:custGeom>
            <a:avLst/>
            <a:gdLst/>
            <a:ahLst/>
            <a:cxnLst/>
            <a:rect l="0" t="0" r="r" b="b"/>
            <a:pathLst>
              <a:path w="1059" h="783">
                <a:moveTo>
                  <a:pt x="1059" y="392"/>
                </a:moveTo>
                <a:cubicBezTo>
                  <a:pt x="1059" y="418"/>
                  <a:pt x="1056" y="443"/>
                  <a:pt x="1049" y="468"/>
                </a:cubicBezTo>
                <a:cubicBezTo>
                  <a:pt x="1042" y="494"/>
                  <a:pt x="1032" y="518"/>
                  <a:pt x="1019" y="542"/>
                </a:cubicBezTo>
                <a:cubicBezTo>
                  <a:pt x="1006" y="565"/>
                  <a:pt x="989" y="588"/>
                  <a:pt x="970" y="609"/>
                </a:cubicBezTo>
                <a:cubicBezTo>
                  <a:pt x="951" y="631"/>
                  <a:pt x="929" y="650"/>
                  <a:pt x="904" y="668"/>
                </a:cubicBezTo>
                <a:cubicBezTo>
                  <a:pt x="880" y="687"/>
                  <a:pt x="853" y="703"/>
                  <a:pt x="824" y="717"/>
                </a:cubicBezTo>
                <a:cubicBezTo>
                  <a:pt x="795" y="731"/>
                  <a:pt x="765" y="743"/>
                  <a:pt x="733" y="753"/>
                </a:cubicBezTo>
                <a:cubicBezTo>
                  <a:pt x="700" y="763"/>
                  <a:pt x="667" y="770"/>
                  <a:pt x="633" y="775"/>
                </a:cubicBezTo>
                <a:cubicBezTo>
                  <a:pt x="599" y="780"/>
                  <a:pt x="565" y="783"/>
                  <a:pt x="530" y="783"/>
                </a:cubicBezTo>
                <a:cubicBezTo>
                  <a:pt x="495" y="783"/>
                  <a:pt x="461" y="780"/>
                  <a:pt x="427" y="775"/>
                </a:cubicBezTo>
                <a:cubicBezTo>
                  <a:pt x="393" y="770"/>
                  <a:pt x="360" y="763"/>
                  <a:pt x="327" y="753"/>
                </a:cubicBezTo>
                <a:cubicBezTo>
                  <a:pt x="294" y="743"/>
                  <a:pt x="264" y="731"/>
                  <a:pt x="235" y="717"/>
                </a:cubicBezTo>
                <a:cubicBezTo>
                  <a:pt x="206" y="703"/>
                  <a:pt x="179" y="687"/>
                  <a:pt x="155" y="668"/>
                </a:cubicBezTo>
                <a:cubicBezTo>
                  <a:pt x="130" y="650"/>
                  <a:pt x="108" y="631"/>
                  <a:pt x="89" y="609"/>
                </a:cubicBezTo>
                <a:cubicBezTo>
                  <a:pt x="70" y="588"/>
                  <a:pt x="53" y="565"/>
                  <a:pt x="40" y="542"/>
                </a:cubicBezTo>
                <a:cubicBezTo>
                  <a:pt x="27" y="518"/>
                  <a:pt x="17" y="494"/>
                  <a:pt x="10" y="468"/>
                </a:cubicBezTo>
                <a:cubicBezTo>
                  <a:pt x="3" y="443"/>
                  <a:pt x="0" y="418"/>
                  <a:pt x="0" y="392"/>
                </a:cubicBezTo>
                <a:cubicBezTo>
                  <a:pt x="0" y="366"/>
                  <a:pt x="3" y="341"/>
                  <a:pt x="10" y="316"/>
                </a:cubicBezTo>
                <a:cubicBezTo>
                  <a:pt x="17" y="291"/>
                  <a:pt x="27" y="266"/>
                  <a:pt x="40" y="243"/>
                </a:cubicBezTo>
                <a:cubicBezTo>
                  <a:pt x="53" y="219"/>
                  <a:pt x="70" y="196"/>
                  <a:pt x="89" y="175"/>
                </a:cubicBezTo>
                <a:cubicBezTo>
                  <a:pt x="108" y="154"/>
                  <a:pt x="130" y="134"/>
                  <a:pt x="155" y="116"/>
                </a:cubicBezTo>
                <a:cubicBezTo>
                  <a:pt x="179" y="98"/>
                  <a:pt x="206" y="81"/>
                  <a:pt x="235" y="67"/>
                </a:cubicBezTo>
                <a:cubicBezTo>
                  <a:pt x="264" y="53"/>
                  <a:pt x="294" y="41"/>
                  <a:pt x="327" y="30"/>
                </a:cubicBezTo>
                <a:cubicBezTo>
                  <a:pt x="360" y="20"/>
                  <a:pt x="393" y="13"/>
                  <a:pt x="427" y="8"/>
                </a:cubicBezTo>
                <a:cubicBezTo>
                  <a:pt x="461" y="3"/>
                  <a:pt x="495" y="0"/>
                  <a:pt x="530" y="0"/>
                </a:cubicBezTo>
                <a:cubicBezTo>
                  <a:pt x="565" y="0"/>
                  <a:pt x="599" y="3"/>
                  <a:pt x="633" y="8"/>
                </a:cubicBezTo>
                <a:cubicBezTo>
                  <a:pt x="667" y="13"/>
                  <a:pt x="700" y="20"/>
                  <a:pt x="733" y="30"/>
                </a:cubicBezTo>
                <a:cubicBezTo>
                  <a:pt x="765" y="41"/>
                  <a:pt x="795" y="53"/>
                  <a:pt x="824" y="67"/>
                </a:cubicBezTo>
                <a:cubicBezTo>
                  <a:pt x="853" y="81"/>
                  <a:pt x="880" y="98"/>
                  <a:pt x="904" y="116"/>
                </a:cubicBezTo>
                <a:cubicBezTo>
                  <a:pt x="929" y="134"/>
                  <a:pt x="951" y="154"/>
                  <a:pt x="970" y="175"/>
                </a:cubicBezTo>
                <a:cubicBezTo>
                  <a:pt x="989" y="196"/>
                  <a:pt x="1006" y="219"/>
                  <a:pt x="1019" y="243"/>
                </a:cubicBezTo>
                <a:cubicBezTo>
                  <a:pt x="1032" y="266"/>
                  <a:pt x="1042" y="291"/>
                  <a:pt x="1049" y="316"/>
                </a:cubicBezTo>
                <a:cubicBezTo>
                  <a:pt x="1056" y="341"/>
                  <a:pt x="1059" y="366"/>
                  <a:pt x="1059" y="392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7" name="文本框 1596"/>
          <p:cNvSpPr txBox="1"/>
          <p:nvPr/>
        </p:nvSpPr>
        <p:spPr>
          <a:xfrm>
            <a:off x="609480" y="288720"/>
            <a:ext cx="215712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32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学习路径与资源推荐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8" name="文本框 1597"/>
          <p:cNvSpPr txBox="1"/>
          <p:nvPr/>
        </p:nvSpPr>
        <p:spPr>
          <a:xfrm>
            <a:off x="981000" y="1316520"/>
            <a:ext cx="76944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9" name="文本框 1598"/>
          <p:cNvSpPr txBox="1"/>
          <p:nvPr/>
        </p:nvSpPr>
        <p:spPr>
          <a:xfrm>
            <a:off x="1333440" y="1273320"/>
            <a:ext cx="82073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6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⼊⻔阶段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0" name="文本框 1599"/>
          <p:cNvSpPr txBox="1"/>
          <p:nvPr/>
        </p:nvSpPr>
        <p:spPr>
          <a:xfrm>
            <a:off x="838080" y="1673640"/>
            <a:ext cx="439223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Python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1" name="文本框 1600"/>
          <p:cNvSpPr txBox="1"/>
          <p:nvPr/>
        </p:nvSpPr>
        <p:spPr>
          <a:xfrm>
            <a:off x="1427040" y="1668960"/>
            <a:ext cx="512961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编程基础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2" name="文本框 1601"/>
          <p:cNvSpPr txBox="1"/>
          <p:nvPr/>
        </p:nvSpPr>
        <p:spPr>
          <a:xfrm>
            <a:off x="838080" y="194796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3" name="文本框 1602"/>
          <p:cNvSpPr txBox="1"/>
          <p:nvPr/>
        </p:nvSpPr>
        <p:spPr>
          <a:xfrm>
            <a:off x="941040" y="1943280"/>
            <a:ext cx="102592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线性代数与概率论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4" name="文本框 1603"/>
          <p:cNvSpPr txBox="1"/>
          <p:nvPr/>
        </p:nvSpPr>
        <p:spPr>
          <a:xfrm>
            <a:off x="838080" y="2222280"/>
            <a:ext cx="676467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Scikit-learn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5" name="文本框 1604"/>
          <p:cNvSpPr txBox="1"/>
          <p:nvPr/>
        </p:nvSpPr>
        <p:spPr>
          <a:xfrm>
            <a:off x="1615130" y="2217600"/>
            <a:ext cx="256480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⼊⻔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6" name="文本框 1605"/>
          <p:cNvSpPr txBox="1"/>
          <p:nvPr/>
        </p:nvSpPr>
        <p:spPr>
          <a:xfrm>
            <a:off x="838080" y="249660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7" name="文本框 1606"/>
          <p:cNvSpPr txBox="1"/>
          <p:nvPr/>
        </p:nvSpPr>
        <p:spPr>
          <a:xfrm>
            <a:off x="941040" y="2491920"/>
            <a:ext cx="102592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监督学习基础算法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8" name="文本框 1607"/>
          <p:cNvSpPr txBox="1"/>
          <p:nvPr/>
        </p:nvSpPr>
        <p:spPr>
          <a:xfrm>
            <a:off x="838080" y="277092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9" name="文本框 1608"/>
          <p:cNvSpPr txBox="1"/>
          <p:nvPr/>
        </p:nvSpPr>
        <p:spPr>
          <a:xfrm>
            <a:off x="941040" y="2766240"/>
            <a:ext cx="102592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模型评估指标理解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0" name="文本框 1609"/>
          <p:cNvSpPr txBox="1"/>
          <p:nvPr/>
        </p:nvSpPr>
        <p:spPr>
          <a:xfrm>
            <a:off x="838080" y="3125160"/>
            <a:ext cx="641201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建议时⻓：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1" name="文本框 1610"/>
          <p:cNvSpPr txBox="1"/>
          <p:nvPr/>
        </p:nvSpPr>
        <p:spPr>
          <a:xfrm>
            <a:off x="1695600" y="3129840"/>
            <a:ext cx="17152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2-3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2" name="任意多边形 1611"/>
          <p:cNvSpPr/>
          <p:nvPr/>
        </p:nvSpPr>
        <p:spPr>
          <a:xfrm>
            <a:off x="4371840" y="1062000"/>
            <a:ext cx="3448440" cy="2405880"/>
          </a:xfrm>
          <a:custGeom>
            <a:avLst/>
            <a:gdLst/>
            <a:ahLst/>
            <a:cxnLst/>
            <a:rect l="0" t="0" r="r" b="b"/>
            <a:pathLst>
              <a:path w="9579" h="6683">
                <a:moveTo>
                  <a:pt x="0" y="6527"/>
                </a:moveTo>
                <a:lnTo>
                  <a:pt x="0" y="117"/>
                </a:lnTo>
                <a:cubicBezTo>
                  <a:pt x="0" y="109"/>
                  <a:pt x="1" y="102"/>
                  <a:pt x="4" y="94"/>
                </a:cubicBezTo>
                <a:cubicBezTo>
                  <a:pt x="7" y="87"/>
                  <a:pt x="11" y="79"/>
                  <a:pt x="16" y="72"/>
                </a:cubicBezTo>
                <a:cubicBezTo>
                  <a:pt x="21" y="65"/>
                  <a:pt x="28" y="58"/>
                  <a:pt x="36" y="52"/>
                </a:cubicBezTo>
                <a:cubicBezTo>
                  <a:pt x="43" y="46"/>
                  <a:pt x="52" y="40"/>
                  <a:pt x="62" y="34"/>
                </a:cubicBezTo>
                <a:cubicBezTo>
                  <a:pt x="72" y="29"/>
                  <a:pt x="82" y="24"/>
                  <a:pt x="94" y="20"/>
                </a:cubicBezTo>
                <a:cubicBezTo>
                  <a:pt x="106" y="15"/>
                  <a:pt x="118" y="12"/>
                  <a:pt x="131" y="9"/>
                </a:cubicBezTo>
                <a:cubicBezTo>
                  <a:pt x="143" y="6"/>
                  <a:pt x="157" y="4"/>
                  <a:pt x="170" y="2"/>
                </a:cubicBezTo>
                <a:cubicBezTo>
                  <a:pt x="184" y="1"/>
                  <a:pt x="198" y="0"/>
                  <a:pt x="212" y="0"/>
                </a:cubicBezTo>
                <a:lnTo>
                  <a:pt x="9367" y="0"/>
                </a:lnTo>
                <a:cubicBezTo>
                  <a:pt x="9381" y="0"/>
                  <a:pt x="9395" y="1"/>
                  <a:pt x="9408" y="2"/>
                </a:cubicBezTo>
                <a:cubicBezTo>
                  <a:pt x="9422" y="4"/>
                  <a:pt x="9435" y="6"/>
                  <a:pt x="9448" y="9"/>
                </a:cubicBezTo>
                <a:cubicBezTo>
                  <a:pt x="9461" y="12"/>
                  <a:pt x="9473" y="15"/>
                  <a:pt x="9485" y="20"/>
                </a:cubicBezTo>
                <a:cubicBezTo>
                  <a:pt x="9496" y="24"/>
                  <a:pt x="9507" y="29"/>
                  <a:pt x="9517" y="34"/>
                </a:cubicBezTo>
                <a:cubicBezTo>
                  <a:pt x="9527" y="40"/>
                  <a:pt x="9535" y="46"/>
                  <a:pt x="9543" y="52"/>
                </a:cubicBezTo>
                <a:cubicBezTo>
                  <a:pt x="9551" y="58"/>
                  <a:pt x="9557" y="65"/>
                  <a:pt x="9563" y="72"/>
                </a:cubicBezTo>
                <a:cubicBezTo>
                  <a:pt x="9568" y="79"/>
                  <a:pt x="9572" y="87"/>
                  <a:pt x="9575" y="94"/>
                </a:cubicBezTo>
                <a:cubicBezTo>
                  <a:pt x="9577" y="102"/>
                  <a:pt x="9579" y="109"/>
                  <a:pt x="9579" y="117"/>
                </a:cubicBezTo>
                <a:lnTo>
                  <a:pt x="9579" y="6527"/>
                </a:lnTo>
                <a:cubicBezTo>
                  <a:pt x="9579" y="6537"/>
                  <a:pt x="9577" y="6547"/>
                  <a:pt x="9575" y="6557"/>
                </a:cubicBezTo>
                <a:cubicBezTo>
                  <a:pt x="9572" y="6567"/>
                  <a:pt x="9568" y="6577"/>
                  <a:pt x="9563" y="6586"/>
                </a:cubicBezTo>
                <a:cubicBezTo>
                  <a:pt x="9557" y="6596"/>
                  <a:pt x="9551" y="6605"/>
                  <a:pt x="9543" y="6613"/>
                </a:cubicBezTo>
                <a:cubicBezTo>
                  <a:pt x="9535" y="6622"/>
                  <a:pt x="9527" y="6630"/>
                  <a:pt x="9517" y="6637"/>
                </a:cubicBezTo>
                <a:cubicBezTo>
                  <a:pt x="9507" y="6644"/>
                  <a:pt x="9496" y="6651"/>
                  <a:pt x="9485" y="6657"/>
                </a:cubicBezTo>
                <a:cubicBezTo>
                  <a:pt x="9473" y="6662"/>
                  <a:pt x="9461" y="6667"/>
                  <a:pt x="9448" y="6671"/>
                </a:cubicBezTo>
                <a:cubicBezTo>
                  <a:pt x="9435" y="6675"/>
                  <a:pt x="9422" y="6678"/>
                  <a:pt x="9408" y="6680"/>
                </a:cubicBezTo>
                <a:cubicBezTo>
                  <a:pt x="9395" y="6682"/>
                  <a:pt x="9381" y="6683"/>
                  <a:pt x="9367" y="6683"/>
                </a:cubicBezTo>
                <a:lnTo>
                  <a:pt x="212" y="6683"/>
                </a:lnTo>
                <a:cubicBezTo>
                  <a:pt x="198" y="6683"/>
                  <a:pt x="184" y="6682"/>
                  <a:pt x="170" y="6680"/>
                </a:cubicBezTo>
                <a:cubicBezTo>
                  <a:pt x="157" y="6678"/>
                  <a:pt x="143" y="6675"/>
                  <a:pt x="131" y="6671"/>
                </a:cubicBezTo>
                <a:cubicBezTo>
                  <a:pt x="118" y="6667"/>
                  <a:pt x="106" y="6662"/>
                  <a:pt x="94" y="6657"/>
                </a:cubicBezTo>
                <a:cubicBezTo>
                  <a:pt x="82" y="6651"/>
                  <a:pt x="72" y="6644"/>
                  <a:pt x="62" y="6637"/>
                </a:cubicBezTo>
                <a:cubicBezTo>
                  <a:pt x="52" y="6630"/>
                  <a:pt x="43" y="6622"/>
                  <a:pt x="36" y="6613"/>
                </a:cubicBezTo>
                <a:cubicBezTo>
                  <a:pt x="28" y="6605"/>
                  <a:pt x="21" y="6596"/>
                  <a:pt x="16" y="6586"/>
                </a:cubicBezTo>
                <a:cubicBezTo>
                  <a:pt x="11" y="6577"/>
                  <a:pt x="7" y="6567"/>
                  <a:pt x="4" y="6557"/>
                </a:cubicBezTo>
                <a:cubicBezTo>
                  <a:pt x="1" y="6547"/>
                  <a:pt x="0" y="6537"/>
                  <a:pt x="0" y="65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3" name="任意多边形 1612"/>
          <p:cNvSpPr/>
          <p:nvPr/>
        </p:nvSpPr>
        <p:spPr>
          <a:xfrm>
            <a:off x="4371840" y="1047960"/>
            <a:ext cx="3448440" cy="56520"/>
          </a:xfrm>
          <a:custGeom>
            <a:avLst/>
            <a:gdLst/>
            <a:ahLst/>
            <a:cxnLst/>
            <a:rect l="0" t="0" r="r" b="b"/>
            <a:pathLst>
              <a:path w="9579" h="157">
                <a:moveTo>
                  <a:pt x="0" y="0"/>
                </a:moveTo>
                <a:lnTo>
                  <a:pt x="9579" y="0"/>
                </a:lnTo>
                <a:lnTo>
                  <a:pt x="9579" y="157"/>
                </a:lnTo>
                <a:lnTo>
                  <a:pt x="0" y="157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8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4" name="任意多边形 1613"/>
          <p:cNvSpPr/>
          <p:nvPr/>
        </p:nvSpPr>
        <p:spPr>
          <a:xfrm>
            <a:off x="4600440" y="1251720"/>
            <a:ext cx="381240" cy="281880"/>
          </a:xfrm>
          <a:custGeom>
            <a:avLst/>
            <a:gdLst/>
            <a:ahLst/>
            <a:cxnLst/>
            <a:rect l="0" t="0" r="r" b="b"/>
            <a:pathLst>
              <a:path w="1059" h="783">
                <a:moveTo>
                  <a:pt x="1059" y="392"/>
                </a:moveTo>
                <a:cubicBezTo>
                  <a:pt x="1059" y="418"/>
                  <a:pt x="1056" y="443"/>
                  <a:pt x="1049" y="468"/>
                </a:cubicBezTo>
                <a:cubicBezTo>
                  <a:pt x="1042" y="494"/>
                  <a:pt x="1032" y="518"/>
                  <a:pt x="1019" y="542"/>
                </a:cubicBezTo>
                <a:cubicBezTo>
                  <a:pt x="1006" y="565"/>
                  <a:pt x="989" y="588"/>
                  <a:pt x="970" y="609"/>
                </a:cubicBezTo>
                <a:cubicBezTo>
                  <a:pt x="951" y="631"/>
                  <a:pt x="929" y="650"/>
                  <a:pt x="904" y="668"/>
                </a:cubicBezTo>
                <a:cubicBezTo>
                  <a:pt x="880" y="687"/>
                  <a:pt x="853" y="703"/>
                  <a:pt x="824" y="717"/>
                </a:cubicBezTo>
                <a:cubicBezTo>
                  <a:pt x="795" y="731"/>
                  <a:pt x="765" y="743"/>
                  <a:pt x="733" y="753"/>
                </a:cubicBezTo>
                <a:cubicBezTo>
                  <a:pt x="700" y="763"/>
                  <a:pt x="667" y="770"/>
                  <a:pt x="633" y="775"/>
                </a:cubicBezTo>
                <a:cubicBezTo>
                  <a:pt x="599" y="780"/>
                  <a:pt x="565" y="783"/>
                  <a:pt x="530" y="783"/>
                </a:cubicBezTo>
                <a:cubicBezTo>
                  <a:pt x="495" y="783"/>
                  <a:pt x="461" y="780"/>
                  <a:pt x="426" y="775"/>
                </a:cubicBezTo>
                <a:cubicBezTo>
                  <a:pt x="392" y="770"/>
                  <a:pt x="359" y="763"/>
                  <a:pt x="327" y="753"/>
                </a:cubicBezTo>
                <a:cubicBezTo>
                  <a:pt x="294" y="743"/>
                  <a:pt x="264" y="731"/>
                  <a:pt x="235" y="717"/>
                </a:cubicBezTo>
                <a:cubicBezTo>
                  <a:pt x="206" y="703"/>
                  <a:pt x="179" y="687"/>
                  <a:pt x="155" y="668"/>
                </a:cubicBezTo>
                <a:cubicBezTo>
                  <a:pt x="130" y="650"/>
                  <a:pt x="108" y="631"/>
                  <a:pt x="89" y="609"/>
                </a:cubicBezTo>
                <a:cubicBezTo>
                  <a:pt x="70" y="588"/>
                  <a:pt x="53" y="565"/>
                  <a:pt x="40" y="542"/>
                </a:cubicBezTo>
                <a:cubicBezTo>
                  <a:pt x="27" y="518"/>
                  <a:pt x="17" y="494"/>
                  <a:pt x="10" y="468"/>
                </a:cubicBezTo>
                <a:cubicBezTo>
                  <a:pt x="3" y="443"/>
                  <a:pt x="0" y="418"/>
                  <a:pt x="0" y="392"/>
                </a:cubicBezTo>
                <a:cubicBezTo>
                  <a:pt x="0" y="366"/>
                  <a:pt x="3" y="341"/>
                  <a:pt x="10" y="316"/>
                </a:cubicBezTo>
                <a:cubicBezTo>
                  <a:pt x="17" y="291"/>
                  <a:pt x="27" y="266"/>
                  <a:pt x="40" y="243"/>
                </a:cubicBezTo>
                <a:cubicBezTo>
                  <a:pt x="53" y="219"/>
                  <a:pt x="70" y="196"/>
                  <a:pt x="89" y="175"/>
                </a:cubicBezTo>
                <a:cubicBezTo>
                  <a:pt x="108" y="154"/>
                  <a:pt x="130" y="134"/>
                  <a:pt x="155" y="116"/>
                </a:cubicBezTo>
                <a:cubicBezTo>
                  <a:pt x="179" y="98"/>
                  <a:pt x="206" y="81"/>
                  <a:pt x="235" y="67"/>
                </a:cubicBezTo>
                <a:cubicBezTo>
                  <a:pt x="264" y="53"/>
                  <a:pt x="294" y="41"/>
                  <a:pt x="327" y="30"/>
                </a:cubicBezTo>
                <a:cubicBezTo>
                  <a:pt x="359" y="20"/>
                  <a:pt x="392" y="13"/>
                  <a:pt x="426" y="8"/>
                </a:cubicBezTo>
                <a:cubicBezTo>
                  <a:pt x="461" y="3"/>
                  <a:pt x="495" y="0"/>
                  <a:pt x="530" y="0"/>
                </a:cubicBezTo>
                <a:cubicBezTo>
                  <a:pt x="565" y="0"/>
                  <a:pt x="599" y="3"/>
                  <a:pt x="633" y="8"/>
                </a:cubicBezTo>
                <a:cubicBezTo>
                  <a:pt x="667" y="13"/>
                  <a:pt x="700" y="20"/>
                  <a:pt x="733" y="30"/>
                </a:cubicBezTo>
                <a:cubicBezTo>
                  <a:pt x="765" y="41"/>
                  <a:pt x="795" y="53"/>
                  <a:pt x="824" y="67"/>
                </a:cubicBezTo>
                <a:cubicBezTo>
                  <a:pt x="853" y="81"/>
                  <a:pt x="880" y="98"/>
                  <a:pt x="904" y="116"/>
                </a:cubicBezTo>
                <a:cubicBezTo>
                  <a:pt x="929" y="134"/>
                  <a:pt x="951" y="154"/>
                  <a:pt x="970" y="175"/>
                </a:cubicBezTo>
                <a:cubicBezTo>
                  <a:pt x="989" y="196"/>
                  <a:pt x="1006" y="219"/>
                  <a:pt x="1019" y="243"/>
                </a:cubicBezTo>
                <a:cubicBezTo>
                  <a:pt x="1032" y="266"/>
                  <a:pt x="1042" y="291"/>
                  <a:pt x="1049" y="316"/>
                </a:cubicBezTo>
                <a:cubicBezTo>
                  <a:pt x="1056" y="341"/>
                  <a:pt x="1059" y="366"/>
                  <a:pt x="1059" y="392"/>
                </a:cubicBezTo>
                <a:close/>
              </a:path>
            </a:pathLst>
          </a:custGeom>
          <a:solidFill>
            <a:srgbClr val="DCFC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5" name="文本框 1614"/>
          <p:cNvSpPr txBox="1"/>
          <p:nvPr/>
        </p:nvSpPr>
        <p:spPr>
          <a:xfrm>
            <a:off x="1923840" y="3125160"/>
            <a:ext cx="256480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个⽉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6" name="文本框 1615"/>
          <p:cNvSpPr txBox="1"/>
          <p:nvPr/>
        </p:nvSpPr>
        <p:spPr>
          <a:xfrm>
            <a:off x="4740120" y="1316520"/>
            <a:ext cx="76944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7" name="文本框 1616"/>
          <p:cNvSpPr txBox="1"/>
          <p:nvPr/>
        </p:nvSpPr>
        <p:spPr>
          <a:xfrm>
            <a:off x="5092560" y="1273320"/>
            <a:ext cx="82073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6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进阶阶段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8" name="文本框 1617"/>
          <p:cNvSpPr txBox="1"/>
          <p:nvPr/>
        </p:nvSpPr>
        <p:spPr>
          <a:xfrm>
            <a:off x="4597200" y="167364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9" name="文本框 1618"/>
          <p:cNvSpPr txBox="1"/>
          <p:nvPr/>
        </p:nvSpPr>
        <p:spPr>
          <a:xfrm>
            <a:off x="4700160" y="1668960"/>
            <a:ext cx="102592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特征⼯程深度实践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0" name="文本框 1619"/>
          <p:cNvSpPr txBox="1"/>
          <p:nvPr/>
        </p:nvSpPr>
        <p:spPr>
          <a:xfrm>
            <a:off x="4597200" y="194796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1" name="文本框 1620"/>
          <p:cNvSpPr txBox="1"/>
          <p:nvPr/>
        </p:nvSpPr>
        <p:spPr>
          <a:xfrm>
            <a:off x="4700160" y="1943280"/>
            <a:ext cx="769441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集成学习⽅法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2" name="文本框 1621"/>
          <p:cNvSpPr txBox="1"/>
          <p:nvPr/>
        </p:nvSpPr>
        <p:spPr>
          <a:xfrm>
            <a:off x="4597200" y="222228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3" name="文本框 1622"/>
          <p:cNvSpPr txBox="1"/>
          <p:nvPr/>
        </p:nvSpPr>
        <p:spPr>
          <a:xfrm>
            <a:off x="4700160" y="2217600"/>
            <a:ext cx="769441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神经⽹络基础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4" name="文本框 1623"/>
          <p:cNvSpPr txBox="1"/>
          <p:nvPr/>
        </p:nvSpPr>
        <p:spPr>
          <a:xfrm>
            <a:off x="4597200" y="249660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5" name="文本框 1624"/>
          <p:cNvSpPr txBox="1"/>
          <p:nvPr/>
        </p:nvSpPr>
        <p:spPr>
          <a:xfrm>
            <a:off x="4700160" y="2491920"/>
            <a:ext cx="769441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模型调优技术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6" name="文本框 1625"/>
          <p:cNvSpPr txBox="1"/>
          <p:nvPr/>
        </p:nvSpPr>
        <p:spPr>
          <a:xfrm>
            <a:off x="4597200" y="277092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7" name="文本框 1626"/>
          <p:cNvSpPr txBox="1"/>
          <p:nvPr/>
        </p:nvSpPr>
        <p:spPr>
          <a:xfrm>
            <a:off x="4700160" y="2766240"/>
            <a:ext cx="89768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⽆监督学习应⽤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8" name="文本框 1627"/>
          <p:cNvSpPr txBox="1"/>
          <p:nvPr/>
        </p:nvSpPr>
        <p:spPr>
          <a:xfrm>
            <a:off x="4597200" y="3125160"/>
            <a:ext cx="641201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建议时⻓：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9" name="文本框 1628"/>
          <p:cNvSpPr txBox="1"/>
          <p:nvPr/>
        </p:nvSpPr>
        <p:spPr>
          <a:xfrm>
            <a:off x="5454720" y="3129840"/>
            <a:ext cx="17152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3-4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0" name="任意多边形 1629"/>
          <p:cNvSpPr/>
          <p:nvPr/>
        </p:nvSpPr>
        <p:spPr>
          <a:xfrm>
            <a:off x="8124480" y="1062000"/>
            <a:ext cx="3458160" cy="2405880"/>
          </a:xfrm>
          <a:custGeom>
            <a:avLst/>
            <a:gdLst/>
            <a:ahLst/>
            <a:cxnLst/>
            <a:rect l="0" t="0" r="r" b="b"/>
            <a:pathLst>
              <a:path w="9606" h="6683">
                <a:moveTo>
                  <a:pt x="0" y="6527"/>
                </a:moveTo>
                <a:lnTo>
                  <a:pt x="0" y="117"/>
                </a:lnTo>
                <a:cubicBezTo>
                  <a:pt x="0" y="109"/>
                  <a:pt x="2" y="102"/>
                  <a:pt x="5" y="94"/>
                </a:cubicBezTo>
                <a:cubicBezTo>
                  <a:pt x="7" y="87"/>
                  <a:pt x="11" y="79"/>
                  <a:pt x="17" y="72"/>
                </a:cubicBezTo>
                <a:cubicBezTo>
                  <a:pt x="22" y="65"/>
                  <a:pt x="28" y="58"/>
                  <a:pt x="36" y="52"/>
                </a:cubicBezTo>
                <a:cubicBezTo>
                  <a:pt x="44" y="46"/>
                  <a:pt x="53" y="40"/>
                  <a:pt x="62" y="34"/>
                </a:cubicBezTo>
                <a:cubicBezTo>
                  <a:pt x="72" y="29"/>
                  <a:pt x="83" y="24"/>
                  <a:pt x="95" y="20"/>
                </a:cubicBezTo>
                <a:cubicBezTo>
                  <a:pt x="106" y="15"/>
                  <a:pt x="118" y="12"/>
                  <a:pt x="131" y="9"/>
                </a:cubicBezTo>
                <a:cubicBezTo>
                  <a:pt x="144" y="6"/>
                  <a:pt x="157" y="4"/>
                  <a:pt x="171" y="2"/>
                </a:cubicBezTo>
                <a:cubicBezTo>
                  <a:pt x="184" y="1"/>
                  <a:pt x="198" y="0"/>
                  <a:pt x="212" y="0"/>
                </a:cubicBezTo>
                <a:lnTo>
                  <a:pt x="9394" y="0"/>
                </a:lnTo>
                <a:cubicBezTo>
                  <a:pt x="9408" y="0"/>
                  <a:pt x="9422" y="1"/>
                  <a:pt x="9435" y="2"/>
                </a:cubicBezTo>
                <a:cubicBezTo>
                  <a:pt x="9449" y="4"/>
                  <a:pt x="9462" y="6"/>
                  <a:pt x="9475" y="9"/>
                </a:cubicBezTo>
                <a:cubicBezTo>
                  <a:pt x="9488" y="12"/>
                  <a:pt x="9500" y="15"/>
                  <a:pt x="9512" y="20"/>
                </a:cubicBezTo>
                <a:cubicBezTo>
                  <a:pt x="9523" y="24"/>
                  <a:pt x="9534" y="29"/>
                  <a:pt x="9544" y="34"/>
                </a:cubicBezTo>
                <a:cubicBezTo>
                  <a:pt x="9554" y="40"/>
                  <a:pt x="9562" y="46"/>
                  <a:pt x="9570" y="52"/>
                </a:cubicBezTo>
                <a:cubicBezTo>
                  <a:pt x="9578" y="58"/>
                  <a:pt x="9584" y="65"/>
                  <a:pt x="9590" y="72"/>
                </a:cubicBezTo>
                <a:cubicBezTo>
                  <a:pt x="9595" y="79"/>
                  <a:pt x="9599" y="87"/>
                  <a:pt x="9602" y="94"/>
                </a:cubicBezTo>
                <a:cubicBezTo>
                  <a:pt x="9604" y="102"/>
                  <a:pt x="9606" y="109"/>
                  <a:pt x="9606" y="117"/>
                </a:cubicBezTo>
                <a:lnTo>
                  <a:pt x="9606" y="6527"/>
                </a:lnTo>
                <a:cubicBezTo>
                  <a:pt x="9606" y="6537"/>
                  <a:pt x="9604" y="6547"/>
                  <a:pt x="9602" y="6557"/>
                </a:cubicBezTo>
                <a:cubicBezTo>
                  <a:pt x="9599" y="6567"/>
                  <a:pt x="9595" y="6577"/>
                  <a:pt x="9590" y="6586"/>
                </a:cubicBezTo>
                <a:cubicBezTo>
                  <a:pt x="9584" y="6596"/>
                  <a:pt x="9578" y="6605"/>
                  <a:pt x="9570" y="6613"/>
                </a:cubicBezTo>
                <a:cubicBezTo>
                  <a:pt x="9562" y="6622"/>
                  <a:pt x="9554" y="6630"/>
                  <a:pt x="9544" y="6637"/>
                </a:cubicBezTo>
                <a:cubicBezTo>
                  <a:pt x="9534" y="6644"/>
                  <a:pt x="9523" y="6651"/>
                  <a:pt x="9512" y="6657"/>
                </a:cubicBezTo>
                <a:cubicBezTo>
                  <a:pt x="9500" y="6662"/>
                  <a:pt x="9488" y="6667"/>
                  <a:pt x="9475" y="6671"/>
                </a:cubicBezTo>
                <a:cubicBezTo>
                  <a:pt x="9462" y="6675"/>
                  <a:pt x="9449" y="6678"/>
                  <a:pt x="9435" y="6680"/>
                </a:cubicBezTo>
                <a:cubicBezTo>
                  <a:pt x="9422" y="6682"/>
                  <a:pt x="9408" y="6683"/>
                  <a:pt x="9394" y="6683"/>
                </a:cubicBezTo>
                <a:lnTo>
                  <a:pt x="212" y="6683"/>
                </a:lnTo>
                <a:cubicBezTo>
                  <a:pt x="198" y="6683"/>
                  <a:pt x="184" y="6682"/>
                  <a:pt x="171" y="6680"/>
                </a:cubicBezTo>
                <a:cubicBezTo>
                  <a:pt x="157" y="6678"/>
                  <a:pt x="144" y="6675"/>
                  <a:pt x="131" y="6671"/>
                </a:cubicBezTo>
                <a:cubicBezTo>
                  <a:pt x="118" y="6667"/>
                  <a:pt x="106" y="6662"/>
                  <a:pt x="95" y="6657"/>
                </a:cubicBezTo>
                <a:cubicBezTo>
                  <a:pt x="83" y="6651"/>
                  <a:pt x="72" y="6644"/>
                  <a:pt x="62" y="6637"/>
                </a:cubicBezTo>
                <a:cubicBezTo>
                  <a:pt x="53" y="6630"/>
                  <a:pt x="44" y="6622"/>
                  <a:pt x="36" y="6613"/>
                </a:cubicBezTo>
                <a:cubicBezTo>
                  <a:pt x="28" y="6605"/>
                  <a:pt x="22" y="6596"/>
                  <a:pt x="17" y="6586"/>
                </a:cubicBezTo>
                <a:cubicBezTo>
                  <a:pt x="11" y="6577"/>
                  <a:pt x="7" y="6567"/>
                  <a:pt x="5" y="6557"/>
                </a:cubicBezTo>
                <a:cubicBezTo>
                  <a:pt x="2" y="6547"/>
                  <a:pt x="0" y="6537"/>
                  <a:pt x="0" y="65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1" name="任意多边形 1630"/>
          <p:cNvSpPr/>
          <p:nvPr/>
        </p:nvSpPr>
        <p:spPr>
          <a:xfrm>
            <a:off x="8124480" y="1047960"/>
            <a:ext cx="3458160" cy="56520"/>
          </a:xfrm>
          <a:custGeom>
            <a:avLst/>
            <a:gdLst/>
            <a:ahLst/>
            <a:cxnLst/>
            <a:rect l="0" t="0" r="r" b="b"/>
            <a:pathLst>
              <a:path w="9606" h="157">
                <a:moveTo>
                  <a:pt x="0" y="0"/>
                </a:moveTo>
                <a:lnTo>
                  <a:pt x="9606" y="0"/>
                </a:lnTo>
                <a:lnTo>
                  <a:pt x="9606" y="157"/>
                </a:lnTo>
                <a:lnTo>
                  <a:pt x="0" y="157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8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2" name="任意多边形 1631"/>
          <p:cNvSpPr/>
          <p:nvPr/>
        </p:nvSpPr>
        <p:spPr>
          <a:xfrm>
            <a:off x="8353080" y="1251720"/>
            <a:ext cx="381600" cy="281880"/>
          </a:xfrm>
          <a:custGeom>
            <a:avLst/>
            <a:gdLst/>
            <a:ahLst/>
            <a:cxnLst/>
            <a:rect l="0" t="0" r="r" b="b"/>
            <a:pathLst>
              <a:path w="1060" h="783">
                <a:moveTo>
                  <a:pt x="1060" y="392"/>
                </a:moveTo>
                <a:cubicBezTo>
                  <a:pt x="1060" y="418"/>
                  <a:pt x="1056" y="443"/>
                  <a:pt x="1050" y="468"/>
                </a:cubicBezTo>
                <a:cubicBezTo>
                  <a:pt x="1043" y="494"/>
                  <a:pt x="1033" y="518"/>
                  <a:pt x="1020" y="542"/>
                </a:cubicBezTo>
                <a:cubicBezTo>
                  <a:pt x="1006" y="565"/>
                  <a:pt x="990" y="588"/>
                  <a:pt x="971" y="609"/>
                </a:cubicBezTo>
                <a:cubicBezTo>
                  <a:pt x="951" y="631"/>
                  <a:pt x="929" y="650"/>
                  <a:pt x="905" y="668"/>
                </a:cubicBezTo>
                <a:cubicBezTo>
                  <a:pt x="880" y="687"/>
                  <a:pt x="854" y="703"/>
                  <a:pt x="825" y="717"/>
                </a:cubicBezTo>
                <a:cubicBezTo>
                  <a:pt x="796" y="731"/>
                  <a:pt x="765" y="743"/>
                  <a:pt x="733" y="753"/>
                </a:cubicBezTo>
                <a:cubicBezTo>
                  <a:pt x="701" y="763"/>
                  <a:pt x="668" y="770"/>
                  <a:pt x="634" y="775"/>
                </a:cubicBezTo>
                <a:cubicBezTo>
                  <a:pt x="599" y="780"/>
                  <a:pt x="564" y="783"/>
                  <a:pt x="530" y="783"/>
                </a:cubicBezTo>
                <a:cubicBezTo>
                  <a:pt x="495" y="783"/>
                  <a:pt x="460" y="780"/>
                  <a:pt x="426" y="775"/>
                </a:cubicBezTo>
                <a:cubicBezTo>
                  <a:pt x="392" y="770"/>
                  <a:pt x="359" y="763"/>
                  <a:pt x="327" y="753"/>
                </a:cubicBezTo>
                <a:cubicBezTo>
                  <a:pt x="295" y="743"/>
                  <a:pt x="265" y="731"/>
                  <a:pt x="236" y="717"/>
                </a:cubicBezTo>
                <a:cubicBezTo>
                  <a:pt x="207" y="703"/>
                  <a:pt x="180" y="687"/>
                  <a:pt x="155" y="668"/>
                </a:cubicBezTo>
                <a:cubicBezTo>
                  <a:pt x="131" y="650"/>
                  <a:pt x="109" y="631"/>
                  <a:pt x="90" y="609"/>
                </a:cubicBezTo>
                <a:cubicBezTo>
                  <a:pt x="70" y="588"/>
                  <a:pt x="54" y="565"/>
                  <a:pt x="41" y="542"/>
                </a:cubicBezTo>
                <a:cubicBezTo>
                  <a:pt x="27" y="518"/>
                  <a:pt x="17" y="494"/>
                  <a:pt x="11" y="468"/>
                </a:cubicBezTo>
                <a:cubicBezTo>
                  <a:pt x="4" y="443"/>
                  <a:pt x="0" y="418"/>
                  <a:pt x="0" y="392"/>
                </a:cubicBezTo>
                <a:cubicBezTo>
                  <a:pt x="0" y="366"/>
                  <a:pt x="4" y="341"/>
                  <a:pt x="11" y="316"/>
                </a:cubicBezTo>
                <a:cubicBezTo>
                  <a:pt x="17" y="291"/>
                  <a:pt x="27" y="266"/>
                  <a:pt x="41" y="243"/>
                </a:cubicBezTo>
                <a:cubicBezTo>
                  <a:pt x="54" y="219"/>
                  <a:pt x="70" y="196"/>
                  <a:pt x="90" y="175"/>
                </a:cubicBezTo>
                <a:cubicBezTo>
                  <a:pt x="109" y="154"/>
                  <a:pt x="131" y="134"/>
                  <a:pt x="155" y="116"/>
                </a:cubicBezTo>
                <a:cubicBezTo>
                  <a:pt x="180" y="98"/>
                  <a:pt x="207" y="81"/>
                  <a:pt x="236" y="67"/>
                </a:cubicBezTo>
                <a:cubicBezTo>
                  <a:pt x="265" y="53"/>
                  <a:pt x="295" y="41"/>
                  <a:pt x="327" y="30"/>
                </a:cubicBezTo>
                <a:cubicBezTo>
                  <a:pt x="359" y="20"/>
                  <a:pt x="392" y="13"/>
                  <a:pt x="426" y="8"/>
                </a:cubicBezTo>
                <a:cubicBezTo>
                  <a:pt x="460" y="3"/>
                  <a:pt x="495" y="0"/>
                  <a:pt x="530" y="0"/>
                </a:cubicBezTo>
                <a:cubicBezTo>
                  <a:pt x="564" y="0"/>
                  <a:pt x="599" y="3"/>
                  <a:pt x="634" y="8"/>
                </a:cubicBezTo>
                <a:cubicBezTo>
                  <a:pt x="668" y="13"/>
                  <a:pt x="701" y="20"/>
                  <a:pt x="733" y="30"/>
                </a:cubicBezTo>
                <a:cubicBezTo>
                  <a:pt x="765" y="41"/>
                  <a:pt x="796" y="53"/>
                  <a:pt x="825" y="67"/>
                </a:cubicBezTo>
                <a:cubicBezTo>
                  <a:pt x="854" y="81"/>
                  <a:pt x="880" y="98"/>
                  <a:pt x="905" y="116"/>
                </a:cubicBezTo>
                <a:cubicBezTo>
                  <a:pt x="929" y="134"/>
                  <a:pt x="951" y="154"/>
                  <a:pt x="971" y="175"/>
                </a:cubicBezTo>
                <a:cubicBezTo>
                  <a:pt x="990" y="196"/>
                  <a:pt x="1006" y="219"/>
                  <a:pt x="1020" y="243"/>
                </a:cubicBezTo>
                <a:cubicBezTo>
                  <a:pt x="1033" y="266"/>
                  <a:pt x="1043" y="291"/>
                  <a:pt x="1050" y="316"/>
                </a:cubicBezTo>
                <a:cubicBezTo>
                  <a:pt x="1056" y="341"/>
                  <a:pt x="1060" y="366"/>
                  <a:pt x="1060" y="392"/>
                </a:cubicBezTo>
                <a:close/>
              </a:path>
            </a:pathLst>
          </a:custGeom>
          <a:solidFill>
            <a:srgbClr val="F3E8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3" name="文本框 1632"/>
          <p:cNvSpPr txBox="1"/>
          <p:nvPr/>
        </p:nvSpPr>
        <p:spPr>
          <a:xfrm>
            <a:off x="5682960" y="3125160"/>
            <a:ext cx="256480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个⽉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4" name="文本框 1633"/>
          <p:cNvSpPr txBox="1"/>
          <p:nvPr/>
        </p:nvSpPr>
        <p:spPr>
          <a:xfrm>
            <a:off x="8499600" y="1316520"/>
            <a:ext cx="76944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5" name="文本框 1634"/>
          <p:cNvSpPr txBox="1"/>
          <p:nvPr/>
        </p:nvSpPr>
        <p:spPr>
          <a:xfrm>
            <a:off x="8851680" y="1273320"/>
            <a:ext cx="82073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6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实战阶段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6" name="文本框 1635"/>
          <p:cNvSpPr txBox="1"/>
          <p:nvPr/>
        </p:nvSpPr>
        <p:spPr>
          <a:xfrm>
            <a:off x="8356680" y="167364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7" name="文本框 1636"/>
          <p:cNvSpPr txBox="1"/>
          <p:nvPr/>
        </p:nvSpPr>
        <p:spPr>
          <a:xfrm>
            <a:off x="8459280" y="1668960"/>
            <a:ext cx="89768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端到端项⽬开发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8" name="文本框 1637"/>
          <p:cNvSpPr txBox="1"/>
          <p:nvPr/>
        </p:nvSpPr>
        <p:spPr>
          <a:xfrm>
            <a:off x="8356680" y="194796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9" name="文本框 1638"/>
          <p:cNvSpPr txBox="1"/>
          <p:nvPr/>
        </p:nvSpPr>
        <p:spPr>
          <a:xfrm>
            <a:off x="8459280" y="1943280"/>
            <a:ext cx="89768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模型部署与监控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0" name="文本框 1639"/>
          <p:cNvSpPr txBox="1"/>
          <p:nvPr/>
        </p:nvSpPr>
        <p:spPr>
          <a:xfrm>
            <a:off x="8356680" y="222228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1" name="文本框 1640"/>
          <p:cNvSpPr txBox="1"/>
          <p:nvPr/>
        </p:nvSpPr>
        <p:spPr>
          <a:xfrm>
            <a:off x="8459280" y="2217600"/>
            <a:ext cx="89768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⼤规模数据处理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2" name="文本框 1641"/>
          <p:cNvSpPr txBox="1"/>
          <p:nvPr/>
        </p:nvSpPr>
        <p:spPr>
          <a:xfrm>
            <a:off x="8356680" y="249660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3" name="文本框 1642"/>
          <p:cNvSpPr txBox="1"/>
          <p:nvPr/>
        </p:nvSpPr>
        <p:spPr>
          <a:xfrm>
            <a:off x="8459280" y="2491920"/>
            <a:ext cx="769441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领域知识融合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4" name="文本框 1643"/>
          <p:cNvSpPr txBox="1"/>
          <p:nvPr/>
        </p:nvSpPr>
        <p:spPr>
          <a:xfrm>
            <a:off x="8356680" y="277092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5" name="文本框 1644"/>
          <p:cNvSpPr txBox="1"/>
          <p:nvPr/>
        </p:nvSpPr>
        <p:spPr>
          <a:xfrm>
            <a:off x="8459280" y="2766240"/>
            <a:ext cx="89768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模型解释性研究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6" name="文本框 1645"/>
          <p:cNvSpPr txBox="1"/>
          <p:nvPr/>
        </p:nvSpPr>
        <p:spPr>
          <a:xfrm>
            <a:off x="8356680" y="3125160"/>
            <a:ext cx="115416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建议时⻓：持续实践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7" name="文本框 1646"/>
          <p:cNvSpPr txBox="1"/>
          <p:nvPr/>
        </p:nvSpPr>
        <p:spPr>
          <a:xfrm>
            <a:off x="838080" y="3945960"/>
            <a:ext cx="9554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5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优质学习资源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648" name="图片 1647"/>
          <p:cNvPicPr/>
          <p:nvPr/>
        </p:nvPicPr>
        <p:blipFill>
          <a:blip r:embed="rId2"/>
          <a:stretch>
            <a:fillRect/>
          </a:stretch>
        </p:blipFill>
        <p:spPr>
          <a:xfrm>
            <a:off x="838080" y="4640760"/>
            <a:ext cx="3352320" cy="90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9" name="任意多边形 1648"/>
          <p:cNvSpPr/>
          <p:nvPr/>
        </p:nvSpPr>
        <p:spPr>
          <a:xfrm>
            <a:off x="876240" y="5626800"/>
            <a:ext cx="1124280" cy="225360"/>
          </a:xfrm>
          <a:custGeom>
            <a:avLst/>
            <a:gdLst/>
            <a:ahLst/>
            <a:cxnLst/>
            <a:rect l="0" t="0" r="r" b="b"/>
            <a:pathLst>
              <a:path w="3123" h="626">
                <a:moveTo>
                  <a:pt x="0" y="314"/>
                </a:moveTo>
                <a:cubicBezTo>
                  <a:pt x="0" y="292"/>
                  <a:pt x="2" y="272"/>
                  <a:pt x="8" y="252"/>
                </a:cubicBezTo>
                <a:cubicBezTo>
                  <a:pt x="13" y="232"/>
                  <a:pt x="21" y="212"/>
                  <a:pt x="32" y="193"/>
                </a:cubicBezTo>
                <a:cubicBezTo>
                  <a:pt x="43" y="174"/>
                  <a:pt x="56" y="156"/>
                  <a:pt x="71" y="139"/>
                </a:cubicBezTo>
                <a:cubicBezTo>
                  <a:pt x="86" y="122"/>
                  <a:pt x="104" y="106"/>
                  <a:pt x="124" y="92"/>
                </a:cubicBezTo>
                <a:cubicBezTo>
                  <a:pt x="143" y="77"/>
                  <a:pt x="165" y="64"/>
                  <a:pt x="188" y="53"/>
                </a:cubicBezTo>
                <a:cubicBezTo>
                  <a:pt x="211" y="42"/>
                  <a:pt x="235" y="32"/>
                  <a:pt x="261" y="24"/>
                </a:cubicBezTo>
                <a:cubicBezTo>
                  <a:pt x="287" y="16"/>
                  <a:pt x="313" y="10"/>
                  <a:pt x="340" y="6"/>
                </a:cubicBezTo>
                <a:cubicBezTo>
                  <a:pt x="368" y="2"/>
                  <a:pt x="395" y="0"/>
                  <a:pt x="423" y="0"/>
                </a:cubicBezTo>
                <a:lnTo>
                  <a:pt x="2699" y="0"/>
                </a:lnTo>
                <a:cubicBezTo>
                  <a:pt x="2727" y="0"/>
                  <a:pt x="2755" y="2"/>
                  <a:pt x="2782" y="6"/>
                </a:cubicBezTo>
                <a:cubicBezTo>
                  <a:pt x="2809" y="10"/>
                  <a:pt x="2836" y="16"/>
                  <a:pt x="2861" y="24"/>
                </a:cubicBezTo>
                <a:cubicBezTo>
                  <a:pt x="2887" y="32"/>
                  <a:pt x="2911" y="42"/>
                  <a:pt x="2935" y="53"/>
                </a:cubicBezTo>
                <a:cubicBezTo>
                  <a:pt x="2958" y="64"/>
                  <a:pt x="2979" y="77"/>
                  <a:pt x="2999" y="92"/>
                </a:cubicBezTo>
                <a:cubicBezTo>
                  <a:pt x="3018" y="106"/>
                  <a:pt x="3036" y="122"/>
                  <a:pt x="3051" y="139"/>
                </a:cubicBezTo>
                <a:cubicBezTo>
                  <a:pt x="3067" y="156"/>
                  <a:pt x="3080" y="174"/>
                  <a:pt x="3091" y="193"/>
                </a:cubicBezTo>
                <a:cubicBezTo>
                  <a:pt x="3101" y="212"/>
                  <a:pt x="3109" y="232"/>
                  <a:pt x="3115" y="252"/>
                </a:cubicBezTo>
                <a:cubicBezTo>
                  <a:pt x="3120" y="272"/>
                  <a:pt x="3123" y="292"/>
                  <a:pt x="3123" y="314"/>
                </a:cubicBezTo>
                <a:cubicBezTo>
                  <a:pt x="3123" y="334"/>
                  <a:pt x="3120" y="355"/>
                  <a:pt x="3115" y="375"/>
                </a:cubicBezTo>
                <a:cubicBezTo>
                  <a:pt x="3109" y="395"/>
                  <a:pt x="3101" y="415"/>
                  <a:pt x="3091" y="434"/>
                </a:cubicBezTo>
                <a:cubicBezTo>
                  <a:pt x="3080" y="452"/>
                  <a:pt x="3067" y="470"/>
                  <a:pt x="3051" y="488"/>
                </a:cubicBezTo>
                <a:cubicBezTo>
                  <a:pt x="3036" y="505"/>
                  <a:pt x="3018" y="520"/>
                  <a:pt x="2999" y="535"/>
                </a:cubicBezTo>
                <a:cubicBezTo>
                  <a:pt x="2979" y="549"/>
                  <a:pt x="2958" y="562"/>
                  <a:pt x="2935" y="574"/>
                </a:cubicBezTo>
                <a:cubicBezTo>
                  <a:pt x="2911" y="585"/>
                  <a:pt x="2887" y="595"/>
                  <a:pt x="2861" y="603"/>
                </a:cubicBezTo>
                <a:cubicBezTo>
                  <a:pt x="2836" y="611"/>
                  <a:pt x="2809" y="616"/>
                  <a:pt x="2782" y="620"/>
                </a:cubicBezTo>
                <a:cubicBezTo>
                  <a:pt x="2755" y="624"/>
                  <a:pt x="2727" y="626"/>
                  <a:pt x="2699" y="626"/>
                </a:cubicBezTo>
                <a:lnTo>
                  <a:pt x="423" y="626"/>
                </a:lnTo>
                <a:cubicBezTo>
                  <a:pt x="395" y="626"/>
                  <a:pt x="368" y="624"/>
                  <a:pt x="340" y="620"/>
                </a:cubicBezTo>
                <a:cubicBezTo>
                  <a:pt x="313" y="616"/>
                  <a:pt x="287" y="611"/>
                  <a:pt x="261" y="603"/>
                </a:cubicBezTo>
                <a:cubicBezTo>
                  <a:pt x="235" y="595"/>
                  <a:pt x="211" y="585"/>
                  <a:pt x="188" y="574"/>
                </a:cubicBezTo>
                <a:cubicBezTo>
                  <a:pt x="165" y="562"/>
                  <a:pt x="143" y="549"/>
                  <a:pt x="124" y="535"/>
                </a:cubicBezTo>
                <a:cubicBezTo>
                  <a:pt x="104" y="520"/>
                  <a:pt x="86" y="505"/>
                  <a:pt x="71" y="488"/>
                </a:cubicBezTo>
                <a:cubicBezTo>
                  <a:pt x="56" y="470"/>
                  <a:pt x="43" y="452"/>
                  <a:pt x="32" y="434"/>
                </a:cubicBezTo>
                <a:cubicBezTo>
                  <a:pt x="21" y="415"/>
                  <a:pt x="13" y="395"/>
                  <a:pt x="8" y="375"/>
                </a:cubicBezTo>
                <a:cubicBezTo>
                  <a:pt x="2" y="355"/>
                  <a:pt x="0" y="334"/>
                  <a:pt x="0" y="314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0" name="文本框 1649"/>
          <p:cNvSpPr txBox="1"/>
          <p:nvPr/>
        </p:nvSpPr>
        <p:spPr>
          <a:xfrm>
            <a:off x="838080" y="4350960"/>
            <a:ext cx="3794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数据集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1" name="文本框 1650"/>
          <p:cNvSpPr txBox="1"/>
          <p:nvPr/>
        </p:nvSpPr>
        <p:spPr>
          <a:xfrm>
            <a:off x="990720" y="5674680"/>
            <a:ext cx="44064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Kaggle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2" name="文本框 1651"/>
          <p:cNvSpPr txBox="1"/>
          <p:nvPr/>
        </p:nvSpPr>
        <p:spPr>
          <a:xfrm>
            <a:off x="1430640" y="5670360"/>
            <a:ext cx="2750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数据集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3" name="任意多边形 1652"/>
          <p:cNvSpPr/>
          <p:nvPr/>
        </p:nvSpPr>
        <p:spPr>
          <a:xfrm>
            <a:off x="2114280" y="5626800"/>
            <a:ext cx="1257840" cy="225360"/>
          </a:xfrm>
          <a:custGeom>
            <a:avLst/>
            <a:gdLst/>
            <a:ahLst/>
            <a:cxnLst/>
            <a:rect l="0" t="0" r="r" b="b"/>
            <a:pathLst>
              <a:path w="3494" h="626">
                <a:moveTo>
                  <a:pt x="0" y="314"/>
                </a:moveTo>
                <a:cubicBezTo>
                  <a:pt x="0" y="292"/>
                  <a:pt x="3" y="272"/>
                  <a:pt x="8" y="252"/>
                </a:cubicBezTo>
                <a:cubicBezTo>
                  <a:pt x="14" y="232"/>
                  <a:pt x="22" y="212"/>
                  <a:pt x="32" y="193"/>
                </a:cubicBezTo>
                <a:cubicBezTo>
                  <a:pt x="43" y="174"/>
                  <a:pt x="56" y="156"/>
                  <a:pt x="72" y="139"/>
                </a:cubicBezTo>
                <a:cubicBezTo>
                  <a:pt x="87" y="122"/>
                  <a:pt x="105" y="106"/>
                  <a:pt x="124" y="92"/>
                </a:cubicBezTo>
                <a:cubicBezTo>
                  <a:pt x="144" y="77"/>
                  <a:pt x="165" y="64"/>
                  <a:pt x="188" y="53"/>
                </a:cubicBezTo>
                <a:cubicBezTo>
                  <a:pt x="212" y="42"/>
                  <a:pt x="236" y="32"/>
                  <a:pt x="262" y="24"/>
                </a:cubicBezTo>
                <a:cubicBezTo>
                  <a:pt x="287" y="16"/>
                  <a:pt x="314" y="10"/>
                  <a:pt x="341" y="6"/>
                </a:cubicBezTo>
                <a:cubicBezTo>
                  <a:pt x="368" y="2"/>
                  <a:pt x="396" y="0"/>
                  <a:pt x="424" y="0"/>
                </a:cubicBezTo>
                <a:lnTo>
                  <a:pt x="3070" y="0"/>
                </a:lnTo>
                <a:cubicBezTo>
                  <a:pt x="3098" y="0"/>
                  <a:pt x="3126" y="2"/>
                  <a:pt x="3153" y="6"/>
                </a:cubicBezTo>
                <a:cubicBezTo>
                  <a:pt x="3180" y="10"/>
                  <a:pt x="3207" y="16"/>
                  <a:pt x="3232" y="24"/>
                </a:cubicBezTo>
                <a:cubicBezTo>
                  <a:pt x="3258" y="32"/>
                  <a:pt x="3282" y="42"/>
                  <a:pt x="3306" y="53"/>
                </a:cubicBezTo>
                <a:cubicBezTo>
                  <a:pt x="3329" y="64"/>
                  <a:pt x="3350" y="77"/>
                  <a:pt x="3370" y="92"/>
                </a:cubicBezTo>
                <a:cubicBezTo>
                  <a:pt x="3389" y="106"/>
                  <a:pt x="3407" y="122"/>
                  <a:pt x="3422" y="139"/>
                </a:cubicBezTo>
                <a:cubicBezTo>
                  <a:pt x="3438" y="156"/>
                  <a:pt x="3451" y="174"/>
                  <a:pt x="3462" y="193"/>
                </a:cubicBezTo>
                <a:cubicBezTo>
                  <a:pt x="3472" y="212"/>
                  <a:pt x="3480" y="232"/>
                  <a:pt x="3486" y="252"/>
                </a:cubicBezTo>
                <a:cubicBezTo>
                  <a:pt x="3491" y="272"/>
                  <a:pt x="3494" y="292"/>
                  <a:pt x="3494" y="314"/>
                </a:cubicBezTo>
                <a:cubicBezTo>
                  <a:pt x="3494" y="334"/>
                  <a:pt x="3491" y="355"/>
                  <a:pt x="3486" y="375"/>
                </a:cubicBezTo>
                <a:cubicBezTo>
                  <a:pt x="3480" y="395"/>
                  <a:pt x="3472" y="415"/>
                  <a:pt x="3462" y="434"/>
                </a:cubicBezTo>
                <a:cubicBezTo>
                  <a:pt x="3451" y="452"/>
                  <a:pt x="3438" y="470"/>
                  <a:pt x="3422" y="488"/>
                </a:cubicBezTo>
                <a:cubicBezTo>
                  <a:pt x="3407" y="505"/>
                  <a:pt x="3389" y="520"/>
                  <a:pt x="3370" y="535"/>
                </a:cubicBezTo>
                <a:cubicBezTo>
                  <a:pt x="3350" y="549"/>
                  <a:pt x="3329" y="562"/>
                  <a:pt x="3306" y="574"/>
                </a:cubicBezTo>
                <a:cubicBezTo>
                  <a:pt x="3282" y="585"/>
                  <a:pt x="3258" y="595"/>
                  <a:pt x="3232" y="603"/>
                </a:cubicBezTo>
                <a:cubicBezTo>
                  <a:pt x="3207" y="611"/>
                  <a:pt x="3180" y="616"/>
                  <a:pt x="3153" y="620"/>
                </a:cubicBezTo>
                <a:cubicBezTo>
                  <a:pt x="3126" y="624"/>
                  <a:pt x="3098" y="626"/>
                  <a:pt x="3070" y="626"/>
                </a:cubicBezTo>
                <a:lnTo>
                  <a:pt x="424" y="626"/>
                </a:lnTo>
                <a:cubicBezTo>
                  <a:pt x="396" y="626"/>
                  <a:pt x="368" y="624"/>
                  <a:pt x="341" y="620"/>
                </a:cubicBezTo>
                <a:cubicBezTo>
                  <a:pt x="314" y="616"/>
                  <a:pt x="287" y="611"/>
                  <a:pt x="262" y="603"/>
                </a:cubicBezTo>
                <a:cubicBezTo>
                  <a:pt x="236" y="595"/>
                  <a:pt x="212" y="585"/>
                  <a:pt x="188" y="574"/>
                </a:cubicBezTo>
                <a:cubicBezTo>
                  <a:pt x="165" y="562"/>
                  <a:pt x="144" y="549"/>
                  <a:pt x="124" y="535"/>
                </a:cubicBezTo>
                <a:cubicBezTo>
                  <a:pt x="105" y="520"/>
                  <a:pt x="87" y="505"/>
                  <a:pt x="72" y="488"/>
                </a:cubicBezTo>
                <a:cubicBezTo>
                  <a:pt x="56" y="470"/>
                  <a:pt x="43" y="452"/>
                  <a:pt x="32" y="434"/>
                </a:cubicBezTo>
                <a:cubicBezTo>
                  <a:pt x="22" y="415"/>
                  <a:pt x="14" y="395"/>
                  <a:pt x="8" y="375"/>
                </a:cubicBezTo>
                <a:cubicBezTo>
                  <a:pt x="3" y="355"/>
                  <a:pt x="0" y="334"/>
                  <a:pt x="0" y="314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4" name="文本框 1653"/>
          <p:cNvSpPr txBox="1"/>
          <p:nvPr/>
        </p:nvSpPr>
        <p:spPr>
          <a:xfrm>
            <a:off x="2040480" y="5674680"/>
            <a:ext cx="15192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5" name="文本框 1654"/>
          <p:cNvSpPr txBox="1"/>
          <p:nvPr/>
        </p:nvSpPr>
        <p:spPr>
          <a:xfrm>
            <a:off x="2230920" y="5674680"/>
            <a:ext cx="26316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UCI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6" name="任意多边形 1655"/>
          <p:cNvSpPr/>
          <p:nvPr/>
        </p:nvSpPr>
        <p:spPr>
          <a:xfrm>
            <a:off x="876240" y="5908320"/>
            <a:ext cx="1438560" cy="225360"/>
          </a:xfrm>
          <a:custGeom>
            <a:avLst/>
            <a:gdLst/>
            <a:ahLst/>
            <a:cxnLst/>
            <a:rect l="0" t="0" r="r" b="b"/>
            <a:pathLst>
              <a:path w="3996" h="626">
                <a:moveTo>
                  <a:pt x="0" y="313"/>
                </a:moveTo>
                <a:cubicBezTo>
                  <a:pt x="0" y="293"/>
                  <a:pt x="2" y="273"/>
                  <a:pt x="8" y="252"/>
                </a:cubicBezTo>
                <a:cubicBezTo>
                  <a:pt x="13" y="232"/>
                  <a:pt x="21" y="213"/>
                  <a:pt x="32" y="194"/>
                </a:cubicBezTo>
                <a:cubicBezTo>
                  <a:pt x="43" y="175"/>
                  <a:pt x="56" y="157"/>
                  <a:pt x="71" y="139"/>
                </a:cubicBezTo>
                <a:cubicBezTo>
                  <a:pt x="86" y="122"/>
                  <a:pt x="104" y="106"/>
                  <a:pt x="124" y="91"/>
                </a:cubicBezTo>
                <a:cubicBezTo>
                  <a:pt x="143" y="77"/>
                  <a:pt x="165" y="64"/>
                  <a:pt x="188" y="52"/>
                </a:cubicBezTo>
                <a:cubicBezTo>
                  <a:pt x="211" y="41"/>
                  <a:pt x="235" y="31"/>
                  <a:pt x="261" y="24"/>
                </a:cubicBezTo>
                <a:cubicBezTo>
                  <a:pt x="287" y="16"/>
                  <a:pt x="313" y="10"/>
                  <a:pt x="340" y="6"/>
                </a:cubicBezTo>
                <a:cubicBezTo>
                  <a:pt x="368" y="2"/>
                  <a:pt x="395" y="0"/>
                  <a:pt x="423" y="0"/>
                </a:cubicBezTo>
                <a:lnTo>
                  <a:pt x="3573" y="0"/>
                </a:lnTo>
                <a:cubicBezTo>
                  <a:pt x="3600" y="0"/>
                  <a:pt x="3628" y="2"/>
                  <a:pt x="3655" y="6"/>
                </a:cubicBezTo>
                <a:cubicBezTo>
                  <a:pt x="3682" y="10"/>
                  <a:pt x="3709" y="16"/>
                  <a:pt x="3735" y="24"/>
                </a:cubicBezTo>
                <a:cubicBezTo>
                  <a:pt x="3760" y="31"/>
                  <a:pt x="3785" y="41"/>
                  <a:pt x="3808" y="52"/>
                </a:cubicBezTo>
                <a:cubicBezTo>
                  <a:pt x="3831" y="64"/>
                  <a:pt x="3852" y="77"/>
                  <a:pt x="3872" y="91"/>
                </a:cubicBezTo>
                <a:cubicBezTo>
                  <a:pt x="3892" y="106"/>
                  <a:pt x="3909" y="122"/>
                  <a:pt x="3925" y="139"/>
                </a:cubicBezTo>
                <a:cubicBezTo>
                  <a:pt x="3940" y="157"/>
                  <a:pt x="3953" y="175"/>
                  <a:pt x="3964" y="194"/>
                </a:cubicBezTo>
                <a:cubicBezTo>
                  <a:pt x="3974" y="213"/>
                  <a:pt x="3982" y="232"/>
                  <a:pt x="3988" y="252"/>
                </a:cubicBezTo>
                <a:cubicBezTo>
                  <a:pt x="3993" y="273"/>
                  <a:pt x="3996" y="293"/>
                  <a:pt x="3996" y="313"/>
                </a:cubicBezTo>
                <a:cubicBezTo>
                  <a:pt x="3996" y="334"/>
                  <a:pt x="3993" y="354"/>
                  <a:pt x="3988" y="374"/>
                </a:cubicBezTo>
                <a:cubicBezTo>
                  <a:pt x="3982" y="395"/>
                  <a:pt x="3974" y="414"/>
                  <a:pt x="3964" y="433"/>
                </a:cubicBezTo>
                <a:cubicBezTo>
                  <a:pt x="3953" y="452"/>
                  <a:pt x="3940" y="470"/>
                  <a:pt x="3925" y="487"/>
                </a:cubicBezTo>
                <a:cubicBezTo>
                  <a:pt x="3909" y="504"/>
                  <a:pt x="3892" y="520"/>
                  <a:pt x="3872" y="534"/>
                </a:cubicBezTo>
                <a:cubicBezTo>
                  <a:pt x="3852" y="549"/>
                  <a:pt x="3831" y="562"/>
                  <a:pt x="3808" y="573"/>
                </a:cubicBezTo>
                <a:cubicBezTo>
                  <a:pt x="3785" y="585"/>
                  <a:pt x="3760" y="594"/>
                  <a:pt x="3735" y="602"/>
                </a:cubicBezTo>
                <a:cubicBezTo>
                  <a:pt x="3709" y="610"/>
                  <a:pt x="3682" y="616"/>
                  <a:pt x="3655" y="620"/>
                </a:cubicBezTo>
                <a:cubicBezTo>
                  <a:pt x="3628" y="624"/>
                  <a:pt x="3600" y="626"/>
                  <a:pt x="3573" y="626"/>
                </a:cubicBezTo>
                <a:lnTo>
                  <a:pt x="423" y="626"/>
                </a:lnTo>
                <a:cubicBezTo>
                  <a:pt x="395" y="626"/>
                  <a:pt x="368" y="624"/>
                  <a:pt x="340" y="620"/>
                </a:cubicBezTo>
                <a:cubicBezTo>
                  <a:pt x="313" y="616"/>
                  <a:pt x="287" y="610"/>
                  <a:pt x="261" y="602"/>
                </a:cubicBezTo>
                <a:cubicBezTo>
                  <a:pt x="235" y="594"/>
                  <a:pt x="211" y="585"/>
                  <a:pt x="188" y="573"/>
                </a:cubicBezTo>
                <a:cubicBezTo>
                  <a:pt x="165" y="562"/>
                  <a:pt x="143" y="549"/>
                  <a:pt x="124" y="534"/>
                </a:cubicBezTo>
                <a:cubicBezTo>
                  <a:pt x="104" y="520"/>
                  <a:pt x="86" y="504"/>
                  <a:pt x="71" y="487"/>
                </a:cubicBezTo>
                <a:cubicBezTo>
                  <a:pt x="56" y="470"/>
                  <a:pt x="43" y="452"/>
                  <a:pt x="32" y="433"/>
                </a:cubicBezTo>
                <a:cubicBezTo>
                  <a:pt x="21" y="414"/>
                  <a:pt x="13" y="395"/>
                  <a:pt x="8" y="374"/>
                </a:cubicBezTo>
                <a:cubicBezTo>
                  <a:pt x="2" y="354"/>
                  <a:pt x="0" y="334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7" name="文本框 1656"/>
          <p:cNvSpPr txBox="1"/>
          <p:nvPr/>
        </p:nvSpPr>
        <p:spPr>
          <a:xfrm>
            <a:off x="2493360" y="5670360"/>
            <a:ext cx="45792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机器学习库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8" name="文本框 1657"/>
          <p:cNvSpPr txBox="1"/>
          <p:nvPr/>
        </p:nvSpPr>
        <p:spPr>
          <a:xfrm>
            <a:off x="990720" y="5955840"/>
            <a:ext cx="44928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Google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9" name="文本框 1658"/>
          <p:cNvSpPr txBox="1"/>
          <p:nvPr/>
        </p:nvSpPr>
        <p:spPr>
          <a:xfrm>
            <a:off x="1439280" y="5951880"/>
            <a:ext cx="45792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数据集搜索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0" name="任意多边形 1659"/>
          <p:cNvSpPr/>
          <p:nvPr/>
        </p:nvSpPr>
        <p:spPr>
          <a:xfrm>
            <a:off x="4457520" y="4698360"/>
            <a:ext cx="943200" cy="225360"/>
          </a:xfrm>
          <a:custGeom>
            <a:avLst/>
            <a:gdLst/>
            <a:ahLst/>
            <a:cxnLst/>
            <a:rect l="0" t="0" r="r" b="b"/>
            <a:pathLst>
              <a:path w="2620" h="626">
                <a:moveTo>
                  <a:pt x="0" y="313"/>
                </a:moveTo>
                <a:cubicBezTo>
                  <a:pt x="0" y="292"/>
                  <a:pt x="3" y="272"/>
                  <a:pt x="8" y="252"/>
                </a:cubicBezTo>
                <a:cubicBezTo>
                  <a:pt x="14" y="232"/>
                  <a:pt x="22" y="212"/>
                  <a:pt x="32" y="193"/>
                </a:cubicBezTo>
                <a:cubicBezTo>
                  <a:pt x="43" y="174"/>
                  <a:pt x="56" y="156"/>
                  <a:pt x="71" y="139"/>
                </a:cubicBezTo>
                <a:cubicBezTo>
                  <a:pt x="87" y="122"/>
                  <a:pt x="104" y="106"/>
                  <a:pt x="124" y="92"/>
                </a:cubicBezTo>
                <a:cubicBezTo>
                  <a:pt x="144" y="77"/>
                  <a:pt x="165" y="64"/>
                  <a:pt x="188" y="53"/>
                </a:cubicBezTo>
                <a:cubicBezTo>
                  <a:pt x="211" y="41"/>
                  <a:pt x="236" y="32"/>
                  <a:pt x="261" y="24"/>
                </a:cubicBezTo>
                <a:cubicBezTo>
                  <a:pt x="287" y="16"/>
                  <a:pt x="313" y="10"/>
                  <a:pt x="341" y="6"/>
                </a:cubicBezTo>
                <a:cubicBezTo>
                  <a:pt x="368" y="2"/>
                  <a:pt x="396" y="0"/>
                  <a:pt x="423" y="0"/>
                </a:cubicBezTo>
                <a:lnTo>
                  <a:pt x="2197" y="0"/>
                </a:lnTo>
                <a:cubicBezTo>
                  <a:pt x="2225" y="0"/>
                  <a:pt x="2252" y="2"/>
                  <a:pt x="2280" y="6"/>
                </a:cubicBezTo>
                <a:cubicBezTo>
                  <a:pt x="2307" y="10"/>
                  <a:pt x="2333" y="16"/>
                  <a:pt x="2359" y="24"/>
                </a:cubicBezTo>
                <a:cubicBezTo>
                  <a:pt x="2385" y="32"/>
                  <a:pt x="2409" y="41"/>
                  <a:pt x="2432" y="53"/>
                </a:cubicBezTo>
                <a:cubicBezTo>
                  <a:pt x="2455" y="64"/>
                  <a:pt x="2477" y="77"/>
                  <a:pt x="2496" y="92"/>
                </a:cubicBezTo>
                <a:cubicBezTo>
                  <a:pt x="2516" y="106"/>
                  <a:pt x="2534" y="122"/>
                  <a:pt x="2549" y="139"/>
                </a:cubicBezTo>
                <a:cubicBezTo>
                  <a:pt x="2564" y="156"/>
                  <a:pt x="2578" y="174"/>
                  <a:pt x="2588" y="193"/>
                </a:cubicBezTo>
                <a:cubicBezTo>
                  <a:pt x="2599" y="212"/>
                  <a:pt x="2607" y="232"/>
                  <a:pt x="2612" y="252"/>
                </a:cubicBezTo>
                <a:cubicBezTo>
                  <a:pt x="2618" y="272"/>
                  <a:pt x="2620" y="292"/>
                  <a:pt x="2620" y="313"/>
                </a:cubicBezTo>
                <a:cubicBezTo>
                  <a:pt x="2620" y="333"/>
                  <a:pt x="2618" y="354"/>
                  <a:pt x="2612" y="374"/>
                </a:cubicBezTo>
                <a:cubicBezTo>
                  <a:pt x="2607" y="395"/>
                  <a:pt x="2599" y="414"/>
                  <a:pt x="2588" y="433"/>
                </a:cubicBezTo>
                <a:cubicBezTo>
                  <a:pt x="2578" y="452"/>
                  <a:pt x="2564" y="470"/>
                  <a:pt x="2549" y="487"/>
                </a:cubicBezTo>
                <a:cubicBezTo>
                  <a:pt x="2534" y="505"/>
                  <a:pt x="2516" y="520"/>
                  <a:pt x="2496" y="535"/>
                </a:cubicBezTo>
                <a:cubicBezTo>
                  <a:pt x="2477" y="549"/>
                  <a:pt x="2455" y="562"/>
                  <a:pt x="2432" y="574"/>
                </a:cubicBezTo>
                <a:cubicBezTo>
                  <a:pt x="2409" y="585"/>
                  <a:pt x="2385" y="595"/>
                  <a:pt x="2359" y="603"/>
                </a:cubicBezTo>
                <a:cubicBezTo>
                  <a:pt x="2333" y="610"/>
                  <a:pt x="2307" y="616"/>
                  <a:pt x="2280" y="620"/>
                </a:cubicBezTo>
                <a:cubicBezTo>
                  <a:pt x="2252" y="624"/>
                  <a:pt x="2225" y="626"/>
                  <a:pt x="2197" y="626"/>
                </a:cubicBezTo>
                <a:lnTo>
                  <a:pt x="423" y="626"/>
                </a:lnTo>
                <a:cubicBezTo>
                  <a:pt x="396" y="626"/>
                  <a:pt x="368" y="624"/>
                  <a:pt x="341" y="620"/>
                </a:cubicBezTo>
                <a:cubicBezTo>
                  <a:pt x="313" y="616"/>
                  <a:pt x="287" y="610"/>
                  <a:pt x="261" y="603"/>
                </a:cubicBezTo>
                <a:cubicBezTo>
                  <a:pt x="236" y="595"/>
                  <a:pt x="211" y="585"/>
                  <a:pt x="188" y="574"/>
                </a:cubicBezTo>
                <a:cubicBezTo>
                  <a:pt x="165" y="562"/>
                  <a:pt x="144" y="549"/>
                  <a:pt x="124" y="535"/>
                </a:cubicBezTo>
                <a:cubicBezTo>
                  <a:pt x="104" y="520"/>
                  <a:pt x="87" y="505"/>
                  <a:pt x="71" y="487"/>
                </a:cubicBezTo>
                <a:cubicBezTo>
                  <a:pt x="56" y="470"/>
                  <a:pt x="43" y="452"/>
                  <a:pt x="32" y="433"/>
                </a:cubicBezTo>
                <a:cubicBezTo>
                  <a:pt x="22" y="414"/>
                  <a:pt x="14" y="395"/>
                  <a:pt x="8" y="374"/>
                </a:cubicBezTo>
                <a:cubicBezTo>
                  <a:pt x="3" y="354"/>
                  <a:pt x="0" y="333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1" name="文本框 1660"/>
          <p:cNvSpPr txBox="1"/>
          <p:nvPr/>
        </p:nvSpPr>
        <p:spPr>
          <a:xfrm>
            <a:off x="4419720" y="4350960"/>
            <a:ext cx="5054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开源项⽬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2" name="文本框 1661"/>
          <p:cNvSpPr txBox="1"/>
          <p:nvPr/>
        </p:nvSpPr>
        <p:spPr>
          <a:xfrm>
            <a:off x="4572000" y="4745880"/>
            <a:ext cx="71172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Scikit-learn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3" name="任意多边形 1662"/>
          <p:cNvSpPr/>
          <p:nvPr/>
        </p:nvSpPr>
        <p:spPr>
          <a:xfrm>
            <a:off x="5514840" y="4698360"/>
            <a:ext cx="952920" cy="225360"/>
          </a:xfrm>
          <a:custGeom>
            <a:avLst/>
            <a:gdLst/>
            <a:ahLst/>
            <a:cxnLst/>
            <a:rect l="0" t="0" r="r" b="b"/>
            <a:pathLst>
              <a:path w="2647" h="626">
                <a:moveTo>
                  <a:pt x="0" y="313"/>
                </a:moveTo>
                <a:cubicBezTo>
                  <a:pt x="0" y="292"/>
                  <a:pt x="3" y="272"/>
                  <a:pt x="8" y="252"/>
                </a:cubicBezTo>
                <a:cubicBezTo>
                  <a:pt x="13" y="232"/>
                  <a:pt x="21" y="212"/>
                  <a:pt x="32" y="193"/>
                </a:cubicBezTo>
                <a:cubicBezTo>
                  <a:pt x="43" y="174"/>
                  <a:pt x="56" y="156"/>
                  <a:pt x="71" y="139"/>
                </a:cubicBezTo>
                <a:cubicBezTo>
                  <a:pt x="87" y="122"/>
                  <a:pt x="104" y="106"/>
                  <a:pt x="124" y="92"/>
                </a:cubicBezTo>
                <a:cubicBezTo>
                  <a:pt x="144" y="77"/>
                  <a:pt x="165" y="64"/>
                  <a:pt x="188" y="53"/>
                </a:cubicBezTo>
                <a:cubicBezTo>
                  <a:pt x="211" y="41"/>
                  <a:pt x="236" y="32"/>
                  <a:pt x="261" y="24"/>
                </a:cubicBezTo>
                <a:cubicBezTo>
                  <a:pt x="287" y="16"/>
                  <a:pt x="313" y="10"/>
                  <a:pt x="341" y="6"/>
                </a:cubicBezTo>
                <a:cubicBezTo>
                  <a:pt x="368" y="2"/>
                  <a:pt x="395" y="0"/>
                  <a:pt x="423" y="0"/>
                </a:cubicBezTo>
                <a:lnTo>
                  <a:pt x="2223" y="0"/>
                </a:lnTo>
                <a:cubicBezTo>
                  <a:pt x="2251" y="0"/>
                  <a:pt x="2279" y="2"/>
                  <a:pt x="2306" y="6"/>
                </a:cubicBezTo>
                <a:cubicBezTo>
                  <a:pt x="2333" y="10"/>
                  <a:pt x="2360" y="16"/>
                  <a:pt x="2385" y="24"/>
                </a:cubicBezTo>
                <a:cubicBezTo>
                  <a:pt x="2411" y="32"/>
                  <a:pt x="2435" y="41"/>
                  <a:pt x="2459" y="53"/>
                </a:cubicBezTo>
                <a:cubicBezTo>
                  <a:pt x="2482" y="64"/>
                  <a:pt x="2503" y="77"/>
                  <a:pt x="2523" y="92"/>
                </a:cubicBezTo>
                <a:cubicBezTo>
                  <a:pt x="2542" y="106"/>
                  <a:pt x="2560" y="122"/>
                  <a:pt x="2575" y="139"/>
                </a:cubicBezTo>
                <a:cubicBezTo>
                  <a:pt x="2591" y="156"/>
                  <a:pt x="2604" y="174"/>
                  <a:pt x="2614" y="193"/>
                </a:cubicBezTo>
                <a:cubicBezTo>
                  <a:pt x="2625" y="212"/>
                  <a:pt x="2633" y="232"/>
                  <a:pt x="2639" y="252"/>
                </a:cubicBezTo>
                <a:cubicBezTo>
                  <a:pt x="2644" y="272"/>
                  <a:pt x="2647" y="292"/>
                  <a:pt x="2647" y="313"/>
                </a:cubicBezTo>
                <a:cubicBezTo>
                  <a:pt x="2647" y="333"/>
                  <a:pt x="2644" y="354"/>
                  <a:pt x="2639" y="374"/>
                </a:cubicBezTo>
                <a:cubicBezTo>
                  <a:pt x="2633" y="395"/>
                  <a:pt x="2625" y="414"/>
                  <a:pt x="2614" y="433"/>
                </a:cubicBezTo>
                <a:cubicBezTo>
                  <a:pt x="2604" y="452"/>
                  <a:pt x="2591" y="470"/>
                  <a:pt x="2575" y="487"/>
                </a:cubicBezTo>
                <a:cubicBezTo>
                  <a:pt x="2560" y="505"/>
                  <a:pt x="2542" y="520"/>
                  <a:pt x="2523" y="535"/>
                </a:cubicBezTo>
                <a:cubicBezTo>
                  <a:pt x="2503" y="549"/>
                  <a:pt x="2482" y="562"/>
                  <a:pt x="2459" y="574"/>
                </a:cubicBezTo>
                <a:cubicBezTo>
                  <a:pt x="2435" y="585"/>
                  <a:pt x="2411" y="595"/>
                  <a:pt x="2385" y="603"/>
                </a:cubicBezTo>
                <a:cubicBezTo>
                  <a:pt x="2360" y="610"/>
                  <a:pt x="2333" y="616"/>
                  <a:pt x="2306" y="620"/>
                </a:cubicBezTo>
                <a:cubicBezTo>
                  <a:pt x="2279" y="624"/>
                  <a:pt x="2251" y="626"/>
                  <a:pt x="2223" y="626"/>
                </a:cubicBezTo>
                <a:lnTo>
                  <a:pt x="423" y="626"/>
                </a:lnTo>
                <a:cubicBezTo>
                  <a:pt x="395" y="626"/>
                  <a:pt x="368" y="624"/>
                  <a:pt x="341" y="620"/>
                </a:cubicBezTo>
                <a:cubicBezTo>
                  <a:pt x="313" y="616"/>
                  <a:pt x="287" y="610"/>
                  <a:pt x="261" y="603"/>
                </a:cubicBezTo>
                <a:cubicBezTo>
                  <a:pt x="236" y="595"/>
                  <a:pt x="211" y="585"/>
                  <a:pt x="188" y="574"/>
                </a:cubicBezTo>
                <a:cubicBezTo>
                  <a:pt x="165" y="562"/>
                  <a:pt x="144" y="549"/>
                  <a:pt x="124" y="535"/>
                </a:cubicBezTo>
                <a:cubicBezTo>
                  <a:pt x="104" y="520"/>
                  <a:pt x="87" y="505"/>
                  <a:pt x="71" y="487"/>
                </a:cubicBezTo>
                <a:cubicBezTo>
                  <a:pt x="56" y="470"/>
                  <a:pt x="43" y="452"/>
                  <a:pt x="32" y="433"/>
                </a:cubicBezTo>
                <a:cubicBezTo>
                  <a:pt x="21" y="414"/>
                  <a:pt x="13" y="395"/>
                  <a:pt x="8" y="374"/>
                </a:cubicBezTo>
                <a:cubicBezTo>
                  <a:pt x="3" y="354"/>
                  <a:pt x="0" y="333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4" name="文本框 1663"/>
          <p:cNvSpPr txBox="1"/>
          <p:nvPr/>
        </p:nvSpPr>
        <p:spPr>
          <a:xfrm>
            <a:off x="5435280" y="4745880"/>
            <a:ext cx="15192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5" name="文本框 1664"/>
          <p:cNvSpPr txBox="1"/>
          <p:nvPr/>
        </p:nvSpPr>
        <p:spPr>
          <a:xfrm>
            <a:off x="5625720" y="4745880"/>
            <a:ext cx="73728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TensorFlow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6" name="任意多边形 1665"/>
          <p:cNvSpPr/>
          <p:nvPr/>
        </p:nvSpPr>
        <p:spPr>
          <a:xfrm>
            <a:off x="6581520" y="4698360"/>
            <a:ext cx="743400" cy="225360"/>
          </a:xfrm>
          <a:custGeom>
            <a:avLst/>
            <a:gdLst/>
            <a:ahLst/>
            <a:cxnLst/>
            <a:rect l="0" t="0" r="r" b="b"/>
            <a:pathLst>
              <a:path w="2065" h="626">
                <a:moveTo>
                  <a:pt x="0" y="313"/>
                </a:moveTo>
                <a:cubicBezTo>
                  <a:pt x="0" y="292"/>
                  <a:pt x="3" y="272"/>
                  <a:pt x="8" y="252"/>
                </a:cubicBezTo>
                <a:cubicBezTo>
                  <a:pt x="14" y="232"/>
                  <a:pt x="22" y="212"/>
                  <a:pt x="32" y="193"/>
                </a:cubicBezTo>
                <a:cubicBezTo>
                  <a:pt x="43" y="174"/>
                  <a:pt x="56" y="156"/>
                  <a:pt x="72" y="139"/>
                </a:cubicBezTo>
                <a:cubicBezTo>
                  <a:pt x="87" y="122"/>
                  <a:pt x="105" y="106"/>
                  <a:pt x="124" y="92"/>
                </a:cubicBezTo>
                <a:cubicBezTo>
                  <a:pt x="144" y="77"/>
                  <a:pt x="165" y="64"/>
                  <a:pt x="188" y="53"/>
                </a:cubicBezTo>
                <a:cubicBezTo>
                  <a:pt x="211" y="41"/>
                  <a:pt x="236" y="32"/>
                  <a:pt x="262" y="24"/>
                </a:cubicBezTo>
                <a:cubicBezTo>
                  <a:pt x="287" y="16"/>
                  <a:pt x="314" y="10"/>
                  <a:pt x="341" y="6"/>
                </a:cubicBezTo>
                <a:cubicBezTo>
                  <a:pt x="368" y="2"/>
                  <a:pt x="396" y="0"/>
                  <a:pt x="424" y="0"/>
                </a:cubicBezTo>
                <a:lnTo>
                  <a:pt x="1642" y="0"/>
                </a:lnTo>
                <a:cubicBezTo>
                  <a:pt x="1669" y="0"/>
                  <a:pt x="1697" y="2"/>
                  <a:pt x="1724" y="6"/>
                </a:cubicBezTo>
                <a:cubicBezTo>
                  <a:pt x="1751" y="10"/>
                  <a:pt x="1778" y="16"/>
                  <a:pt x="1804" y="24"/>
                </a:cubicBezTo>
                <a:cubicBezTo>
                  <a:pt x="1829" y="32"/>
                  <a:pt x="1854" y="41"/>
                  <a:pt x="1877" y="53"/>
                </a:cubicBezTo>
                <a:cubicBezTo>
                  <a:pt x="1900" y="64"/>
                  <a:pt x="1921" y="77"/>
                  <a:pt x="1941" y="92"/>
                </a:cubicBezTo>
                <a:cubicBezTo>
                  <a:pt x="1961" y="106"/>
                  <a:pt x="1978" y="122"/>
                  <a:pt x="1994" y="139"/>
                </a:cubicBezTo>
                <a:cubicBezTo>
                  <a:pt x="2009" y="156"/>
                  <a:pt x="2022" y="174"/>
                  <a:pt x="2033" y="193"/>
                </a:cubicBezTo>
                <a:cubicBezTo>
                  <a:pt x="2043" y="212"/>
                  <a:pt x="2051" y="232"/>
                  <a:pt x="2057" y="252"/>
                </a:cubicBezTo>
                <a:cubicBezTo>
                  <a:pt x="2062" y="272"/>
                  <a:pt x="2065" y="292"/>
                  <a:pt x="2065" y="313"/>
                </a:cubicBezTo>
                <a:cubicBezTo>
                  <a:pt x="2065" y="333"/>
                  <a:pt x="2062" y="354"/>
                  <a:pt x="2057" y="374"/>
                </a:cubicBezTo>
                <a:cubicBezTo>
                  <a:pt x="2051" y="395"/>
                  <a:pt x="2043" y="414"/>
                  <a:pt x="2033" y="433"/>
                </a:cubicBezTo>
                <a:cubicBezTo>
                  <a:pt x="2022" y="452"/>
                  <a:pt x="2009" y="470"/>
                  <a:pt x="1994" y="487"/>
                </a:cubicBezTo>
                <a:cubicBezTo>
                  <a:pt x="1978" y="505"/>
                  <a:pt x="1961" y="520"/>
                  <a:pt x="1941" y="535"/>
                </a:cubicBezTo>
                <a:cubicBezTo>
                  <a:pt x="1921" y="549"/>
                  <a:pt x="1900" y="562"/>
                  <a:pt x="1877" y="574"/>
                </a:cubicBezTo>
                <a:cubicBezTo>
                  <a:pt x="1854" y="585"/>
                  <a:pt x="1829" y="595"/>
                  <a:pt x="1804" y="603"/>
                </a:cubicBezTo>
                <a:cubicBezTo>
                  <a:pt x="1778" y="610"/>
                  <a:pt x="1751" y="616"/>
                  <a:pt x="1724" y="620"/>
                </a:cubicBezTo>
                <a:cubicBezTo>
                  <a:pt x="1697" y="624"/>
                  <a:pt x="1669" y="626"/>
                  <a:pt x="1642" y="626"/>
                </a:cubicBezTo>
                <a:lnTo>
                  <a:pt x="424" y="626"/>
                </a:lnTo>
                <a:cubicBezTo>
                  <a:pt x="396" y="626"/>
                  <a:pt x="368" y="624"/>
                  <a:pt x="341" y="620"/>
                </a:cubicBezTo>
                <a:cubicBezTo>
                  <a:pt x="314" y="616"/>
                  <a:pt x="287" y="610"/>
                  <a:pt x="262" y="603"/>
                </a:cubicBezTo>
                <a:cubicBezTo>
                  <a:pt x="236" y="595"/>
                  <a:pt x="211" y="585"/>
                  <a:pt x="188" y="574"/>
                </a:cubicBezTo>
                <a:cubicBezTo>
                  <a:pt x="165" y="562"/>
                  <a:pt x="144" y="549"/>
                  <a:pt x="124" y="535"/>
                </a:cubicBezTo>
                <a:cubicBezTo>
                  <a:pt x="105" y="520"/>
                  <a:pt x="87" y="505"/>
                  <a:pt x="72" y="487"/>
                </a:cubicBezTo>
                <a:cubicBezTo>
                  <a:pt x="56" y="470"/>
                  <a:pt x="43" y="452"/>
                  <a:pt x="32" y="433"/>
                </a:cubicBezTo>
                <a:cubicBezTo>
                  <a:pt x="22" y="414"/>
                  <a:pt x="14" y="395"/>
                  <a:pt x="8" y="374"/>
                </a:cubicBezTo>
                <a:cubicBezTo>
                  <a:pt x="3" y="354"/>
                  <a:pt x="0" y="333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7" name="文本框 1666"/>
          <p:cNvSpPr txBox="1"/>
          <p:nvPr/>
        </p:nvSpPr>
        <p:spPr>
          <a:xfrm>
            <a:off x="6504120" y="4745880"/>
            <a:ext cx="15192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8" name="任意多边形 1667"/>
          <p:cNvSpPr/>
          <p:nvPr/>
        </p:nvSpPr>
        <p:spPr>
          <a:xfrm>
            <a:off x="4457520" y="5007960"/>
            <a:ext cx="800280" cy="225360"/>
          </a:xfrm>
          <a:custGeom>
            <a:avLst/>
            <a:gdLst/>
            <a:ahLst/>
            <a:cxnLst/>
            <a:rect l="0" t="0" r="r" b="b"/>
            <a:pathLst>
              <a:path w="2223" h="626">
                <a:moveTo>
                  <a:pt x="0" y="313"/>
                </a:moveTo>
                <a:cubicBezTo>
                  <a:pt x="0" y="293"/>
                  <a:pt x="3" y="273"/>
                  <a:pt x="8" y="253"/>
                </a:cubicBezTo>
                <a:cubicBezTo>
                  <a:pt x="14" y="232"/>
                  <a:pt x="22" y="213"/>
                  <a:pt x="32" y="194"/>
                </a:cubicBezTo>
                <a:cubicBezTo>
                  <a:pt x="43" y="175"/>
                  <a:pt x="56" y="157"/>
                  <a:pt x="71" y="139"/>
                </a:cubicBezTo>
                <a:cubicBezTo>
                  <a:pt x="87" y="122"/>
                  <a:pt x="104" y="106"/>
                  <a:pt x="124" y="91"/>
                </a:cubicBezTo>
                <a:cubicBezTo>
                  <a:pt x="144" y="77"/>
                  <a:pt x="165" y="64"/>
                  <a:pt x="188" y="53"/>
                </a:cubicBezTo>
                <a:cubicBezTo>
                  <a:pt x="211" y="41"/>
                  <a:pt x="236" y="32"/>
                  <a:pt x="261" y="24"/>
                </a:cubicBezTo>
                <a:cubicBezTo>
                  <a:pt x="287" y="16"/>
                  <a:pt x="313" y="10"/>
                  <a:pt x="341" y="6"/>
                </a:cubicBezTo>
                <a:cubicBezTo>
                  <a:pt x="368" y="2"/>
                  <a:pt x="396" y="0"/>
                  <a:pt x="423" y="0"/>
                </a:cubicBezTo>
                <a:lnTo>
                  <a:pt x="1799" y="0"/>
                </a:lnTo>
                <a:cubicBezTo>
                  <a:pt x="1827" y="0"/>
                  <a:pt x="1854" y="2"/>
                  <a:pt x="1882" y="6"/>
                </a:cubicBezTo>
                <a:cubicBezTo>
                  <a:pt x="1909" y="10"/>
                  <a:pt x="1935" y="16"/>
                  <a:pt x="1961" y="24"/>
                </a:cubicBezTo>
                <a:cubicBezTo>
                  <a:pt x="1987" y="32"/>
                  <a:pt x="2011" y="41"/>
                  <a:pt x="2034" y="53"/>
                </a:cubicBezTo>
                <a:cubicBezTo>
                  <a:pt x="2057" y="64"/>
                  <a:pt x="2080" y="77"/>
                  <a:pt x="2100" y="91"/>
                </a:cubicBezTo>
                <a:cubicBezTo>
                  <a:pt x="2119" y="106"/>
                  <a:pt x="2137" y="122"/>
                  <a:pt x="2152" y="139"/>
                </a:cubicBezTo>
                <a:cubicBezTo>
                  <a:pt x="2168" y="157"/>
                  <a:pt x="2181" y="175"/>
                  <a:pt x="2191" y="194"/>
                </a:cubicBezTo>
                <a:cubicBezTo>
                  <a:pt x="2202" y="213"/>
                  <a:pt x="2210" y="232"/>
                  <a:pt x="2215" y="253"/>
                </a:cubicBezTo>
                <a:cubicBezTo>
                  <a:pt x="2221" y="273"/>
                  <a:pt x="2223" y="293"/>
                  <a:pt x="2223" y="313"/>
                </a:cubicBezTo>
                <a:cubicBezTo>
                  <a:pt x="2223" y="334"/>
                  <a:pt x="2221" y="354"/>
                  <a:pt x="2215" y="374"/>
                </a:cubicBezTo>
                <a:cubicBezTo>
                  <a:pt x="2210" y="395"/>
                  <a:pt x="2202" y="414"/>
                  <a:pt x="2191" y="433"/>
                </a:cubicBezTo>
                <a:cubicBezTo>
                  <a:pt x="2181" y="452"/>
                  <a:pt x="2168" y="470"/>
                  <a:pt x="2152" y="487"/>
                </a:cubicBezTo>
                <a:cubicBezTo>
                  <a:pt x="2137" y="504"/>
                  <a:pt x="2119" y="520"/>
                  <a:pt x="2100" y="535"/>
                </a:cubicBezTo>
                <a:cubicBezTo>
                  <a:pt x="2080" y="549"/>
                  <a:pt x="2057" y="562"/>
                  <a:pt x="2034" y="573"/>
                </a:cubicBezTo>
                <a:cubicBezTo>
                  <a:pt x="2011" y="585"/>
                  <a:pt x="1987" y="594"/>
                  <a:pt x="1961" y="602"/>
                </a:cubicBezTo>
                <a:cubicBezTo>
                  <a:pt x="1935" y="610"/>
                  <a:pt x="1909" y="616"/>
                  <a:pt x="1882" y="620"/>
                </a:cubicBezTo>
                <a:cubicBezTo>
                  <a:pt x="1854" y="624"/>
                  <a:pt x="1827" y="626"/>
                  <a:pt x="1799" y="626"/>
                </a:cubicBezTo>
                <a:lnTo>
                  <a:pt x="423" y="626"/>
                </a:lnTo>
                <a:cubicBezTo>
                  <a:pt x="396" y="626"/>
                  <a:pt x="368" y="624"/>
                  <a:pt x="341" y="620"/>
                </a:cubicBezTo>
                <a:cubicBezTo>
                  <a:pt x="313" y="616"/>
                  <a:pt x="287" y="610"/>
                  <a:pt x="261" y="602"/>
                </a:cubicBezTo>
                <a:cubicBezTo>
                  <a:pt x="236" y="594"/>
                  <a:pt x="211" y="585"/>
                  <a:pt x="188" y="573"/>
                </a:cubicBezTo>
                <a:cubicBezTo>
                  <a:pt x="165" y="562"/>
                  <a:pt x="144" y="549"/>
                  <a:pt x="124" y="535"/>
                </a:cubicBezTo>
                <a:cubicBezTo>
                  <a:pt x="104" y="520"/>
                  <a:pt x="87" y="504"/>
                  <a:pt x="71" y="487"/>
                </a:cubicBezTo>
                <a:cubicBezTo>
                  <a:pt x="56" y="470"/>
                  <a:pt x="43" y="452"/>
                  <a:pt x="32" y="433"/>
                </a:cubicBezTo>
                <a:cubicBezTo>
                  <a:pt x="22" y="414"/>
                  <a:pt x="14" y="395"/>
                  <a:pt x="8" y="374"/>
                </a:cubicBezTo>
                <a:cubicBezTo>
                  <a:pt x="3" y="354"/>
                  <a:pt x="0" y="334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9" name="文本框 1668"/>
          <p:cNvSpPr txBox="1"/>
          <p:nvPr/>
        </p:nvSpPr>
        <p:spPr>
          <a:xfrm>
            <a:off x="6694560" y="4745880"/>
            <a:ext cx="52560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PyTorch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0" name="文本框 1669"/>
          <p:cNvSpPr txBox="1"/>
          <p:nvPr/>
        </p:nvSpPr>
        <p:spPr>
          <a:xfrm>
            <a:off x="4572000" y="5055480"/>
            <a:ext cx="57636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XGBoost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1" name="任意多边形 1670"/>
          <p:cNvSpPr/>
          <p:nvPr/>
        </p:nvSpPr>
        <p:spPr>
          <a:xfrm>
            <a:off x="5371920" y="5007960"/>
            <a:ext cx="914760" cy="225360"/>
          </a:xfrm>
          <a:custGeom>
            <a:avLst/>
            <a:gdLst/>
            <a:ahLst/>
            <a:cxnLst/>
            <a:rect l="0" t="0" r="r" b="b"/>
            <a:pathLst>
              <a:path w="2541" h="626">
                <a:moveTo>
                  <a:pt x="0" y="313"/>
                </a:moveTo>
                <a:cubicBezTo>
                  <a:pt x="0" y="293"/>
                  <a:pt x="3" y="273"/>
                  <a:pt x="8" y="253"/>
                </a:cubicBezTo>
                <a:cubicBezTo>
                  <a:pt x="14" y="232"/>
                  <a:pt x="22" y="213"/>
                  <a:pt x="32" y="194"/>
                </a:cubicBezTo>
                <a:cubicBezTo>
                  <a:pt x="43" y="175"/>
                  <a:pt x="56" y="157"/>
                  <a:pt x="71" y="139"/>
                </a:cubicBezTo>
                <a:cubicBezTo>
                  <a:pt x="87" y="122"/>
                  <a:pt x="104" y="106"/>
                  <a:pt x="124" y="91"/>
                </a:cubicBezTo>
                <a:cubicBezTo>
                  <a:pt x="144" y="77"/>
                  <a:pt x="165" y="64"/>
                  <a:pt x="188" y="53"/>
                </a:cubicBezTo>
                <a:cubicBezTo>
                  <a:pt x="211" y="41"/>
                  <a:pt x="236" y="32"/>
                  <a:pt x="261" y="24"/>
                </a:cubicBezTo>
                <a:cubicBezTo>
                  <a:pt x="287" y="16"/>
                  <a:pt x="313" y="10"/>
                  <a:pt x="341" y="6"/>
                </a:cubicBezTo>
                <a:cubicBezTo>
                  <a:pt x="368" y="2"/>
                  <a:pt x="396" y="0"/>
                  <a:pt x="423" y="0"/>
                </a:cubicBezTo>
                <a:lnTo>
                  <a:pt x="2118" y="0"/>
                </a:lnTo>
                <a:cubicBezTo>
                  <a:pt x="2145" y="0"/>
                  <a:pt x="2173" y="2"/>
                  <a:pt x="2200" y="6"/>
                </a:cubicBezTo>
                <a:cubicBezTo>
                  <a:pt x="2228" y="10"/>
                  <a:pt x="2254" y="16"/>
                  <a:pt x="2280" y="24"/>
                </a:cubicBezTo>
                <a:cubicBezTo>
                  <a:pt x="2305" y="32"/>
                  <a:pt x="2330" y="41"/>
                  <a:pt x="2353" y="53"/>
                </a:cubicBezTo>
                <a:cubicBezTo>
                  <a:pt x="2376" y="64"/>
                  <a:pt x="2397" y="77"/>
                  <a:pt x="2417" y="91"/>
                </a:cubicBezTo>
                <a:cubicBezTo>
                  <a:pt x="2437" y="106"/>
                  <a:pt x="2454" y="122"/>
                  <a:pt x="2470" y="139"/>
                </a:cubicBezTo>
                <a:cubicBezTo>
                  <a:pt x="2485" y="157"/>
                  <a:pt x="2498" y="175"/>
                  <a:pt x="2509" y="194"/>
                </a:cubicBezTo>
                <a:cubicBezTo>
                  <a:pt x="2519" y="213"/>
                  <a:pt x="2527" y="232"/>
                  <a:pt x="2533" y="253"/>
                </a:cubicBezTo>
                <a:cubicBezTo>
                  <a:pt x="2538" y="273"/>
                  <a:pt x="2541" y="293"/>
                  <a:pt x="2541" y="313"/>
                </a:cubicBezTo>
                <a:cubicBezTo>
                  <a:pt x="2541" y="334"/>
                  <a:pt x="2538" y="354"/>
                  <a:pt x="2533" y="374"/>
                </a:cubicBezTo>
                <a:cubicBezTo>
                  <a:pt x="2527" y="395"/>
                  <a:pt x="2519" y="414"/>
                  <a:pt x="2509" y="433"/>
                </a:cubicBezTo>
                <a:cubicBezTo>
                  <a:pt x="2498" y="452"/>
                  <a:pt x="2485" y="470"/>
                  <a:pt x="2470" y="487"/>
                </a:cubicBezTo>
                <a:cubicBezTo>
                  <a:pt x="2454" y="504"/>
                  <a:pt x="2437" y="520"/>
                  <a:pt x="2417" y="535"/>
                </a:cubicBezTo>
                <a:cubicBezTo>
                  <a:pt x="2397" y="549"/>
                  <a:pt x="2376" y="562"/>
                  <a:pt x="2353" y="573"/>
                </a:cubicBezTo>
                <a:cubicBezTo>
                  <a:pt x="2330" y="585"/>
                  <a:pt x="2305" y="594"/>
                  <a:pt x="2280" y="602"/>
                </a:cubicBezTo>
                <a:cubicBezTo>
                  <a:pt x="2254" y="610"/>
                  <a:pt x="2228" y="616"/>
                  <a:pt x="2200" y="620"/>
                </a:cubicBezTo>
                <a:cubicBezTo>
                  <a:pt x="2173" y="624"/>
                  <a:pt x="2145" y="626"/>
                  <a:pt x="2118" y="626"/>
                </a:cubicBezTo>
                <a:lnTo>
                  <a:pt x="423" y="626"/>
                </a:lnTo>
                <a:cubicBezTo>
                  <a:pt x="396" y="626"/>
                  <a:pt x="368" y="624"/>
                  <a:pt x="341" y="620"/>
                </a:cubicBezTo>
                <a:cubicBezTo>
                  <a:pt x="313" y="616"/>
                  <a:pt x="287" y="610"/>
                  <a:pt x="261" y="602"/>
                </a:cubicBezTo>
                <a:cubicBezTo>
                  <a:pt x="236" y="594"/>
                  <a:pt x="211" y="585"/>
                  <a:pt x="188" y="573"/>
                </a:cubicBezTo>
                <a:cubicBezTo>
                  <a:pt x="165" y="562"/>
                  <a:pt x="144" y="549"/>
                  <a:pt x="124" y="535"/>
                </a:cubicBezTo>
                <a:cubicBezTo>
                  <a:pt x="104" y="520"/>
                  <a:pt x="87" y="504"/>
                  <a:pt x="71" y="487"/>
                </a:cubicBezTo>
                <a:cubicBezTo>
                  <a:pt x="56" y="470"/>
                  <a:pt x="43" y="452"/>
                  <a:pt x="32" y="433"/>
                </a:cubicBezTo>
                <a:cubicBezTo>
                  <a:pt x="22" y="414"/>
                  <a:pt x="14" y="395"/>
                  <a:pt x="8" y="374"/>
                </a:cubicBezTo>
                <a:cubicBezTo>
                  <a:pt x="3" y="354"/>
                  <a:pt x="0" y="334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2" name="文本框 1671"/>
          <p:cNvSpPr txBox="1"/>
          <p:nvPr/>
        </p:nvSpPr>
        <p:spPr>
          <a:xfrm>
            <a:off x="5300280" y="5055480"/>
            <a:ext cx="15192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3" name="任意多边形 1672"/>
          <p:cNvSpPr/>
          <p:nvPr/>
        </p:nvSpPr>
        <p:spPr>
          <a:xfrm>
            <a:off x="6400440" y="5007960"/>
            <a:ext cx="734040" cy="225360"/>
          </a:xfrm>
          <a:custGeom>
            <a:avLst/>
            <a:gdLst/>
            <a:ahLst/>
            <a:cxnLst/>
            <a:rect l="0" t="0" r="r" b="b"/>
            <a:pathLst>
              <a:path w="2039" h="626">
                <a:moveTo>
                  <a:pt x="0" y="313"/>
                </a:moveTo>
                <a:cubicBezTo>
                  <a:pt x="0" y="293"/>
                  <a:pt x="3" y="273"/>
                  <a:pt x="9" y="253"/>
                </a:cubicBezTo>
                <a:cubicBezTo>
                  <a:pt x="14" y="232"/>
                  <a:pt x="22" y="213"/>
                  <a:pt x="33" y="194"/>
                </a:cubicBezTo>
                <a:cubicBezTo>
                  <a:pt x="43" y="175"/>
                  <a:pt x="56" y="157"/>
                  <a:pt x="72" y="139"/>
                </a:cubicBezTo>
                <a:cubicBezTo>
                  <a:pt x="87" y="122"/>
                  <a:pt x="105" y="106"/>
                  <a:pt x="124" y="91"/>
                </a:cubicBezTo>
                <a:cubicBezTo>
                  <a:pt x="144" y="77"/>
                  <a:pt x="166" y="64"/>
                  <a:pt x="189" y="53"/>
                </a:cubicBezTo>
                <a:cubicBezTo>
                  <a:pt x="212" y="41"/>
                  <a:pt x="236" y="32"/>
                  <a:pt x="262" y="24"/>
                </a:cubicBezTo>
                <a:cubicBezTo>
                  <a:pt x="288" y="16"/>
                  <a:pt x="314" y="10"/>
                  <a:pt x="341" y="6"/>
                </a:cubicBezTo>
                <a:cubicBezTo>
                  <a:pt x="369" y="2"/>
                  <a:pt x="396" y="0"/>
                  <a:pt x="424" y="0"/>
                </a:cubicBezTo>
                <a:lnTo>
                  <a:pt x="1615" y="0"/>
                </a:lnTo>
                <a:cubicBezTo>
                  <a:pt x="1643" y="0"/>
                  <a:pt x="1671" y="2"/>
                  <a:pt x="1698" y="6"/>
                </a:cubicBezTo>
                <a:cubicBezTo>
                  <a:pt x="1725" y="10"/>
                  <a:pt x="1752" y="16"/>
                  <a:pt x="1777" y="24"/>
                </a:cubicBezTo>
                <a:cubicBezTo>
                  <a:pt x="1803" y="32"/>
                  <a:pt x="1828" y="41"/>
                  <a:pt x="1851" y="53"/>
                </a:cubicBezTo>
                <a:cubicBezTo>
                  <a:pt x="1874" y="64"/>
                  <a:pt x="1895" y="77"/>
                  <a:pt x="1915" y="91"/>
                </a:cubicBezTo>
                <a:cubicBezTo>
                  <a:pt x="1934" y="106"/>
                  <a:pt x="1952" y="122"/>
                  <a:pt x="1967" y="139"/>
                </a:cubicBezTo>
                <a:cubicBezTo>
                  <a:pt x="1983" y="157"/>
                  <a:pt x="1996" y="175"/>
                  <a:pt x="2007" y="194"/>
                </a:cubicBezTo>
                <a:cubicBezTo>
                  <a:pt x="2017" y="213"/>
                  <a:pt x="2025" y="232"/>
                  <a:pt x="2031" y="253"/>
                </a:cubicBezTo>
                <a:cubicBezTo>
                  <a:pt x="2036" y="273"/>
                  <a:pt x="2039" y="293"/>
                  <a:pt x="2039" y="313"/>
                </a:cubicBezTo>
                <a:cubicBezTo>
                  <a:pt x="2039" y="334"/>
                  <a:pt x="2036" y="354"/>
                  <a:pt x="2031" y="374"/>
                </a:cubicBezTo>
                <a:cubicBezTo>
                  <a:pt x="2025" y="395"/>
                  <a:pt x="2017" y="414"/>
                  <a:pt x="2007" y="433"/>
                </a:cubicBezTo>
                <a:cubicBezTo>
                  <a:pt x="1996" y="452"/>
                  <a:pt x="1983" y="470"/>
                  <a:pt x="1967" y="487"/>
                </a:cubicBezTo>
                <a:cubicBezTo>
                  <a:pt x="1952" y="504"/>
                  <a:pt x="1934" y="520"/>
                  <a:pt x="1915" y="535"/>
                </a:cubicBezTo>
                <a:cubicBezTo>
                  <a:pt x="1895" y="549"/>
                  <a:pt x="1874" y="562"/>
                  <a:pt x="1851" y="573"/>
                </a:cubicBezTo>
                <a:cubicBezTo>
                  <a:pt x="1828" y="585"/>
                  <a:pt x="1803" y="594"/>
                  <a:pt x="1777" y="602"/>
                </a:cubicBezTo>
                <a:cubicBezTo>
                  <a:pt x="1752" y="610"/>
                  <a:pt x="1725" y="616"/>
                  <a:pt x="1698" y="620"/>
                </a:cubicBezTo>
                <a:cubicBezTo>
                  <a:pt x="1671" y="624"/>
                  <a:pt x="1643" y="626"/>
                  <a:pt x="1615" y="626"/>
                </a:cubicBezTo>
                <a:lnTo>
                  <a:pt x="424" y="626"/>
                </a:lnTo>
                <a:cubicBezTo>
                  <a:pt x="396" y="626"/>
                  <a:pt x="369" y="624"/>
                  <a:pt x="341" y="620"/>
                </a:cubicBezTo>
                <a:cubicBezTo>
                  <a:pt x="314" y="616"/>
                  <a:pt x="288" y="610"/>
                  <a:pt x="262" y="602"/>
                </a:cubicBezTo>
                <a:cubicBezTo>
                  <a:pt x="236" y="594"/>
                  <a:pt x="212" y="585"/>
                  <a:pt x="189" y="573"/>
                </a:cubicBezTo>
                <a:cubicBezTo>
                  <a:pt x="166" y="562"/>
                  <a:pt x="144" y="549"/>
                  <a:pt x="124" y="535"/>
                </a:cubicBezTo>
                <a:cubicBezTo>
                  <a:pt x="105" y="520"/>
                  <a:pt x="87" y="504"/>
                  <a:pt x="72" y="487"/>
                </a:cubicBezTo>
                <a:cubicBezTo>
                  <a:pt x="56" y="470"/>
                  <a:pt x="43" y="452"/>
                  <a:pt x="33" y="433"/>
                </a:cubicBezTo>
                <a:cubicBezTo>
                  <a:pt x="22" y="414"/>
                  <a:pt x="14" y="395"/>
                  <a:pt x="9" y="374"/>
                </a:cubicBezTo>
                <a:cubicBezTo>
                  <a:pt x="3" y="354"/>
                  <a:pt x="0" y="334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4" name="文本框 1673"/>
          <p:cNvSpPr txBox="1"/>
          <p:nvPr/>
        </p:nvSpPr>
        <p:spPr>
          <a:xfrm>
            <a:off x="5490720" y="5055480"/>
            <a:ext cx="75420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LightGBM  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5" name="文本框 1674"/>
          <p:cNvSpPr txBox="1"/>
          <p:nvPr/>
        </p:nvSpPr>
        <p:spPr>
          <a:xfrm>
            <a:off x="6510960" y="5055480"/>
            <a:ext cx="50868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MLflow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6" name="任意多边形 1675"/>
          <p:cNvSpPr/>
          <p:nvPr/>
        </p:nvSpPr>
        <p:spPr>
          <a:xfrm>
            <a:off x="8038800" y="4698360"/>
            <a:ext cx="1276920" cy="225360"/>
          </a:xfrm>
          <a:custGeom>
            <a:avLst/>
            <a:gdLst/>
            <a:ahLst/>
            <a:cxnLst/>
            <a:rect l="0" t="0" r="r" b="b"/>
            <a:pathLst>
              <a:path w="3547" h="626">
                <a:moveTo>
                  <a:pt x="0" y="313"/>
                </a:moveTo>
                <a:cubicBezTo>
                  <a:pt x="0" y="292"/>
                  <a:pt x="3" y="272"/>
                  <a:pt x="8" y="252"/>
                </a:cubicBezTo>
                <a:cubicBezTo>
                  <a:pt x="14" y="232"/>
                  <a:pt x="22" y="212"/>
                  <a:pt x="33" y="193"/>
                </a:cubicBezTo>
                <a:cubicBezTo>
                  <a:pt x="43" y="174"/>
                  <a:pt x="56" y="156"/>
                  <a:pt x="72" y="139"/>
                </a:cubicBezTo>
                <a:cubicBezTo>
                  <a:pt x="87" y="122"/>
                  <a:pt x="105" y="106"/>
                  <a:pt x="124" y="92"/>
                </a:cubicBezTo>
                <a:cubicBezTo>
                  <a:pt x="144" y="77"/>
                  <a:pt x="165" y="64"/>
                  <a:pt x="188" y="53"/>
                </a:cubicBezTo>
                <a:cubicBezTo>
                  <a:pt x="212" y="41"/>
                  <a:pt x="236" y="32"/>
                  <a:pt x="262" y="24"/>
                </a:cubicBezTo>
                <a:cubicBezTo>
                  <a:pt x="287" y="16"/>
                  <a:pt x="314" y="10"/>
                  <a:pt x="341" y="6"/>
                </a:cubicBezTo>
                <a:cubicBezTo>
                  <a:pt x="368" y="2"/>
                  <a:pt x="396" y="0"/>
                  <a:pt x="424" y="0"/>
                </a:cubicBezTo>
                <a:lnTo>
                  <a:pt x="3123" y="0"/>
                </a:lnTo>
                <a:cubicBezTo>
                  <a:pt x="3151" y="0"/>
                  <a:pt x="3179" y="2"/>
                  <a:pt x="3206" y="6"/>
                </a:cubicBezTo>
                <a:cubicBezTo>
                  <a:pt x="3233" y="10"/>
                  <a:pt x="3260" y="16"/>
                  <a:pt x="3285" y="24"/>
                </a:cubicBezTo>
                <a:cubicBezTo>
                  <a:pt x="3311" y="32"/>
                  <a:pt x="3335" y="41"/>
                  <a:pt x="3359" y="53"/>
                </a:cubicBezTo>
                <a:cubicBezTo>
                  <a:pt x="3382" y="64"/>
                  <a:pt x="3403" y="77"/>
                  <a:pt x="3423" y="92"/>
                </a:cubicBezTo>
                <a:cubicBezTo>
                  <a:pt x="3442" y="106"/>
                  <a:pt x="3460" y="122"/>
                  <a:pt x="3475" y="139"/>
                </a:cubicBezTo>
                <a:cubicBezTo>
                  <a:pt x="3491" y="156"/>
                  <a:pt x="3504" y="174"/>
                  <a:pt x="3515" y="193"/>
                </a:cubicBezTo>
                <a:cubicBezTo>
                  <a:pt x="3525" y="212"/>
                  <a:pt x="3533" y="232"/>
                  <a:pt x="3539" y="252"/>
                </a:cubicBezTo>
                <a:cubicBezTo>
                  <a:pt x="3544" y="272"/>
                  <a:pt x="3547" y="292"/>
                  <a:pt x="3547" y="313"/>
                </a:cubicBezTo>
                <a:cubicBezTo>
                  <a:pt x="3547" y="333"/>
                  <a:pt x="3544" y="354"/>
                  <a:pt x="3539" y="374"/>
                </a:cubicBezTo>
                <a:cubicBezTo>
                  <a:pt x="3533" y="395"/>
                  <a:pt x="3525" y="414"/>
                  <a:pt x="3515" y="433"/>
                </a:cubicBezTo>
                <a:cubicBezTo>
                  <a:pt x="3504" y="452"/>
                  <a:pt x="3491" y="470"/>
                  <a:pt x="3475" y="487"/>
                </a:cubicBezTo>
                <a:cubicBezTo>
                  <a:pt x="3460" y="505"/>
                  <a:pt x="3442" y="520"/>
                  <a:pt x="3423" y="535"/>
                </a:cubicBezTo>
                <a:cubicBezTo>
                  <a:pt x="3403" y="549"/>
                  <a:pt x="3382" y="562"/>
                  <a:pt x="3359" y="574"/>
                </a:cubicBezTo>
                <a:cubicBezTo>
                  <a:pt x="3335" y="585"/>
                  <a:pt x="3311" y="595"/>
                  <a:pt x="3285" y="603"/>
                </a:cubicBezTo>
                <a:cubicBezTo>
                  <a:pt x="3260" y="610"/>
                  <a:pt x="3233" y="616"/>
                  <a:pt x="3206" y="620"/>
                </a:cubicBezTo>
                <a:cubicBezTo>
                  <a:pt x="3179" y="624"/>
                  <a:pt x="3151" y="626"/>
                  <a:pt x="3123" y="626"/>
                </a:cubicBezTo>
                <a:lnTo>
                  <a:pt x="424" y="626"/>
                </a:lnTo>
                <a:cubicBezTo>
                  <a:pt x="396" y="626"/>
                  <a:pt x="368" y="624"/>
                  <a:pt x="341" y="620"/>
                </a:cubicBezTo>
                <a:cubicBezTo>
                  <a:pt x="314" y="616"/>
                  <a:pt x="287" y="610"/>
                  <a:pt x="262" y="603"/>
                </a:cubicBezTo>
                <a:cubicBezTo>
                  <a:pt x="236" y="595"/>
                  <a:pt x="212" y="585"/>
                  <a:pt x="188" y="574"/>
                </a:cubicBezTo>
                <a:cubicBezTo>
                  <a:pt x="165" y="562"/>
                  <a:pt x="144" y="549"/>
                  <a:pt x="124" y="535"/>
                </a:cubicBezTo>
                <a:cubicBezTo>
                  <a:pt x="105" y="520"/>
                  <a:pt x="87" y="505"/>
                  <a:pt x="72" y="487"/>
                </a:cubicBezTo>
                <a:cubicBezTo>
                  <a:pt x="56" y="470"/>
                  <a:pt x="43" y="452"/>
                  <a:pt x="33" y="433"/>
                </a:cubicBezTo>
                <a:cubicBezTo>
                  <a:pt x="22" y="414"/>
                  <a:pt x="14" y="395"/>
                  <a:pt x="8" y="374"/>
                </a:cubicBezTo>
                <a:cubicBezTo>
                  <a:pt x="3" y="354"/>
                  <a:pt x="0" y="333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7" name="文本框 1676"/>
          <p:cNvSpPr txBox="1"/>
          <p:nvPr/>
        </p:nvSpPr>
        <p:spPr>
          <a:xfrm>
            <a:off x="8001000" y="4350960"/>
            <a:ext cx="5054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学习社区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8" name="文本框 1677"/>
          <p:cNvSpPr txBox="1"/>
          <p:nvPr/>
        </p:nvSpPr>
        <p:spPr>
          <a:xfrm>
            <a:off x="8153280" y="4745880"/>
            <a:ext cx="44064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Kaggle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9" name="文本框 1678"/>
          <p:cNvSpPr txBox="1"/>
          <p:nvPr/>
        </p:nvSpPr>
        <p:spPr>
          <a:xfrm>
            <a:off x="8593560" y="4741920"/>
            <a:ext cx="36648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竞赛平台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0" name="任意多边形 1679"/>
          <p:cNvSpPr/>
          <p:nvPr/>
        </p:nvSpPr>
        <p:spPr>
          <a:xfrm>
            <a:off x="9429480" y="4698360"/>
            <a:ext cx="1600560" cy="225360"/>
          </a:xfrm>
          <a:custGeom>
            <a:avLst/>
            <a:gdLst/>
            <a:ahLst/>
            <a:cxnLst/>
            <a:rect l="0" t="0" r="r" b="b"/>
            <a:pathLst>
              <a:path w="4446" h="626">
                <a:moveTo>
                  <a:pt x="0" y="313"/>
                </a:moveTo>
                <a:cubicBezTo>
                  <a:pt x="0" y="292"/>
                  <a:pt x="3" y="272"/>
                  <a:pt x="8" y="252"/>
                </a:cubicBezTo>
                <a:cubicBezTo>
                  <a:pt x="14" y="232"/>
                  <a:pt x="22" y="212"/>
                  <a:pt x="32" y="193"/>
                </a:cubicBezTo>
                <a:cubicBezTo>
                  <a:pt x="43" y="174"/>
                  <a:pt x="56" y="156"/>
                  <a:pt x="72" y="139"/>
                </a:cubicBezTo>
                <a:cubicBezTo>
                  <a:pt x="87" y="122"/>
                  <a:pt x="105" y="106"/>
                  <a:pt x="124" y="92"/>
                </a:cubicBezTo>
                <a:cubicBezTo>
                  <a:pt x="144" y="77"/>
                  <a:pt x="165" y="64"/>
                  <a:pt x="188" y="53"/>
                </a:cubicBezTo>
                <a:cubicBezTo>
                  <a:pt x="211" y="41"/>
                  <a:pt x="236" y="32"/>
                  <a:pt x="262" y="24"/>
                </a:cubicBezTo>
                <a:cubicBezTo>
                  <a:pt x="287" y="16"/>
                  <a:pt x="314" y="10"/>
                  <a:pt x="341" y="6"/>
                </a:cubicBezTo>
                <a:cubicBezTo>
                  <a:pt x="368" y="2"/>
                  <a:pt x="396" y="0"/>
                  <a:pt x="424" y="0"/>
                </a:cubicBezTo>
                <a:lnTo>
                  <a:pt x="4023" y="0"/>
                </a:lnTo>
                <a:cubicBezTo>
                  <a:pt x="4051" y="0"/>
                  <a:pt x="4078" y="2"/>
                  <a:pt x="4106" y="6"/>
                </a:cubicBezTo>
                <a:cubicBezTo>
                  <a:pt x="4133" y="10"/>
                  <a:pt x="4159" y="16"/>
                  <a:pt x="4185" y="24"/>
                </a:cubicBezTo>
                <a:cubicBezTo>
                  <a:pt x="4211" y="32"/>
                  <a:pt x="4235" y="41"/>
                  <a:pt x="4258" y="53"/>
                </a:cubicBezTo>
                <a:cubicBezTo>
                  <a:pt x="4281" y="64"/>
                  <a:pt x="4303" y="77"/>
                  <a:pt x="4322" y="92"/>
                </a:cubicBezTo>
                <a:cubicBezTo>
                  <a:pt x="4342" y="106"/>
                  <a:pt x="4359" y="122"/>
                  <a:pt x="4375" y="139"/>
                </a:cubicBezTo>
                <a:cubicBezTo>
                  <a:pt x="4390" y="156"/>
                  <a:pt x="4403" y="174"/>
                  <a:pt x="4414" y="193"/>
                </a:cubicBezTo>
                <a:cubicBezTo>
                  <a:pt x="4425" y="212"/>
                  <a:pt x="4433" y="232"/>
                  <a:pt x="4438" y="252"/>
                </a:cubicBezTo>
                <a:cubicBezTo>
                  <a:pt x="4444" y="272"/>
                  <a:pt x="4446" y="292"/>
                  <a:pt x="4446" y="313"/>
                </a:cubicBezTo>
                <a:cubicBezTo>
                  <a:pt x="4446" y="333"/>
                  <a:pt x="4444" y="354"/>
                  <a:pt x="4438" y="374"/>
                </a:cubicBezTo>
                <a:cubicBezTo>
                  <a:pt x="4433" y="395"/>
                  <a:pt x="4425" y="414"/>
                  <a:pt x="4414" y="433"/>
                </a:cubicBezTo>
                <a:cubicBezTo>
                  <a:pt x="4403" y="452"/>
                  <a:pt x="4390" y="470"/>
                  <a:pt x="4375" y="487"/>
                </a:cubicBezTo>
                <a:cubicBezTo>
                  <a:pt x="4359" y="505"/>
                  <a:pt x="4342" y="520"/>
                  <a:pt x="4322" y="535"/>
                </a:cubicBezTo>
                <a:cubicBezTo>
                  <a:pt x="4303" y="549"/>
                  <a:pt x="4281" y="562"/>
                  <a:pt x="4258" y="574"/>
                </a:cubicBezTo>
                <a:cubicBezTo>
                  <a:pt x="4235" y="585"/>
                  <a:pt x="4211" y="595"/>
                  <a:pt x="4185" y="603"/>
                </a:cubicBezTo>
                <a:cubicBezTo>
                  <a:pt x="4159" y="610"/>
                  <a:pt x="4133" y="616"/>
                  <a:pt x="4106" y="620"/>
                </a:cubicBezTo>
                <a:cubicBezTo>
                  <a:pt x="4078" y="624"/>
                  <a:pt x="4051" y="626"/>
                  <a:pt x="4023" y="626"/>
                </a:cubicBezTo>
                <a:lnTo>
                  <a:pt x="424" y="626"/>
                </a:lnTo>
                <a:cubicBezTo>
                  <a:pt x="396" y="626"/>
                  <a:pt x="368" y="624"/>
                  <a:pt x="341" y="620"/>
                </a:cubicBezTo>
                <a:cubicBezTo>
                  <a:pt x="314" y="616"/>
                  <a:pt x="287" y="610"/>
                  <a:pt x="262" y="603"/>
                </a:cubicBezTo>
                <a:cubicBezTo>
                  <a:pt x="236" y="595"/>
                  <a:pt x="211" y="585"/>
                  <a:pt x="188" y="574"/>
                </a:cubicBezTo>
                <a:cubicBezTo>
                  <a:pt x="165" y="562"/>
                  <a:pt x="144" y="549"/>
                  <a:pt x="124" y="535"/>
                </a:cubicBezTo>
                <a:cubicBezTo>
                  <a:pt x="105" y="520"/>
                  <a:pt x="87" y="505"/>
                  <a:pt x="72" y="487"/>
                </a:cubicBezTo>
                <a:cubicBezTo>
                  <a:pt x="56" y="470"/>
                  <a:pt x="43" y="452"/>
                  <a:pt x="32" y="433"/>
                </a:cubicBezTo>
                <a:cubicBezTo>
                  <a:pt x="22" y="414"/>
                  <a:pt x="14" y="395"/>
                  <a:pt x="8" y="374"/>
                </a:cubicBezTo>
                <a:cubicBezTo>
                  <a:pt x="3" y="354"/>
                  <a:pt x="0" y="333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1" name="文本框 1680"/>
          <p:cNvSpPr txBox="1"/>
          <p:nvPr/>
        </p:nvSpPr>
        <p:spPr>
          <a:xfrm>
            <a:off x="9355680" y="4745880"/>
            <a:ext cx="15192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2" name="文本框 1681"/>
          <p:cNvSpPr txBox="1"/>
          <p:nvPr/>
        </p:nvSpPr>
        <p:spPr>
          <a:xfrm>
            <a:off x="9546120" y="4745880"/>
            <a:ext cx="45792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GitHub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3" name="任意多边形 1682"/>
          <p:cNvSpPr/>
          <p:nvPr/>
        </p:nvSpPr>
        <p:spPr>
          <a:xfrm>
            <a:off x="8038800" y="5007960"/>
            <a:ext cx="1191240" cy="225360"/>
          </a:xfrm>
          <a:custGeom>
            <a:avLst/>
            <a:gdLst/>
            <a:ahLst/>
            <a:cxnLst/>
            <a:rect l="0" t="0" r="r" b="b"/>
            <a:pathLst>
              <a:path w="3309" h="626">
                <a:moveTo>
                  <a:pt x="0" y="313"/>
                </a:moveTo>
                <a:cubicBezTo>
                  <a:pt x="0" y="293"/>
                  <a:pt x="3" y="273"/>
                  <a:pt x="8" y="253"/>
                </a:cubicBezTo>
                <a:cubicBezTo>
                  <a:pt x="14" y="232"/>
                  <a:pt x="22" y="213"/>
                  <a:pt x="33" y="194"/>
                </a:cubicBezTo>
                <a:cubicBezTo>
                  <a:pt x="43" y="175"/>
                  <a:pt x="56" y="157"/>
                  <a:pt x="72" y="139"/>
                </a:cubicBezTo>
                <a:cubicBezTo>
                  <a:pt x="87" y="122"/>
                  <a:pt x="105" y="106"/>
                  <a:pt x="124" y="91"/>
                </a:cubicBezTo>
                <a:cubicBezTo>
                  <a:pt x="144" y="77"/>
                  <a:pt x="165" y="64"/>
                  <a:pt x="188" y="53"/>
                </a:cubicBezTo>
                <a:cubicBezTo>
                  <a:pt x="212" y="41"/>
                  <a:pt x="236" y="32"/>
                  <a:pt x="262" y="24"/>
                </a:cubicBezTo>
                <a:cubicBezTo>
                  <a:pt x="287" y="16"/>
                  <a:pt x="314" y="10"/>
                  <a:pt x="341" y="6"/>
                </a:cubicBezTo>
                <a:cubicBezTo>
                  <a:pt x="368" y="2"/>
                  <a:pt x="396" y="0"/>
                  <a:pt x="424" y="0"/>
                </a:cubicBezTo>
                <a:lnTo>
                  <a:pt x="2885" y="0"/>
                </a:lnTo>
                <a:cubicBezTo>
                  <a:pt x="2913" y="0"/>
                  <a:pt x="2941" y="2"/>
                  <a:pt x="2968" y="6"/>
                </a:cubicBezTo>
                <a:cubicBezTo>
                  <a:pt x="2995" y="10"/>
                  <a:pt x="3022" y="16"/>
                  <a:pt x="3047" y="24"/>
                </a:cubicBezTo>
                <a:cubicBezTo>
                  <a:pt x="3073" y="32"/>
                  <a:pt x="3097" y="41"/>
                  <a:pt x="3120" y="53"/>
                </a:cubicBezTo>
                <a:cubicBezTo>
                  <a:pt x="3144" y="64"/>
                  <a:pt x="3165" y="77"/>
                  <a:pt x="3185" y="91"/>
                </a:cubicBezTo>
                <a:cubicBezTo>
                  <a:pt x="3204" y="106"/>
                  <a:pt x="3222" y="122"/>
                  <a:pt x="3237" y="139"/>
                </a:cubicBezTo>
                <a:cubicBezTo>
                  <a:pt x="3253" y="157"/>
                  <a:pt x="3266" y="175"/>
                  <a:pt x="3276" y="194"/>
                </a:cubicBezTo>
                <a:cubicBezTo>
                  <a:pt x="3287" y="213"/>
                  <a:pt x="3295" y="232"/>
                  <a:pt x="3300" y="253"/>
                </a:cubicBezTo>
                <a:cubicBezTo>
                  <a:pt x="3306" y="273"/>
                  <a:pt x="3309" y="293"/>
                  <a:pt x="3309" y="313"/>
                </a:cubicBezTo>
                <a:cubicBezTo>
                  <a:pt x="3309" y="334"/>
                  <a:pt x="3306" y="354"/>
                  <a:pt x="3300" y="374"/>
                </a:cubicBezTo>
                <a:cubicBezTo>
                  <a:pt x="3295" y="395"/>
                  <a:pt x="3287" y="414"/>
                  <a:pt x="3276" y="433"/>
                </a:cubicBezTo>
                <a:cubicBezTo>
                  <a:pt x="3266" y="452"/>
                  <a:pt x="3253" y="470"/>
                  <a:pt x="3237" y="487"/>
                </a:cubicBezTo>
                <a:cubicBezTo>
                  <a:pt x="3222" y="504"/>
                  <a:pt x="3204" y="520"/>
                  <a:pt x="3185" y="535"/>
                </a:cubicBezTo>
                <a:cubicBezTo>
                  <a:pt x="3165" y="549"/>
                  <a:pt x="3144" y="562"/>
                  <a:pt x="3120" y="573"/>
                </a:cubicBezTo>
                <a:cubicBezTo>
                  <a:pt x="3097" y="585"/>
                  <a:pt x="3073" y="594"/>
                  <a:pt x="3047" y="602"/>
                </a:cubicBezTo>
                <a:cubicBezTo>
                  <a:pt x="3022" y="610"/>
                  <a:pt x="2995" y="616"/>
                  <a:pt x="2968" y="620"/>
                </a:cubicBezTo>
                <a:cubicBezTo>
                  <a:pt x="2941" y="624"/>
                  <a:pt x="2913" y="626"/>
                  <a:pt x="2885" y="626"/>
                </a:cubicBezTo>
                <a:lnTo>
                  <a:pt x="424" y="626"/>
                </a:lnTo>
                <a:cubicBezTo>
                  <a:pt x="396" y="626"/>
                  <a:pt x="368" y="624"/>
                  <a:pt x="341" y="620"/>
                </a:cubicBezTo>
                <a:cubicBezTo>
                  <a:pt x="314" y="616"/>
                  <a:pt x="287" y="610"/>
                  <a:pt x="262" y="602"/>
                </a:cubicBezTo>
                <a:cubicBezTo>
                  <a:pt x="236" y="594"/>
                  <a:pt x="212" y="585"/>
                  <a:pt x="188" y="573"/>
                </a:cubicBezTo>
                <a:cubicBezTo>
                  <a:pt x="165" y="562"/>
                  <a:pt x="144" y="549"/>
                  <a:pt x="124" y="535"/>
                </a:cubicBezTo>
                <a:cubicBezTo>
                  <a:pt x="105" y="520"/>
                  <a:pt x="87" y="504"/>
                  <a:pt x="72" y="487"/>
                </a:cubicBezTo>
                <a:cubicBezTo>
                  <a:pt x="56" y="470"/>
                  <a:pt x="43" y="452"/>
                  <a:pt x="33" y="433"/>
                </a:cubicBezTo>
                <a:cubicBezTo>
                  <a:pt x="22" y="414"/>
                  <a:pt x="14" y="395"/>
                  <a:pt x="8" y="374"/>
                </a:cubicBezTo>
                <a:cubicBezTo>
                  <a:pt x="3" y="354"/>
                  <a:pt x="0" y="334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4" name="文本框 1683"/>
          <p:cNvSpPr txBox="1"/>
          <p:nvPr/>
        </p:nvSpPr>
        <p:spPr>
          <a:xfrm>
            <a:off x="10003320" y="4741920"/>
            <a:ext cx="54936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机器学习专题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5" name="文本框 1684"/>
          <p:cNvSpPr txBox="1"/>
          <p:nvPr/>
        </p:nvSpPr>
        <p:spPr>
          <a:xfrm>
            <a:off x="8153280" y="5055480"/>
            <a:ext cx="96156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Stack Overflow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6" name="任意多边形 1685"/>
          <p:cNvSpPr/>
          <p:nvPr/>
        </p:nvSpPr>
        <p:spPr>
          <a:xfrm>
            <a:off x="9343800" y="5007960"/>
            <a:ext cx="1591200" cy="225360"/>
          </a:xfrm>
          <a:custGeom>
            <a:avLst/>
            <a:gdLst/>
            <a:ahLst/>
            <a:cxnLst/>
            <a:rect l="0" t="0" r="r" b="b"/>
            <a:pathLst>
              <a:path w="4420" h="626">
                <a:moveTo>
                  <a:pt x="0" y="313"/>
                </a:moveTo>
                <a:cubicBezTo>
                  <a:pt x="0" y="293"/>
                  <a:pt x="3" y="273"/>
                  <a:pt x="8" y="253"/>
                </a:cubicBezTo>
                <a:cubicBezTo>
                  <a:pt x="14" y="232"/>
                  <a:pt x="22" y="213"/>
                  <a:pt x="32" y="194"/>
                </a:cubicBezTo>
                <a:cubicBezTo>
                  <a:pt x="43" y="175"/>
                  <a:pt x="56" y="157"/>
                  <a:pt x="71" y="139"/>
                </a:cubicBezTo>
                <a:cubicBezTo>
                  <a:pt x="87" y="122"/>
                  <a:pt x="104" y="106"/>
                  <a:pt x="124" y="91"/>
                </a:cubicBezTo>
                <a:cubicBezTo>
                  <a:pt x="144" y="77"/>
                  <a:pt x="165" y="64"/>
                  <a:pt x="188" y="53"/>
                </a:cubicBezTo>
                <a:cubicBezTo>
                  <a:pt x="211" y="41"/>
                  <a:pt x="236" y="32"/>
                  <a:pt x="261" y="24"/>
                </a:cubicBezTo>
                <a:cubicBezTo>
                  <a:pt x="287" y="16"/>
                  <a:pt x="314" y="10"/>
                  <a:pt x="341" y="6"/>
                </a:cubicBezTo>
                <a:cubicBezTo>
                  <a:pt x="368" y="2"/>
                  <a:pt x="396" y="0"/>
                  <a:pt x="423" y="0"/>
                </a:cubicBezTo>
                <a:lnTo>
                  <a:pt x="3996" y="0"/>
                </a:lnTo>
                <a:cubicBezTo>
                  <a:pt x="4024" y="0"/>
                  <a:pt x="4052" y="2"/>
                  <a:pt x="4079" y="6"/>
                </a:cubicBezTo>
                <a:cubicBezTo>
                  <a:pt x="4106" y="10"/>
                  <a:pt x="4133" y="16"/>
                  <a:pt x="4158" y="24"/>
                </a:cubicBezTo>
                <a:cubicBezTo>
                  <a:pt x="4184" y="32"/>
                  <a:pt x="4208" y="41"/>
                  <a:pt x="4232" y="53"/>
                </a:cubicBezTo>
                <a:cubicBezTo>
                  <a:pt x="4255" y="64"/>
                  <a:pt x="4276" y="77"/>
                  <a:pt x="4296" y="91"/>
                </a:cubicBezTo>
                <a:cubicBezTo>
                  <a:pt x="4315" y="106"/>
                  <a:pt x="4333" y="122"/>
                  <a:pt x="4348" y="139"/>
                </a:cubicBezTo>
                <a:cubicBezTo>
                  <a:pt x="4364" y="157"/>
                  <a:pt x="4377" y="175"/>
                  <a:pt x="4387" y="194"/>
                </a:cubicBezTo>
                <a:cubicBezTo>
                  <a:pt x="4398" y="213"/>
                  <a:pt x="4406" y="232"/>
                  <a:pt x="4412" y="253"/>
                </a:cubicBezTo>
                <a:cubicBezTo>
                  <a:pt x="4417" y="273"/>
                  <a:pt x="4420" y="293"/>
                  <a:pt x="4420" y="313"/>
                </a:cubicBezTo>
                <a:cubicBezTo>
                  <a:pt x="4420" y="334"/>
                  <a:pt x="4417" y="354"/>
                  <a:pt x="4412" y="374"/>
                </a:cubicBezTo>
                <a:cubicBezTo>
                  <a:pt x="4406" y="395"/>
                  <a:pt x="4398" y="414"/>
                  <a:pt x="4387" y="433"/>
                </a:cubicBezTo>
                <a:cubicBezTo>
                  <a:pt x="4377" y="452"/>
                  <a:pt x="4364" y="470"/>
                  <a:pt x="4348" y="487"/>
                </a:cubicBezTo>
                <a:cubicBezTo>
                  <a:pt x="4333" y="504"/>
                  <a:pt x="4315" y="520"/>
                  <a:pt x="4296" y="535"/>
                </a:cubicBezTo>
                <a:cubicBezTo>
                  <a:pt x="4276" y="549"/>
                  <a:pt x="4255" y="562"/>
                  <a:pt x="4232" y="573"/>
                </a:cubicBezTo>
                <a:cubicBezTo>
                  <a:pt x="4208" y="585"/>
                  <a:pt x="4184" y="594"/>
                  <a:pt x="4158" y="602"/>
                </a:cubicBezTo>
                <a:cubicBezTo>
                  <a:pt x="4133" y="610"/>
                  <a:pt x="4106" y="616"/>
                  <a:pt x="4079" y="620"/>
                </a:cubicBezTo>
                <a:cubicBezTo>
                  <a:pt x="4052" y="624"/>
                  <a:pt x="4024" y="626"/>
                  <a:pt x="3996" y="626"/>
                </a:cubicBezTo>
                <a:lnTo>
                  <a:pt x="423" y="626"/>
                </a:lnTo>
                <a:cubicBezTo>
                  <a:pt x="396" y="626"/>
                  <a:pt x="368" y="624"/>
                  <a:pt x="341" y="620"/>
                </a:cubicBezTo>
                <a:cubicBezTo>
                  <a:pt x="314" y="616"/>
                  <a:pt x="287" y="610"/>
                  <a:pt x="261" y="602"/>
                </a:cubicBezTo>
                <a:cubicBezTo>
                  <a:pt x="236" y="594"/>
                  <a:pt x="211" y="585"/>
                  <a:pt x="188" y="573"/>
                </a:cubicBezTo>
                <a:cubicBezTo>
                  <a:pt x="165" y="562"/>
                  <a:pt x="144" y="549"/>
                  <a:pt x="124" y="535"/>
                </a:cubicBezTo>
                <a:cubicBezTo>
                  <a:pt x="104" y="520"/>
                  <a:pt x="87" y="504"/>
                  <a:pt x="71" y="487"/>
                </a:cubicBezTo>
                <a:cubicBezTo>
                  <a:pt x="56" y="470"/>
                  <a:pt x="43" y="452"/>
                  <a:pt x="32" y="433"/>
                </a:cubicBezTo>
                <a:cubicBezTo>
                  <a:pt x="22" y="414"/>
                  <a:pt x="14" y="395"/>
                  <a:pt x="8" y="374"/>
                </a:cubicBezTo>
                <a:cubicBezTo>
                  <a:pt x="3" y="354"/>
                  <a:pt x="0" y="334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7" name="文本框 1686"/>
          <p:cNvSpPr txBox="1"/>
          <p:nvPr/>
        </p:nvSpPr>
        <p:spPr>
          <a:xfrm>
            <a:off x="9266400" y="5055480"/>
            <a:ext cx="15192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8" name="任意多边形 1687"/>
          <p:cNvSpPr/>
          <p:nvPr/>
        </p:nvSpPr>
        <p:spPr>
          <a:xfrm>
            <a:off x="8038800" y="5289120"/>
            <a:ext cx="1143360" cy="225720"/>
          </a:xfrm>
          <a:custGeom>
            <a:avLst/>
            <a:gdLst/>
            <a:ahLst/>
            <a:cxnLst/>
            <a:rect l="0" t="0" r="r" b="b"/>
            <a:pathLst>
              <a:path w="3176" h="627">
                <a:moveTo>
                  <a:pt x="0" y="313"/>
                </a:moveTo>
                <a:cubicBezTo>
                  <a:pt x="0" y="293"/>
                  <a:pt x="3" y="272"/>
                  <a:pt x="8" y="252"/>
                </a:cubicBezTo>
                <a:cubicBezTo>
                  <a:pt x="14" y="232"/>
                  <a:pt x="22" y="212"/>
                  <a:pt x="33" y="193"/>
                </a:cubicBezTo>
                <a:cubicBezTo>
                  <a:pt x="43" y="174"/>
                  <a:pt x="56" y="156"/>
                  <a:pt x="72" y="139"/>
                </a:cubicBezTo>
                <a:cubicBezTo>
                  <a:pt x="87" y="122"/>
                  <a:pt x="105" y="106"/>
                  <a:pt x="124" y="92"/>
                </a:cubicBezTo>
                <a:cubicBezTo>
                  <a:pt x="144" y="77"/>
                  <a:pt x="165" y="65"/>
                  <a:pt x="188" y="53"/>
                </a:cubicBezTo>
                <a:cubicBezTo>
                  <a:pt x="212" y="42"/>
                  <a:pt x="236" y="32"/>
                  <a:pt x="262" y="24"/>
                </a:cubicBezTo>
                <a:cubicBezTo>
                  <a:pt x="287" y="16"/>
                  <a:pt x="314" y="10"/>
                  <a:pt x="341" y="6"/>
                </a:cubicBezTo>
                <a:cubicBezTo>
                  <a:pt x="368" y="2"/>
                  <a:pt x="396" y="0"/>
                  <a:pt x="424" y="0"/>
                </a:cubicBezTo>
                <a:lnTo>
                  <a:pt x="2753" y="0"/>
                </a:lnTo>
                <a:cubicBezTo>
                  <a:pt x="2781" y="0"/>
                  <a:pt x="2808" y="2"/>
                  <a:pt x="2836" y="6"/>
                </a:cubicBezTo>
                <a:cubicBezTo>
                  <a:pt x="2863" y="10"/>
                  <a:pt x="2889" y="16"/>
                  <a:pt x="2915" y="24"/>
                </a:cubicBezTo>
                <a:cubicBezTo>
                  <a:pt x="2941" y="32"/>
                  <a:pt x="2965" y="42"/>
                  <a:pt x="2988" y="53"/>
                </a:cubicBezTo>
                <a:cubicBezTo>
                  <a:pt x="3011" y="65"/>
                  <a:pt x="3033" y="77"/>
                  <a:pt x="3052" y="92"/>
                </a:cubicBezTo>
                <a:cubicBezTo>
                  <a:pt x="3072" y="106"/>
                  <a:pt x="3090" y="122"/>
                  <a:pt x="3105" y="139"/>
                </a:cubicBezTo>
                <a:cubicBezTo>
                  <a:pt x="3120" y="156"/>
                  <a:pt x="3133" y="174"/>
                  <a:pt x="3144" y="193"/>
                </a:cubicBezTo>
                <a:cubicBezTo>
                  <a:pt x="3155" y="212"/>
                  <a:pt x="3163" y="232"/>
                  <a:pt x="3168" y="252"/>
                </a:cubicBezTo>
                <a:cubicBezTo>
                  <a:pt x="3174" y="272"/>
                  <a:pt x="3176" y="293"/>
                  <a:pt x="3176" y="313"/>
                </a:cubicBezTo>
                <a:cubicBezTo>
                  <a:pt x="3176" y="334"/>
                  <a:pt x="3174" y="354"/>
                  <a:pt x="3168" y="374"/>
                </a:cubicBezTo>
                <a:cubicBezTo>
                  <a:pt x="3163" y="394"/>
                  <a:pt x="3155" y="414"/>
                  <a:pt x="3144" y="433"/>
                </a:cubicBezTo>
                <a:cubicBezTo>
                  <a:pt x="3133" y="452"/>
                  <a:pt x="3120" y="470"/>
                  <a:pt x="3105" y="487"/>
                </a:cubicBezTo>
                <a:cubicBezTo>
                  <a:pt x="3090" y="504"/>
                  <a:pt x="3072" y="520"/>
                  <a:pt x="3052" y="534"/>
                </a:cubicBezTo>
                <a:cubicBezTo>
                  <a:pt x="3033" y="549"/>
                  <a:pt x="3011" y="562"/>
                  <a:pt x="2988" y="573"/>
                </a:cubicBezTo>
                <a:cubicBezTo>
                  <a:pt x="2965" y="584"/>
                  <a:pt x="2941" y="594"/>
                  <a:pt x="2915" y="602"/>
                </a:cubicBezTo>
                <a:cubicBezTo>
                  <a:pt x="2889" y="610"/>
                  <a:pt x="2863" y="616"/>
                  <a:pt x="2836" y="620"/>
                </a:cubicBezTo>
                <a:cubicBezTo>
                  <a:pt x="2808" y="625"/>
                  <a:pt x="2781" y="627"/>
                  <a:pt x="2753" y="627"/>
                </a:cubicBezTo>
                <a:lnTo>
                  <a:pt x="424" y="627"/>
                </a:lnTo>
                <a:cubicBezTo>
                  <a:pt x="396" y="627"/>
                  <a:pt x="368" y="625"/>
                  <a:pt x="341" y="620"/>
                </a:cubicBezTo>
                <a:cubicBezTo>
                  <a:pt x="314" y="616"/>
                  <a:pt x="287" y="610"/>
                  <a:pt x="262" y="602"/>
                </a:cubicBezTo>
                <a:cubicBezTo>
                  <a:pt x="236" y="594"/>
                  <a:pt x="212" y="584"/>
                  <a:pt x="188" y="573"/>
                </a:cubicBezTo>
                <a:cubicBezTo>
                  <a:pt x="165" y="562"/>
                  <a:pt x="144" y="549"/>
                  <a:pt x="124" y="534"/>
                </a:cubicBezTo>
                <a:cubicBezTo>
                  <a:pt x="105" y="520"/>
                  <a:pt x="87" y="504"/>
                  <a:pt x="72" y="487"/>
                </a:cubicBezTo>
                <a:cubicBezTo>
                  <a:pt x="56" y="470"/>
                  <a:pt x="43" y="452"/>
                  <a:pt x="33" y="433"/>
                </a:cubicBezTo>
                <a:cubicBezTo>
                  <a:pt x="22" y="414"/>
                  <a:pt x="14" y="394"/>
                  <a:pt x="8" y="374"/>
                </a:cubicBezTo>
                <a:cubicBezTo>
                  <a:pt x="3" y="354"/>
                  <a:pt x="0" y="334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9" name="文本框 1688"/>
          <p:cNvSpPr txBox="1"/>
          <p:nvPr/>
        </p:nvSpPr>
        <p:spPr>
          <a:xfrm>
            <a:off x="9456840" y="5055480"/>
            <a:ext cx="137160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Towards Data Science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91" name="文本框 1690"/>
          <p:cNvSpPr txBox="1"/>
          <p:nvPr/>
        </p:nvSpPr>
        <p:spPr>
          <a:xfrm>
            <a:off x="8153280" y="5332680"/>
            <a:ext cx="54936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机器学习社区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9C3D6FA-A07A-C5C2-1774-39465277FEFC}"/>
              </a:ext>
            </a:extLst>
          </p:cNvPr>
          <p:cNvSpPr txBox="1"/>
          <p:nvPr/>
        </p:nvSpPr>
        <p:spPr>
          <a:xfrm>
            <a:off x="10905272" y="17246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3045</Words>
  <Application>Microsoft Office PowerPoint</Application>
  <PresentationFormat>宽屏</PresentationFormat>
  <Paragraphs>808</Paragraphs>
  <Slides>28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Arial Unicode MS</vt:lpstr>
      <vt:lpstr>NotoSansCJKsc</vt:lpstr>
      <vt:lpstr>PingFang SC</vt:lpstr>
      <vt:lpstr>SourceHanSansCN-Medium</vt:lpstr>
      <vt:lpstr>SourceHanSansCN-Regular</vt:lpstr>
      <vt:lpstr>华文宋体</vt:lpstr>
      <vt:lpstr>Algerian</vt:lpstr>
      <vt:lpstr>Arial</vt:lpstr>
      <vt:lpstr>Calibri</vt:lpstr>
      <vt:lpstr>Cambria Math</vt:lpstr>
      <vt:lpstr>Courier New</vt:lpstr>
      <vt:lpstr>Symbol</vt:lpstr>
      <vt:lpstr>Times New Roman</vt:lpstr>
      <vt:lpstr>Wingdings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t75546</cp:lastModifiedBy>
  <cp:revision>12</cp:revision>
  <dcterms:created xsi:type="dcterms:W3CDTF">2025-07-12T13:18:00Z</dcterms:created>
  <dcterms:modified xsi:type="dcterms:W3CDTF">2026-01-14T14:15:18Z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133200F24C714100B0946B3D8EDC90F3_13</vt:lpwstr>
  </property>
  <property fmtid="{D5CDD505-2E9C-101B-9397-08002B2CF9AE}" pid="3" name="KSOProductBuildVer">
    <vt:lpwstr>2052-12.1.0.21915</vt:lpwstr>
  </property>
</Properties>
</file>